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59" r:id="rId7"/>
    <p:sldId id="260" r:id="rId8"/>
    <p:sldId id="261" r:id="rId9"/>
    <p:sldId id="262" r:id="rId10"/>
    <p:sldId id="266" r:id="rId11"/>
    <p:sldId id="267" r:id="rId12"/>
    <p:sldId id="263" r:id="rId13"/>
    <p:sldId id="264" r:id="rId14"/>
    <p:sldId id="265" r:id="rId15"/>
    <p:sldId id="268" r:id="rId16"/>
    <p:sldId id="269" r:id="rId17"/>
    <p:sldId id="271" r:id="rId18"/>
    <p:sldId id="272" r:id="rId19"/>
    <p:sldId id="273" r:id="rId20"/>
    <p:sldId id="270" r:id="rId21"/>
    <p:sldId id="274" r:id="rId22"/>
    <p:sldId id="276" r:id="rId23"/>
    <p:sldId id="275"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5" r:id="rId42"/>
    <p:sldId id="294" r:id="rId43"/>
    <p:sldId id="296" r:id="rId44"/>
    <p:sldId id="297" r:id="rId45"/>
    <p:sldId id="298" r:id="rId46"/>
    <p:sldId id="299" r:id="rId47"/>
    <p:sldId id="300" r:id="rId48"/>
    <p:sldId id="301" r:id="rId49"/>
    <p:sldId id="302" r:id="rId50"/>
    <p:sldId id="303" r:id="rId51"/>
    <p:sldId id="304" r:id="rId52"/>
    <p:sldId id="305" r:id="rId53"/>
    <p:sldId id="306"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07"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EF4A49-5590-4D21-88BF-78B9772A3214}" v="60" dt="2026-01-20T12:02:27.5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C9B86-2283-2DE8-DD00-81ACA9703F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0BDE70-3C1E-8744-02B6-ED38FA935C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8EC31A-C5E4-F48A-603A-854DE2E3AADF}"/>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5" name="Footer Placeholder 4">
            <a:extLst>
              <a:ext uri="{FF2B5EF4-FFF2-40B4-BE49-F238E27FC236}">
                <a16:creationId xmlns:a16="http://schemas.microsoft.com/office/drawing/2014/main" id="{AB073C48-D196-07ED-377E-A46615128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E81C45-06F0-37B7-8C2E-325D4D6A03A4}"/>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3093080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30E78-B0FE-300A-32B2-7742589797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674BE5-3139-E9BE-806B-AA9A707F94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D32D91-9F69-FB3F-D829-5210B6D23F14}"/>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5" name="Footer Placeholder 4">
            <a:extLst>
              <a:ext uri="{FF2B5EF4-FFF2-40B4-BE49-F238E27FC236}">
                <a16:creationId xmlns:a16="http://schemas.microsoft.com/office/drawing/2014/main" id="{66594638-BF1A-5A8D-5679-F5B2A8013A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50AC5-8291-47A7-8CF5-A5C0ED664EC5}"/>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1221849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8F885-5F67-596A-A7B6-2A5AE4C50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55010D-C335-D2D1-98DE-568CC250C4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242310-78FB-6197-D08D-69EA516E5DF8}"/>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5" name="Footer Placeholder 4">
            <a:extLst>
              <a:ext uri="{FF2B5EF4-FFF2-40B4-BE49-F238E27FC236}">
                <a16:creationId xmlns:a16="http://schemas.microsoft.com/office/drawing/2014/main" id="{5947855C-AB06-B049-06CA-37764081D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E9D1C7-2F4A-956B-D9B6-ACE6480BDC3D}"/>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1493648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AC0F5-375F-F5FF-E356-EC85E9949E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CE03D4-518B-F1C6-74FB-78234037C1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0AA0AC-139B-243F-83FE-06353529B4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2FB793-4592-EA64-2436-4C26074E1762}"/>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6" name="Footer Placeholder 5">
            <a:extLst>
              <a:ext uri="{FF2B5EF4-FFF2-40B4-BE49-F238E27FC236}">
                <a16:creationId xmlns:a16="http://schemas.microsoft.com/office/drawing/2014/main" id="{C043B926-94DC-F2D8-9EAA-28002339D4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56369F-C62A-5F9A-D6CA-E39B2944F215}"/>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3544531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25150-23D0-31D2-D095-E002A842C6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625269-A4E1-C1C4-F75F-CCB509D8CA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4E335D-6FFF-5A60-BD5D-C7303022D4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A38934-D9D1-F8AE-E0A7-6C2E417278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CE75C7-53AB-B719-241C-C88884C5BD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7EF9D3-E5D7-B676-FCB4-1E91805BB60A}"/>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8" name="Footer Placeholder 7">
            <a:extLst>
              <a:ext uri="{FF2B5EF4-FFF2-40B4-BE49-F238E27FC236}">
                <a16:creationId xmlns:a16="http://schemas.microsoft.com/office/drawing/2014/main" id="{A5D0005A-1B7C-70D5-48AC-AC4DA40D3C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FF695F-0129-1A5A-F561-BA48F3A1E1B4}"/>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2427776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66BE5-92A1-5414-B1A2-D4847A67D3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DFAC60-1C00-2F2A-A56A-ABDFADA1FC15}"/>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4" name="Footer Placeholder 3">
            <a:extLst>
              <a:ext uri="{FF2B5EF4-FFF2-40B4-BE49-F238E27FC236}">
                <a16:creationId xmlns:a16="http://schemas.microsoft.com/office/drawing/2014/main" id="{6DCE6256-0DA0-76D1-183D-9A37263706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26F1D5-AE4A-DB44-33E4-D1030E61624F}"/>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1887087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DACCF0-1A79-4429-0347-8D3E7ADD39BA}"/>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3" name="Footer Placeholder 2">
            <a:extLst>
              <a:ext uri="{FF2B5EF4-FFF2-40B4-BE49-F238E27FC236}">
                <a16:creationId xmlns:a16="http://schemas.microsoft.com/office/drawing/2014/main" id="{5F23EA7C-AAEE-0A17-D7A0-8CFC083D6E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443548-1C64-05B4-2E0B-285082329F38}"/>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2758714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77BC-13F9-4B6B-7861-ED02F2903F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1F95E3-EB5B-F7E9-C4BD-3E9ED80FBE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138C4D-7DF2-EA02-6095-0658D4D3E7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30FA36-C93D-1FEC-B95B-1132129D3B5E}"/>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6" name="Footer Placeholder 5">
            <a:extLst>
              <a:ext uri="{FF2B5EF4-FFF2-40B4-BE49-F238E27FC236}">
                <a16:creationId xmlns:a16="http://schemas.microsoft.com/office/drawing/2014/main" id="{E97568C2-D9CF-7016-ED25-BE427D8E52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340B5B-9745-C285-5BAB-9437CFAE7D4A}"/>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3225491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5D41E-7BB2-4688-E6BA-B7ADEC20D7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146489-116C-CC3C-C380-7FA4F72313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75EB279-7DC8-A86F-A25D-9FD9FD2577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994AB7-49A9-9C94-A52B-F62BCE206A6B}"/>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6" name="Footer Placeholder 5">
            <a:extLst>
              <a:ext uri="{FF2B5EF4-FFF2-40B4-BE49-F238E27FC236}">
                <a16:creationId xmlns:a16="http://schemas.microsoft.com/office/drawing/2014/main" id="{7B47D5C9-16D6-6C5F-92C4-F3105C489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C262A6-4E30-75B9-8386-DDFCFA41050A}"/>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768950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98D89-8850-343A-30EE-33B1914F4E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E056C1-20FF-5DB4-FAC9-E8F0EA9AC1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B76D1B-D551-E135-AE07-6CD11038BDD2}"/>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5" name="Footer Placeholder 4">
            <a:extLst>
              <a:ext uri="{FF2B5EF4-FFF2-40B4-BE49-F238E27FC236}">
                <a16:creationId xmlns:a16="http://schemas.microsoft.com/office/drawing/2014/main" id="{ABA6C099-31D7-3CF5-E9B9-06FC9F2C8E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FA0D33-A607-3A1E-CD31-F1D5532897DB}"/>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585886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E6F743-9A89-1806-8D61-5FA79DE1B7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94F7A3-C7AD-7F2E-1032-8A99B9AF65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D41F9E-3545-D500-80DB-B3425B9447ED}"/>
              </a:ext>
            </a:extLst>
          </p:cNvPr>
          <p:cNvSpPr>
            <a:spLocks noGrp="1"/>
          </p:cNvSpPr>
          <p:nvPr>
            <p:ph type="dt" sz="half" idx="10"/>
          </p:nvPr>
        </p:nvSpPr>
        <p:spPr/>
        <p:txBody>
          <a:bodyPr/>
          <a:lstStyle/>
          <a:p>
            <a:fld id="{364EB074-B064-4DE1-BCC6-BD1457EC1E13}" type="datetimeFigureOut">
              <a:rPr lang="en-US" smtClean="0"/>
              <a:t>1/27/2026</a:t>
            </a:fld>
            <a:endParaRPr lang="en-US"/>
          </a:p>
        </p:txBody>
      </p:sp>
      <p:sp>
        <p:nvSpPr>
          <p:cNvPr id="5" name="Footer Placeholder 4">
            <a:extLst>
              <a:ext uri="{FF2B5EF4-FFF2-40B4-BE49-F238E27FC236}">
                <a16:creationId xmlns:a16="http://schemas.microsoft.com/office/drawing/2014/main" id="{BE3B3EDE-CE08-860C-C9CD-371ED6AE3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9B39D-889B-84DB-37B0-5A08EE0F0B6D}"/>
              </a:ext>
            </a:extLst>
          </p:cNvPr>
          <p:cNvSpPr>
            <a:spLocks noGrp="1"/>
          </p:cNvSpPr>
          <p:nvPr>
            <p:ph type="sldNum" sz="quarter" idx="12"/>
          </p:nvPr>
        </p:nvSpPr>
        <p:spPr/>
        <p:txBody>
          <a:bodyPr/>
          <a:lstStyle/>
          <a:p>
            <a:fld id="{9370C3D5-7ADC-493C-9747-F7D26BC29A6D}" type="slidenum">
              <a:rPr lang="en-US" smtClean="0"/>
              <a:t>‹#›</a:t>
            </a:fld>
            <a:endParaRPr lang="en-US"/>
          </a:p>
        </p:txBody>
      </p:sp>
    </p:spTree>
    <p:extLst>
      <p:ext uri="{BB962C8B-B14F-4D97-AF65-F5344CB8AC3E}">
        <p14:creationId xmlns:p14="http://schemas.microsoft.com/office/powerpoint/2010/main" val="1856554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DAA2C3-2246-70AA-E470-B4A960AA9D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933DF7-27A4-2391-EBC7-813758B3CA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AD0FB-E026-14AD-A97F-042B89ADCF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4EB074-B064-4DE1-BCC6-BD1457EC1E13}" type="datetimeFigureOut">
              <a:rPr lang="en-US" smtClean="0"/>
              <a:t>1/27/2026</a:t>
            </a:fld>
            <a:endParaRPr lang="en-US"/>
          </a:p>
        </p:txBody>
      </p:sp>
      <p:sp>
        <p:nvSpPr>
          <p:cNvPr id="5" name="Footer Placeholder 4">
            <a:extLst>
              <a:ext uri="{FF2B5EF4-FFF2-40B4-BE49-F238E27FC236}">
                <a16:creationId xmlns:a16="http://schemas.microsoft.com/office/drawing/2014/main" id="{83DFEC5D-2B1E-4DDC-B91B-B9FF57FBE7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EF8636E-43D9-C862-4A32-EE764653F4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70C3D5-7ADC-493C-9747-F7D26BC29A6D}" type="slidenum">
              <a:rPr lang="en-US" smtClean="0"/>
              <a:t>‹#›</a:t>
            </a:fld>
            <a:endParaRPr lang="en-US"/>
          </a:p>
        </p:txBody>
      </p:sp>
    </p:spTree>
    <p:extLst>
      <p:ext uri="{BB962C8B-B14F-4D97-AF65-F5344CB8AC3E}">
        <p14:creationId xmlns:p14="http://schemas.microsoft.com/office/powerpoint/2010/main" val="2108402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software-engineering/project-management-life-cycl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youtube.com/watch?v=ijZ8AISuYZo"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8FA09-EE66-E52F-36A9-46D5ED9CB135}"/>
              </a:ext>
            </a:extLst>
          </p:cNvPr>
          <p:cNvSpPr>
            <a:spLocks noGrp="1"/>
          </p:cNvSpPr>
          <p:nvPr>
            <p:ph type="title"/>
          </p:nvPr>
        </p:nvSpPr>
        <p:spPr/>
        <p:txBody>
          <a:bodyPr/>
          <a:lstStyle/>
          <a:p>
            <a:r>
              <a:rPr lang="en-US" b="1" dirty="0"/>
              <a:t>Activity</a:t>
            </a:r>
            <a:r>
              <a:rPr lang="en-US" dirty="0"/>
              <a:t> in Project Management</a:t>
            </a:r>
          </a:p>
        </p:txBody>
      </p:sp>
      <p:sp>
        <p:nvSpPr>
          <p:cNvPr id="3" name="Content Placeholder 2">
            <a:extLst>
              <a:ext uri="{FF2B5EF4-FFF2-40B4-BE49-F238E27FC236}">
                <a16:creationId xmlns:a16="http://schemas.microsoft.com/office/drawing/2014/main" id="{9D8409B0-70F7-6012-D604-84F695664517}"/>
              </a:ext>
            </a:extLst>
          </p:cNvPr>
          <p:cNvSpPr>
            <a:spLocks noGrp="1"/>
          </p:cNvSpPr>
          <p:nvPr>
            <p:ph idx="1"/>
          </p:nvPr>
        </p:nvSpPr>
        <p:spPr/>
        <p:txBody>
          <a:bodyPr>
            <a:normAutofit lnSpcReduction="10000"/>
          </a:bodyPr>
          <a:lstStyle/>
          <a:p>
            <a:r>
              <a:rPr lang="en-US" dirty="0"/>
              <a:t>An </a:t>
            </a:r>
            <a:r>
              <a:rPr lang="en-US" b="1" dirty="0"/>
              <a:t>activity</a:t>
            </a:r>
            <a:r>
              <a:rPr lang="en-US" dirty="0"/>
              <a:t> is a defined work item or task that needs to be performed to complete a project deliverable. Activities typically come from the </a:t>
            </a:r>
            <a:r>
              <a:rPr lang="en-US" b="1" dirty="0"/>
              <a:t>Work Breakdown Structure (WBS)</a:t>
            </a:r>
            <a:r>
              <a:rPr lang="en-US" dirty="0"/>
              <a:t>, which breaks down the project into smaller, manageable components.</a:t>
            </a:r>
          </a:p>
          <a:p>
            <a:r>
              <a:rPr lang="en-US" b="1" dirty="0"/>
              <a:t>Example</a:t>
            </a:r>
            <a:r>
              <a:rPr lang="en-US" dirty="0"/>
              <a:t>: In a software development project, activities might include:</a:t>
            </a:r>
          </a:p>
          <a:p>
            <a:pPr lvl="1"/>
            <a:r>
              <a:rPr lang="en-US" dirty="0"/>
              <a:t>Requirements gathering</a:t>
            </a:r>
          </a:p>
          <a:p>
            <a:pPr lvl="1"/>
            <a:r>
              <a:rPr lang="en-US" dirty="0"/>
              <a:t>Designing user interfaces</a:t>
            </a:r>
          </a:p>
          <a:p>
            <a:pPr lvl="1"/>
            <a:r>
              <a:rPr lang="en-US" dirty="0"/>
              <a:t>Writing code for backend</a:t>
            </a:r>
          </a:p>
          <a:p>
            <a:pPr lvl="1"/>
            <a:r>
              <a:rPr lang="en-US" dirty="0"/>
              <a:t>Conducting testing</a:t>
            </a:r>
          </a:p>
          <a:p>
            <a:pPr lvl="1"/>
            <a:r>
              <a:rPr lang="en-US" dirty="0"/>
              <a:t>Deployment</a:t>
            </a:r>
          </a:p>
          <a:p>
            <a:endParaRPr lang="en-US" dirty="0"/>
          </a:p>
        </p:txBody>
      </p:sp>
    </p:spTree>
    <p:extLst>
      <p:ext uri="{BB962C8B-B14F-4D97-AF65-F5344CB8AC3E}">
        <p14:creationId xmlns:p14="http://schemas.microsoft.com/office/powerpoint/2010/main" val="4023861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A5039-453D-9112-C947-E15CEA9020D9}"/>
              </a:ext>
            </a:extLst>
          </p:cNvPr>
          <p:cNvSpPr>
            <a:spLocks noGrp="1"/>
          </p:cNvSpPr>
          <p:nvPr>
            <p:ph type="title"/>
          </p:nvPr>
        </p:nvSpPr>
        <p:spPr/>
        <p:txBody>
          <a:bodyPr/>
          <a:lstStyle/>
          <a:p>
            <a:r>
              <a:rPr lang="en-US" dirty="0"/>
              <a:t>Types of Activities in Project Management</a:t>
            </a:r>
          </a:p>
        </p:txBody>
      </p:sp>
      <p:sp>
        <p:nvSpPr>
          <p:cNvPr id="3" name="Content Placeholder 2">
            <a:extLst>
              <a:ext uri="{FF2B5EF4-FFF2-40B4-BE49-F238E27FC236}">
                <a16:creationId xmlns:a16="http://schemas.microsoft.com/office/drawing/2014/main" id="{618EE7C7-E56F-B244-9663-2632A633F999}"/>
              </a:ext>
            </a:extLst>
          </p:cNvPr>
          <p:cNvSpPr>
            <a:spLocks noGrp="1"/>
          </p:cNvSpPr>
          <p:nvPr>
            <p:ph idx="1"/>
          </p:nvPr>
        </p:nvSpPr>
        <p:spPr/>
        <p:txBody>
          <a:bodyPr/>
          <a:lstStyle/>
          <a:p>
            <a:r>
              <a:rPr lang="en-US" b="1" dirty="0"/>
              <a:t>Dependent Activities</a:t>
            </a:r>
            <a:r>
              <a:rPr lang="en-US" dirty="0"/>
              <a:t>: Tasks that rely on the completion of other tasks before they can start (e.g., you can't test software until it's been coded).</a:t>
            </a:r>
          </a:p>
          <a:p>
            <a:r>
              <a:rPr lang="en-US" b="1" dirty="0"/>
              <a:t>Independent Activities</a:t>
            </a:r>
            <a:r>
              <a:rPr lang="en-US" dirty="0"/>
              <a:t>: Tasks that can be performed regardless of other activities (e.g., preparing documentation while other parts of the system are being developed).</a:t>
            </a:r>
          </a:p>
          <a:p>
            <a:r>
              <a:rPr lang="en-US" b="1" dirty="0"/>
              <a:t>Milestones</a:t>
            </a:r>
            <a:r>
              <a:rPr lang="en-US" dirty="0"/>
              <a:t>: Specific points in the project timeline, marking significant events or completion of key tasks.</a:t>
            </a:r>
          </a:p>
          <a:p>
            <a:endParaRPr lang="en-US" dirty="0"/>
          </a:p>
        </p:txBody>
      </p:sp>
    </p:spTree>
    <p:extLst>
      <p:ext uri="{BB962C8B-B14F-4D97-AF65-F5344CB8AC3E}">
        <p14:creationId xmlns:p14="http://schemas.microsoft.com/office/powerpoint/2010/main" val="403230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49C5E-0E84-6AFE-76B5-604E37EA7B05}"/>
              </a:ext>
            </a:extLst>
          </p:cNvPr>
          <p:cNvSpPr>
            <a:spLocks noGrp="1"/>
          </p:cNvSpPr>
          <p:nvPr>
            <p:ph type="title"/>
          </p:nvPr>
        </p:nvSpPr>
        <p:spPr/>
        <p:txBody>
          <a:bodyPr/>
          <a:lstStyle/>
          <a:p>
            <a:r>
              <a:rPr lang="en-US" dirty="0"/>
              <a:t>Activity Planning</a:t>
            </a:r>
          </a:p>
        </p:txBody>
      </p:sp>
      <p:sp>
        <p:nvSpPr>
          <p:cNvPr id="3" name="Content Placeholder 2">
            <a:extLst>
              <a:ext uri="{FF2B5EF4-FFF2-40B4-BE49-F238E27FC236}">
                <a16:creationId xmlns:a16="http://schemas.microsoft.com/office/drawing/2014/main" id="{94448C18-CB88-804B-80E8-80553B7C8F46}"/>
              </a:ext>
            </a:extLst>
          </p:cNvPr>
          <p:cNvSpPr>
            <a:spLocks noGrp="1"/>
          </p:cNvSpPr>
          <p:nvPr>
            <p:ph idx="1"/>
          </p:nvPr>
        </p:nvSpPr>
        <p:spPr/>
        <p:txBody>
          <a:bodyPr>
            <a:normAutofit fontScale="92500"/>
          </a:bodyPr>
          <a:lstStyle/>
          <a:p>
            <a:r>
              <a:rPr lang="en-US" b="1" dirty="0"/>
              <a:t>Activity planning</a:t>
            </a:r>
            <a:r>
              <a:rPr lang="en-US" dirty="0"/>
              <a:t> involves breaking down the project scope into smaller, manageable work packages (via </a:t>
            </a:r>
            <a:r>
              <a:rPr lang="en-US" b="1" dirty="0"/>
              <a:t>WBS</a:t>
            </a:r>
            <a:r>
              <a:rPr lang="en-US" dirty="0"/>
              <a:t>), then identifying and scheduling individual activities that will lead to achieving project goals. This process includes:</a:t>
            </a:r>
          </a:p>
          <a:p>
            <a:r>
              <a:rPr lang="en-US" b="1" dirty="0"/>
              <a:t>Defining the activities</a:t>
            </a:r>
            <a:r>
              <a:rPr lang="en-US" dirty="0"/>
              <a:t>: Breaking down deliverables into tasks.</a:t>
            </a:r>
          </a:p>
          <a:p>
            <a:r>
              <a:rPr lang="en-US" b="1" dirty="0"/>
              <a:t>Estimating duration and resources</a:t>
            </a:r>
            <a:r>
              <a:rPr lang="en-US" dirty="0"/>
              <a:t>: Identifying how long each activity will take and what resources are needed.</a:t>
            </a:r>
          </a:p>
          <a:p>
            <a:r>
              <a:rPr lang="en-US" b="1" dirty="0"/>
              <a:t>Sequencing the activities</a:t>
            </a:r>
            <a:r>
              <a:rPr lang="en-US" dirty="0"/>
              <a:t>: Determining the logical order in which activities should occur.</a:t>
            </a:r>
          </a:p>
          <a:p>
            <a:r>
              <a:rPr lang="en-US" b="1" dirty="0"/>
              <a:t>Assigning responsibilities</a:t>
            </a:r>
            <a:r>
              <a:rPr lang="en-US" dirty="0"/>
              <a:t>: Deciding who will carry out each activity.</a:t>
            </a:r>
          </a:p>
          <a:p>
            <a:endParaRPr lang="en-US" dirty="0"/>
          </a:p>
        </p:txBody>
      </p:sp>
    </p:spTree>
    <p:extLst>
      <p:ext uri="{BB962C8B-B14F-4D97-AF65-F5344CB8AC3E}">
        <p14:creationId xmlns:p14="http://schemas.microsoft.com/office/powerpoint/2010/main" val="1146249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BE9D8-C0CD-788C-1C0E-BC88BEE45981}"/>
              </a:ext>
            </a:extLst>
          </p:cNvPr>
          <p:cNvSpPr>
            <a:spLocks noGrp="1"/>
          </p:cNvSpPr>
          <p:nvPr>
            <p:ph type="title"/>
          </p:nvPr>
        </p:nvSpPr>
        <p:spPr/>
        <p:txBody>
          <a:bodyPr/>
          <a:lstStyle/>
          <a:p>
            <a:r>
              <a:rPr lang="en-US" dirty="0"/>
              <a:t>Activity Sequencing</a:t>
            </a:r>
          </a:p>
        </p:txBody>
      </p:sp>
      <p:sp>
        <p:nvSpPr>
          <p:cNvPr id="3" name="Content Placeholder 2">
            <a:extLst>
              <a:ext uri="{FF2B5EF4-FFF2-40B4-BE49-F238E27FC236}">
                <a16:creationId xmlns:a16="http://schemas.microsoft.com/office/drawing/2014/main" id="{4A85E799-A4E0-A2BF-1400-69301861C316}"/>
              </a:ext>
            </a:extLst>
          </p:cNvPr>
          <p:cNvSpPr>
            <a:spLocks noGrp="1"/>
          </p:cNvSpPr>
          <p:nvPr>
            <p:ph idx="1"/>
          </p:nvPr>
        </p:nvSpPr>
        <p:spPr/>
        <p:txBody>
          <a:bodyPr>
            <a:normAutofit fontScale="92500" lnSpcReduction="20000"/>
          </a:bodyPr>
          <a:lstStyle/>
          <a:p>
            <a:pPr marL="0" indent="0">
              <a:buNone/>
            </a:pPr>
            <a:r>
              <a:rPr lang="en-US" b="1" dirty="0"/>
              <a:t>Activity sequencing</a:t>
            </a:r>
            <a:r>
              <a:rPr lang="en-US" dirty="0"/>
              <a:t> is about determining the relationships and dependencies between activities.</a:t>
            </a:r>
          </a:p>
          <a:p>
            <a:r>
              <a:rPr lang="en-US" b="1" dirty="0"/>
              <a:t>Finish-to-Start (FS)</a:t>
            </a:r>
            <a:r>
              <a:rPr lang="en-US" dirty="0"/>
              <a:t>: The most common dependency where one activity must finish before the next can start.</a:t>
            </a:r>
          </a:p>
          <a:p>
            <a:pPr lvl="1"/>
            <a:r>
              <a:rPr lang="en-US" dirty="0"/>
              <a:t>Example: Testing cannot begin until coding is finished.</a:t>
            </a:r>
          </a:p>
          <a:p>
            <a:r>
              <a:rPr lang="en-US" b="1" dirty="0"/>
              <a:t>Start-to-Start (SS)</a:t>
            </a:r>
            <a:r>
              <a:rPr lang="en-US" dirty="0"/>
              <a:t>: Two activities must start at the same time or one must start before the other starts.</a:t>
            </a:r>
          </a:p>
          <a:p>
            <a:pPr lvl="1"/>
            <a:r>
              <a:rPr lang="en-US" dirty="0"/>
              <a:t>Example: You can begin data entry as soon as data preparation starts.</a:t>
            </a:r>
          </a:p>
          <a:p>
            <a:r>
              <a:rPr lang="en-US" b="1" dirty="0"/>
              <a:t>Finish-to-Finish (FF)</a:t>
            </a:r>
            <a:r>
              <a:rPr lang="en-US" dirty="0"/>
              <a:t>: One activity must finish before the other finishes.</a:t>
            </a:r>
          </a:p>
          <a:p>
            <a:pPr lvl="1"/>
            <a:r>
              <a:rPr lang="en-US" dirty="0"/>
              <a:t>Example: The final testing can’t finish until the documentation is completed.</a:t>
            </a:r>
          </a:p>
          <a:p>
            <a:r>
              <a:rPr lang="en-US" b="1" dirty="0"/>
              <a:t>Start-to-Finish (SF)</a:t>
            </a:r>
            <a:r>
              <a:rPr lang="en-US" dirty="0"/>
              <a:t>: The second task cannot finish until the first task starts.</a:t>
            </a:r>
          </a:p>
          <a:p>
            <a:pPr lvl="1"/>
            <a:r>
              <a:rPr lang="en-US" dirty="0"/>
              <a:t>Example: The system shutdown can't finish until the backup system starts.</a:t>
            </a:r>
          </a:p>
          <a:p>
            <a:endParaRPr lang="en-US" dirty="0"/>
          </a:p>
        </p:txBody>
      </p:sp>
    </p:spTree>
    <p:extLst>
      <p:ext uri="{BB962C8B-B14F-4D97-AF65-F5344CB8AC3E}">
        <p14:creationId xmlns:p14="http://schemas.microsoft.com/office/powerpoint/2010/main" val="2833024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7CBD-0890-57F3-6003-0051A901050B}"/>
              </a:ext>
            </a:extLst>
          </p:cNvPr>
          <p:cNvSpPr>
            <a:spLocks noGrp="1"/>
          </p:cNvSpPr>
          <p:nvPr>
            <p:ph type="title"/>
          </p:nvPr>
        </p:nvSpPr>
        <p:spPr/>
        <p:txBody>
          <a:bodyPr/>
          <a:lstStyle/>
          <a:p>
            <a:r>
              <a:rPr lang="en-US" dirty="0"/>
              <a:t>Scheduling Activities Using WBS</a:t>
            </a:r>
          </a:p>
        </p:txBody>
      </p:sp>
      <p:sp>
        <p:nvSpPr>
          <p:cNvPr id="3" name="Content Placeholder 2">
            <a:extLst>
              <a:ext uri="{FF2B5EF4-FFF2-40B4-BE49-F238E27FC236}">
                <a16:creationId xmlns:a16="http://schemas.microsoft.com/office/drawing/2014/main" id="{07EBB5F8-79D6-E838-0B3D-B1213B89807F}"/>
              </a:ext>
            </a:extLst>
          </p:cNvPr>
          <p:cNvSpPr>
            <a:spLocks noGrp="1"/>
          </p:cNvSpPr>
          <p:nvPr>
            <p:ph idx="1"/>
          </p:nvPr>
        </p:nvSpPr>
        <p:spPr/>
        <p:txBody>
          <a:bodyPr>
            <a:normAutofit lnSpcReduction="10000"/>
          </a:bodyPr>
          <a:lstStyle/>
          <a:p>
            <a:r>
              <a:rPr lang="en-US" b="1" dirty="0"/>
              <a:t>WBS (Work Breakdown Structure)</a:t>
            </a:r>
            <a:r>
              <a:rPr lang="en-US" dirty="0"/>
              <a:t>: A hierarchical decomposition of the project deliverables and scope into smaller, more manageable components.</a:t>
            </a:r>
          </a:p>
          <a:p>
            <a:r>
              <a:rPr lang="en-US" b="1" dirty="0"/>
              <a:t>Example</a:t>
            </a:r>
            <a:r>
              <a:rPr lang="en-US" dirty="0"/>
              <a:t>: If you’re managing a software development project, your WBS might include:</a:t>
            </a:r>
          </a:p>
          <a:p>
            <a:pPr lvl="1"/>
            <a:r>
              <a:rPr lang="en-US" b="1" dirty="0"/>
              <a:t>Phase 1</a:t>
            </a:r>
            <a:r>
              <a:rPr lang="en-US" dirty="0"/>
              <a:t>: Requirements Gathering</a:t>
            </a:r>
          </a:p>
          <a:p>
            <a:pPr lvl="1"/>
            <a:r>
              <a:rPr lang="en-US" b="1" dirty="0"/>
              <a:t>Phase 2</a:t>
            </a:r>
            <a:r>
              <a:rPr lang="en-US" dirty="0"/>
              <a:t>: Design</a:t>
            </a:r>
          </a:p>
          <a:p>
            <a:pPr lvl="1"/>
            <a:r>
              <a:rPr lang="en-US" b="1" dirty="0"/>
              <a:t>Phase 3</a:t>
            </a:r>
            <a:r>
              <a:rPr lang="en-US" dirty="0"/>
              <a:t>: Development</a:t>
            </a:r>
          </a:p>
          <a:p>
            <a:pPr lvl="1"/>
            <a:r>
              <a:rPr lang="en-US" b="1" dirty="0"/>
              <a:t>Phase 4</a:t>
            </a:r>
            <a:r>
              <a:rPr lang="en-US" dirty="0"/>
              <a:t>: Testing</a:t>
            </a:r>
          </a:p>
          <a:p>
            <a:pPr lvl="1"/>
            <a:r>
              <a:rPr lang="en-US" b="1" dirty="0"/>
              <a:t>Phase 5</a:t>
            </a:r>
            <a:r>
              <a:rPr lang="en-US" dirty="0"/>
              <a:t>: Deployment</a:t>
            </a:r>
          </a:p>
          <a:p>
            <a:r>
              <a:rPr lang="en-US" dirty="0"/>
              <a:t>From the WBS, you can extract </a:t>
            </a:r>
            <a:r>
              <a:rPr lang="en-US" b="1" dirty="0"/>
              <a:t>activities</a:t>
            </a:r>
            <a:r>
              <a:rPr lang="en-US" dirty="0"/>
              <a:t> for further scheduling.</a:t>
            </a:r>
          </a:p>
          <a:p>
            <a:endParaRPr lang="en-US" dirty="0"/>
          </a:p>
        </p:txBody>
      </p:sp>
    </p:spTree>
    <p:extLst>
      <p:ext uri="{BB962C8B-B14F-4D97-AF65-F5344CB8AC3E}">
        <p14:creationId xmlns:p14="http://schemas.microsoft.com/office/powerpoint/2010/main" val="3167092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51CBC-2DC1-4C07-DC24-9D0FD75141BF}"/>
              </a:ext>
            </a:extLst>
          </p:cNvPr>
          <p:cNvSpPr>
            <a:spLocks noGrp="1"/>
          </p:cNvSpPr>
          <p:nvPr>
            <p:ph type="title"/>
          </p:nvPr>
        </p:nvSpPr>
        <p:spPr/>
        <p:txBody>
          <a:bodyPr/>
          <a:lstStyle/>
          <a:p>
            <a:r>
              <a:rPr lang="en-US" dirty="0"/>
              <a:t>Scheduling activities using </a:t>
            </a:r>
            <a:r>
              <a:rPr lang="en-US" b="1" dirty="0"/>
              <a:t>Network Planning Model</a:t>
            </a:r>
            <a:r>
              <a:rPr lang="en-US" dirty="0"/>
              <a:t>: </a:t>
            </a:r>
          </a:p>
        </p:txBody>
      </p:sp>
      <p:sp>
        <p:nvSpPr>
          <p:cNvPr id="3" name="Content Placeholder 2">
            <a:extLst>
              <a:ext uri="{FF2B5EF4-FFF2-40B4-BE49-F238E27FC236}">
                <a16:creationId xmlns:a16="http://schemas.microsoft.com/office/drawing/2014/main" id="{137040CF-EA6D-9352-F7D5-F3A57069D914}"/>
              </a:ext>
            </a:extLst>
          </p:cNvPr>
          <p:cNvSpPr>
            <a:spLocks noGrp="1"/>
          </p:cNvSpPr>
          <p:nvPr>
            <p:ph idx="1"/>
          </p:nvPr>
        </p:nvSpPr>
        <p:spPr/>
        <p:txBody>
          <a:bodyPr/>
          <a:lstStyle/>
          <a:p>
            <a:r>
              <a:rPr lang="en-US" b="1" dirty="0"/>
              <a:t>Network Planning Model</a:t>
            </a:r>
            <a:r>
              <a:rPr lang="en-US" dirty="0"/>
              <a:t>: A </a:t>
            </a:r>
            <a:r>
              <a:rPr lang="en-US" b="1" dirty="0"/>
              <a:t>network diagram</a:t>
            </a:r>
            <a:r>
              <a:rPr lang="en-US" dirty="0"/>
              <a:t> represents the sequence of project activities and their dependencies. It helps identify critical paths and resource allocation.</a:t>
            </a:r>
          </a:p>
          <a:p>
            <a:r>
              <a:rPr lang="en-US" b="1" dirty="0"/>
              <a:t>Example</a:t>
            </a:r>
            <a:r>
              <a:rPr lang="en-US" dirty="0"/>
              <a:t>:</a:t>
            </a:r>
          </a:p>
          <a:p>
            <a:pPr lvl="1"/>
            <a:r>
              <a:rPr lang="en-US"/>
              <a:t>Use </a:t>
            </a:r>
            <a:r>
              <a:rPr lang="en-US" b="1"/>
              <a:t>Activity-on-Node (AON)</a:t>
            </a:r>
            <a:r>
              <a:rPr lang="en-US"/>
              <a:t> method for the network diagram where nodes represent tasks and arrows represent dependencies.</a:t>
            </a:r>
          </a:p>
          <a:p>
            <a:endParaRPr lang="en-US"/>
          </a:p>
        </p:txBody>
      </p:sp>
    </p:spTree>
    <p:extLst>
      <p:ext uri="{BB962C8B-B14F-4D97-AF65-F5344CB8AC3E}">
        <p14:creationId xmlns:p14="http://schemas.microsoft.com/office/powerpoint/2010/main" val="2687784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D70F-E365-89A5-90F9-427E557C2C90}"/>
              </a:ext>
            </a:extLst>
          </p:cNvPr>
          <p:cNvSpPr>
            <a:spLocks noGrp="1"/>
          </p:cNvSpPr>
          <p:nvPr>
            <p:ph type="title"/>
          </p:nvPr>
        </p:nvSpPr>
        <p:spPr/>
        <p:txBody>
          <a:bodyPr/>
          <a:lstStyle/>
          <a:p>
            <a:r>
              <a:rPr lang="en-US" b="1" dirty="0"/>
              <a:t>Network Diagram in Project Management</a:t>
            </a:r>
            <a:endParaRPr lang="en-US" dirty="0"/>
          </a:p>
        </p:txBody>
      </p:sp>
      <p:sp>
        <p:nvSpPr>
          <p:cNvPr id="3" name="Content Placeholder 2">
            <a:extLst>
              <a:ext uri="{FF2B5EF4-FFF2-40B4-BE49-F238E27FC236}">
                <a16:creationId xmlns:a16="http://schemas.microsoft.com/office/drawing/2014/main" id="{76EF6DCB-1369-B195-A704-A83DCA6127E8}"/>
              </a:ext>
            </a:extLst>
          </p:cNvPr>
          <p:cNvSpPr>
            <a:spLocks noGrp="1"/>
          </p:cNvSpPr>
          <p:nvPr>
            <p:ph idx="1"/>
          </p:nvPr>
        </p:nvSpPr>
        <p:spPr/>
        <p:txBody>
          <a:bodyPr>
            <a:normAutofit fontScale="70000" lnSpcReduction="20000"/>
          </a:bodyPr>
          <a:lstStyle/>
          <a:p>
            <a:pPr marL="0" indent="0" fontAlgn="base">
              <a:buNone/>
            </a:pPr>
            <a:r>
              <a:rPr lang="en-US" dirty="0"/>
              <a:t>Network diagrams help project managers:</a:t>
            </a:r>
          </a:p>
          <a:p>
            <a:pPr fontAlgn="base"/>
            <a:r>
              <a:rPr lang="en-US" b="1" dirty="0"/>
              <a:t>Sequence Tasks</a:t>
            </a:r>
            <a:r>
              <a:rPr lang="en-US" dirty="0"/>
              <a:t>: They provide a clear understanding of the order in which tasks should be executed, ensuring that work progresses smoothly from one activity to the next.</a:t>
            </a:r>
          </a:p>
          <a:p>
            <a:pPr fontAlgn="base"/>
            <a:r>
              <a:rPr lang="en-US" b="1" dirty="0"/>
              <a:t>Identify Dependencies</a:t>
            </a:r>
            <a:r>
              <a:rPr lang="en-US" dirty="0"/>
              <a:t>: By showing the relationships between tasks, network diagrams highlight dependencies—where the completion of one task depends on the start or completion of another. This helps in managing task dependencies effectively.</a:t>
            </a:r>
          </a:p>
          <a:p>
            <a:pPr fontAlgn="base"/>
            <a:r>
              <a:rPr lang="en-US" b="1" dirty="0"/>
              <a:t>Determine the Critical Path</a:t>
            </a:r>
            <a:r>
              <a:rPr lang="en-US" dirty="0"/>
              <a:t>: The critical path is the longest sequence of tasks that determines the shortest possible duration of the project. By identifying the critical path, project managers can focus their efforts on managing and optimizing tasks along this path to ensure timely project completion.</a:t>
            </a:r>
          </a:p>
          <a:p>
            <a:pPr fontAlgn="base"/>
            <a:r>
              <a:rPr lang="en-US" b="1" dirty="0"/>
              <a:t>Estimate Project Duration</a:t>
            </a:r>
            <a:r>
              <a:rPr lang="en-US" dirty="0"/>
              <a:t>: By analyzing the sequence of tasks and dependencies, project managers can estimate the overall duration of the project more accurately, taking into account potential delays and dependencies.</a:t>
            </a:r>
          </a:p>
          <a:p>
            <a:pPr fontAlgn="base"/>
            <a:r>
              <a:rPr lang="en-US" b="1" dirty="0"/>
              <a:t>Allocate Resources</a:t>
            </a:r>
            <a:r>
              <a:rPr lang="en-US" dirty="0"/>
              <a:t>: Network diagrams help in resource allocation by providing insights into when and where resources are needed throughout the </a:t>
            </a:r>
            <a:r>
              <a:rPr lang="en-US" u="sng" dirty="0">
                <a:hlinkClick r:id="rId2"/>
              </a:rPr>
              <a:t>project lifecycle</a:t>
            </a:r>
            <a:r>
              <a:rPr lang="en-US" dirty="0"/>
              <a:t>.</a:t>
            </a:r>
          </a:p>
          <a:p>
            <a:endParaRPr lang="en-US" dirty="0"/>
          </a:p>
        </p:txBody>
      </p:sp>
    </p:spTree>
    <p:extLst>
      <p:ext uri="{BB962C8B-B14F-4D97-AF65-F5344CB8AC3E}">
        <p14:creationId xmlns:p14="http://schemas.microsoft.com/office/powerpoint/2010/main" val="877797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E94E8-4A1E-7377-70AA-70EC255F2D52}"/>
              </a:ext>
            </a:extLst>
          </p:cNvPr>
          <p:cNvSpPr>
            <a:spLocks noGrp="1"/>
          </p:cNvSpPr>
          <p:nvPr>
            <p:ph type="title"/>
          </p:nvPr>
        </p:nvSpPr>
        <p:spPr/>
        <p:txBody>
          <a:bodyPr/>
          <a:lstStyle/>
          <a:p>
            <a:r>
              <a:rPr lang="en-US" b="1" dirty="0"/>
              <a:t>Components of a Project Schedule Network Diagram</a:t>
            </a:r>
            <a:r>
              <a:rPr lang="en-US" dirty="0"/>
              <a:t>:</a:t>
            </a:r>
          </a:p>
        </p:txBody>
      </p:sp>
      <p:sp>
        <p:nvSpPr>
          <p:cNvPr id="3" name="Content Placeholder 2">
            <a:extLst>
              <a:ext uri="{FF2B5EF4-FFF2-40B4-BE49-F238E27FC236}">
                <a16:creationId xmlns:a16="http://schemas.microsoft.com/office/drawing/2014/main" id="{010EE8DA-F7AA-15FF-4EA2-F0ABF836F2DF}"/>
              </a:ext>
            </a:extLst>
          </p:cNvPr>
          <p:cNvSpPr>
            <a:spLocks noGrp="1"/>
          </p:cNvSpPr>
          <p:nvPr>
            <p:ph idx="1"/>
          </p:nvPr>
        </p:nvSpPr>
        <p:spPr/>
        <p:txBody>
          <a:bodyPr>
            <a:normAutofit fontScale="70000" lnSpcReduction="20000"/>
          </a:bodyPr>
          <a:lstStyle/>
          <a:p>
            <a:pPr fontAlgn="base"/>
            <a:r>
              <a:rPr lang="en-US" b="1" dirty="0"/>
              <a:t>Nodes (Boxes)</a:t>
            </a:r>
            <a:r>
              <a:rPr lang="en-US" dirty="0"/>
              <a:t>: Nodes represent project activities or tasks. Each node contains information such as the activity name, duration, resources, and any other relevant details.</a:t>
            </a:r>
          </a:p>
          <a:p>
            <a:pPr fontAlgn="base"/>
            <a:r>
              <a:rPr lang="en-US" b="1" dirty="0"/>
              <a:t>Arrows (Lines)</a:t>
            </a:r>
            <a:r>
              <a:rPr lang="en-US" dirty="0"/>
              <a:t>: Arrows represent dependencies between activities. They show the logical sequence in which activities must be performed. The direction of the arrow indicates the flow of work.</a:t>
            </a:r>
          </a:p>
          <a:p>
            <a:pPr fontAlgn="base"/>
            <a:r>
              <a:rPr lang="en-US" b="1" dirty="0"/>
              <a:t>Relationships</a:t>
            </a:r>
            <a:r>
              <a:rPr lang="en-US" dirty="0"/>
              <a:t>: There are four types of relationships between activities:</a:t>
            </a:r>
          </a:p>
          <a:p>
            <a:pPr lvl="1" fontAlgn="base"/>
            <a:r>
              <a:rPr lang="en-US" b="1" dirty="0"/>
              <a:t>Finish-to-Start (FS)</a:t>
            </a:r>
            <a:r>
              <a:rPr lang="en-US" dirty="0"/>
              <a:t>: The successor activity cannot start until the predecessor activity finishes.</a:t>
            </a:r>
          </a:p>
          <a:p>
            <a:pPr lvl="1" fontAlgn="base"/>
            <a:r>
              <a:rPr lang="en-US" b="1" dirty="0"/>
              <a:t>Start-to-Start (SS)</a:t>
            </a:r>
            <a:r>
              <a:rPr lang="en-US" dirty="0"/>
              <a:t>: The successor activity cannot start until the predecessor activity starts.</a:t>
            </a:r>
          </a:p>
          <a:p>
            <a:pPr lvl="1" fontAlgn="base"/>
            <a:r>
              <a:rPr lang="en-US" b="1" dirty="0"/>
              <a:t>Finish-to-Finish (FF)</a:t>
            </a:r>
            <a:r>
              <a:rPr lang="en-US" dirty="0"/>
              <a:t>: The successor activity cannot finish until the predecessor activity finishes.</a:t>
            </a:r>
          </a:p>
          <a:p>
            <a:pPr lvl="1" fontAlgn="base"/>
            <a:r>
              <a:rPr lang="en-US" b="1" dirty="0"/>
              <a:t>Start-to-Finish (SF)</a:t>
            </a:r>
            <a:r>
              <a:rPr lang="en-US" dirty="0"/>
              <a:t>: The successor activity cannot finish until the predecessor activity starts.</a:t>
            </a:r>
          </a:p>
          <a:p>
            <a:pPr fontAlgn="base"/>
            <a:r>
              <a:rPr lang="en-US" b="1" dirty="0"/>
              <a:t>Critical Path</a:t>
            </a:r>
            <a:r>
              <a:rPr lang="en-US" dirty="0"/>
              <a:t>: The critical path is the longest sequence of dependent activities that determine the shortest possible duration for completing the project. Activities on the critical path have zero slack or float time, meaning any delay in these activities will directly impact the project's overall timeline.</a:t>
            </a:r>
          </a:p>
          <a:p>
            <a:endParaRPr lang="en-US" dirty="0"/>
          </a:p>
        </p:txBody>
      </p:sp>
    </p:spTree>
    <p:extLst>
      <p:ext uri="{BB962C8B-B14F-4D97-AF65-F5344CB8AC3E}">
        <p14:creationId xmlns:p14="http://schemas.microsoft.com/office/powerpoint/2010/main" val="1676247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D987A2-AF1B-73A9-2915-F2825B391690}"/>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Gantt Chart</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F346ED12-588E-F54F-E306-FB1D9A6AF241}"/>
              </a:ext>
            </a:extLst>
          </p:cNvPr>
          <p:cNvPicPr>
            <a:picLocks noGrp="1" noChangeAspect="1"/>
          </p:cNvPicPr>
          <p:nvPr>
            <p:ph idx="1"/>
          </p:nvPr>
        </p:nvPicPr>
        <p:blipFill>
          <a:blip r:embed="rId2"/>
          <a:stretch>
            <a:fillRect/>
          </a:stretch>
        </p:blipFill>
        <p:spPr>
          <a:xfrm>
            <a:off x="4654296" y="1160717"/>
            <a:ext cx="7214616" cy="4509134"/>
          </a:xfrm>
          <a:prstGeom prst="rect">
            <a:avLst/>
          </a:prstGeom>
        </p:spPr>
      </p:pic>
    </p:spTree>
    <p:extLst>
      <p:ext uri="{BB962C8B-B14F-4D97-AF65-F5344CB8AC3E}">
        <p14:creationId xmlns:p14="http://schemas.microsoft.com/office/powerpoint/2010/main" val="2662649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43C5085-E0C0-E7CB-23F2-706BB0077FA8}"/>
              </a:ext>
            </a:extLst>
          </p:cNvPr>
          <p:cNvPicPr>
            <a:picLocks noGrp="1" noChangeAspect="1"/>
          </p:cNvPicPr>
          <p:nvPr>
            <p:ph idx="1"/>
          </p:nvPr>
        </p:nvPicPr>
        <p:blipFill>
          <a:blip r:embed="rId2"/>
          <a:srcRect t="8586" r="-2" b="-2"/>
          <a:stretch>
            <a:fillRect/>
          </a:stretch>
        </p:blipFill>
        <p:spPr>
          <a:xfrm>
            <a:off x="-6588" y="10"/>
            <a:ext cx="12198588" cy="6857990"/>
          </a:xfrm>
          <a:prstGeom prst="rect">
            <a:avLst/>
          </a:prstGeom>
        </p:spPr>
      </p:pic>
    </p:spTree>
    <p:extLst>
      <p:ext uri="{BB962C8B-B14F-4D97-AF65-F5344CB8AC3E}">
        <p14:creationId xmlns:p14="http://schemas.microsoft.com/office/powerpoint/2010/main" val="1746331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DDEE0-5CE6-0558-C764-084C7D7071D6}"/>
              </a:ext>
            </a:extLst>
          </p:cNvPr>
          <p:cNvSpPr>
            <a:spLocks noGrp="1"/>
          </p:cNvSpPr>
          <p:nvPr>
            <p:ph type="title"/>
          </p:nvPr>
        </p:nvSpPr>
        <p:spPr/>
        <p:txBody>
          <a:bodyPr/>
          <a:lstStyle/>
          <a:p>
            <a:r>
              <a:rPr lang="en-US" dirty="0"/>
              <a:t>PDM Network Diagram</a:t>
            </a:r>
          </a:p>
        </p:txBody>
      </p:sp>
      <p:sp>
        <p:nvSpPr>
          <p:cNvPr id="3" name="Content Placeholder 2">
            <a:extLst>
              <a:ext uri="{FF2B5EF4-FFF2-40B4-BE49-F238E27FC236}">
                <a16:creationId xmlns:a16="http://schemas.microsoft.com/office/drawing/2014/main" id="{890B4236-EADF-ADC9-6634-DF8DCE59D09B}"/>
              </a:ext>
            </a:extLst>
          </p:cNvPr>
          <p:cNvSpPr>
            <a:spLocks noGrp="1"/>
          </p:cNvSpPr>
          <p:nvPr>
            <p:ph idx="1"/>
          </p:nvPr>
        </p:nvSpPr>
        <p:spPr/>
        <p:txBody>
          <a:bodyPr>
            <a:normAutofit fontScale="92500" lnSpcReduction="10000"/>
          </a:bodyPr>
          <a:lstStyle/>
          <a:p>
            <a:r>
              <a:rPr lang="en-US" dirty="0"/>
              <a:t>A </a:t>
            </a:r>
            <a:r>
              <a:rPr lang="en-US" b="1" dirty="0"/>
              <a:t>PDM (Precedence Diagramming Method)</a:t>
            </a:r>
            <a:r>
              <a:rPr lang="en-US" dirty="0"/>
              <a:t> network diagram is a type of project scheduling diagram where activities (or tasks) are represented as nodes, and the relationships between them (dependencies) are shown using arrows. The </a:t>
            </a:r>
            <a:r>
              <a:rPr lang="en-US" b="1" dirty="0"/>
              <a:t>PDM</a:t>
            </a:r>
            <a:r>
              <a:rPr lang="en-US" dirty="0"/>
              <a:t> method is widely used in project management, especially for creating </a:t>
            </a:r>
            <a:r>
              <a:rPr lang="en-US" b="1" dirty="0"/>
              <a:t>project schedules</a:t>
            </a:r>
            <a:r>
              <a:rPr lang="en-US" dirty="0"/>
              <a:t> and understanding task dependencies.</a:t>
            </a:r>
          </a:p>
          <a:p>
            <a:r>
              <a:rPr lang="en-US" b="1" dirty="0"/>
              <a:t>Key Components of a PDM Network Diagram:</a:t>
            </a:r>
          </a:p>
          <a:p>
            <a:r>
              <a:rPr lang="en-US" b="1" dirty="0"/>
              <a:t>Nodes</a:t>
            </a:r>
            <a:r>
              <a:rPr lang="en-US" dirty="0"/>
              <a:t> represent the tasks or activities in the project.</a:t>
            </a:r>
          </a:p>
          <a:p>
            <a:r>
              <a:rPr lang="en-US" b="1" dirty="0"/>
              <a:t>Arrows</a:t>
            </a:r>
            <a:r>
              <a:rPr lang="en-US" dirty="0"/>
              <a:t> represent the dependencies (relationships) between tasks.</a:t>
            </a:r>
          </a:p>
          <a:p>
            <a:r>
              <a:rPr lang="en-US" dirty="0"/>
              <a:t>The diagram helps determine the project’s </a:t>
            </a:r>
            <a:r>
              <a:rPr lang="en-US" b="1" dirty="0"/>
              <a:t>critical path</a:t>
            </a:r>
            <a:r>
              <a:rPr lang="en-US" dirty="0"/>
              <a:t> and shows which tasks must be completed before others can start.</a:t>
            </a:r>
          </a:p>
          <a:p>
            <a:endParaRPr lang="en-US" dirty="0"/>
          </a:p>
        </p:txBody>
      </p:sp>
    </p:spTree>
    <p:extLst>
      <p:ext uri="{BB962C8B-B14F-4D97-AF65-F5344CB8AC3E}">
        <p14:creationId xmlns:p14="http://schemas.microsoft.com/office/powerpoint/2010/main" val="3179656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A9461-691A-0D5F-D644-CC1128B6F54D}"/>
              </a:ext>
            </a:extLst>
          </p:cNvPr>
          <p:cNvSpPr>
            <a:spLocks noGrp="1"/>
          </p:cNvSpPr>
          <p:nvPr>
            <p:ph type="title"/>
          </p:nvPr>
        </p:nvSpPr>
        <p:spPr/>
        <p:txBody>
          <a:bodyPr/>
          <a:lstStyle/>
          <a:p>
            <a:r>
              <a:rPr lang="en-US" b="1" dirty="0"/>
              <a:t>Types of Dependencies in PDM:</a:t>
            </a:r>
            <a:endParaRPr lang="en-US" dirty="0"/>
          </a:p>
        </p:txBody>
      </p:sp>
      <p:sp>
        <p:nvSpPr>
          <p:cNvPr id="3" name="Content Placeholder 2">
            <a:extLst>
              <a:ext uri="{FF2B5EF4-FFF2-40B4-BE49-F238E27FC236}">
                <a16:creationId xmlns:a16="http://schemas.microsoft.com/office/drawing/2014/main" id="{884429AF-8BA2-E12C-CC49-23DDEF74653A}"/>
              </a:ext>
            </a:extLst>
          </p:cNvPr>
          <p:cNvSpPr>
            <a:spLocks noGrp="1"/>
          </p:cNvSpPr>
          <p:nvPr>
            <p:ph idx="1"/>
          </p:nvPr>
        </p:nvSpPr>
        <p:spPr/>
        <p:txBody>
          <a:bodyPr>
            <a:normAutofit fontScale="92500" lnSpcReduction="20000"/>
          </a:bodyPr>
          <a:lstStyle/>
          <a:p>
            <a:r>
              <a:rPr lang="en-US" b="1" dirty="0"/>
              <a:t>Finish-to-Start (FS)</a:t>
            </a:r>
            <a:r>
              <a:rPr lang="en-US" dirty="0"/>
              <a:t>: The most common type, where Task A must finish before Task B can start.</a:t>
            </a:r>
          </a:p>
          <a:p>
            <a:pPr lvl="1"/>
            <a:r>
              <a:rPr lang="en-US" b="1" dirty="0"/>
              <a:t>Example</a:t>
            </a:r>
            <a:r>
              <a:rPr lang="en-US" dirty="0"/>
              <a:t>: You must finish building the foundation (Task A) before you can start framing the structure (Task B).</a:t>
            </a:r>
          </a:p>
          <a:p>
            <a:r>
              <a:rPr lang="en-US" b="1" dirty="0"/>
              <a:t>Start-to-Start (SS)</a:t>
            </a:r>
            <a:r>
              <a:rPr lang="en-US" dirty="0"/>
              <a:t>: Task B cannot start until Task A has started.</a:t>
            </a:r>
          </a:p>
          <a:p>
            <a:pPr lvl="1"/>
            <a:r>
              <a:rPr lang="en-US" b="1" dirty="0"/>
              <a:t>Example</a:t>
            </a:r>
            <a:r>
              <a:rPr lang="en-US" dirty="0"/>
              <a:t>: The "painting" task cannot start until the "drywall installation" has started (both can overlap but must start together).</a:t>
            </a:r>
          </a:p>
          <a:p>
            <a:r>
              <a:rPr lang="en-US" b="1" dirty="0"/>
              <a:t>Finish-to-Finish (FF)</a:t>
            </a:r>
            <a:r>
              <a:rPr lang="en-US" dirty="0"/>
              <a:t>: Task B cannot finish until Task A finishes.</a:t>
            </a:r>
          </a:p>
          <a:p>
            <a:pPr lvl="1"/>
            <a:r>
              <a:rPr lang="en-US" b="1" dirty="0"/>
              <a:t>Example</a:t>
            </a:r>
            <a:r>
              <a:rPr lang="en-US" dirty="0"/>
              <a:t>: The "QA Testing" task cannot finish until the "development" task finishes.</a:t>
            </a:r>
          </a:p>
          <a:p>
            <a:r>
              <a:rPr lang="en-US" b="1" dirty="0"/>
              <a:t>Start-to-Finish (SF)</a:t>
            </a:r>
            <a:r>
              <a:rPr lang="en-US" dirty="0"/>
              <a:t>: Task B cannot finish until Task A starts (less common).</a:t>
            </a:r>
          </a:p>
          <a:p>
            <a:pPr lvl="1"/>
            <a:r>
              <a:rPr lang="en-US" b="1" dirty="0"/>
              <a:t>Example</a:t>
            </a:r>
            <a:r>
              <a:rPr lang="en-US" dirty="0"/>
              <a:t>: The backup system (Task B) cannot finish until the primary system upgrade (Task A) has started.</a:t>
            </a:r>
          </a:p>
          <a:p>
            <a:endParaRPr lang="en-US" dirty="0"/>
          </a:p>
        </p:txBody>
      </p:sp>
    </p:spTree>
    <p:extLst>
      <p:ext uri="{BB962C8B-B14F-4D97-AF65-F5344CB8AC3E}">
        <p14:creationId xmlns:p14="http://schemas.microsoft.com/office/powerpoint/2010/main" val="3236535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6E0C6-7E55-5DBB-3F29-2D648C615E75}"/>
              </a:ext>
            </a:extLst>
          </p:cNvPr>
          <p:cNvSpPr>
            <a:spLocks noGrp="1"/>
          </p:cNvSpPr>
          <p:nvPr>
            <p:ph type="title"/>
          </p:nvPr>
        </p:nvSpPr>
        <p:spPr/>
        <p:txBody>
          <a:bodyPr/>
          <a:lstStyle/>
          <a:p>
            <a:r>
              <a:rPr lang="en-US" b="1" dirty="0"/>
              <a:t>Steps to Create a PDM Network Diagram:</a:t>
            </a:r>
            <a:endParaRPr lang="en-US" dirty="0"/>
          </a:p>
        </p:txBody>
      </p:sp>
      <p:sp>
        <p:nvSpPr>
          <p:cNvPr id="3" name="Content Placeholder 2">
            <a:extLst>
              <a:ext uri="{FF2B5EF4-FFF2-40B4-BE49-F238E27FC236}">
                <a16:creationId xmlns:a16="http://schemas.microsoft.com/office/drawing/2014/main" id="{433F0B74-B8B4-7032-F5E1-D91C1DA09799}"/>
              </a:ext>
            </a:extLst>
          </p:cNvPr>
          <p:cNvSpPr>
            <a:spLocks noGrp="1"/>
          </p:cNvSpPr>
          <p:nvPr>
            <p:ph idx="1"/>
          </p:nvPr>
        </p:nvSpPr>
        <p:spPr/>
        <p:txBody>
          <a:bodyPr>
            <a:normAutofit lnSpcReduction="10000"/>
          </a:bodyPr>
          <a:lstStyle/>
          <a:p>
            <a:r>
              <a:rPr lang="en-US" b="1" dirty="0"/>
              <a:t>List the Tasks/Activities</a:t>
            </a:r>
            <a:r>
              <a:rPr lang="en-US" dirty="0"/>
              <a:t>: Break down the project into smaller tasks or activities.</a:t>
            </a:r>
          </a:p>
          <a:p>
            <a:r>
              <a:rPr lang="en-US" b="1" dirty="0"/>
              <a:t>Identify Dependencies</a:t>
            </a:r>
            <a:r>
              <a:rPr lang="en-US" dirty="0"/>
              <a:t>: Determine how tasks relate to each other (which tasks must finish before others can start).</a:t>
            </a:r>
          </a:p>
          <a:p>
            <a:r>
              <a:rPr lang="en-US" b="1" dirty="0"/>
              <a:t>Draw the Network</a:t>
            </a:r>
            <a:r>
              <a:rPr lang="en-US" dirty="0"/>
              <a:t>: Use nodes (rectangles or circles) for tasks, and arrows for dependencies.</a:t>
            </a:r>
          </a:p>
          <a:p>
            <a:r>
              <a:rPr lang="en-US" b="1" dirty="0"/>
              <a:t>Label the Tasks</a:t>
            </a:r>
            <a:r>
              <a:rPr lang="en-US" dirty="0"/>
              <a:t>: Write the name or description of each task in the nodes.</a:t>
            </a:r>
          </a:p>
          <a:p>
            <a:r>
              <a:rPr lang="en-US" b="1" dirty="0"/>
              <a:t>Determine Critical Path</a:t>
            </a:r>
            <a:r>
              <a:rPr lang="en-US" dirty="0"/>
              <a:t>: Identify the longest sequence of dependent tasks that determines the project duration.</a:t>
            </a:r>
          </a:p>
          <a:p>
            <a:endParaRPr lang="en-US" dirty="0"/>
          </a:p>
        </p:txBody>
      </p:sp>
    </p:spTree>
    <p:extLst>
      <p:ext uri="{BB962C8B-B14F-4D97-AF65-F5344CB8AC3E}">
        <p14:creationId xmlns:p14="http://schemas.microsoft.com/office/powerpoint/2010/main" val="2805836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EFD46-FA13-C7C7-45ED-A6032F47650B}"/>
              </a:ext>
            </a:extLst>
          </p:cNvPr>
          <p:cNvSpPr>
            <a:spLocks noGrp="1"/>
          </p:cNvSpPr>
          <p:nvPr>
            <p:ph type="title"/>
          </p:nvPr>
        </p:nvSpPr>
        <p:spPr/>
        <p:txBody>
          <a:bodyPr/>
          <a:lstStyle/>
          <a:p>
            <a:r>
              <a:rPr lang="en-US" dirty="0"/>
              <a:t>Critical Path</a:t>
            </a:r>
          </a:p>
        </p:txBody>
      </p:sp>
      <p:sp>
        <p:nvSpPr>
          <p:cNvPr id="3" name="Content Placeholder 2">
            <a:extLst>
              <a:ext uri="{FF2B5EF4-FFF2-40B4-BE49-F238E27FC236}">
                <a16:creationId xmlns:a16="http://schemas.microsoft.com/office/drawing/2014/main" id="{88C9F6F8-9A4C-CFBE-58A0-BE93E9A31C63}"/>
              </a:ext>
            </a:extLst>
          </p:cNvPr>
          <p:cNvSpPr>
            <a:spLocks noGrp="1"/>
          </p:cNvSpPr>
          <p:nvPr>
            <p:ph idx="1"/>
          </p:nvPr>
        </p:nvSpPr>
        <p:spPr/>
        <p:txBody>
          <a:bodyPr>
            <a:normAutofit fontScale="92500" lnSpcReduction="20000"/>
          </a:bodyPr>
          <a:lstStyle/>
          <a:p>
            <a:r>
              <a:rPr lang="en-US" dirty="0"/>
              <a:t>The </a:t>
            </a:r>
            <a:r>
              <a:rPr lang="en-US" b="1" dirty="0"/>
              <a:t>Critical Path</a:t>
            </a:r>
            <a:r>
              <a:rPr lang="en-US" dirty="0"/>
              <a:t> is a key concept in </a:t>
            </a:r>
            <a:r>
              <a:rPr lang="en-US" b="1" dirty="0"/>
              <a:t>project management</a:t>
            </a:r>
            <a:r>
              <a:rPr lang="en-US" dirty="0"/>
              <a:t> and refers to the sequence of tasks or activities that must be completed on time in order to ensure the project finishes on schedule. </a:t>
            </a:r>
          </a:p>
          <a:p>
            <a:r>
              <a:rPr lang="en-US" dirty="0"/>
              <a:t>The critical path is the longest path through the project’s schedule and has </a:t>
            </a:r>
            <a:r>
              <a:rPr lang="en-US" b="1" dirty="0"/>
              <a:t>zero float</a:t>
            </a:r>
            <a:r>
              <a:rPr lang="en-US" dirty="0"/>
              <a:t> (or slack), meaning any delay in critical path activities will directly result in a delay in the overall project.</a:t>
            </a:r>
          </a:p>
          <a:p>
            <a:r>
              <a:rPr lang="en-US" b="1" dirty="0"/>
              <a:t>Key Characteristics of the Critical Path:</a:t>
            </a:r>
          </a:p>
          <a:p>
            <a:pPr lvl="1"/>
            <a:r>
              <a:rPr lang="en-US" b="1" dirty="0"/>
              <a:t>Longest Duration</a:t>
            </a:r>
            <a:r>
              <a:rPr lang="en-US" dirty="0"/>
              <a:t>: The critical path takes the longest total time to complete, and it directly impacts the project’s overall timeline.</a:t>
            </a:r>
          </a:p>
          <a:p>
            <a:pPr lvl="1"/>
            <a:r>
              <a:rPr lang="en-US" b="1" dirty="0"/>
              <a:t>No Slack/Float</a:t>
            </a:r>
            <a:r>
              <a:rPr lang="en-US" dirty="0"/>
              <a:t>: Tasks on the critical path cannot be delayed without delaying the entire project.</a:t>
            </a:r>
          </a:p>
          <a:p>
            <a:pPr lvl="1"/>
            <a:r>
              <a:rPr lang="en-US" b="1" dirty="0"/>
              <a:t>Determines Project Duration</a:t>
            </a:r>
            <a:r>
              <a:rPr lang="en-US" dirty="0"/>
              <a:t>: The total time of the critical path determines the minimum time required to complete the project.</a:t>
            </a:r>
          </a:p>
          <a:p>
            <a:endParaRPr lang="en-US" dirty="0"/>
          </a:p>
        </p:txBody>
      </p:sp>
    </p:spTree>
    <p:extLst>
      <p:ext uri="{BB962C8B-B14F-4D97-AF65-F5344CB8AC3E}">
        <p14:creationId xmlns:p14="http://schemas.microsoft.com/office/powerpoint/2010/main" val="3566777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3504D-BCD0-1941-EE18-9438B9678C9E}"/>
              </a:ext>
            </a:extLst>
          </p:cNvPr>
          <p:cNvSpPr>
            <a:spLocks noGrp="1"/>
          </p:cNvSpPr>
          <p:nvPr>
            <p:ph type="title"/>
          </p:nvPr>
        </p:nvSpPr>
        <p:spPr/>
        <p:txBody>
          <a:bodyPr/>
          <a:lstStyle/>
          <a:p>
            <a:r>
              <a:rPr lang="en-US" dirty="0"/>
              <a:t>How to Identify the Critical Path?</a:t>
            </a:r>
          </a:p>
        </p:txBody>
      </p:sp>
      <p:sp>
        <p:nvSpPr>
          <p:cNvPr id="3" name="Content Placeholder 2">
            <a:extLst>
              <a:ext uri="{FF2B5EF4-FFF2-40B4-BE49-F238E27FC236}">
                <a16:creationId xmlns:a16="http://schemas.microsoft.com/office/drawing/2014/main" id="{E5CDA503-ABE3-44A2-1BDF-7F0216D01226}"/>
              </a:ext>
            </a:extLst>
          </p:cNvPr>
          <p:cNvSpPr>
            <a:spLocks noGrp="1"/>
          </p:cNvSpPr>
          <p:nvPr>
            <p:ph idx="1"/>
          </p:nvPr>
        </p:nvSpPr>
        <p:spPr/>
        <p:txBody>
          <a:bodyPr>
            <a:normAutofit fontScale="62500" lnSpcReduction="20000"/>
          </a:bodyPr>
          <a:lstStyle/>
          <a:p>
            <a:pPr marL="0" indent="0">
              <a:buNone/>
            </a:pPr>
            <a:r>
              <a:rPr lang="en-US" dirty="0"/>
              <a:t>To identify the critical path in a project, follow these steps:</a:t>
            </a:r>
          </a:p>
          <a:p>
            <a:r>
              <a:rPr lang="en-US" b="1" dirty="0"/>
              <a:t>List All Activities</a:t>
            </a:r>
            <a:r>
              <a:rPr lang="en-US" dirty="0"/>
              <a:t>: Break the project down into smaller tasks and list all the activities required to complete the project.</a:t>
            </a:r>
          </a:p>
          <a:p>
            <a:r>
              <a:rPr lang="en-US" b="1" dirty="0"/>
              <a:t>Define Task Dependencies</a:t>
            </a:r>
            <a:r>
              <a:rPr lang="en-US" dirty="0"/>
              <a:t>: Identify which tasks depend on others. For example, some tasks must be completed before others can start.</a:t>
            </a:r>
          </a:p>
          <a:p>
            <a:r>
              <a:rPr lang="en-US" b="1" dirty="0"/>
              <a:t>Estimate Duration</a:t>
            </a:r>
            <a:r>
              <a:rPr lang="en-US" dirty="0"/>
              <a:t>: Estimate the duration of each task or activity.</a:t>
            </a:r>
          </a:p>
          <a:p>
            <a:r>
              <a:rPr lang="en-US" b="1" dirty="0"/>
              <a:t>Create a Network Diagram</a:t>
            </a:r>
            <a:r>
              <a:rPr lang="en-US" dirty="0"/>
              <a:t>: Use a </a:t>
            </a:r>
            <a:r>
              <a:rPr lang="en-US" b="1" dirty="0"/>
              <a:t>Precedence Diagramming Method (PDM)</a:t>
            </a:r>
            <a:r>
              <a:rPr lang="en-US" dirty="0"/>
              <a:t> or </a:t>
            </a:r>
            <a:r>
              <a:rPr lang="en-US" b="1" dirty="0"/>
              <a:t>Arrow Diagramming Method (ADM)</a:t>
            </a:r>
            <a:r>
              <a:rPr lang="en-US" dirty="0"/>
              <a:t> to visualize the sequence of tasks and dependencies.</a:t>
            </a:r>
          </a:p>
          <a:p>
            <a:r>
              <a:rPr lang="en-US" b="1" dirty="0"/>
              <a:t>Perform the Forward Pass</a:t>
            </a:r>
            <a:r>
              <a:rPr lang="en-US" dirty="0"/>
              <a:t>: Calculate the </a:t>
            </a:r>
            <a:r>
              <a:rPr lang="en-US" b="1" dirty="0"/>
              <a:t>Earliest Start (ES)</a:t>
            </a:r>
            <a:r>
              <a:rPr lang="en-US" dirty="0"/>
              <a:t> and </a:t>
            </a:r>
            <a:r>
              <a:rPr lang="en-US" b="1" dirty="0"/>
              <a:t>Earliest Finish (EF)</a:t>
            </a:r>
            <a:r>
              <a:rPr lang="en-US" dirty="0"/>
              <a:t> times for each task, moving forward through the project.</a:t>
            </a:r>
          </a:p>
          <a:p>
            <a:r>
              <a:rPr lang="en-US" b="1" dirty="0"/>
              <a:t>Perform the Backward Pass</a:t>
            </a:r>
            <a:r>
              <a:rPr lang="en-US" dirty="0"/>
              <a:t>: Calculate the </a:t>
            </a:r>
            <a:r>
              <a:rPr lang="en-US" b="1" dirty="0"/>
              <a:t>Latest Start (LS)</a:t>
            </a:r>
            <a:r>
              <a:rPr lang="en-US" dirty="0"/>
              <a:t> and </a:t>
            </a:r>
            <a:r>
              <a:rPr lang="en-US" b="1" dirty="0"/>
              <a:t>Latest Finish (LF)</a:t>
            </a:r>
            <a:r>
              <a:rPr lang="en-US" dirty="0"/>
              <a:t> times for each task, moving backward through the project.</a:t>
            </a:r>
          </a:p>
          <a:p>
            <a:r>
              <a:rPr lang="en-US" b="1" dirty="0"/>
              <a:t>Calculate the Float</a:t>
            </a:r>
            <a:r>
              <a:rPr lang="en-US" dirty="0"/>
              <a:t>: For each task, calculate the </a:t>
            </a:r>
            <a:r>
              <a:rPr lang="en-US" b="1" dirty="0"/>
              <a:t>Total Float</a:t>
            </a:r>
            <a:r>
              <a:rPr lang="en-US" dirty="0"/>
              <a:t> (or Slack) to determine how much flexibility there is in the schedule. Tasks on the critical path will have </a:t>
            </a:r>
            <a:r>
              <a:rPr lang="en-US" b="1" dirty="0"/>
              <a:t>zero float</a:t>
            </a:r>
            <a:r>
              <a:rPr lang="en-US" dirty="0"/>
              <a:t>.</a:t>
            </a:r>
          </a:p>
          <a:p>
            <a:r>
              <a:rPr lang="en-US" b="1" dirty="0"/>
              <a:t>Identify the Critical Path</a:t>
            </a:r>
            <a:r>
              <a:rPr lang="en-US" dirty="0"/>
              <a:t>: The </a:t>
            </a:r>
            <a:r>
              <a:rPr lang="en-US" b="1" dirty="0"/>
              <a:t>critical path</a:t>
            </a:r>
            <a:r>
              <a:rPr lang="en-US" dirty="0"/>
              <a:t> is the sequence of tasks that have the </a:t>
            </a:r>
            <a:r>
              <a:rPr lang="en-US" b="1" dirty="0"/>
              <a:t>longest duration</a:t>
            </a:r>
            <a:r>
              <a:rPr lang="en-US" dirty="0"/>
              <a:t> and the </a:t>
            </a:r>
            <a:r>
              <a:rPr lang="en-US" b="1" dirty="0"/>
              <a:t>zero float</a:t>
            </a:r>
            <a:r>
              <a:rPr lang="en-US" dirty="0"/>
              <a:t>. It determines the project’s overall duration.</a:t>
            </a:r>
          </a:p>
          <a:p>
            <a:endParaRPr lang="en-US" dirty="0"/>
          </a:p>
        </p:txBody>
      </p:sp>
    </p:spTree>
    <p:extLst>
      <p:ext uri="{BB962C8B-B14F-4D97-AF65-F5344CB8AC3E}">
        <p14:creationId xmlns:p14="http://schemas.microsoft.com/office/powerpoint/2010/main" val="3036774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72AA8-2309-2783-2685-CB478C6C3B3A}"/>
              </a:ext>
            </a:extLst>
          </p:cNvPr>
          <p:cNvSpPr>
            <a:spLocks noGrp="1"/>
          </p:cNvSpPr>
          <p:nvPr>
            <p:ph type="title"/>
          </p:nvPr>
        </p:nvSpPr>
        <p:spPr/>
        <p:txBody>
          <a:bodyPr/>
          <a:lstStyle/>
          <a:p>
            <a:r>
              <a:rPr lang="en-US" dirty="0"/>
              <a:t>Total &amp; Free Floats</a:t>
            </a:r>
          </a:p>
        </p:txBody>
      </p:sp>
      <p:sp>
        <p:nvSpPr>
          <p:cNvPr id="3" name="Content Placeholder 2">
            <a:extLst>
              <a:ext uri="{FF2B5EF4-FFF2-40B4-BE49-F238E27FC236}">
                <a16:creationId xmlns:a16="http://schemas.microsoft.com/office/drawing/2014/main" id="{210FF8C7-EFD4-8967-197E-E66C26FF350E}"/>
              </a:ext>
            </a:extLst>
          </p:cNvPr>
          <p:cNvSpPr>
            <a:spLocks noGrp="1"/>
          </p:cNvSpPr>
          <p:nvPr>
            <p:ph idx="1"/>
          </p:nvPr>
        </p:nvSpPr>
        <p:spPr/>
        <p:txBody>
          <a:bodyPr>
            <a:normAutofit fontScale="92500" lnSpcReduction="20000"/>
          </a:bodyPr>
          <a:lstStyle/>
          <a:p>
            <a:r>
              <a:rPr lang="en-US" b="1" dirty="0"/>
              <a:t>Why is the Critical Path Important?</a:t>
            </a:r>
          </a:p>
          <a:p>
            <a:pPr lvl="1"/>
            <a:r>
              <a:rPr lang="en-US" b="1" dirty="0"/>
              <a:t>Project Scheduling</a:t>
            </a:r>
            <a:r>
              <a:rPr lang="en-US" dirty="0"/>
              <a:t>: The critical path determines the minimum time required to complete the project. If a task on the critical path is delayed, the whole project is delayed.</a:t>
            </a:r>
          </a:p>
          <a:p>
            <a:pPr lvl="1"/>
            <a:r>
              <a:rPr lang="en-US" b="1" dirty="0"/>
              <a:t>Resource Allocation</a:t>
            </a:r>
            <a:r>
              <a:rPr lang="en-US" dirty="0"/>
              <a:t>: The critical path highlights which tasks require immediate attention and focus, allowing project managers to allocate resources effectively.</a:t>
            </a:r>
          </a:p>
          <a:p>
            <a:pPr lvl="1"/>
            <a:r>
              <a:rPr lang="en-US" b="1" dirty="0"/>
              <a:t>Risk Management</a:t>
            </a:r>
            <a:r>
              <a:rPr lang="en-US" dirty="0"/>
              <a:t>: Knowing the critical path helps identify potential risks. Tasks on the critical path are high-risk and need to be carefully monitored to avoid delays.</a:t>
            </a:r>
          </a:p>
          <a:p>
            <a:r>
              <a:rPr lang="en-US" b="1" dirty="0"/>
              <a:t>Critical Path and Float</a:t>
            </a:r>
          </a:p>
          <a:p>
            <a:pPr lvl="1"/>
            <a:r>
              <a:rPr lang="en-US" b="1" dirty="0"/>
              <a:t>Total Float</a:t>
            </a:r>
            <a:r>
              <a:rPr lang="en-US" dirty="0"/>
              <a:t> (or Slack): The amount of time that you can delay a task without delaying the overall project.</a:t>
            </a:r>
          </a:p>
          <a:p>
            <a:pPr lvl="2"/>
            <a:r>
              <a:rPr lang="en-US" dirty="0"/>
              <a:t>Formula: </a:t>
            </a:r>
            <a:r>
              <a:rPr lang="en-US" b="1" dirty="0"/>
              <a:t>Total Float = Latest Finish (LF) – Earliest Finish (EF)</a:t>
            </a:r>
            <a:endParaRPr lang="en-US" dirty="0"/>
          </a:p>
          <a:p>
            <a:pPr lvl="1"/>
            <a:r>
              <a:rPr lang="en-US" b="1" dirty="0"/>
              <a:t>Free Float</a:t>
            </a:r>
            <a:r>
              <a:rPr lang="en-US" dirty="0"/>
              <a:t>: The amount of time a task can be delayed without delaying the early start of any successor task.</a:t>
            </a:r>
          </a:p>
          <a:p>
            <a:endParaRPr lang="en-US" dirty="0"/>
          </a:p>
        </p:txBody>
      </p:sp>
    </p:spTree>
    <p:extLst>
      <p:ext uri="{BB962C8B-B14F-4D97-AF65-F5344CB8AC3E}">
        <p14:creationId xmlns:p14="http://schemas.microsoft.com/office/powerpoint/2010/main" val="928378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C6C262-6C73-B7F0-5332-509F35B18497}"/>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solidFill>
                  <a:schemeClr val="tx1"/>
                </a:solidFill>
                <a:latin typeface="+mj-lt"/>
                <a:ea typeface="+mj-ea"/>
                <a:cs typeface="+mj-cs"/>
              </a:rPr>
              <a:t>PDM</a:t>
            </a:r>
          </a:p>
        </p:txBody>
      </p:sp>
      <p:pic>
        <p:nvPicPr>
          <p:cNvPr id="7" name="Picture 6">
            <a:extLst>
              <a:ext uri="{FF2B5EF4-FFF2-40B4-BE49-F238E27FC236}">
                <a16:creationId xmlns:a16="http://schemas.microsoft.com/office/drawing/2014/main" id="{C4F7D1C6-2053-7B12-0FD3-3D10C914114D}"/>
              </a:ext>
            </a:extLst>
          </p:cNvPr>
          <p:cNvPicPr>
            <a:picLocks noChangeAspect="1"/>
          </p:cNvPicPr>
          <p:nvPr/>
        </p:nvPicPr>
        <p:blipFill>
          <a:blip r:embed="rId2"/>
          <a:stretch>
            <a:fillRect/>
          </a:stretch>
        </p:blipFill>
        <p:spPr>
          <a:xfrm>
            <a:off x="181234" y="3220008"/>
            <a:ext cx="5828261" cy="2229309"/>
          </a:xfrm>
          <a:prstGeom prst="rect">
            <a:avLst/>
          </a:prstGeom>
        </p:spPr>
      </p:pic>
      <p:pic>
        <p:nvPicPr>
          <p:cNvPr id="5" name="Content Placeholder 4">
            <a:extLst>
              <a:ext uri="{FF2B5EF4-FFF2-40B4-BE49-F238E27FC236}">
                <a16:creationId xmlns:a16="http://schemas.microsoft.com/office/drawing/2014/main" id="{8091B9AA-C115-D85C-D42C-187023458367}"/>
              </a:ext>
            </a:extLst>
          </p:cNvPr>
          <p:cNvPicPr>
            <a:picLocks noGrp="1" noChangeAspect="1"/>
          </p:cNvPicPr>
          <p:nvPr>
            <p:ph idx="1"/>
          </p:nvPr>
        </p:nvPicPr>
        <p:blipFill>
          <a:blip r:embed="rId3"/>
          <a:stretch>
            <a:fillRect/>
          </a:stretch>
        </p:blipFill>
        <p:spPr>
          <a:xfrm>
            <a:off x="6182505" y="3562418"/>
            <a:ext cx="5828261" cy="1544489"/>
          </a:xfrm>
          <a:prstGeom prst="rect">
            <a:avLst/>
          </a:prstGeom>
        </p:spPr>
      </p:pic>
    </p:spTree>
    <p:extLst>
      <p:ext uri="{BB962C8B-B14F-4D97-AF65-F5344CB8AC3E}">
        <p14:creationId xmlns:p14="http://schemas.microsoft.com/office/powerpoint/2010/main" val="400587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B52E77-CF4B-7BCB-5898-E3A7FC626E92}"/>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PDM</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1EB2BC2-8731-022A-FFA4-EDA746B2ABE9}"/>
              </a:ext>
            </a:extLst>
          </p:cNvPr>
          <p:cNvPicPr>
            <a:picLocks noGrp="1" noChangeAspect="1"/>
          </p:cNvPicPr>
          <p:nvPr>
            <p:ph idx="1"/>
          </p:nvPr>
        </p:nvPicPr>
        <p:blipFill>
          <a:blip r:embed="rId2"/>
          <a:stretch>
            <a:fillRect/>
          </a:stretch>
        </p:blipFill>
        <p:spPr>
          <a:xfrm>
            <a:off x="4654296" y="1259917"/>
            <a:ext cx="7214616" cy="4310733"/>
          </a:xfrm>
          <a:prstGeom prst="rect">
            <a:avLst/>
          </a:prstGeom>
        </p:spPr>
      </p:pic>
    </p:spTree>
    <p:extLst>
      <p:ext uri="{BB962C8B-B14F-4D97-AF65-F5344CB8AC3E}">
        <p14:creationId xmlns:p14="http://schemas.microsoft.com/office/powerpoint/2010/main" val="2276143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9EAB9-4166-51C6-174B-C1BF9EA2E047}"/>
              </a:ext>
            </a:extLst>
          </p:cNvPr>
          <p:cNvSpPr>
            <a:spLocks noGrp="1"/>
          </p:cNvSpPr>
          <p:nvPr>
            <p:ph type="title"/>
          </p:nvPr>
        </p:nvSpPr>
        <p:spPr/>
        <p:txBody>
          <a:bodyPr/>
          <a:lstStyle/>
          <a:p>
            <a:r>
              <a:rPr lang="en-US" dirty="0"/>
              <a:t>Forward Pass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704A73-CD07-BA9B-49BC-B761AEBADAD8}"/>
                  </a:ext>
                </a:extLst>
              </p:cNvPr>
              <p:cNvSpPr>
                <a:spLocks noGrp="1"/>
              </p:cNvSpPr>
              <p:nvPr>
                <p:ph idx="1"/>
              </p:nvPr>
            </p:nvSpPr>
            <p:spPr/>
            <p:txBody>
              <a:bodyPr>
                <a:normAutofit fontScale="55000" lnSpcReduction="20000"/>
              </a:bodyPr>
              <a:lstStyle/>
              <a:p>
                <a:pPr marL="0" indent="0">
                  <a:buNone/>
                </a:pPr>
                <a:r>
                  <a:rPr lang="en-US" b="1" dirty="0"/>
                  <a:t>ES (Early Start):</a:t>
                </a:r>
              </a:p>
              <a:p>
                <a:pPr lvl="1"/>
                <a:r>
                  <a:rPr lang="en-US" dirty="0"/>
                  <a:t>It is the earliest time that a task can start, considering the completion of its predecessor tasks.</a:t>
                </a:r>
              </a:p>
              <a:p>
                <a:pPr lvl="1"/>
                <a:r>
                  <a:rPr lang="en-US" b="1" dirty="0"/>
                  <a:t>Calculation</a:t>
                </a:r>
                <a:r>
                  <a:rPr lang="en-US" dirty="0"/>
                  <a:t>: For a task, ES is the </a:t>
                </a:r>
                <a:r>
                  <a:rPr lang="en-US" b="1" dirty="0"/>
                  <a:t>maximum</a:t>
                </a:r>
                <a:r>
                  <a:rPr lang="en-US" dirty="0"/>
                  <a:t> of the EF (Early Finish) of all its predecessor tasks. If a task has no predecessors, its ES is 0 (or the project's start date).</a:t>
                </a:r>
              </a:p>
              <a:p>
                <a:pPr marL="0" indent="0">
                  <a:buNone/>
                </a:pPr>
                <a:r>
                  <a:rPr lang="en-US" b="1" dirty="0"/>
                  <a:t> EF (Early Finish):</a:t>
                </a:r>
              </a:p>
              <a:p>
                <a:pPr lvl="1"/>
                <a:r>
                  <a:rPr lang="en-US" dirty="0"/>
                  <a:t>It is the earliest time a task can be completed, based on its Early Start and duration.</a:t>
                </a:r>
              </a:p>
              <a:p>
                <a:pPr lvl="1"/>
                <a:r>
                  <a:rPr lang="en-US" b="1" dirty="0"/>
                  <a:t>Calculation</a:t>
                </a:r>
                <a:r>
                  <a:rPr lang="en-US" dirty="0"/>
                  <a:t>: EF is calculated as:</a:t>
                </a:r>
              </a:p>
              <a:p>
                <a:pPr lvl="1"/>
                <a14:m>
                  <m:oMath xmlns:m="http://schemas.openxmlformats.org/officeDocument/2006/math">
                    <m:r>
                      <a:rPr lang="en-US" i="1">
                        <a:latin typeface="Cambria Math" panose="02040503050406030204" pitchFamily="18" charset="0"/>
                      </a:rPr>
                      <m:t>𝐸𝐹</m:t>
                    </m:r>
                    <m:r>
                      <a:rPr lang="en-US">
                        <a:latin typeface="Cambria Math" panose="02040503050406030204" pitchFamily="18" charset="0"/>
                      </a:rPr>
                      <m:t>=</m:t>
                    </m:r>
                    <m:r>
                      <a:rPr lang="en-US" i="1">
                        <a:latin typeface="Cambria Math" panose="02040503050406030204" pitchFamily="18" charset="0"/>
                      </a:rPr>
                      <m:t>𝐸𝑆</m:t>
                    </m:r>
                    <m:r>
                      <a:rPr lang="en-US">
                        <a:latin typeface="Cambria Math" panose="02040503050406030204" pitchFamily="18" charset="0"/>
                      </a:rPr>
                      <m:t>+</m:t>
                    </m:r>
                    <m:r>
                      <a:rPr lang="en-US" i="1">
                        <a:latin typeface="Cambria Math" panose="02040503050406030204" pitchFamily="18" charset="0"/>
                      </a:rPr>
                      <m:t>𝐷𝑢𝑟𝑎𝑡𝑖𝑜𝑛</m:t>
                    </m:r>
                    <m:r>
                      <a:rPr lang="en-US">
                        <a:latin typeface="Cambria Math" panose="02040503050406030204" pitchFamily="18" charset="0"/>
                      </a:rPr>
                      <m:t>−1</m:t>
                    </m:r>
                  </m:oMath>
                </a14:m>
                <a:endParaRPr lang="en-US" dirty="0"/>
              </a:p>
              <a:p>
                <a:pPr lvl="1"/>
                <a:r>
                  <a:rPr lang="en-US" dirty="0"/>
                  <a:t>For example, if a task starts on day 3 (ES = 3) and takes 5 days, its EF would be on day 7.</a:t>
                </a:r>
              </a:p>
              <a:p>
                <a:pPr marL="0" indent="0">
                  <a:buNone/>
                </a:pPr>
                <a:r>
                  <a:rPr lang="en-US" b="1" dirty="0"/>
                  <a:t>Forward Pass:</a:t>
                </a:r>
              </a:p>
              <a:p>
                <a:pPr marL="0" indent="0">
                  <a:buNone/>
                </a:pPr>
                <a:r>
                  <a:rPr lang="en-US" dirty="0"/>
                  <a:t>The Forward Pass is a technique used to determine the </a:t>
                </a:r>
                <a:r>
                  <a:rPr lang="en-US" b="1" dirty="0"/>
                  <a:t>Earliest Start (ES)</a:t>
                </a:r>
                <a:r>
                  <a:rPr lang="en-US" dirty="0"/>
                  <a:t> and </a:t>
                </a:r>
                <a:r>
                  <a:rPr lang="en-US" b="1" dirty="0"/>
                  <a:t>Earliest Finish (EF)</a:t>
                </a:r>
                <a:r>
                  <a:rPr lang="en-US" dirty="0"/>
                  <a:t> for each task in a project. It works by calculating the earliest possible times for all tasks from the start to the end of the project.</a:t>
                </a:r>
              </a:p>
              <a:p>
                <a:r>
                  <a:rPr lang="en-US" b="1" dirty="0"/>
                  <a:t>Process</a:t>
                </a:r>
                <a:r>
                  <a:rPr lang="en-US" dirty="0"/>
                  <a:t>:</a:t>
                </a:r>
              </a:p>
              <a:p>
                <a:pPr lvl="1"/>
                <a:r>
                  <a:rPr lang="en-US" dirty="0"/>
                  <a:t>Start with the project start date.</a:t>
                </a:r>
              </a:p>
              <a:p>
                <a:pPr lvl="1"/>
                <a:r>
                  <a:rPr lang="en-US" dirty="0"/>
                  <a:t>Move through the network diagram, calculating the </a:t>
                </a:r>
                <a:r>
                  <a:rPr lang="en-US" b="1" dirty="0"/>
                  <a:t>ES</a:t>
                </a:r>
                <a:r>
                  <a:rPr lang="en-US" dirty="0"/>
                  <a:t> and </a:t>
                </a:r>
                <a:r>
                  <a:rPr lang="en-US" b="1" dirty="0"/>
                  <a:t>EF</a:t>
                </a:r>
                <a:r>
                  <a:rPr lang="en-US" dirty="0"/>
                  <a:t> for each task based on its predecessors.</a:t>
                </a:r>
              </a:p>
              <a:p>
                <a:pPr lvl="1"/>
                <a:r>
                  <a:rPr lang="en-US" dirty="0"/>
                  <a:t>The forward pass ensures that you have accounted for any dependencies before scheduling a task to start.</a:t>
                </a:r>
              </a:p>
              <a:p>
                <a:r>
                  <a:rPr lang="en-US" b="1" dirty="0"/>
                  <a:t>How These Concepts Work Together:</a:t>
                </a:r>
              </a:p>
              <a:p>
                <a:pPr lvl="1"/>
                <a:r>
                  <a:rPr lang="en-US" dirty="0"/>
                  <a:t>The </a:t>
                </a:r>
                <a:r>
                  <a:rPr lang="en-US" b="1" dirty="0"/>
                  <a:t>Forward Pass</a:t>
                </a:r>
                <a:r>
                  <a:rPr lang="en-US" dirty="0"/>
                  <a:t> helps determine the </a:t>
                </a:r>
                <a:r>
                  <a:rPr lang="en-US" b="1" dirty="0"/>
                  <a:t>ES</a:t>
                </a:r>
                <a:r>
                  <a:rPr lang="en-US" dirty="0"/>
                  <a:t> and </a:t>
                </a:r>
                <a:r>
                  <a:rPr lang="en-US" b="1" dirty="0"/>
                  <a:t>EF</a:t>
                </a:r>
                <a:r>
                  <a:rPr lang="en-US" dirty="0"/>
                  <a:t> values for tasks.</a:t>
                </a:r>
              </a:p>
              <a:p>
                <a:pPr lvl="1"/>
                <a:r>
                  <a:rPr lang="en-US" b="1" dirty="0"/>
                  <a:t>ES</a:t>
                </a:r>
                <a:r>
                  <a:rPr lang="en-US" dirty="0"/>
                  <a:t> is derived based on when all the preceding tasks have been completed, and </a:t>
                </a:r>
                <a:r>
                  <a:rPr lang="en-US" b="1" dirty="0"/>
                  <a:t>EF</a:t>
                </a:r>
                <a:r>
                  <a:rPr lang="en-US" dirty="0"/>
                  <a:t> is based on how long the task takes once it starts.</a:t>
                </a:r>
              </a:p>
              <a:p>
                <a:endParaRPr lang="en-US" dirty="0"/>
              </a:p>
            </p:txBody>
          </p:sp>
        </mc:Choice>
        <mc:Fallback xmlns="">
          <p:sp>
            <p:nvSpPr>
              <p:cNvPr id="3" name="Content Placeholder 2">
                <a:extLst>
                  <a:ext uri="{FF2B5EF4-FFF2-40B4-BE49-F238E27FC236}">
                    <a16:creationId xmlns:a16="http://schemas.microsoft.com/office/drawing/2014/main" id="{49704A73-CD07-BA9B-49BC-B761AEBADAD8}"/>
                  </a:ext>
                </a:extLst>
              </p:cNvPr>
              <p:cNvSpPr>
                <a:spLocks noGrp="1" noRot="1" noChangeAspect="1" noMove="1" noResize="1" noEditPoints="1" noAdjustHandles="1" noChangeArrowheads="1" noChangeShapeType="1" noTextEdit="1"/>
              </p:cNvSpPr>
              <p:nvPr>
                <p:ph idx="1"/>
              </p:nvPr>
            </p:nvSpPr>
            <p:spPr>
              <a:blipFill>
                <a:blip r:embed="rId2"/>
                <a:stretch>
                  <a:fillRect l="-232" t="-1401"/>
                </a:stretch>
              </a:blipFill>
            </p:spPr>
            <p:txBody>
              <a:bodyPr/>
              <a:lstStyle/>
              <a:p>
                <a:r>
                  <a:rPr lang="en-US">
                    <a:noFill/>
                  </a:rPr>
                  <a:t> </a:t>
                </a:r>
              </a:p>
            </p:txBody>
          </p:sp>
        </mc:Fallback>
      </mc:AlternateContent>
    </p:spTree>
    <p:extLst>
      <p:ext uri="{BB962C8B-B14F-4D97-AF65-F5344CB8AC3E}">
        <p14:creationId xmlns:p14="http://schemas.microsoft.com/office/powerpoint/2010/main" val="3269731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D2D1FC-3C41-8F66-444C-5DEF98DB921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PDM – ES, EF – Forward Pass</a:t>
            </a:r>
          </a:p>
        </p:txBody>
      </p:sp>
      <p:pic>
        <p:nvPicPr>
          <p:cNvPr id="5" name="Content Placeholder 4">
            <a:extLst>
              <a:ext uri="{FF2B5EF4-FFF2-40B4-BE49-F238E27FC236}">
                <a16:creationId xmlns:a16="http://schemas.microsoft.com/office/drawing/2014/main" id="{653398D0-C07D-8423-2455-3526B55E7E46}"/>
              </a:ext>
            </a:extLst>
          </p:cNvPr>
          <p:cNvPicPr>
            <a:picLocks noGrp="1" noChangeAspect="1"/>
          </p:cNvPicPr>
          <p:nvPr>
            <p:ph idx="1"/>
          </p:nvPr>
        </p:nvPicPr>
        <p:blipFill>
          <a:blip r:embed="rId2"/>
          <a:stretch>
            <a:fillRect/>
          </a:stretch>
        </p:blipFill>
        <p:spPr>
          <a:xfrm>
            <a:off x="2356255" y="1675227"/>
            <a:ext cx="7479489" cy="4394199"/>
          </a:xfrm>
          <a:prstGeom prst="rect">
            <a:avLst/>
          </a:prstGeom>
        </p:spPr>
      </p:pic>
    </p:spTree>
    <p:extLst>
      <p:ext uri="{BB962C8B-B14F-4D97-AF65-F5344CB8AC3E}">
        <p14:creationId xmlns:p14="http://schemas.microsoft.com/office/powerpoint/2010/main" val="2581877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67178-1075-E468-D012-CA1EED340687}"/>
              </a:ext>
            </a:extLst>
          </p:cNvPr>
          <p:cNvSpPr>
            <a:spLocks noGrp="1"/>
          </p:cNvSpPr>
          <p:nvPr>
            <p:ph type="title"/>
          </p:nvPr>
        </p:nvSpPr>
        <p:spPr/>
        <p:txBody>
          <a:bodyPr/>
          <a:lstStyle/>
          <a:p>
            <a:r>
              <a:rPr lang="en-US" dirty="0"/>
              <a:t>PDM – LS LF – Backward Pass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B6017F-D39D-D14B-8E81-CE1E213C3F6D}"/>
                  </a:ext>
                </a:extLst>
              </p:cNvPr>
              <p:cNvSpPr>
                <a:spLocks noGrp="1"/>
              </p:cNvSpPr>
              <p:nvPr>
                <p:ph idx="1"/>
              </p:nvPr>
            </p:nvSpPr>
            <p:spPr/>
            <p:txBody>
              <a:bodyPr>
                <a:normAutofit fontScale="40000" lnSpcReduction="20000"/>
              </a:bodyPr>
              <a:lstStyle/>
              <a:p>
                <a:pPr marL="0" indent="0">
                  <a:buNone/>
                </a:pPr>
                <a:r>
                  <a:rPr lang="en-US" b="1" dirty="0"/>
                  <a:t> LS (Late Start):</a:t>
                </a:r>
              </a:p>
              <a:p>
                <a:r>
                  <a:rPr lang="en-US" dirty="0"/>
                  <a:t>The latest time a task can start without delaying the project's completion.</a:t>
                </a:r>
              </a:p>
              <a:p>
                <a:r>
                  <a:rPr lang="en-US" b="1" dirty="0"/>
                  <a:t>Calculation</a:t>
                </a:r>
                <a:r>
                  <a:rPr lang="en-US" dirty="0"/>
                  <a:t>: LS is the </a:t>
                </a:r>
                <a:r>
                  <a:rPr lang="en-US" b="1" dirty="0"/>
                  <a:t>Late Finish (LF)</a:t>
                </a:r>
                <a:r>
                  <a:rPr lang="en-US" dirty="0"/>
                  <a:t> minus the task's duration, i.e.,</a:t>
                </a:r>
              </a:p>
              <a:p>
                <a14:m>
                  <m:oMath xmlns:m="http://schemas.openxmlformats.org/officeDocument/2006/math">
                    <m:r>
                      <a:rPr lang="en-US" i="1">
                        <a:latin typeface="Cambria Math" panose="02040503050406030204" pitchFamily="18" charset="0"/>
                      </a:rPr>
                      <m:t>𝐿𝑆</m:t>
                    </m:r>
                    <m:r>
                      <a:rPr lang="en-US">
                        <a:latin typeface="Cambria Math" panose="02040503050406030204" pitchFamily="18" charset="0"/>
                      </a:rPr>
                      <m:t>=</m:t>
                    </m:r>
                    <m:r>
                      <a:rPr lang="en-US" i="1">
                        <a:latin typeface="Cambria Math" panose="02040503050406030204" pitchFamily="18" charset="0"/>
                      </a:rPr>
                      <m:t>𝐿𝐹</m:t>
                    </m:r>
                    <m:r>
                      <a:rPr lang="en-US">
                        <a:latin typeface="Cambria Math" panose="02040503050406030204" pitchFamily="18" charset="0"/>
                      </a:rPr>
                      <m:t>−</m:t>
                    </m:r>
                    <m:r>
                      <a:rPr lang="en-US" i="1">
                        <a:latin typeface="Cambria Math" panose="02040503050406030204" pitchFamily="18" charset="0"/>
                      </a:rPr>
                      <m:t>𝐷𝑢𝑟𝑎𝑡𝑖𝑜𝑛</m:t>
                    </m:r>
                  </m:oMath>
                </a14:m>
                <a:endParaRPr lang="en-US" dirty="0"/>
              </a:p>
              <a:p>
                <a:r>
                  <a:rPr lang="en-US" dirty="0"/>
                  <a:t>For example, if a task needs to finish by day 10 (LF = 10) and it takes 3 days to complete, the latest it can start is day 7 (LS = 10 - 3 = 7).</a:t>
                </a:r>
              </a:p>
              <a:p>
                <a:pPr marL="0" indent="0">
                  <a:buNone/>
                </a:pPr>
                <a:r>
                  <a:rPr lang="en-US" b="1" dirty="0"/>
                  <a:t>LF (Late Finish):</a:t>
                </a:r>
              </a:p>
              <a:p>
                <a:r>
                  <a:rPr lang="en-US" dirty="0"/>
                  <a:t>The latest time a task can finish without delaying the overall project completion.</a:t>
                </a:r>
              </a:p>
              <a:p>
                <a:r>
                  <a:rPr lang="en-US" b="1" dirty="0"/>
                  <a:t>Calculation</a:t>
                </a:r>
                <a:r>
                  <a:rPr lang="en-US" dirty="0"/>
                  <a:t>: The </a:t>
                </a:r>
                <a:r>
                  <a:rPr lang="en-US" b="1" dirty="0"/>
                  <a:t>LF</a:t>
                </a:r>
                <a:r>
                  <a:rPr lang="en-US" dirty="0"/>
                  <a:t> for the last task in the project is equal to its </a:t>
                </a:r>
                <a:r>
                  <a:rPr lang="en-US" b="1" dirty="0"/>
                  <a:t>EF</a:t>
                </a:r>
                <a:r>
                  <a:rPr lang="en-US" dirty="0"/>
                  <a:t> (Early Finish) because it's the final task. For other tasks, LF is the </a:t>
                </a:r>
                <a:r>
                  <a:rPr lang="en-US" b="1" dirty="0"/>
                  <a:t>minimum</a:t>
                </a:r>
                <a:r>
                  <a:rPr lang="en-US" dirty="0"/>
                  <a:t> of the LS (Late Start) of all its successor tasks. If a task has no successor, its LF is the project’s completion time (or the EF of the last task).</a:t>
                </a:r>
              </a:p>
              <a:p>
                <a:pPr marL="0" indent="0">
                  <a:buNone/>
                </a:pPr>
                <a:r>
                  <a:rPr lang="en-US" b="1" dirty="0"/>
                  <a:t>Backward Pass:</a:t>
                </a:r>
              </a:p>
              <a:p>
                <a:r>
                  <a:rPr lang="en-US" b="1" dirty="0"/>
                  <a:t>Definition</a:t>
                </a:r>
                <a:r>
                  <a:rPr lang="en-US" dirty="0"/>
                  <a:t>: The Backward Pass is the technique used to determine the </a:t>
                </a:r>
                <a:r>
                  <a:rPr lang="en-US" b="1" dirty="0"/>
                  <a:t>Late Start (LS)</a:t>
                </a:r>
                <a:r>
                  <a:rPr lang="en-US" dirty="0"/>
                  <a:t> and </a:t>
                </a:r>
                <a:r>
                  <a:rPr lang="en-US" b="1" dirty="0"/>
                  <a:t>Late Finish (LF)</a:t>
                </a:r>
                <a:r>
                  <a:rPr lang="en-US" dirty="0"/>
                  <a:t> for each task in a project. It starts from the project’s end and works backward to calculate the latest times for each task.</a:t>
                </a:r>
              </a:p>
              <a:p>
                <a:r>
                  <a:rPr lang="en-US" b="1" dirty="0"/>
                  <a:t>Process</a:t>
                </a:r>
                <a:r>
                  <a:rPr lang="en-US" dirty="0"/>
                  <a:t>:</a:t>
                </a:r>
              </a:p>
              <a:p>
                <a:pPr lvl="1"/>
                <a:r>
                  <a:rPr lang="en-US" dirty="0"/>
                  <a:t>Start with the </a:t>
                </a:r>
                <a:r>
                  <a:rPr lang="en-US" b="1" dirty="0"/>
                  <a:t>Late Finish (LF)</a:t>
                </a:r>
                <a:r>
                  <a:rPr lang="en-US" dirty="0"/>
                  <a:t> for the last task in the project.</a:t>
                </a:r>
              </a:p>
              <a:p>
                <a:pPr lvl="1"/>
                <a:r>
                  <a:rPr lang="en-US" dirty="0"/>
                  <a:t>Move backward through the network diagram, calculating the </a:t>
                </a:r>
                <a:r>
                  <a:rPr lang="en-US" b="1" dirty="0"/>
                  <a:t>LS</a:t>
                </a:r>
                <a:r>
                  <a:rPr lang="en-US" dirty="0"/>
                  <a:t> and </a:t>
                </a:r>
                <a:r>
                  <a:rPr lang="en-US" b="1" dirty="0"/>
                  <a:t>LF</a:t>
                </a:r>
                <a:r>
                  <a:rPr lang="en-US" dirty="0"/>
                  <a:t> for each task based on its successors.</a:t>
                </a:r>
              </a:p>
              <a:p>
                <a:pPr lvl="1"/>
                <a:r>
                  <a:rPr lang="en-US" dirty="0"/>
                  <a:t>The backward pass ensures that you don’t schedule tasks too late, which could delay the project.</a:t>
                </a:r>
              </a:p>
              <a:p>
                <a:r>
                  <a:rPr lang="en-US" b="1" dirty="0"/>
                  <a:t>How These Concepts Work Together:</a:t>
                </a:r>
              </a:p>
              <a:p>
                <a:pPr lvl="1"/>
                <a:r>
                  <a:rPr lang="en-US" dirty="0"/>
                  <a:t>The </a:t>
                </a:r>
                <a:r>
                  <a:rPr lang="en-US" b="1" dirty="0"/>
                  <a:t>Backward Pass</a:t>
                </a:r>
                <a:r>
                  <a:rPr lang="en-US" dirty="0"/>
                  <a:t> helps determine the </a:t>
                </a:r>
                <a:r>
                  <a:rPr lang="en-US" b="1" dirty="0"/>
                  <a:t>LS</a:t>
                </a:r>
                <a:r>
                  <a:rPr lang="en-US" dirty="0"/>
                  <a:t> and </a:t>
                </a:r>
                <a:r>
                  <a:rPr lang="en-US" b="1" dirty="0"/>
                  <a:t>LF</a:t>
                </a:r>
                <a:r>
                  <a:rPr lang="en-US" dirty="0"/>
                  <a:t> values for each task.</a:t>
                </a:r>
              </a:p>
              <a:p>
                <a:pPr lvl="1"/>
                <a:r>
                  <a:rPr lang="en-US" b="1" dirty="0"/>
                  <a:t>LS</a:t>
                </a:r>
                <a:r>
                  <a:rPr lang="en-US" dirty="0"/>
                  <a:t> is derived by subtracting the task's duration from the </a:t>
                </a:r>
                <a:r>
                  <a:rPr lang="en-US" b="1" dirty="0"/>
                  <a:t>LF</a:t>
                </a:r>
                <a:r>
                  <a:rPr lang="en-US" dirty="0"/>
                  <a:t> of its successor tasks.</a:t>
                </a:r>
              </a:p>
              <a:p>
                <a:pPr lvl="1"/>
                <a:r>
                  <a:rPr lang="en-US" b="1" dirty="0"/>
                  <a:t>LF</a:t>
                </a:r>
                <a:r>
                  <a:rPr lang="en-US" dirty="0"/>
                  <a:t> is the latest possible time that a task can finish without affecting the project timeline.</a:t>
                </a:r>
              </a:p>
              <a:p>
                <a:endParaRPr lang="en-US" dirty="0"/>
              </a:p>
            </p:txBody>
          </p:sp>
        </mc:Choice>
        <mc:Fallback xmlns="">
          <p:sp>
            <p:nvSpPr>
              <p:cNvPr id="3" name="Content Placeholder 2">
                <a:extLst>
                  <a:ext uri="{FF2B5EF4-FFF2-40B4-BE49-F238E27FC236}">
                    <a16:creationId xmlns:a16="http://schemas.microsoft.com/office/drawing/2014/main" id="{CCB6017F-D39D-D14B-8E81-CE1E213C3F6D}"/>
                  </a:ext>
                </a:extLst>
              </p:cNvPr>
              <p:cNvSpPr>
                <a:spLocks noGrp="1" noRot="1" noChangeAspect="1" noMove="1" noResize="1" noEditPoints="1" noAdjustHandles="1" noChangeArrowheads="1" noChangeShapeType="1" noTextEdit="1"/>
              </p:cNvSpPr>
              <p:nvPr>
                <p:ph idx="1"/>
              </p:nvPr>
            </p:nvSpPr>
            <p:spPr>
              <a:blipFill>
                <a:blip r:embed="rId2"/>
                <a:stretch>
                  <a:fillRect t="-1120"/>
                </a:stretch>
              </a:blipFill>
            </p:spPr>
            <p:txBody>
              <a:bodyPr/>
              <a:lstStyle/>
              <a:p>
                <a:r>
                  <a:rPr lang="en-US">
                    <a:noFill/>
                  </a:rPr>
                  <a:t> </a:t>
                </a:r>
              </a:p>
            </p:txBody>
          </p:sp>
        </mc:Fallback>
      </mc:AlternateContent>
    </p:spTree>
    <p:extLst>
      <p:ext uri="{BB962C8B-B14F-4D97-AF65-F5344CB8AC3E}">
        <p14:creationId xmlns:p14="http://schemas.microsoft.com/office/powerpoint/2010/main" val="2508736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FEB891-4814-9B72-55A7-FA9DB115554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PDM – LS LF – Backward Pass</a:t>
            </a:r>
          </a:p>
        </p:txBody>
      </p:sp>
      <p:pic>
        <p:nvPicPr>
          <p:cNvPr id="5" name="Content Placeholder 4">
            <a:extLst>
              <a:ext uri="{FF2B5EF4-FFF2-40B4-BE49-F238E27FC236}">
                <a16:creationId xmlns:a16="http://schemas.microsoft.com/office/drawing/2014/main" id="{DD36EA58-64E5-C274-F0DD-FBA8B090C5F6}"/>
              </a:ext>
            </a:extLst>
          </p:cNvPr>
          <p:cNvPicPr>
            <a:picLocks noGrp="1" noChangeAspect="1"/>
          </p:cNvPicPr>
          <p:nvPr>
            <p:ph idx="1"/>
          </p:nvPr>
        </p:nvPicPr>
        <p:blipFill>
          <a:blip r:embed="rId2"/>
          <a:stretch>
            <a:fillRect/>
          </a:stretch>
        </p:blipFill>
        <p:spPr>
          <a:xfrm>
            <a:off x="2307896" y="1675227"/>
            <a:ext cx="7576207" cy="4394199"/>
          </a:xfrm>
          <a:prstGeom prst="rect">
            <a:avLst/>
          </a:prstGeom>
        </p:spPr>
      </p:pic>
    </p:spTree>
    <p:extLst>
      <p:ext uri="{BB962C8B-B14F-4D97-AF65-F5344CB8AC3E}">
        <p14:creationId xmlns:p14="http://schemas.microsoft.com/office/powerpoint/2010/main" val="3831642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D19A34-B4B9-4ED3-C6AA-F5606900937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PDM</a:t>
            </a:r>
          </a:p>
        </p:txBody>
      </p:sp>
      <p:pic>
        <p:nvPicPr>
          <p:cNvPr id="5" name="Content Placeholder 4">
            <a:extLst>
              <a:ext uri="{FF2B5EF4-FFF2-40B4-BE49-F238E27FC236}">
                <a16:creationId xmlns:a16="http://schemas.microsoft.com/office/drawing/2014/main" id="{03763B1D-CE2E-C9DB-4CAD-B86A1B8EAF07}"/>
              </a:ext>
            </a:extLst>
          </p:cNvPr>
          <p:cNvPicPr>
            <a:picLocks noGrp="1" noChangeAspect="1"/>
          </p:cNvPicPr>
          <p:nvPr>
            <p:ph idx="1"/>
          </p:nvPr>
        </p:nvPicPr>
        <p:blipFill>
          <a:blip r:embed="rId2"/>
          <a:stretch>
            <a:fillRect/>
          </a:stretch>
        </p:blipFill>
        <p:spPr>
          <a:xfrm>
            <a:off x="2479375" y="1675227"/>
            <a:ext cx="7233249" cy="4394199"/>
          </a:xfrm>
          <a:prstGeom prst="rect">
            <a:avLst/>
          </a:prstGeom>
        </p:spPr>
      </p:pic>
    </p:spTree>
    <p:extLst>
      <p:ext uri="{BB962C8B-B14F-4D97-AF65-F5344CB8AC3E}">
        <p14:creationId xmlns:p14="http://schemas.microsoft.com/office/powerpoint/2010/main" val="3676379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4EB44-4366-66E4-107E-AC89AFE260C2}"/>
              </a:ext>
            </a:extLst>
          </p:cNvPr>
          <p:cNvSpPr>
            <a:spLocks noGrp="1"/>
          </p:cNvSpPr>
          <p:nvPr>
            <p:ph type="title"/>
          </p:nvPr>
        </p:nvSpPr>
        <p:spPr/>
        <p:txBody>
          <a:bodyPr/>
          <a:lstStyle/>
          <a:p>
            <a:r>
              <a:rPr lang="en-US" dirty="0"/>
              <a:t>CPM – Critical Path Method</a:t>
            </a:r>
          </a:p>
        </p:txBody>
      </p:sp>
      <p:sp>
        <p:nvSpPr>
          <p:cNvPr id="3" name="Content Placeholder 2">
            <a:extLst>
              <a:ext uri="{FF2B5EF4-FFF2-40B4-BE49-F238E27FC236}">
                <a16:creationId xmlns:a16="http://schemas.microsoft.com/office/drawing/2014/main" id="{5A2D3A9B-A637-2FED-EDB1-85D5AC0D264F}"/>
              </a:ext>
            </a:extLst>
          </p:cNvPr>
          <p:cNvSpPr>
            <a:spLocks noGrp="1"/>
          </p:cNvSpPr>
          <p:nvPr>
            <p:ph idx="1"/>
          </p:nvPr>
        </p:nvSpPr>
        <p:spPr/>
        <p:txBody>
          <a:bodyPr>
            <a:normAutofit fontScale="70000" lnSpcReduction="20000"/>
          </a:bodyPr>
          <a:lstStyle/>
          <a:p>
            <a:r>
              <a:rPr lang="en-US" dirty="0"/>
              <a:t>A </a:t>
            </a:r>
            <a:r>
              <a:rPr lang="en-US" b="1" dirty="0"/>
              <a:t>CPM (Critical Path Method) Network Diagram</a:t>
            </a:r>
            <a:r>
              <a:rPr lang="en-US" dirty="0"/>
              <a:t> is a visual representation of a project's tasks and their dependencies. It helps project managers understand the relationships between tasks, determine the critical path, and identify where the project might be delayed.</a:t>
            </a:r>
          </a:p>
          <a:p>
            <a:r>
              <a:rPr lang="en-US" b="1" dirty="0"/>
              <a:t>Key Elements of a CPM Network Diagram:</a:t>
            </a:r>
          </a:p>
          <a:p>
            <a:r>
              <a:rPr lang="en-US" b="1" dirty="0"/>
              <a:t>Nodes (Boxes)</a:t>
            </a:r>
            <a:r>
              <a:rPr lang="en-US" dirty="0"/>
              <a:t>:</a:t>
            </a:r>
          </a:p>
          <a:p>
            <a:pPr lvl="1"/>
            <a:r>
              <a:rPr lang="en-US" dirty="0"/>
              <a:t>Each node represents a task or activity in the project. It includes the task name, duration, and sometimes its ES, EF, LS, and LF times (depending on the level of detail).</a:t>
            </a:r>
          </a:p>
          <a:p>
            <a:r>
              <a:rPr lang="en-US" b="1" dirty="0"/>
              <a:t>Arrows (Dependencies)</a:t>
            </a:r>
            <a:r>
              <a:rPr lang="en-US" dirty="0"/>
              <a:t>:</a:t>
            </a:r>
          </a:p>
          <a:p>
            <a:pPr lvl="1"/>
            <a:r>
              <a:rPr lang="en-US" dirty="0"/>
              <a:t>The arrows between nodes represent dependencies (relationships) between tasks. They show which tasks must be completed before others can start.</a:t>
            </a:r>
          </a:p>
          <a:p>
            <a:r>
              <a:rPr lang="en-US" b="1" dirty="0"/>
              <a:t>Paths</a:t>
            </a:r>
            <a:r>
              <a:rPr lang="en-US" dirty="0"/>
              <a:t>:</a:t>
            </a:r>
          </a:p>
          <a:p>
            <a:pPr lvl="1"/>
            <a:r>
              <a:rPr lang="en-US" dirty="0"/>
              <a:t>The network diagram is made up of different paths, each representing a sequence of tasks connected by dependencies. The </a:t>
            </a:r>
            <a:r>
              <a:rPr lang="en-US" b="1" dirty="0"/>
              <a:t>critical path</a:t>
            </a:r>
            <a:r>
              <a:rPr lang="en-US" dirty="0"/>
              <a:t> is the longest path in terms of duration, and any delay along this path will delay the entire project.</a:t>
            </a:r>
          </a:p>
          <a:p>
            <a:r>
              <a:rPr lang="en-US" b="1" dirty="0"/>
              <a:t>Critical Path</a:t>
            </a:r>
            <a:r>
              <a:rPr lang="en-US" dirty="0"/>
              <a:t>:</a:t>
            </a:r>
          </a:p>
          <a:p>
            <a:pPr lvl="1"/>
            <a:r>
              <a:rPr lang="en-US" dirty="0"/>
              <a:t>The critical path is the longest sequence of dependent tasks in the project. It dictates the project’s minimum completion time. Tasks on the critical path have zero slack.</a:t>
            </a:r>
          </a:p>
          <a:p>
            <a:endParaRPr lang="en-US" dirty="0"/>
          </a:p>
        </p:txBody>
      </p:sp>
    </p:spTree>
    <p:extLst>
      <p:ext uri="{BB962C8B-B14F-4D97-AF65-F5344CB8AC3E}">
        <p14:creationId xmlns:p14="http://schemas.microsoft.com/office/powerpoint/2010/main" val="3929094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F0FB8-2D35-3FB9-87D3-D36A10B30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D2697-58B7-CE6B-A22D-A0750DD8D032}"/>
              </a:ext>
            </a:extLst>
          </p:cNvPr>
          <p:cNvSpPr>
            <a:spLocks noGrp="1"/>
          </p:cNvSpPr>
          <p:nvPr>
            <p:ph type="title"/>
          </p:nvPr>
        </p:nvSpPr>
        <p:spPr/>
        <p:txBody>
          <a:bodyPr/>
          <a:lstStyle/>
          <a:p>
            <a:r>
              <a:rPr lang="en-US" dirty="0"/>
              <a:t>CPM – Critical Path Method</a:t>
            </a:r>
          </a:p>
        </p:txBody>
      </p:sp>
      <p:sp>
        <p:nvSpPr>
          <p:cNvPr id="3" name="Content Placeholder 2">
            <a:extLst>
              <a:ext uri="{FF2B5EF4-FFF2-40B4-BE49-F238E27FC236}">
                <a16:creationId xmlns:a16="http://schemas.microsoft.com/office/drawing/2014/main" id="{193A0315-50FC-40CC-AFF2-A379C240ADF1}"/>
              </a:ext>
            </a:extLst>
          </p:cNvPr>
          <p:cNvSpPr>
            <a:spLocks noGrp="1"/>
          </p:cNvSpPr>
          <p:nvPr>
            <p:ph idx="1"/>
          </p:nvPr>
        </p:nvSpPr>
        <p:spPr/>
        <p:txBody>
          <a:bodyPr>
            <a:normAutofit lnSpcReduction="10000"/>
          </a:bodyPr>
          <a:lstStyle/>
          <a:p>
            <a:pPr marL="0" indent="0">
              <a:buNone/>
            </a:pPr>
            <a:r>
              <a:rPr lang="en-US" b="1" dirty="0"/>
              <a:t>Steps to Create a CPM Network Diagram:</a:t>
            </a:r>
          </a:p>
          <a:p>
            <a:r>
              <a:rPr lang="en-US" b="1" dirty="0"/>
              <a:t>Identify Tasks</a:t>
            </a:r>
            <a:r>
              <a:rPr lang="en-US" dirty="0"/>
              <a:t>: List all tasks and their durations.</a:t>
            </a:r>
          </a:p>
          <a:p>
            <a:r>
              <a:rPr lang="en-US" b="1" dirty="0"/>
              <a:t>Determine Dependencies</a:t>
            </a:r>
            <a:r>
              <a:rPr lang="en-US" dirty="0"/>
              <a:t>: Identify which tasks must be completed before others can begin.</a:t>
            </a:r>
          </a:p>
          <a:p>
            <a:r>
              <a:rPr lang="en-US" b="1" dirty="0"/>
              <a:t>Draw the Network</a:t>
            </a:r>
            <a:r>
              <a:rPr lang="en-US" dirty="0"/>
              <a:t>: Represent tasks as nodes and dependencies as arrows.</a:t>
            </a:r>
          </a:p>
          <a:p>
            <a:r>
              <a:rPr lang="en-US" b="1" dirty="0"/>
              <a:t>Perform Forward and Backward Passes</a:t>
            </a:r>
            <a:r>
              <a:rPr lang="en-US" dirty="0"/>
              <a:t>: Calculate ES, EF, LS, and LF for each task.</a:t>
            </a:r>
          </a:p>
          <a:p>
            <a:r>
              <a:rPr lang="en-US" b="1" dirty="0"/>
              <a:t>Identify the Critical Path</a:t>
            </a:r>
            <a:r>
              <a:rPr lang="en-US" dirty="0"/>
              <a:t>: The critical path is the path with the longest total duration.</a:t>
            </a:r>
          </a:p>
          <a:p>
            <a:endParaRPr lang="en-US" dirty="0"/>
          </a:p>
        </p:txBody>
      </p:sp>
    </p:spTree>
    <p:extLst>
      <p:ext uri="{BB962C8B-B14F-4D97-AF65-F5344CB8AC3E}">
        <p14:creationId xmlns:p14="http://schemas.microsoft.com/office/powerpoint/2010/main" val="3696133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BB3BA-20C1-9B4C-9FC3-816885867C51}"/>
              </a:ext>
            </a:extLst>
          </p:cNvPr>
          <p:cNvSpPr>
            <a:spLocks noGrp="1"/>
          </p:cNvSpPr>
          <p:nvPr>
            <p:ph type="title"/>
          </p:nvPr>
        </p:nvSpPr>
        <p:spPr/>
        <p:txBody>
          <a:bodyPr/>
          <a:lstStyle/>
          <a:p>
            <a:r>
              <a:rPr lang="en-US" dirty="0"/>
              <a:t>Total Float (Slack)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9DBC9D-43C3-A20A-DDD0-7922A7CC92C4}"/>
                  </a:ext>
                </a:extLst>
              </p:cNvPr>
              <p:cNvSpPr>
                <a:spLocks noGrp="1"/>
              </p:cNvSpPr>
              <p:nvPr>
                <p:ph idx="1"/>
              </p:nvPr>
            </p:nvSpPr>
            <p:spPr/>
            <p:txBody>
              <a:bodyPr>
                <a:normAutofit fontScale="85000" lnSpcReduction="10000"/>
              </a:bodyPr>
              <a:lstStyle/>
              <a:p>
                <a:r>
                  <a:rPr lang="en-US" b="1" dirty="0"/>
                  <a:t>Total Float</a:t>
                </a:r>
                <a:r>
                  <a:rPr lang="en-US" dirty="0"/>
                  <a:t> is the amount of time a task can be delayed without delaying the </a:t>
                </a:r>
                <a:r>
                  <a:rPr lang="en-US" b="1" dirty="0"/>
                  <a:t>project's completion</a:t>
                </a:r>
                <a:r>
                  <a:rPr lang="en-US" dirty="0"/>
                  <a:t>. It represents the total amount of scheduling flexibility a task has without impacting the </a:t>
                </a:r>
                <a:r>
                  <a:rPr lang="en-US" b="1" dirty="0"/>
                  <a:t>project's critical path</a:t>
                </a:r>
                <a:r>
                  <a:rPr lang="en-US" dirty="0"/>
                  <a:t>.</a:t>
                </a:r>
              </a:p>
              <a:p>
                <a:r>
                  <a:rPr lang="en-US" b="1" dirty="0"/>
                  <a:t>Application</a:t>
                </a:r>
                <a:r>
                  <a:rPr lang="en-US" dirty="0"/>
                  <a:t>: Total Float applies to tasks along both the </a:t>
                </a:r>
                <a:r>
                  <a:rPr lang="en-US" b="1" dirty="0"/>
                  <a:t>critical path</a:t>
                </a:r>
                <a:r>
                  <a:rPr lang="en-US" dirty="0"/>
                  <a:t> and non-critical tasks. Critical path tasks will have </a:t>
                </a:r>
                <a:r>
                  <a:rPr lang="en-US" b="1" dirty="0"/>
                  <a:t>zero float</a:t>
                </a:r>
                <a:r>
                  <a:rPr lang="en-US" dirty="0"/>
                  <a:t> (i.e., no slack), while non-critical tasks may have some amount of float, which means they can be delayed without affecting the project end date.</a:t>
                </a:r>
              </a:p>
              <a:p>
                <a:r>
                  <a:rPr lang="en-US" b="1" dirty="0"/>
                  <a:t>Formula</a:t>
                </a:r>
                <a:r>
                  <a:rPr lang="en-US" dirty="0"/>
                  <a:t>:</a:t>
                </a:r>
              </a:p>
              <a:p>
                <a14:m>
                  <m:oMath xmlns:m="http://schemas.openxmlformats.org/officeDocument/2006/math">
                    <m:r>
                      <m:rPr>
                        <m:nor/>
                      </m:rPr>
                      <a:rPr lang="en-US" b="0"/>
                      <m:t>Total</m:t>
                    </m:r>
                    <m:r>
                      <m:rPr>
                        <m:nor/>
                      </m:rPr>
                      <a:rPr lang="en-US" b="0" i="1"/>
                      <m:t> </m:t>
                    </m:r>
                    <m:r>
                      <m:rPr>
                        <m:nor/>
                      </m:rPr>
                      <a:rPr lang="en-US" b="0" i="1"/>
                      <m:t>Float</m:t>
                    </m:r>
                    <m:r>
                      <a:rPr lang="en-US">
                        <a:latin typeface="Cambria Math" panose="02040503050406030204" pitchFamily="18" charset="0"/>
                      </a:rPr>
                      <m:t>=</m:t>
                    </m:r>
                    <m:r>
                      <m:rPr>
                        <m:nor/>
                      </m:rPr>
                      <a:rPr lang="en-US" i="1"/>
                      <m:t>Late</m:t>
                    </m:r>
                    <m:r>
                      <m:rPr>
                        <m:nor/>
                      </m:rPr>
                      <a:rPr lang="en-US" i="1"/>
                      <m:t> </m:t>
                    </m:r>
                    <m:r>
                      <m:rPr>
                        <m:nor/>
                      </m:rPr>
                      <a:rPr lang="en-US" i="1"/>
                      <m:t>Finish</m:t>
                    </m:r>
                    <m:r>
                      <m:rPr>
                        <m:nor/>
                      </m:rPr>
                      <a:rPr lang="en-US" i="1"/>
                      <m:t> (</m:t>
                    </m:r>
                    <m:r>
                      <m:rPr>
                        <m:nor/>
                      </m:rPr>
                      <a:rPr lang="en-US" i="1"/>
                      <m:t>LF</m:t>
                    </m:r>
                    <m:r>
                      <m:rPr>
                        <m:nor/>
                      </m:rPr>
                      <a:rPr lang="en-US" i="1"/>
                      <m:t>)</m:t>
                    </m:r>
                    <m:r>
                      <a:rPr lang="en-US">
                        <a:latin typeface="Cambria Math" panose="02040503050406030204" pitchFamily="18" charset="0"/>
                      </a:rPr>
                      <m:t>−</m:t>
                    </m:r>
                    <m:r>
                      <m:rPr>
                        <m:nor/>
                      </m:rPr>
                      <a:rPr lang="en-US" i="1"/>
                      <m:t>Early</m:t>
                    </m:r>
                    <m:r>
                      <m:rPr>
                        <m:nor/>
                      </m:rPr>
                      <a:rPr lang="en-US" i="1"/>
                      <m:t> </m:t>
                    </m:r>
                    <m:r>
                      <m:rPr>
                        <m:nor/>
                      </m:rPr>
                      <a:rPr lang="en-US" i="1"/>
                      <m:t>Finish</m:t>
                    </m:r>
                    <m:r>
                      <m:rPr>
                        <m:nor/>
                      </m:rPr>
                      <a:rPr lang="en-US" i="1"/>
                      <m:t> (</m:t>
                    </m:r>
                    <m:r>
                      <m:rPr>
                        <m:nor/>
                      </m:rPr>
                      <a:rPr lang="en-US" i="1"/>
                      <m:t>EF</m:t>
                    </m:r>
                    <m:r>
                      <m:rPr>
                        <m:nor/>
                      </m:rPr>
                      <a:rPr lang="en-US" i="1"/>
                      <m:t>)</m:t>
                    </m:r>
                    <m:r>
                      <a:rPr lang="en-US">
                        <a:latin typeface="Cambria Math" panose="02040503050406030204" pitchFamily="18" charset="0"/>
                      </a:rPr>
                      <m:t>=</m:t>
                    </m:r>
                    <m:r>
                      <m:rPr>
                        <m:nor/>
                      </m:rPr>
                      <a:rPr lang="en-US" i="1"/>
                      <m:t>Late</m:t>
                    </m:r>
                    <m:r>
                      <m:rPr>
                        <m:nor/>
                      </m:rPr>
                      <a:rPr lang="en-US" i="1"/>
                      <m:t> </m:t>
                    </m:r>
                    <m:r>
                      <m:rPr>
                        <m:nor/>
                      </m:rPr>
                      <a:rPr lang="en-US" i="1"/>
                      <m:t>Start</m:t>
                    </m:r>
                    <m:r>
                      <m:rPr>
                        <m:nor/>
                      </m:rPr>
                      <a:rPr lang="en-US" i="1"/>
                      <m:t> (</m:t>
                    </m:r>
                    <m:r>
                      <m:rPr>
                        <m:nor/>
                      </m:rPr>
                      <a:rPr lang="en-US" i="1"/>
                      <m:t>LS</m:t>
                    </m:r>
                    <m:r>
                      <m:rPr>
                        <m:nor/>
                      </m:rPr>
                      <a:rPr lang="en-US" i="1"/>
                      <m:t>)</m:t>
                    </m:r>
                    <m:r>
                      <a:rPr lang="en-US">
                        <a:latin typeface="Cambria Math" panose="02040503050406030204" pitchFamily="18" charset="0"/>
                      </a:rPr>
                      <m:t>−</m:t>
                    </m:r>
                    <m:r>
                      <m:rPr>
                        <m:nor/>
                      </m:rPr>
                      <a:rPr lang="en-US" i="1"/>
                      <m:t>Early</m:t>
                    </m:r>
                    <m:r>
                      <m:rPr>
                        <m:nor/>
                      </m:rPr>
                      <a:rPr lang="en-US" i="1"/>
                      <m:t> </m:t>
                    </m:r>
                    <m:r>
                      <m:rPr>
                        <m:nor/>
                      </m:rPr>
                      <a:rPr lang="en-US" i="1"/>
                      <m:t>Start</m:t>
                    </m:r>
                    <m:r>
                      <m:rPr>
                        <m:nor/>
                      </m:rPr>
                      <a:rPr lang="en-US" i="1"/>
                      <m:t> (</m:t>
                    </m:r>
                    <m:r>
                      <m:rPr>
                        <m:nor/>
                      </m:rPr>
                      <a:rPr lang="en-US" i="1"/>
                      <m:t>ES</m:t>
                    </m:r>
                    <m:r>
                      <m:rPr>
                        <m:nor/>
                      </m:rPr>
                      <a:rPr lang="en-US" i="1"/>
                      <m:t>)</m:t>
                    </m:r>
                  </m:oMath>
                </a14:m>
                <a:endParaRPr lang="en-US" b="0" dirty="0"/>
              </a:p>
              <a:p>
                <a:r>
                  <a:rPr lang="en-US" dirty="0"/>
                  <a:t>Or:</a:t>
                </a:r>
              </a:p>
              <a:p>
                <a14:m>
                  <m:oMath xmlns:m="http://schemas.openxmlformats.org/officeDocument/2006/math">
                    <m:r>
                      <m:rPr>
                        <m:nor/>
                      </m:rPr>
                      <a:rPr lang="en-US" b="0"/>
                      <m:t>Total</m:t>
                    </m:r>
                    <m:r>
                      <m:rPr>
                        <m:nor/>
                      </m:rPr>
                      <a:rPr lang="en-US" b="0" i="1"/>
                      <m:t> </m:t>
                    </m:r>
                    <m:r>
                      <m:rPr>
                        <m:nor/>
                      </m:rPr>
                      <a:rPr lang="en-US" b="0" i="1"/>
                      <m:t>Float</m:t>
                    </m:r>
                    <m:r>
                      <a:rPr lang="en-US">
                        <a:latin typeface="Cambria Math" panose="02040503050406030204" pitchFamily="18" charset="0"/>
                      </a:rPr>
                      <m:t>=</m:t>
                    </m:r>
                    <m:r>
                      <m:rPr>
                        <m:nor/>
                      </m:rPr>
                      <a:rPr lang="en-US" i="1"/>
                      <m:t>Late</m:t>
                    </m:r>
                    <m:r>
                      <m:rPr>
                        <m:nor/>
                      </m:rPr>
                      <a:rPr lang="en-US" i="1"/>
                      <m:t> </m:t>
                    </m:r>
                    <m:r>
                      <m:rPr>
                        <m:nor/>
                      </m:rPr>
                      <a:rPr lang="en-US" i="1"/>
                      <m:t>Start</m:t>
                    </m:r>
                    <m:r>
                      <m:rPr>
                        <m:nor/>
                      </m:rPr>
                      <a:rPr lang="en-US" i="1"/>
                      <m:t> (</m:t>
                    </m:r>
                    <m:r>
                      <m:rPr>
                        <m:nor/>
                      </m:rPr>
                      <a:rPr lang="en-US" i="1"/>
                      <m:t>LS</m:t>
                    </m:r>
                    <m:r>
                      <m:rPr>
                        <m:nor/>
                      </m:rPr>
                      <a:rPr lang="en-US" i="1"/>
                      <m:t>)</m:t>
                    </m:r>
                    <m:r>
                      <a:rPr lang="en-US">
                        <a:latin typeface="Cambria Math" panose="02040503050406030204" pitchFamily="18" charset="0"/>
                      </a:rPr>
                      <m:t>−</m:t>
                    </m:r>
                    <m:r>
                      <m:rPr>
                        <m:nor/>
                      </m:rPr>
                      <a:rPr lang="en-US" i="1"/>
                      <m:t>Early</m:t>
                    </m:r>
                    <m:r>
                      <m:rPr>
                        <m:nor/>
                      </m:rPr>
                      <a:rPr lang="en-US" i="1"/>
                      <m:t> </m:t>
                    </m:r>
                    <m:r>
                      <m:rPr>
                        <m:nor/>
                      </m:rPr>
                      <a:rPr lang="en-US" i="1"/>
                      <m:t>Start</m:t>
                    </m:r>
                    <m:r>
                      <m:rPr>
                        <m:nor/>
                      </m:rPr>
                      <a:rPr lang="en-US" i="1"/>
                      <m:t> (</m:t>
                    </m:r>
                    <m:r>
                      <m:rPr>
                        <m:nor/>
                      </m:rPr>
                      <a:rPr lang="en-US" i="1"/>
                      <m:t>ES</m:t>
                    </m:r>
                    <m:r>
                      <m:rPr>
                        <m:nor/>
                      </m:rPr>
                      <a:rPr lang="en-US" i="1"/>
                      <m:t>)</m:t>
                    </m:r>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A69DBC9D-43C3-A20A-DDD0-7922A7CC92C4}"/>
                  </a:ext>
                </a:extLst>
              </p:cNvPr>
              <p:cNvSpPr>
                <a:spLocks noGrp="1" noRot="1" noChangeAspect="1" noMove="1" noResize="1" noEditPoints="1" noAdjustHandles="1" noChangeArrowheads="1" noChangeShapeType="1" noTextEdit="1"/>
              </p:cNvSpPr>
              <p:nvPr>
                <p:ph idx="1"/>
              </p:nvPr>
            </p:nvSpPr>
            <p:spPr>
              <a:blipFill>
                <a:blip r:embed="rId2"/>
                <a:stretch>
                  <a:fillRect l="-812" t="-2521" r="-1217" b="-2241"/>
                </a:stretch>
              </a:blipFill>
            </p:spPr>
            <p:txBody>
              <a:bodyPr/>
              <a:lstStyle/>
              <a:p>
                <a:r>
                  <a:rPr lang="en-US">
                    <a:noFill/>
                  </a:rPr>
                  <a:t> </a:t>
                </a:r>
              </a:p>
            </p:txBody>
          </p:sp>
        </mc:Fallback>
      </mc:AlternateContent>
    </p:spTree>
    <p:extLst>
      <p:ext uri="{BB962C8B-B14F-4D97-AF65-F5344CB8AC3E}">
        <p14:creationId xmlns:p14="http://schemas.microsoft.com/office/powerpoint/2010/main" val="1197084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C8C94-8B2F-FA29-355C-2190F3C45474}"/>
              </a:ext>
            </a:extLst>
          </p:cNvPr>
          <p:cNvSpPr>
            <a:spLocks noGrp="1"/>
          </p:cNvSpPr>
          <p:nvPr>
            <p:ph type="title"/>
          </p:nvPr>
        </p:nvSpPr>
        <p:spPr/>
        <p:txBody>
          <a:bodyPr/>
          <a:lstStyle/>
          <a:p>
            <a:r>
              <a:rPr lang="en-US" dirty="0"/>
              <a:t>Free Float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2E068E-1074-42F4-F659-134986A049AE}"/>
                  </a:ext>
                </a:extLst>
              </p:cNvPr>
              <p:cNvSpPr>
                <a:spLocks noGrp="1"/>
              </p:cNvSpPr>
              <p:nvPr>
                <p:ph idx="1"/>
              </p:nvPr>
            </p:nvSpPr>
            <p:spPr/>
            <p:txBody>
              <a:bodyPr>
                <a:normAutofit fontScale="62500" lnSpcReduction="20000"/>
              </a:bodyPr>
              <a:lstStyle/>
              <a:p>
                <a:pPr marL="0" indent="0">
                  <a:buNone/>
                </a:pPr>
                <a:r>
                  <a:rPr lang="en-US" b="1" dirty="0"/>
                  <a:t>Free Float</a:t>
                </a:r>
                <a:r>
                  <a:rPr lang="en-US" dirty="0"/>
                  <a:t> is the amount of time a task can be delayed without affecting the </a:t>
                </a:r>
                <a:r>
                  <a:rPr lang="en-US" b="1" dirty="0"/>
                  <a:t>early start</a:t>
                </a:r>
                <a:r>
                  <a:rPr lang="en-US" dirty="0"/>
                  <a:t> of any </a:t>
                </a:r>
                <a:r>
                  <a:rPr lang="en-US" b="1" dirty="0"/>
                  <a:t>successor task</a:t>
                </a:r>
                <a:r>
                  <a:rPr lang="en-US" dirty="0"/>
                  <a:t>. It measures how much a task can be delayed without impacting the tasks that come after it.</a:t>
                </a:r>
              </a:p>
              <a:p>
                <a:r>
                  <a:rPr lang="en-US" b="1" dirty="0"/>
                  <a:t>Application</a:t>
                </a:r>
                <a:r>
                  <a:rPr lang="en-US" dirty="0"/>
                  <a:t>: Free Float is primarily useful for managing non-critical tasks. Unlike Total Float, which considers the entire project timeline, Free Float only concerns itself with the immediate successors of the task.</a:t>
                </a:r>
              </a:p>
              <a:p>
                <a:r>
                  <a:rPr lang="en-US" b="1" dirty="0"/>
                  <a:t>Formula</a:t>
                </a:r>
                <a:r>
                  <a:rPr lang="en-US" dirty="0"/>
                  <a:t>:</a:t>
                </a:r>
              </a:p>
              <a:p>
                <a14:m>
                  <m:oMath xmlns:m="http://schemas.openxmlformats.org/officeDocument/2006/math">
                    <m:r>
                      <m:rPr>
                        <m:nor/>
                      </m:rPr>
                      <a:rPr lang="en-US" b="0"/>
                      <m:t>Free</m:t>
                    </m:r>
                    <m:r>
                      <m:rPr>
                        <m:nor/>
                      </m:rPr>
                      <a:rPr lang="en-US" b="0" i="1"/>
                      <m:t> </m:t>
                    </m:r>
                    <m:r>
                      <m:rPr>
                        <m:nor/>
                      </m:rPr>
                      <a:rPr lang="en-US" b="0" i="1"/>
                      <m:t>Float</m:t>
                    </m:r>
                    <m:r>
                      <a:rPr lang="en-US">
                        <a:latin typeface="Cambria Math" panose="02040503050406030204" pitchFamily="18" charset="0"/>
                      </a:rPr>
                      <m:t>=</m:t>
                    </m:r>
                    <m:r>
                      <m:rPr>
                        <m:nor/>
                      </m:rPr>
                      <a:rPr lang="en-US" b="0" i="1" smtClean="0"/>
                      <m:t>MIN</m:t>
                    </m:r>
                    <m:r>
                      <m:rPr>
                        <m:nor/>
                      </m:rPr>
                      <a:rPr lang="en-US" b="0" i="1" smtClean="0"/>
                      <m:t>(</m:t>
                    </m:r>
                    <m:r>
                      <m:rPr>
                        <m:nor/>
                      </m:rPr>
                      <a:rPr lang="en-US" i="1"/>
                      <m:t>Earliest</m:t>
                    </m:r>
                    <m:r>
                      <m:rPr>
                        <m:nor/>
                      </m:rPr>
                      <a:rPr lang="en-US" i="1"/>
                      <m:t> </m:t>
                    </m:r>
                    <m:r>
                      <m:rPr>
                        <m:nor/>
                      </m:rPr>
                      <a:rPr lang="en-US" i="1"/>
                      <m:t>Start</m:t>
                    </m:r>
                    <m:r>
                      <m:rPr>
                        <m:nor/>
                      </m:rPr>
                      <a:rPr lang="en-US" i="1"/>
                      <m:t> </m:t>
                    </m:r>
                    <m:r>
                      <m:rPr>
                        <m:nor/>
                      </m:rPr>
                      <a:rPr lang="en-US" i="1"/>
                      <m:t>of</m:t>
                    </m:r>
                    <m:r>
                      <m:rPr>
                        <m:nor/>
                      </m:rPr>
                      <a:rPr lang="en-US" i="1"/>
                      <m:t> </m:t>
                    </m:r>
                    <m:r>
                      <m:rPr>
                        <m:nor/>
                      </m:rPr>
                      <a:rPr lang="en-US" i="1"/>
                      <m:t>SuccessoS</m:t>
                    </m:r>
                    <m:r>
                      <m:rPr>
                        <m:nor/>
                      </m:rPr>
                      <a:rPr lang="en-US" b="0" i="1" smtClean="0"/>
                      <m:t>)</m:t>
                    </m:r>
                    <m:r>
                      <m:rPr>
                        <m:nor/>
                      </m:rPr>
                      <a:rPr lang="en-US" i="1"/>
                      <m:t>r</m:t>
                    </m:r>
                    <m:r>
                      <a:rPr lang="en-US">
                        <a:latin typeface="Cambria Math" panose="02040503050406030204" pitchFamily="18" charset="0"/>
                      </a:rPr>
                      <m:t>−</m:t>
                    </m:r>
                    <m:r>
                      <m:rPr>
                        <m:nor/>
                      </m:rPr>
                      <a:rPr lang="en-US" i="1"/>
                      <m:t>Early</m:t>
                    </m:r>
                    <m:r>
                      <m:rPr>
                        <m:nor/>
                      </m:rPr>
                      <a:rPr lang="en-US" i="1"/>
                      <m:t> </m:t>
                    </m:r>
                    <m:r>
                      <m:rPr>
                        <m:nor/>
                      </m:rPr>
                      <a:rPr lang="en-US" i="1"/>
                      <m:t>Finish</m:t>
                    </m:r>
                    <m:r>
                      <m:rPr>
                        <m:nor/>
                      </m:rPr>
                      <a:rPr lang="en-US" i="1"/>
                      <m:t> </m:t>
                    </m:r>
                    <m:r>
                      <m:rPr>
                        <m:nor/>
                      </m:rPr>
                      <a:rPr lang="en-US" i="1"/>
                      <m:t>of</m:t>
                    </m:r>
                    <m:r>
                      <m:rPr>
                        <m:nor/>
                      </m:rPr>
                      <a:rPr lang="en-US" i="1"/>
                      <m:t> </m:t>
                    </m:r>
                    <m:r>
                      <m:rPr>
                        <m:nor/>
                      </m:rPr>
                      <a:rPr lang="en-US" i="1"/>
                      <m:t>Task</m:t>
                    </m:r>
                  </m:oMath>
                </a14:m>
                <a:endParaRPr lang="en-US" b="0" dirty="0"/>
              </a:p>
              <a:p>
                <a:r>
                  <a:rPr lang="en-US" dirty="0"/>
                  <a:t>Where:</a:t>
                </a:r>
              </a:p>
              <a:p>
                <a:pPr lvl="1"/>
                <a:r>
                  <a:rPr lang="en-US" b="1" dirty="0"/>
                  <a:t>Earliest Start of Successor</a:t>
                </a:r>
                <a:r>
                  <a:rPr lang="en-US" dirty="0"/>
                  <a:t> = the </a:t>
                </a:r>
                <a:r>
                  <a:rPr lang="en-US" b="1" dirty="0"/>
                  <a:t>early start</a:t>
                </a:r>
                <a:r>
                  <a:rPr lang="en-US" dirty="0"/>
                  <a:t> of the next task that depends on this task.</a:t>
                </a:r>
              </a:p>
              <a:p>
                <a:r>
                  <a:rPr lang="en-US" b="1" dirty="0"/>
                  <a:t>Example:</a:t>
                </a:r>
              </a:p>
              <a:p>
                <a:r>
                  <a:rPr lang="en-US" dirty="0"/>
                  <a:t>Suppose Task B has:</a:t>
                </a:r>
              </a:p>
              <a:p>
                <a:pPr lvl="1"/>
                <a:r>
                  <a:rPr lang="en-US" b="1" dirty="0"/>
                  <a:t>Early Finish (EF)</a:t>
                </a:r>
                <a:r>
                  <a:rPr lang="en-US" dirty="0"/>
                  <a:t> = 8.</a:t>
                </a:r>
              </a:p>
              <a:p>
                <a:pPr lvl="1"/>
                <a:r>
                  <a:rPr lang="en-US" dirty="0"/>
                  <a:t>The </a:t>
                </a:r>
                <a:r>
                  <a:rPr lang="en-US" b="1" dirty="0"/>
                  <a:t>Earliest Start (ES)</a:t>
                </a:r>
                <a:r>
                  <a:rPr lang="en-US" dirty="0"/>
                  <a:t> of its successor, Task C, is 10.</a:t>
                </a:r>
              </a:p>
              <a:p>
                <a:r>
                  <a:rPr lang="en-US" b="1" dirty="0"/>
                  <a:t>Free Float</a:t>
                </a:r>
                <a:r>
                  <a:rPr lang="en-US" dirty="0"/>
                  <a:t> = </a:t>
                </a:r>
                <a:r>
                  <a:rPr lang="en-US" b="1" dirty="0"/>
                  <a:t>ES of Task C</a:t>
                </a:r>
                <a:r>
                  <a:rPr lang="en-US" dirty="0"/>
                  <a:t> - </a:t>
                </a:r>
                <a:r>
                  <a:rPr lang="en-US" b="1" dirty="0"/>
                  <a:t>EF of Task B</a:t>
                </a:r>
                <a:r>
                  <a:rPr lang="en-US" dirty="0"/>
                  <a:t> = 10 - 8 = </a:t>
                </a:r>
                <a:r>
                  <a:rPr lang="en-US" b="1" dirty="0"/>
                  <a:t>2 days</a:t>
                </a:r>
                <a:r>
                  <a:rPr lang="en-US" dirty="0"/>
                  <a:t>.</a:t>
                </a:r>
              </a:p>
              <a:p>
                <a:pPr lvl="1"/>
                <a:r>
                  <a:rPr lang="en-US" dirty="0"/>
                  <a:t>This means Task B can be delayed by up to 2 days without affecting the start of Task C.</a:t>
                </a:r>
              </a:p>
              <a:p>
                <a:pPr lvl="1"/>
                <a:r>
                  <a:rPr lang="en-US" dirty="0"/>
                  <a:t>FF&lt;=TF</a:t>
                </a:r>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442E068E-1074-42F4-F659-134986A049AE}"/>
                  </a:ext>
                </a:extLst>
              </p:cNvPr>
              <p:cNvSpPr>
                <a:spLocks noGrp="1" noRot="1" noChangeAspect="1" noMove="1" noResize="1" noEditPoints="1" noAdjustHandles="1" noChangeArrowheads="1" noChangeShapeType="1" noTextEdit="1"/>
              </p:cNvSpPr>
              <p:nvPr>
                <p:ph idx="1"/>
              </p:nvPr>
            </p:nvSpPr>
            <p:spPr>
              <a:blipFill>
                <a:blip r:embed="rId2"/>
                <a:stretch>
                  <a:fillRect l="-522" t="-2101" r="-11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3C46A3D-9A11-4317-9A57-D6EF6EC722CD}"/>
              </a:ext>
            </a:extLst>
          </p:cNvPr>
          <p:cNvPicPr>
            <a:picLocks noChangeAspect="1"/>
          </p:cNvPicPr>
          <p:nvPr/>
        </p:nvPicPr>
        <p:blipFill>
          <a:blip r:embed="rId3"/>
          <a:stretch>
            <a:fillRect/>
          </a:stretch>
        </p:blipFill>
        <p:spPr>
          <a:xfrm>
            <a:off x="3672078" y="230188"/>
            <a:ext cx="8267700" cy="971550"/>
          </a:xfrm>
          <a:prstGeom prst="rect">
            <a:avLst/>
          </a:prstGeom>
        </p:spPr>
      </p:pic>
    </p:spTree>
    <p:extLst>
      <p:ext uri="{BB962C8B-B14F-4D97-AF65-F5344CB8AC3E}">
        <p14:creationId xmlns:p14="http://schemas.microsoft.com/office/powerpoint/2010/main" val="953178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A854AA-A54B-1745-374C-936587EBC60D}"/>
              </a:ext>
            </a:extLst>
          </p:cNvPr>
          <p:cNvPicPr>
            <a:picLocks noGrp="1" noChangeAspect="1"/>
          </p:cNvPicPr>
          <p:nvPr>
            <p:ph idx="1"/>
          </p:nvPr>
        </p:nvPicPr>
        <p:blipFill>
          <a:blip r:embed="rId2"/>
          <a:stretch>
            <a:fillRect/>
          </a:stretch>
        </p:blipFill>
        <p:spPr>
          <a:xfrm>
            <a:off x="1272565" y="643466"/>
            <a:ext cx="9646870" cy="5571067"/>
          </a:xfrm>
          <a:prstGeom prst="rect">
            <a:avLst/>
          </a:prstGeom>
        </p:spPr>
      </p:pic>
    </p:spTree>
    <p:extLst>
      <p:ext uri="{BB962C8B-B14F-4D97-AF65-F5344CB8AC3E}">
        <p14:creationId xmlns:p14="http://schemas.microsoft.com/office/powerpoint/2010/main" val="34848350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44BCA23-4B40-6522-27F5-F50233A85D36}"/>
              </a:ext>
            </a:extLst>
          </p:cNvPr>
          <p:cNvPicPr>
            <a:picLocks noGrp="1" noChangeAspect="1"/>
          </p:cNvPicPr>
          <p:nvPr>
            <p:ph idx="1"/>
          </p:nvPr>
        </p:nvPicPr>
        <p:blipFill>
          <a:blip r:embed="rId2"/>
          <a:stretch>
            <a:fillRect/>
          </a:stretch>
        </p:blipFill>
        <p:spPr>
          <a:xfrm>
            <a:off x="1374757" y="643466"/>
            <a:ext cx="9442485" cy="5571067"/>
          </a:xfrm>
          <a:prstGeom prst="rect">
            <a:avLst/>
          </a:prstGeom>
        </p:spPr>
      </p:pic>
    </p:spTree>
    <p:extLst>
      <p:ext uri="{BB962C8B-B14F-4D97-AF65-F5344CB8AC3E}">
        <p14:creationId xmlns:p14="http://schemas.microsoft.com/office/powerpoint/2010/main" val="1358714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B8B0871E-53A2-BC66-028C-4147D482F0FE}"/>
              </a:ext>
            </a:extLst>
          </p:cNvPr>
          <p:cNvPicPr>
            <a:picLocks noGrp="1" noChangeAspect="1"/>
          </p:cNvPicPr>
          <p:nvPr>
            <p:ph idx="1"/>
          </p:nvPr>
        </p:nvPicPr>
        <p:blipFill>
          <a:blip r:embed="rId2"/>
          <a:srcRect l="3538" r="1" b="1"/>
          <a:stretch>
            <a:fillRect/>
          </a:stretch>
        </p:blipFill>
        <p:spPr>
          <a:xfrm>
            <a:off x="20" y="1282"/>
            <a:ext cx="12191980" cy="6856718"/>
          </a:xfrm>
          <a:prstGeom prst="rect">
            <a:avLst/>
          </a:prstGeom>
        </p:spPr>
      </p:pic>
    </p:spTree>
    <p:extLst>
      <p:ext uri="{BB962C8B-B14F-4D97-AF65-F5344CB8AC3E}">
        <p14:creationId xmlns:p14="http://schemas.microsoft.com/office/powerpoint/2010/main" val="1798767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E2CEE53-B6E7-26BB-7575-0B74A5842E6B}"/>
              </a:ext>
            </a:extLst>
          </p:cNvPr>
          <p:cNvPicPr>
            <a:picLocks noGrp="1" noChangeAspect="1"/>
          </p:cNvPicPr>
          <p:nvPr>
            <p:ph idx="1"/>
          </p:nvPr>
        </p:nvPicPr>
        <p:blipFill>
          <a:blip r:embed="rId2"/>
          <a:stretch>
            <a:fillRect/>
          </a:stretch>
        </p:blipFill>
        <p:spPr>
          <a:xfrm>
            <a:off x="457200" y="567309"/>
            <a:ext cx="11277600" cy="5723382"/>
          </a:xfrm>
          <a:prstGeom prst="rect">
            <a:avLst/>
          </a:prstGeom>
        </p:spPr>
      </p:pic>
    </p:spTree>
    <p:extLst>
      <p:ext uri="{BB962C8B-B14F-4D97-AF65-F5344CB8AC3E}">
        <p14:creationId xmlns:p14="http://schemas.microsoft.com/office/powerpoint/2010/main" val="1571607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18E47-1811-D865-6558-51EDE04DF3B7}"/>
              </a:ext>
            </a:extLst>
          </p:cNvPr>
          <p:cNvSpPr>
            <a:spLocks noGrp="1"/>
          </p:cNvSpPr>
          <p:nvPr>
            <p:ph type="title"/>
          </p:nvPr>
        </p:nvSpPr>
        <p:spPr/>
        <p:txBody>
          <a:bodyPr/>
          <a:lstStyle/>
          <a:p>
            <a:r>
              <a:rPr lang="en-US" dirty="0"/>
              <a:t>CPM</a:t>
            </a:r>
          </a:p>
        </p:txBody>
      </p:sp>
      <p:sp>
        <p:nvSpPr>
          <p:cNvPr id="3" name="Content Placeholder 2">
            <a:extLst>
              <a:ext uri="{FF2B5EF4-FFF2-40B4-BE49-F238E27FC236}">
                <a16:creationId xmlns:a16="http://schemas.microsoft.com/office/drawing/2014/main" id="{8CC86324-BCDE-FC72-53C6-AF00A87CAF4A}"/>
              </a:ext>
            </a:extLst>
          </p:cNvPr>
          <p:cNvSpPr>
            <a:spLocks noGrp="1"/>
          </p:cNvSpPr>
          <p:nvPr>
            <p:ph idx="1"/>
          </p:nvPr>
        </p:nvSpPr>
        <p:spPr/>
        <p:txBody>
          <a:bodyPr/>
          <a:lstStyle/>
          <a:p>
            <a:r>
              <a:rPr lang="en-US" dirty="0">
                <a:hlinkClick r:id="rId2"/>
              </a:rPr>
              <a:t>Critical Path Method (CPM) Made Simple: A Complete Guide</a:t>
            </a:r>
            <a:endParaRPr lang="en-US" dirty="0"/>
          </a:p>
          <a:p>
            <a:pPr marL="0" indent="0">
              <a:buNone/>
            </a:pPr>
            <a:endParaRPr lang="en-US" dirty="0"/>
          </a:p>
        </p:txBody>
      </p:sp>
    </p:spTree>
    <p:extLst>
      <p:ext uri="{BB962C8B-B14F-4D97-AF65-F5344CB8AC3E}">
        <p14:creationId xmlns:p14="http://schemas.microsoft.com/office/powerpoint/2010/main" val="1092900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03EC-6456-D10B-4427-0A6FEC02445B}"/>
              </a:ext>
            </a:extLst>
          </p:cNvPr>
          <p:cNvSpPr>
            <a:spLocks noGrp="1"/>
          </p:cNvSpPr>
          <p:nvPr>
            <p:ph type="title"/>
          </p:nvPr>
        </p:nvSpPr>
        <p:spPr/>
        <p:txBody>
          <a:bodyPr/>
          <a:lstStyle/>
          <a:p>
            <a:r>
              <a:rPr lang="en-US" dirty="0"/>
              <a:t>Network Diagram</a:t>
            </a:r>
          </a:p>
        </p:txBody>
      </p:sp>
      <p:sp>
        <p:nvSpPr>
          <p:cNvPr id="3" name="Content Placeholder 2">
            <a:extLst>
              <a:ext uri="{FF2B5EF4-FFF2-40B4-BE49-F238E27FC236}">
                <a16:creationId xmlns:a16="http://schemas.microsoft.com/office/drawing/2014/main" id="{B5AE3F15-4C1A-C64F-D594-5E66E2373F07}"/>
              </a:ext>
            </a:extLst>
          </p:cNvPr>
          <p:cNvSpPr>
            <a:spLocks noGrp="1"/>
          </p:cNvSpPr>
          <p:nvPr>
            <p:ph idx="1"/>
          </p:nvPr>
        </p:nvSpPr>
        <p:spPr/>
        <p:txBody>
          <a:bodyPr/>
          <a:lstStyle/>
          <a:p>
            <a:r>
              <a:rPr lang="en-US" dirty="0"/>
              <a:t>A </a:t>
            </a:r>
            <a:r>
              <a:rPr lang="en-US" b="1" dirty="0"/>
              <a:t>project network diagram</a:t>
            </a:r>
            <a:r>
              <a:rPr lang="en-US" dirty="0"/>
              <a:t> graphically illustrates:</a:t>
            </a:r>
          </a:p>
          <a:p>
            <a:pPr lvl="1"/>
            <a:r>
              <a:rPr lang="en-US" dirty="0"/>
              <a:t>All project </a:t>
            </a:r>
            <a:r>
              <a:rPr lang="en-US" b="1" dirty="0"/>
              <a:t>activities</a:t>
            </a:r>
            <a:endParaRPr lang="en-US" dirty="0"/>
          </a:p>
          <a:p>
            <a:pPr lvl="1"/>
            <a:r>
              <a:rPr lang="en-US" dirty="0"/>
              <a:t>The </a:t>
            </a:r>
            <a:r>
              <a:rPr lang="en-US" b="1" dirty="0"/>
              <a:t>order</a:t>
            </a:r>
            <a:r>
              <a:rPr lang="en-US" dirty="0"/>
              <a:t> in which activities must be performed</a:t>
            </a:r>
          </a:p>
          <a:p>
            <a:pPr lvl="1"/>
            <a:r>
              <a:rPr lang="en-US" b="1" dirty="0"/>
              <a:t>Dependencies</a:t>
            </a:r>
            <a:r>
              <a:rPr lang="en-US" dirty="0"/>
              <a:t> between activities</a:t>
            </a:r>
          </a:p>
          <a:p>
            <a:r>
              <a:rPr lang="en-US" dirty="0"/>
              <a:t>It is a key input for:</a:t>
            </a:r>
          </a:p>
          <a:p>
            <a:pPr lvl="1"/>
            <a:r>
              <a:rPr lang="en-US" dirty="0"/>
              <a:t>Schedule development</a:t>
            </a:r>
          </a:p>
          <a:p>
            <a:pPr lvl="1"/>
            <a:r>
              <a:rPr lang="en-US" dirty="0"/>
              <a:t>Critical Path Method (CPM)</a:t>
            </a:r>
          </a:p>
          <a:p>
            <a:pPr lvl="1"/>
            <a:r>
              <a:rPr lang="en-US" dirty="0"/>
              <a:t>Identifying schedule risks</a:t>
            </a:r>
          </a:p>
          <a:p>
            <a:endParaRPr lang="en-US" dirty="0"/>
          </a:p>
        </p:txBody>
      </p:sp>
    </p:spTree>
    <p:extLst>
      <p:ext uri="{BB962C8B-B14F-4D97-AF65-F5344CB8AC3E}">
        <p14:creationId xmlns:p14="http://schemas.microsoft.com/office/powerpoint/2010/main" val="3101647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3969C-AB65-EF92-0A5C-7E6E4F494BCF}"/>
              </a:ext>
            </a:extLst>
          </p:cNvPr>
          <p:cNvSpPr>
            <a:spLocks noGrp="1"/>
          </p:cNvSpPr>
          <p:nvPr>
            <p:ph type="title"/>
          </p:nvPr>
        </p:nvSpPr>
        <p:spPr/>
        <p:txBody>
          <a:bodyPr/>
          <a:lstStyle/>
          <a:p>
            <a:r>
              <a:rPr lang="en-US" dirty="0"/>
              <a:t>Components of a Network Diagram</a:t>
            </a:r>
          </a:p>
        </p:txBody>
      </p:sp>
      <p:sp>
        <p:nvSpPr>
          <p:cNvPr id="3" name="Content Placeholder 2">
            <a:extLst>
              <a:ext uri="{FF2B5EF4-FFF2-40B4-BE49-F238E27FC236}">
                <a16:creationId xmlns:a16="http://schemas.microsoft.com/office/drawing/2014/main" id="{6A96D4B6-614A-778E-D45A-F2CC8331B431}"/>
              </a:ext>
            </a:extLst>
          </p:cNvPr>
          <p:cNvSpPr>
            <a:spLocks noGrp="1"/>
          </p:cNvSpPr>
          <p:nvPr>
            <p:ph idx="1"/>
          </p:nvPr>
        </p:nvSpPr>
        <p:spPr/>
        <p:txBody>
          <a:bodyPr>
            <a:normAutofit/>
          </a:bodyPr>
          <a:lstStyle/>
          <a:p>
            <a:r>
              <a:rPr lang="en-US" b="1" dirty="0"/>
              <a:t>1. Activities (Tasks)</a:t>
            </a:r>
          </a:p>
          <a:p>
            <a:pPr lvl="1"/>
            <a:r>
              <a:rPr lang="en-US" dirty="0"/>
              <a:t>Individual units of work in the project</a:t>
            </a:r>
          </a:p>
          <a:p>
            <a:pPr lvl="1"/>
            <a:r>
              <a:rPr lang="en-US" dirty="0"/>
              <a:t>Usually derived from the </a:t>
            </a:r>
            <a:r>
              <a:rPr lang="en-US" b="1" dirty="0"/>
              <a:t>Work Breakdown Structure (WBS)</a:t>
            </a:r>
            <a:endParaRPr lang="en-US" dirty="0"/>
          </a:p>
          <a:p>
            <a:pPr lvl="1"/>
            <a:r>
              <a:rPr lang="en-US" dirty="0"/>
              <a:t>Shown as </a:t>
            </a:r>
            <a:r>
              <a:rPr lang="en-US" b="1" dirty="0"/>
              <a:t>nodes (boxes)</a:t>
            </a:r>
            <a:r>
              <a:rPr lang="en-US" dirty="0"/>
              <a:t> or </a:t>
            </a:r>
            <a:r>
              <a:rPr lang="en-US" b="1" dirty="0"/>
              <a:t>arrows</a:t>
            </a:r>
            <a:r>
              <a:rPr lang="en-US" dirty="0"/>
              <a:t>, depending on diagram type</a:t>
            </a:r>
          </a:p>
          <a:p>
            <a:r>
              <a:rPr lang="en-US" b="1" dirty="0"/>
              <a:t>2. Dependencies (Logical Relationships)</a:t>
            </a:r>
          </a:p>
          <a:p>
            <a:pPr lvl="1"/>
            <a:r>
              <a:rPr lang="en-US" dirty="0"/>
              <a:t>Show how activities are related:</a:t>
            </a:r>
          </a:p>
          <a:p>
            <a:pPr lvl="2"/>
            <a:r>
              <a:rPr lang="en-US" b="1" dirty="0"/>
              <a:t>Finish-to-Start (FS)</a:t>
            </a:r>
            <a:r>
              <a:rPr lang="en-US" dirty="0"/>
              <a:t> – successor starts after predecessor finishes (most common)</a:t>
            </a:r>
          </a:p>
          <a:p>
            <a:pPr lvl="2"/>
            <a:r>
              <a:rPr lang="en-US" b="1" dirty="0"/>
              <a:t>Start-to-Start (SS)</a:t>
            </a:r>
            <a:r>
              <a:rPr lang="en-US" dirty="0"/>
              <a:t> – successor starts when predecessor starts</a:t>
            </a:r>
          </a:p>
          <a:p>
            <a:pPr lvl="2"/>
            <a:r>
              <a:rPr lang="en-US" b="1" dirty="0"/>
              <a:t>Finish-to-Finish (FF)</a:t>
            </a:r>
            <a:r>
              <a:rPr lang="en-US" dirty="0"/>
              <a:t> – successor finishes when predecessor finishes</a:t>
            </a:r>
          </a:p>
          <a:p>
            <a:pPr lvl="2"/>
            <a:r>
              <a:rPr lang="en-US" b="1" dirty="0"/>
              <a:t>Start-to-Finish (SF)</a:t>
            </a:r>
            <a:r>
              <a:rPr lang="en-US" dirty="0"/>
              <a:t> – successor finishes after predecessor starts (rare)</a:t>
            </a:r>
          </a:p>
          <a:p>
            <a:pPr marL="0" indent="0">
              <a:buNone/>
            </a:pPr>
            <a:endParaRPr lang="en-US" dirty="0"/>
          </a:p>
        </p:txBody>
      </p:sp>
    </p:spTree>
    <p:extLst>
      <p:ext uri="{BB962C8B-B14F-4D97-AF65-F5344CB8AC3E}">
        <p14:creationId xmlns:p14="http://schemas.microsoft.com/office/powerpoint/2010/main" val="35778485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1BFBE-5E83-6247-3A69-645D82125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2ECAF-ECF0-CD73-780A-F07377777563}"/>
              </a:ext>
            </a:extLst>
          </p:cNvPr>
          <p:cNvSpPr>
            <a:spLocks noGrp="1"/>
          </p:cNvSpPr>
          <p:nvPr>
            <p:ph type="title"/>
          </p:nvPr>
        </p:nvSpPr>
        <p:spPr/>
        <p:txBody>
          <a:bodyPr/>
          <a:lstStyle/>
          <a:p>
            <a:r>
              <a:rPr lang="en-US" dirty="0"/>
              <a:t>Components of a Network Diagram</a:t>
            </a:r>
          </a:p>
        </p:txBody>
      </p:sp>
      <p:sp>
        <p:nvSpPr>
          <p:cNvPr id="3" name="Content Placeholder 2">
            <a:extLst>
              <a:ext uri="{FF2B5EF4-FFF2-40B4-BE49-F238E27FC236}">
                <a16:creationId xmlns:a16="http://schemas.microsoft.com/office/drawing/2014/main" id="{B90E8CBD-ADED-4890-7239-3458AB2AD76E}"/>
              </a:ext>
            </a:extLst>
          </p:cNvPr>
          <p:cNvSpPr>
            <a:spLocks noGrp="1"/>
          </p:cNvSpPr>
          <p:nvPr>
            <p:ph idx="1"/>
          </p:nvPr>
        </p:nvSpPr>
        <p:spPr/>
        <p:txBody>
          <a:bodyPr>
            <a:normAutofit fontScale="62500" lnSpcReduction="20000"/>
          </a:bodyPr>
          <a:lstStyle/>
          <a:p>
            <a:r>
              <a:rPr lang="en-US" b="1" dirty="0"/>
              <a:t>3. Nodes</a:t>
            </a:r>
          </a:p>
          <a:p>
            <a:r>
              <a:rPr lang="en-US" dirty="0"/>
              <a:t>Represent activities (in most modern diagrams)</a:t>
            </a:r>
          </a:p>
          <a:p>
            <a:r>
              <a:rPr lang="en-US" dirty="0"/>
              <a:t>May contain:</a:t>
            </a:r>
          </a:p>
          <a:p>
            <a:pPr lvl="1"/>
            <a:r>
              <a:rPr lang="en-US" dirty="0"/>
              <a:t>Activity name or ID</a:t>
            </a:r>
          </a:p>
          <a:p>
            <a:pPr lvl="1"/>
            <a:r>
              <a:rPr lang="en-US" dirty="0"/>
              <a:t>Duration</a:t>
            </a:r>
          </a:p>
          <a:p>
            <a:pPr lvl="1"/>
            <a:r>
              <a:rPr lang="en-US" dirty="0"/>
              <a:t>Early Start (ES)</a:t>
            </a:r>
          </a:p>
          <a:p>
            <a:pPr lvl="1"/>
            <a:r>
              <a:rPr lang="en-US" dirty="0"/>
              <a:t>Early Finish (EF)</a:t>
            </a:r>
          </a:p>
          <a:p>
            <a:pPr lvl="1"/>
            <a:r>
              <a:rPr lang="en-US" dirty="0"/>
              <a:t>Late Start (LS)</a:t>
            </a:r>
          </a:p>
          <a:p>
            <a:pPr lvl="1"/>
            <a:r>
              <a:rPr lang="en-US" dirty="0"/>
              <a:t>Late Finish (LF)</a:t>
            </a:r>
          </a:p>
          <a:p>
            <a:pPr lvl="1"/>
            <a:r>
              <a:rPr lang="en-US" dirty="0"/>
              <a:t>Float/Slack</a:t>
            </a:r>
          </a:p>
          <a:p>
            <a:r>
              <a:rPr lang="en-US" b="1" dirty="0"/>
              <a:t>4. Arrows (Links)</a:t>
            </a:r>
          </a:p>
          <a:p>
            <a:pPr lvl="1"/>
            <a:r>
              <a:rPr lang="en-US" dirty="0"/>
              <a:t>Indicate </a:t>
            </a:r>
            <a:r>
              <a:rPr lang="en-US" b="1" dirty="0"/>
              <a:t>dependency direction</a:t>
            </a:r>
            <a:endParaRPr lang="en-US" dirty="0"/>
          </a:p>
          <a:p>
            <a:pPr lvl="1"/>
            <a:r>
              <a:rPr lang="en-US" dirty="0"/>
              <a:t>Show sequence of work</a:t>
            </a:r>
          </a:p>
          <a:p>
            <a:r>
              <a:rPr lang="en-US" b="1" dirty="0"/>
              <a:t>5. Milestones (optional)</a:t>
            </a:r>
          </a:p>
          <a:p>
            <a:pPr lvl="1"/>
            <a:r>
              <a:rPr lang="en-US" dirty="0"/>
              <a:t>Significant events or checkpoints</a:t>
            </a:r>
          </a:p>
          <a:p>
            <a:pPr lvl="1"/>
            <a:r>
              <a:rPr lang="en-US" dirty="0"/>
              <a:t>Zero duration</a:t>
            </a:r>
          </a:p>
          <a:p>
            <a:pPr lvl="1"/>
            <a:r>
              <a:rPr lang="en-US" dirty="0"/>
              <a:t>Example: “Design Approved”</a:t>
            </a:r>
          </a:p>
        </p:txBody>
      </p:sp>
    </p:spTree>
    <p:extLst>
      <p:ext uri="{BB962C8B-B14F-4D97-AF65-F5344CB8AC3E}">
        <p14:creationId xmlns:p14="http://schemas.microsoft.com/office/powerpoint/2010/main" val="3395804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077B0-C376-339A-1CFD-E726FF4D8A45}"/>
              </a:ext>
            </a:extLst>
          </p:cNvPr>
          <p:cNvSpPr>
            <a:spLocks noGrp="1"/>
          </p:cNvSpPr>
          <p:nvPr>
            <p:ph type="title"/>
          </p:nvPr>
        </p:nvSpPr>
        <p:spPr/>
        <p:txBody>
          <a:bodyPr/>
          <a:lstStyle/>
          <a:p>
            <a:r>
              <a:rPr lang="en-US" dirty="0"/>
              <a:t>Types of Network Diagrams</a:t>
            </a:r>
          </a:p>
        </p:txBody>
      </p:sp>
      <p:sp>
        <p:nvSpPr>
          <p:cNvPr id="3" name="Content Placeholder 2">
            <a:extLst>
              <a:ext uri="{FF2B5EF4-FFF2-40B4-BE49-F238E27FC236}">
                <a16:creationId xmlns:a16="http://schemas.microsoft.com/office/drawing/2014/main" id="{BB488697-CBC2-9046-4E9F-295F6722BBCA}"/>
              </a:ext>
            </a:extLst>
          </p:cNvPr>
          <p:cNvSpPr>
            <a:spLocks noGrp="1"/>
          </p:cNvSpPr>
          <p:nvPr>
            <p:ph idx="1"/>
          </p:nvPr>
        </p:nvSpPr>
        <p:spPr/>
        <p:txBody>
          <a:bodyPr>
            <a:normAutofit lnSpcReduction="10000"/>
          </a:bodyPr>
          <a:lstStyle/>
          <a:p>
            <a:r>
              <a:rPr lang="en-US" b="1" dirty="0"/>
              <a:t>1. Precedence Diagramming Method (PDM) – </a:t>
            </a:r>
            <a:r>
              <a:rPr lang="en-US" b="1" i="1" dirty="0"/>
              <a:t>Most Common - AON</a:t>
            </a:r>
            <a:endParaRPr lang="en-US" b="1" dirty="0"/>
          </a:p>
          <a:p>
            <a:pPr lvl="1"/>
            <a:r>
              <a:rPr lang="en-US" dirty="0"/>
              <a:t>Activities are represented as </a:t>
            </a:r>
            <a:r>
              <a:rPr lang="en-US" b="1" dirty="0"/>
              <a:t>nodes (boxes)</a:t>
            </a:r>
            <a:endParaRPr lang="en-US" dirty="0"/>
          </a:p>
          <a:p>
            <a:pPr lvl="1"/>
            <a:r>
              <a:rPr lang="en-US" dirty="0"/>
              <a:t>Arrows show dependencies</a:t>
            </a:r>
          </a:p>
          <a:p>
            <a:pPr lvl="1"/>
            <a:r>
              <a:rPr lang="en-US" dirty="0"/>
              <a:t>Supports all four dependency types (FS, SS, FF, SF)</a:t>
            </a:r>
          </a:p>
          <a:p>
            <a:r>
              <a:rPr lang="en-US" b="1" dirty="0"/>
              <a:t>2. Arrow Diagramming Method (ADM) - AOA</a:t>
            </a:r>
          </a:p>
          <a:p>
            <a:pPr lvl="1"/>
            <a:r>
              <a:rPr lang="en-US" dirty="0"/>
              <a:t>Activities are shown as </a:t>
            </a:r>
            <a:r>
              <a:rPr lang="en-US" b="1" dirty="0"/>
              <a:t>arrows</a:t>
            </a:r>
            <a:endParaRPr lang="en-US" dirty="0"/>
          </a:p>
          <a:p>
            <a:pPr lvl="1"/>
            <a:r>
              <a:rPr lang="en-US" dirty="0"/>
              <a:t>Nodes represent start/end points</a:t>
            </a:r>
          </a:p>
          <a:p>
            <a:pPr lvl="1"/>
            <a:r>
              <a:rPr lang="en-US" dirty="0"/>
              <a:t>Only supports </a:t>
            </a:r>
            <a:r>
              <a:rPr lang="en-US" b="1" dirty="0"/>
              <a:t>Finish-to-Start (FS)</a:t>
            </a:r>
            <a:r>
              <a:rPr lang="en-US" dirty="0"/>
              <a:t> relationships</a:t>
            </a:r>
          </a:p>
          <a:p>
            <a:pPr lvl="1"/>
            <a:r>
              <a:rPr lang="en-US" dirty="0"/>
              <a:t>Uses </a:t>
            </a:r>
            <a:r>
              <a:rPr lang="en-US" b="1" dirty="0"/>
              <a:t>dummy activities</a:t>
            </a:r>
            <a:r>
              <a:rPr lang="en-US" dirty="0"/>
              <a:t> (dotted arrows) to show logic</a:t>
            </a:r>
          </a:p>
          <a:p>
            <a:pPr lvl="1"/>
            <a:r>
              <a:rPr lang="en-US" dirty="0"/>
              <a:t>Largely outdated</a:t>
            </a:r>
          </a:p>
          <a:p>
            <a:endParaRPr lang="en-US" dirty="0"/>
          </a:p>
        </p:txBody>
      </p:sp>
    </p:spTree>
    <p:extLst>
      <p:ext uri="{BB962C8B-B14F-4D97-AF65-F5344CB8AC3E}">
        <p14:creationId xmlns:p14="http://schemas.microsoft.com/office/powerpoint/2010/main" val="26743971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D098E5D-CCDA-70E7-CD3B-8BFA61A493A3}"/>
              </a:ext>
            </a:extLst>
          </p:cNvPr>
          <p:cNvPicPr>
            <a:picLocks noGrp="1" noChangeAspect="1"/>
          </p:cNvPicPr>
          <p:nvPr>
            <p:ph idx="1"/>
          </p:nvPr>
        </p:nvPicPr>
        <p:blipFill>
          <a:blip r:embed="rId2"/>
          <a:stretch>
            <a:fillRect/>
          </a:stretch>
        </p:blipFill>
        <p:spPr>
          <a:xfrm>
            <a:off x="643467" y="743627"/>
            <a:ext cx="10905066" cy="5370744"/>
          </a:xfrm>
          <a:prstGeom prst="rect">
            <a:avLst/>
          </a:prstGeom>
        </p:spPr>
      </p:pic>
    </p:spTree>
    <p:extLst>
      <p:ext uri="{BB962C8B-B14F-4D97-AF65-F5344CB8AC3E}">
        <p14:creationId xmlns:p14="http://schemas.microsoft.com/office/powerpoint/2010/main" val="230115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37D88-8376-51B1-387B-F42A3FA67C77}"/>
              </a:ext>
            </a:extLst>
          </p:cNvPr>
          <p:cNvSpPr>
            <a:spLocks noGrp="1"/>
          </p:cNvSpPr>
          <p:nvPr>
            <p:ph type="title"/>
          </p:nvPr>
        </p:nvSpPr>
        <p:spPr/>
        <p:txBody>
          <a:bodyPr/>
          <a:lstStyle/>
          <a:p>
            <a:r>
              <a:rPr lang="en-US" b="1" dirty="0"/>
              <a:t>How to find the critical path in a project:</a:t>
            </a:r>
            <a:endParaRPr lang="en-US" dirty="0"/>
          </a:p>
        </p:txBody>
      </p:sp>
      <p:sp>
        <p:nvSpPr>
          <p:cNvPr id="3" name="Content Placeholder 2">
            <a:extLst>
              <a:ext uri="{FF2B5EF4-FFF2-40B4-BE49-F238E27FC236}">
                <a16:creationId xmlns:a16="http://schemas.microsoft.com/office/drawing/2014/main" id="{2B1C4BDA-033A-AC00-01F5-8A7E6D35D1DF}"/>
              </a:ext>
            </a:extLst>
          </p:cNvPr>
          <p:cNvSpPr>
            <a:spLocks noGrp="1"/>
          </p:cNvSpPr>
          <p:nvPr>
            <p:ph idx="1"/>
          </p:nvPr>
        </p:nvSpPr>
        <p:spPr/>
        <p:txBody>
          <a:bodyPr/>
          <a:lstStyle/>
          <a:p>
            <a:pPr fontAlgn="base"/>
            <a:r>
              <a:rPr lang="en-US" dirty="0"/>
              <a:t>Step 1: Identify all tasks required to complete the project</a:t>
            </a:r>
          </a:p>
          <a:p>
            <a:pPr fontAlgn="base"/>
            <a:r>
              <a:rPr lang="en-US" dirty="0"/>
              <a:t>Step 2: Determine the sequence of tasks</a:t>
            </a:r>
          </a:p>
          <a:p>
            <a:pPr fontAlgn="base"/>
            <a:r>
              <a:rPr lang="en-US" dirty="0"/>
              <a:t>Step 3: Estimate the duration of each task</a:t>
            </a:r>
          </a:p>
          <a:p>
            <a:pPr fontAlgn="base"/>
            <a:r>
              <a:rPr lang="en-US" dirty="0"/>
              <a:t>Step 4: Draw a network diagram</a:t>
            </a:r>
          </a:p>
          <a:p>
            <a:pPr fontAlgn="base"/>
            <a:r>
              <a:rPr lang="en-US" dirty="0"/>
              <a:t>Step 5: Identify the critical path</a:t>
            </a:r>
          </a:p>
          <a:p>
            <a:pPr fontAlgn="base"/>
            <a:r>
              <a:rPr lang="en-US" dirty="0"/>
              <a:t>Step 6: Calculate the float</a:t>
            </a:r>
          </a:p>
          <a:p>
            <a:pPr fontAlgn="base"/>
            <a:r>
              <a:rPr lang="en-US" dirty="0"/>
              <a:t>Step 7: Monitor the critical path</a:t>
            </a:r>
          </a:p>
          <a:p>
            <a:endParaRPr lang="en-US" dirty="0"/>
          </a:p>
        </p:txBody>
      </p:sp>
    </p:spTree>
    <p:extLst>
      <p:ext uri="{BB962C8B-B14F-4D97-AF65-F5344CB8AC3E}">
        <p14:creationId xmlns:p14="http://schemas.microsoft.com/office/powerpoint/2010/main" val="3432692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97A1BF-72B4-6D71-4133-5296332B0D3F}"/>
              </a:ext>
            </a:extLst>
          </p:cNvPr>
          <p:cNvPicPr>
            <a:picLocks noGrp="1" noChangeAspect="1"/>
          </p:cNvPicPr>
          <p:nvPr>
            <p:ph idx="1"/>
          </p:nvPr>
        </p:nvPicPr>
        <p:blipFill>
          <a:blip r:embed="rId2"/>
          <a:stretch>
            <a:fillRect/>
          </a:stretch>
        </p:blipFill>
        <p:spPr>
          <a:xfrm>
            <a:off x="2490131" y="643466"/>
            <a:ext cx="7211737" cy="5571067"/>
          </a:xfrm>
          <a:prstGeom prst="rect">
            <a:avLst/>
          </a:prstGeom>
        </p:spPr>
      </p:pic>
    </p:spTree>
    <p:extLst>
      <p:ext uri="{BB962C8B-B14F-4D97-AF65-F5344CB8AC3E}">
        <p14:creationId xmlns:p14="http://schemas.microsoft.com/office/powerpoint/2010/main" val="2280894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56F7B75-D395-21C5-772D-B7443B19DC18}"/>
              </a:ext>
            </a:extLst>
          </p:cNvPr>
          <p:cNvPicPr>
            <a:picLocks noGrp="1" noChangeAspect="1"/>
          </p:cNvPicPr>
          <p:nvPr>
            <p:ph idx="1"/>
          </p:nvPr>
        </p:nvPicPr>
        <p:blipFill>
          <a:blip r:embed="rId2"/>
          <a:stretch>
            <a:fillRect/>
          </a:stretch>
        </p:blipFill>
        <p:spPr>
          <a:xfrm>
            <a:off x="790221" y="643466"/>
            <a:ext cx="10611557" cy="5571067"/>
          </a:xfrm>
          <a:prstGeom prst="rect">
            <a:avLst/>
          </a:prstGeom>
        </p:spPr>
      </p:pic>
    </p:spTree>
    <p:extLst>
      <p:ext uri="{BB962C8B-B14F-4D97-AF65-F5344CB8AC3E}">
        <p14:creationId xmlns:p14="http://schemas.microsoft.com/office/powerpoint/2010/main" val="23987422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D3E4-6A1B-361F-0FC4-FD6B25F4ABF4}"/>
              </a:ext>
            </a:extLst>
          </p:cNvPr>
          <p:cNvSpPr>
            <a:spLocks noGrp="1"/>
          </p:cNvSpPr>
          <p:nvPr>
            <p:ph type="title"/>
          </p:nvPr>
        </p:nvSpPr>
        <p:spPr/>
        <p:txBody>
          <a:bodyPr/>
          <a:lstStyle/>
          <a:p>
            <a:r>
              <a:rPr lang="en-US" dirty="0"/>
              <a:t>AON vs AOA</a:t>
            </a:r>
          </a:p>
        </p:txBody>
      </p:sp>
      <p:sp>
        <p:nvSpPr>
          <p:cNvPr id="3" name="Content Placeholder 2">
            <a:extLst>
              <a:ext uri="{FF2B5EF4-FFF2-40B4-BE49-F238E27FC236}">
                <a16:creationId xmlns:a16="http://schemas.microsoft.com/office/drawing/2014/main" id="{296679CB-27C6-5952-57F5-B698368C2E9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62C3114-0B5C-ACBE-C48A-85393E158CA6}"/>
              </a:ext>
            </a:extLst>
          </p:cNvPr>
          <p:cNvPicPr>
            <a:picLocks noChangeAspect="1"/>
          </p:cNvPicPr>
          <p:nvPr/>
        </p:nvPicPr>
        <p:blipFill>
          <a:blip r:embed="rId2"/>
          <a:stretch>
            <a:fillRect/>
          </a:stretch>
        </p:blipFill>
        <p:spPr>
          <a:xfrm>
            <a:off x="0" y="449752"/>
            <a:ext cx="12192000" cy="5958496"/>
          </a:xfrm>
          <a:prstGeom prst="rect">
            <a:avLst/>
          </a:prstGeom>
        </p:spPr>
      </p:pic>
    </p:spTree>
    <p:extLst>
      <p:ext uri="{BB962C8B-B14F-4D97-AF65-F5344CB8AC3E}">
        <p14:creationId xmlns:p14="http://schemas.microsoft.com/office/powerpoint/2010/main" val="34650354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33F41-D19F-E1C5-CD10-E44B5BDF40A2}"/>
              </a:ext>
            </a:extLst>
          </p:cNvPr>
          <p:cNvSpPr>
            <a:spLocks noGrp="1"/>
          </p:cNvSpPr>
          <p:nvPr>
            <p:ph type="title"/>
          </p:nvPr>
        </p:nvSpPr>
        <p:spPr/>
        <p:txBody>
          <a:bodyPr/>
          <a:lstStyle/>
          <a:p>
            <a:r>
              <a:rPr lang="en-US" dirty="0"/>
              <a:t>AOA</a:t>
            </a:r>
          </a:p>
        </p:txBody>
      </p:sp>
      <p:sp>
        <p:nvSpPr>
          <p:cNvPr id="3" name="Content Placeholder 2">
            <a:extLst>
              <a:ext uri="{FF2B5EF4-FFF2-40B4-BE49-F238E27FC236}">
                <a16:creationId xmlns:a16="http://schemas.microsoft.com/office/drawing/2014/main" id="{C51677EA-A959-968E-6434-30C0C02C04CD}"/>
              </a:ext>
            </a:extLst>
          </p:cNvPr>
          <p:cNvSpPr>
            <a:spLocks noGrp="1"/>
          </p:cNvSpPr>
          <p:nvPr>
            <p:ph idx="1"/>
          </p:nvPr>
        </p:nvSpPr>
        <p:spPr/>
        <p:txBody>
          <a:bodyPr>
            <a:normAutofit fontScale="92500" lnSpcReduction="20000"/>
          </a:bodyPr>
          <a:lstStyle/>
          <a:p>
            <a:pPr marL="0" indent="0">
              <a:buNone/>
            </a:pPr>
            <a:r>
              <a:rPr lang="en-US" b="1" dirty="0"/>
              <a:t>AOA (Activity on Arrow)</a:t>
            </a:r>
          </a:p>
          <a:p>
            <a:r>
              <a:rPr lang="en-US" dirty="0"/>
              <a:t>In </a:t>
            </a:r>
            <a:r>
              <a:rPr lang="en-US" b="1" dirty="0"/>
              <a:t>AOA</a:t>
            </a:r>
            <a:r>
              <a:rPr lang="en-US" dirty="0"/>
              <a:t>:</a:t>
            </a:r>
          </a:p>
          <a:p>
            <a:r>
              <a:rPr lang="en-US" dirty="0"/>
              <a:t>Activities → arrows</a:t>
            </a:r>
          </a:p>
          <a:p>
            <a:r>
              <a:rPr lang="en-US" dirty="0"/>
              <a:t>Events → nodes (circles)</a:t>
            </a:r>
          </a:p>
          <a:p>
            <a:r>
              <a:rPr lang="en-US" dirty="0"/>
              <a:t>Uses </a:t>
            </a:r>
            <a:r>
              <a:rPr lang="en-US" b="1" dirty="0"/>
              <a:t>dummy activities</a:t>
            </a:r>
            <a:endParaRPr lang="en-US" dirty="0"/>
          </a:p>
          <a:p>
            <a:r>
              <a:rPr lang="en-US" dirty="0"/>
              <a:t>Only </a:t>
            </a:r>
            <a:r>
              <a:rPr lang="en-US" b="1" dirty="0"/>
              <a:t>Finish-to-Start (FS)</a:t>
            </a:r>
            <a:r>
              <a:rPr lang="en-US" dirty="0"/>
              <a:t> relationships allowed</a:t>
            </a:r>
          </a:p>
          <a:p>
            <a:r>
              <a:rPr lang="en-US" b="1" dirty="0"/>
              <a:t>Characteristics of AOA</a:t>
            </a:r>
          </a:p>
          <a:p>
            <a:r>
              <a:rPr lang="en-US" dirty="0"/>
              <a:t>Also called </a:t>
            </a:r>
            <a:r>
              <a:rPr lang="en-US" b="1" dirty="0"/>
              <a:t>Arrow Diagramming Method (ADM)</a:t>
            </a:r>
            <a:endParaRPr lang="en-US" dirty="0"/>
          </a:p>
          <a:p>
            <a:r>
              <a:rPr lang="en-US" dirty="0"/>
              <a:t>Less flexible</a:t>
            </a:r>
          </a:p>
          <a:p>
            <a:r>
              <a:rPr lang="en-US" dirty="0"/>
              <a:t>Largely outdated</a:t>
            </a:r>
          </a:p>
          <a:p>
            <a:endParaRPr lang="en-US" dirty="0"/>
          </a:p>
        </p:txBody>
      </p:sp>
    </p:spTree>
    <p:extLst>
      <p:ext uri="{BB962C8B-B14F-4D97-AF65-F5344CB8AC3E}">
        <p14:creationId xmlns:p14="http://schemas.microsoft.com/office/powerpoint/2010/main" val="4094484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79DA9-68DF-85EE-378C-38D14B4DAD78}"/>
              </a:ext>
            </a:extLst>
          </p:cNvPr>
          <p:cNvSpPr>
            <a:spLocks noGrp="1"/>
          </p:cNvSpPr>
          <p:nvPr>
            <p:ph type="title"/>
          </p:nvPr>
        </p:nvSpPr>
        <p:spPr/>
        <p:txBody>
          <a:bodyPr/>
          <a:lstStyle/>
          <a:p>
            <a:r>
              <a:rPr lang="en-US" dirty="0"/>
              <a:t>AOA</a:t>
            </a:r>
          </a:p>
        </p:txBody>
      </p:sp>
      <p:sp>
        <p:nvSpPr>
          <p:cNvPr id="3" name="Content Placeholder 2">
            <a:extLst>
              <a:ext uri="{FF2B5EF4-FFF2-40B4-BE49-F238E27FC236}">
                <a16:creationId xmlns:a16="http://schemas.microsoft.com/office/drawing/2014/main" id="{FAEB5D89-C298-CDF3-11E4-3BB6619994C6}"/>
              </a:ext>
            </a:extLst>
          </p:cNvPr>
          <p:cNvSpPr>
            <a:spLocks noGrp="1"/>
          </p:cNvSpPr>
          <p:nvPr>
            <p:ph idx="1"/>
          </p:nvPr>
        </p:nvSpPr>
        <p:spPr/>
        <p:txBody>
          <a:bodyPr>
            <a:normAutofit fontScale="85000" lnSpcReduction="10000"/>
          </a:bodyPr>
          <a:lstStyle/>
          <a:p>
            <a:r>
              <a:rPr lang="en-US" dirty="0"/>
              <a:t>Dummy activities should follow these rules:</a:t>
            </a:r>
          </a:p>
          <a:p>
            <a:r>
              <a:rPr lang="en-US" b="1" dirty="0"/>
              <a:t>Used only when necessary</a:t>
            </a:r>
            <a:endParaRPr lang="en-US" dirty="0"/>
          </a:p>
          <a:p>
            <a:r>
              <a:rPr lang="en-US" dirty="0"/>
              <a:t>Must not represent real work</a:t>
            </a:r>
          </a:p>
          <a:p>
            <a:r>
              <a:rPr lang="en-US" dirty="0"/>
              <a:t>Must have </a:t>
            </a:r>
            <a:r>
              <a:rPr lang="en-US" b="1" dirty="0"/>
              <a:t>zero duration</a:t>
            </a:r>
            <a:endParaRPr lang="en-US" dirty="0"/>
          </a:p>
          <a:p>
            <a:r>
              <a:rPr lang="en-US" dirty="0"/>
              <a:t>Should not form a critical path</a:t>
            </a:r>
          </a:p>
          <a:p>
            <a:r>
              <a:rPr lang="en-US" dirty="0"/>
              <a:t>Each activity must have:</a:t>
            </a:r>
          </a:p>
          <a:p>
            <a:pPr lvl="1"/>
            <a:r>
              <a:rPr lang="en-US" dirty="0"/>
              <a:t>One unique start event</a:t>
            </a:r>
          </a:p>
          <a:p>
            <a:pPr lvl="1"/>
            <a:r>
              <a:rPr lang="en-US" dirty="0"/>
              <a:t>One unique end event</a:t>
            </a:r>
          </a:p>
          <a:p>
            <a:r>
              <a:rPr lang="en-US" dirty="0"/>
              <a:t>Dummy activities are used to:</a:t>
            </a:r>
          </a:p>
          <a:p>
            <a:pPr lvl="1"/>
            <a:r>
              <a:rPr lang="en-US" dirty="0"/>
              <a:t>Show </a:t>
            </a:r>
            <a:r>
              <a:rPr lang="en-US" b="1" dirty="0"/>
              <a:t>dependency</a:t>
            </a:r>
            <a:r>
              <a:rPr lang="en-US" dirty="0"/>
              <a:t>, not sequence of work</a:t>
            </a:r>
          </a:p>
          <a:p>
            <a:r>
              <a:rPr lang="en-US" dirty="0"/>
              <a:t>Two activities </a:t>
            </a:r>
            <a:r>
              <a:rPr lang="en-US" b="1" dirty="0"/>
              <a:t>cannot have same start and end events</a:t>
            </a:r>
            <a:r>
              <a:rPr lang="en-US" dirty="0"/>
              <a:t> without a dummy</a:t>
            </a:r>
          </a:p>
          <a:p>
            <a:endParaRPr lang="en-US" dirty="0"/>
          </a:p>
        </p:txBody>
      </p:sp>
    </p:spTree>
    <p:extLst>
      <p:ext uri="{BB962C8B-B14F-4D97-AF65-F5344CB8AC3E}">
        <p14:creationId xmlns:p14="http://schemas.microsoft.com/office/powerpoint/2010/main" val="10607685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421E1C-111F-EDCB-41CE-87A01B5752E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endParaRPr lang="en-US" sz="3200" kern="1200">
              <a:solidFill>
                <a:schemeClr val="bg1"/>
              </a:solidFill>
              <a:latin typeface="+mj-lt"/>
              <a:ea typeface="+mj-ea"/>
              <a:cs typeface="+mj-cs"/>
            </a:endParaRPr>
          </a:p>
        </p:txBody>
      </p:sp>
      <p:pic>
        <p:nvPicPr>
          <p:cNvPr id="5" name="Content Placeholder 4">
            <a:extLst>
              <a:ext uri="{FF2B5EF4-FFF2-40B4-BE49-F238E27FC236}">
                <a16:creationId xmlns:a16="http://schemas.microsoft.com/office/drawing/2014/main" id="{1CE979B2-6267-97DB-9798-2744AC5F46B1}"/>
              </a:ext>
            </a:extLst>
          </p:cNvPr>
          <p:cNvPicPr>
            <a:picLocks noGrp="1" noChangeAspect="1"/>
          </p:cNvPicPr>
          <p:nvPr>
            <p:ph idx="1"/>
          </p:nvPr>
        </p:nvPicPr>
        <p:blipFill>
          <a:blip r:embed="rId2"/>
          <a:stretch>
            <a:fillRect/>
          </a:stretch>
        </p:blipFill>
        <p:spPr>
          <a:xfrm>
            <a:off x="643467" y="2836345"/>
            <a:ext cx="10905066" cy="2071962"/>
          </a:xfrm>
          <a:prstGeom prst="rect">
            <a:avLst/>
          </a:prstGeom>
        </p:spPr>
      </p:pic>
    </p:spTree>
    <p:extLst>
      <p:ext uri="{BB962C8B-B14F-4D97-AF65-F5344CB8AC3E}">
        <p14:creationId xmlns:p14="http://schemas.microsoft.com/office/powerpoint/2010/main" val="14716104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4155D2-E6CE-CA05-3B43-36EDAEB1E2C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endParaRPr lang="en-US" sz="3200" kern="1200">
              <a:solidFill>
                <a:schemeClr val="bg1"/>
              </a:solidFill>
              <a:latin typeface="+mj-lt"/>
              <a:ea typeface="+mj-ea"/>
              <a:cs typeface="+mj-cs"/>
            </a:endParaRPr>
          </a:p>
        </p:txBody>
      </p:sp>
      <p:pic>
        <p:nvPicPr>
          <p:cNvPr id="5" name="Content Placeholder 4">
            <a:extLst>
              <a:ext uri="{FF2B5EF4-FFF2-40B4-BE49-F238E27FC236}">
                <a16:creationId xmlns:a16="http://schemas.microsoft.com/office/drawing/2014/main" id="{0BE67DF0-5F11-1D21-C262-955C7FD98544}"/>
              </a:ext>
            </a:extLst>
          </p:cNvPr>
          <p:cNvPicPr>
            <a:picLocks noGrp="1" noChangeAspect="1"/>
          </p:cNvPicPr>
          <p:nvPr>
            <p:ph idx="1"/>
          </p:nvPr>
        </p:nvPicPr>
        <p:blipFill>
          <a:blip r:embed="rId2"/>
          <a:stretch>
            <a:fillRect/>
          </a:stretch>
        </p:blipFill>
        <p:spPr>
          <a:xfrm>
            <a:off x="643467" y="2386511"/>
            <a:ext cx="10905066" cy="2971630"/>
          </a:xfrm>
          <a:prstGeom prst="rect">
            <a:avLst/>
          </a:prstGeom>
        </p:spPr>
      </p:pic>
    </p:spTree>
    <p:extLst>
      <p:ext uri="{BB962C8B-B14F-4D97-AF65-F5344CB8AC3E}">
        <p14:creationId xmlns:p14="http://schemas.microsoft.com/office/powerpoint/2010/main" val="6034720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3A7BB4-A13B-F6BA-CBA8-A77B07AA0E3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endParaRPr lang="en-US" sz="3200" kern="1200">
              <a:solidFill>
                <a:schemeClr val="bg1"/>
              </a:solidFill>
              <a:latin typeface="+mj-lt"/>
              <a:ea typeface="+mj-ea"/>
              <a:cs typeface="+mj-cs"/>
            </a:endParaRPr>
          </a:p>
        </p:txBody>
      </p:sp>
      <p:pic>
        <p:nvPicPr>
          <p:cNvPr id="5" name="Content Placeholder 4">
            <a:extLst>
              <a:ext uri="{FF2B5EF4-FFF2-40B4-BE49-F238E27FC236}">
                <a16:creationId xmlns:a16="http://schemas.microsoft.com/office/drawing/2014/main" id="{633DA014-A6E8-AA32-5E3C-7C3136AA8B8C}"/>
              </a:ext>
            </a:extLst>
          </p:cNvPr>
          <p:cNvPicPr>
            <a:picLocks noGrp="1" noChangeAspect="1"/>
          </p:cNvPicPr>
          <p:nvPr>
            <p:ph idx="1"/>
          </p:nvPr>
        </p:nvPicPr>
        <p:blipFill>
          <a:blip r:embed="rId2"/>
          <a:stretch>
            <a:fillRect/>
          </a:stretch>
        </p:blipFill>
        <p:spPr>
          <a:xfrm>
            <a:off x="643467" y="2604612"/>
            <a:ext cx="10905066" cy="2535428"/>
          </a:xfrm>
          <a:prstGeom prst="rect">
            <a:avLst/>
          </a:prstGeom>
        </p:spPr>
      </p:pic>
    </p:spTree>
    <p:extLst>
      <p:ext uri="{BB962C8B-B14F-4D97-AF65-F5344CB8AC3E}">
        <p14:creationId xmlns:p14="http://schemas.microsoft.com/office/powerpoint/2010/main" val="2096003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D1A30D-1899-2C9D-28BE-C2198CCBA9A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endParaRPr lang="en-US" sz="3200" kern="1200">
              <a:solidFill>
                <a:schemeClr val="bg1"/>
              </a:solidFill>
              <a:latin typeface="+mj-lt"/>
              <a:ea typeface="+mj-ea"/>
              <a:cs typeface="+mj-cs"/>
            </a:endParaRPr>
          </a:p>
        </p:txBody>
      </p:sp>
      <p:pic>
        <p:nvPicPr>
          <p:cNvPr id="5" name="Content Placeholder 4">
            <a:extLst>
              <a:ext uri="{FF2B5EF4-FFF2-40B4-BE49-F238E27FC236}">
                <a16:creationId xmlns:a16="http://schemas.microsoft.com/office/drawing/2014/main" id="{DF2A29C7-6EDF-D1C7-AC53-52DD8E9624F7}"/>
              </a:ext>
            </a:extLst>
          </p:cNvPr>
          <p:cNvPicPr>
            <a:picLocks noGrp="1" noChangeAspect="1"/>
          </p:cNvPicPr>
          <p:nvPr>
            <p:ph idx="1"/>
          </p:nvPr>
        </p:nvPicPr>
        <p:blipFill>
          <a:blip r:embed="rId2"/>
          <a:stretch>
            <a:fillRect/>
          </a:stretch>
        </p:blipFill>
        <p:spPr>
          <a:xfrm>
            <a:off x="1589128" y="1675227"/>
            <a:ext cx="9013743" cy="4394199"/>
          </a:xfrm>
          <a:prstGeom prst="rect">
            <a:avLst/>
          </a:prstGeom>
        </p:spPr>
      </p:pic>
    </p:spTree>
    <p:extLst>
      <p:ext uri="{BB962C8B-B14F-4D97-AF65-F5344CB8AC3E}">
        <p14:creationId xmlns:p14="http://schemas.microsoft.com/office/powerpoint/2010/main" val="30350632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1761DEB-AE4F-B803-9350-9602FEA26762}"/>
              </a:ext>
            </a:extLst>
          </p:cNvPr>
          <p:cNvSpPr>
            <a:spLocks noGrp="1"/>
          </p:cNvSpPr>
          <p:nvPr>
            <p:ph type="title"/>
          </p:nvPr>
        </p:nvSpPr>
        <p:spPr>
          <a:xfrm>
            <a:off x="630936" y="457200"/>
            <a:ext cx="4343400" cy="1929384"/>
          </a:xfrm>
        </p:spPr>
        <p:txBody>
          <a:bodyPr anchor="ctr">
            <a:normAutofit/>
          </a:bodyPr>
          <a:lstStyle/>
          <a:p>
            <a:endParaRPr lang="en-US" sz="4800"/>
          </a:p>
        </p:txBody>
      </p:sp>
      <p:sp>
        <p:nvSpPr>
          <p:cNvPr id="1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3F95B3-0CB2-8C60-C753-5C19F9521580}"/>
              </a:ext>
            </a:extLst>
          </p:cNvPr>
          <p:cNvSpPr>
            <a:spLocks noGrp="1"/>
          </p:cNvSpPr>
          <p:nvPr>
            <p:ph idx="1"/>
          </p:nvPr>
        </p:nvSpPr>
        <p:spPr>
          <a:xfrm>
            <a:off x="5541263" y="457200"/>
            <a:ext cx="6007608" cy="1929384"/>
          </a:xfrm>
        </p:spPr>
        <p:txBody>
          <a:bodyPr anchor="ctr">
            <a:normAutofit/>
          </a:bodyPr>
          <a:lstStyle/>
          <a:p>
            <a:endParaRPr lang="en-US" sz="2200"/>
          </a:p>
        </p:txBody>
      </p:sp>
      <p:pic>
        <p:nvPicPr>
          <p:cNvPr id="5" name="Picture 4">
            <a:extLst>
              <a:ext uri="{FF2B5EF4-FFF2-40B4-BE49-F238E27FC236}">
                <a16:creationId xmlns:a16="http://schemas.microsoft.com/office/drawing/2014/main" id="{7A5B5300-23E5-4235-ADD6-985E63C847DB}"/>
              </a:ext>
            </a:extLst>
          </p:cNvPr>
          <p:cNvPicPr>
            <a:picLocks noChangeAspect="1"/>
          </p:cNvPicPr>
          <p:nvPr/>
        </p:nvPicPr>
        <p:blipFill>
          <a:blip r:embed="rId2"/>
          <a:stretch>
            <a:fillRect/>
          </a:stretch>
        </p:blipFill>
        <p:spPr>
          <a:xfrm>
            <a:off x="466344" y="2850520"/>
            <a:ext cx="5468112" cy="3116823"/>
          </a:xfrm>
          <a:prstGeom prst="rect">
            <a:avLst/>
          </a:prstGeom>
        </p:spPr>
      </p:pic>
      <p:pic>
        <p:nvPicPr>
          <p:cNvPr id="7" name="Picture 6">
            <a:extLst>
              <a:ext uri="{FF2B5EF4-FFF2-40B4-BE49-F238E27FC236}">
                <a16:creationId xmlns:a16="http://schemas.microsoft.com/office/drawing/2014/main" id="{BC0A7B7B-33EA-13C2-6F4A-8EC1A8098603}"/>
              </a:ext>
            </a:extLst>
          </p:cNvPr>
          <p:cNvPicPr>
            <a:picLocks noChangeAspect="1"/>
          </p:cNvPicPr>
          <p:nvPr/>
        </p:nvPicPr>
        <p:blipFill>
          <a:blip r:embed="rId3"/>
          <a:stretch>
            <a:fillRect/>
          </a:stretch>
        </p:blipFill>
        <p:spPr>
          <a:xfrm>
            <a:off x="6254496" y="3636561"/>
            <a:ext cx="5468112" cy="1544741"/>
          </a:xfrm>
          <a:prstGeom prst="rect">
            <a:avLst/>
          </a:prstGeom>
        </p:spPr>
      </p:pic>
    </p:spTree>
    <p:extLst>
      <p:ext uri="{BB962C8B-B14F-4D97-AF65-F5344CB8AC3E}">
        <p14:creationId xmlns:p14="http://schemas.microsoft.com/office/powerpoint/2010/main" val="30239815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73DA4-8E56-4D95-25CE-9710DEBC30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66BB00-4BA1-1F7C-B0CE-96417D5A12F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B22032F-DAAC-D275-C3A4-C25B977F9343}"/>
              </a:ext>
            </a:extLst>
          </p:cNvPr>
          <p:cNvPicPr>
            <a:picLocks noChangeAspect="1"/>
          </p:cNvPicPr>
          <p:nvPr/>
        </p:nvPicPr>
        <p:blipFill>
          <a:blip r:embed="rId2"/>
          <a:stretch>
            <a:fillRect/>
          </a:stretch>
        </p:blipFill>
        <p:spPr>
          <a:xfrm>
            <a:off x="723900" y="909637"/>
            <a:ext cx="10744200" cy="5038725"/>
          </a:xfrm>
          <a:prstGeom prst="rect">
            <a:avLst/>
          </a:prstGeom>
        </p:spPr>
      </p:pic>
    </p:spTree>
    <p:extLst>
      <p:ext uri="{BB962C8B-B14F-4D97-AF65-F5344CB8AC3E}">
        <p14:creationId xmlns:p14="http://schemas.microsoft.com/office/powerpoint/2010/main" val="2083984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2A72B-979D-C64F-BB90-6C7898C947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DCC649-3640-A7D7-52D7-08CCEEA0F82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9CF6879-D3C4-17C8-078C-1A0D28C2A266}"/>
              </a:ext>
            </a:extLst>
          </p:cNvPr>
          <p:cNvPicPr>
            <a:picLocks noChangeAspect="1"/>
          </p:cNvPicPr>
          <p:nvPr/>
        </p:nvPicPr>
        <p:blipFill>
          <a:blip r:embed="rId2"/>
          <a:stretch>
            <a:fillRect/>
          </a:stretch>
        </p:blipFill>
        <p:spPr>
          <a:xfrm>
            <a:off x="273558" y="0"/>
            <a:ext cx="11644884" cy="6858000"/>
          </a:xfrm>
          <a:prstGeom prst="rect">
            <a:avLst/>
          </a:prstGeom>
        </p:spPr>
      </p:pic>
    </p:spTree>
    <p:extLst>
      <p:ext uri="{BB962C8B-B14F-4D97-AF65-F5344CB8AC3E}">
        <p14:creationId xmlns:p14="http://schemas.microsoft.com/office/powerpoint/2010/main" val="37542652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EB1B9-6B03-2510-9A99-8F0F21E80B2E}"/>
              </a:ext>
            </a:extLst>
          </p:cNvPr>
          <p:cNvSpPr>
            <a:spLocks noGrp="1"/>
          </p:cNvSpPr>
          <p:nvPr>
            <p:ph type="title"/>
          </p:nvPr>
        </p:nvSpPr>
        <p:spPr/>
        <p:txBody>
          <a:bodyPr/>
          <a:lstStyle/>
          <a:p>
            <a:r>
              <a:rPr lang="en-US" dirty="0"/>
              <a:t>PERT</a:t>
            </a:r>
          </a:p>
        </p:txBody>
      </p:sp>
      <p:sp>
        <p:nvSpPr>
          <p:cNvPr id="3" name="Content Placeholder 2">
            <a:extLst>
              <a:ext uri="{FF2B5EF4-FFF2-40B4-BE49-F238E27FC236}">
                <a16:creationId xmlns:a16="http://schemas.microsoft.com/office/drawing/2014/main" id="{D6AB5888-3822-8A93-AD6E-5C8F9A523C72}"/>
              </a:ext>
            </a:extLst>
          </p:cNvPr>
          <p:cNvSpPr>
            <a:spLocks noGrp="1"/>
          </p:cNvSpPr>
          <p:nvPr>
            <p:ph idx="1"/>
          </p:nvPr>
        </p:nvSpPr>
        <p:spPr/>
        <p:txBody>
          <a:bodyPr>
            <a:normAutofit fontScale="55000" lnSpcReduction="20000"/>
          </a:bodyPr>
          <a:lstStyle/>
          <a:p>
            <a:r>
              <a:rPr lang="en-US" b="1" dirty="0"/>
              <a:t>PERT (Program Evaluation and Review Technique)</a:t>
            </a:r>
          </a:p>
          <a:p>
            <a:r>
              <a:rPr lang="en-US" b="1" dirty="0"/>
              <a:t>PERT</a:t>
            </a:r>
            <a:r>
              <a:rPr lang="en-US" dirty="0"/>
              <a:t> is a </a:t>
            </a:r>
            <a:r>
              <a:rPr lang="en-US" b="1" dirty="0"/>
              <a:t>probabilistic project scheduling technique</a:t>
            </a:r>
            <a:r>
              <a:rPr lang="en-US" dirty="0"/>
              <a:t> used to plan, schedule, and control projects </a:t>
            </a:r>
            <a:r>
              <a:rPr lang="en-US" b="1" dirty="0"/>
              <a:t>when activity durations are uncertain</a:t>
            </a:r>
            <a:r>
              <a:rPr lang="en-US" dirty="0"/>
              <a:t>.</a:t>
            </a:r>
          </a:p>
          <a:p>
            <a:r>
              <a:rPr lang="en-US" dirty="0"/>
              <a:t>It is especially useful for </a:t>
            </a:r>
            <a:r>
              <a:rPr lang="en-US" b="1" dirty="0"/>
              <a:t>new, complex, or research-oriented projects</a:t>
            </a:r>
            <a:r>
              <a:rPr lang="en-US" dirty="0"/>
              <a:t>.</a:t>
            </a:r>
          </a:p>
          <a:p>
            <a:r>
              <a:rPr lang="en-US" b="1" dirty="0"/>
              <a:t>Key Features of PERT</a:t>
            </a:r>
          </a:p>
          <a:p>
            <a:r>
              <a:rPr lang="en-US" dirty="0"/>
              <a:t>Deals with </a:t>
            </a:r>
            <a:r>
              <a:rPr lang="en-US" b="1" dirty="0"/>
              <a:t>uncertainty in activity durations</a:t>
            </a:r>
            <a:endParaRPr lang="en-US" dirty="0"/>
          </a:p>
          <a:p>
            <a:r>
              <a:rPr lang="en-US" dirty="0"/>
              <a:t>Uses </a:t>
            </a:r>
            <a:r>
              <a:rPr lang="en-US" b="1" dirty="0"/>
              <a:t>probability and statistics</a:t>
            </a:r>
            <a:endParaRPr lang="en-US" dirty="0"/>
          </a:p>
          <a:p>
            <a:r>
              <a:rPr lang="en-US" dirty="0"/>
              <a:t>Event-oriented technique</a:t>
            </a:r>
          </a:p>
          <a:p>
            <a:r>
              <a:rPr lang="en-US" dirty="0"/>
              <a:t>Mainly focuses on </a:t>
            </a:r>
            <a:r>
              <a:rPr lang="en-US" b="1" dirty="0"/>
              <a:t>time</a:t>
            </a:r>
            <a:r>
              <a:rPr lang="en-US" dirty="0"/>
              <a:t>, not cost</a:t>
            </a:r>
          </a:p>
          <a:p>
            <a:r>
              <a:rPr lang="en-US" dirty="0"/>
              <a:t>Suitable for </a:t>
            </a:r>
            <a:r>
              <a:rPr lang="en-US" b="1" dirty="0"/>
              <a:t>non-repetitive projects</a:t>
            </a:r>
            <a:endParaRPr lang="en-US" dirty="0"/>
          </a:p>
          <a:p>
            <a:r>
              <a:rPr lang="en-US" b="1" dirty="0"/>
              <a:t>PERT Network Diagram</a:t>
            </a:r>
          </a:p>
          <a:p>
            <a:r>
              <a:rPr lang="en-US" dirty="0"/>
              <a:t>PERT uses a </a:t>
            </a:r>
            <a:r>
              <a:rPr lang="en-US" b="1" dirty="0"/>
              <a:t>network diagram</a:t>
            </a:r>
            <a:r>
              <a:rPr lang="en-US" dirty="0"/>
              <a:t>, traditionally based on </a:t>
            </a:r>
            <a:r>
              <a:rPr lang="en-US" b="1" dirty="0"/>
              <a:t>Activity-on-Arrow (AOA)</a:t>
            </a:r>
            <a:r>
              <a:rPr lang="en-US" dirty="0"/>
              <a:t>:</a:t>
            </a:r>
          </a:p>
          <a:p>
            <a:r>
              <a:rPr lang="en-US" dirty="0"/>
              <a:t>Activities → arrows</a:t>
            </a:r>
          </a:p>
          <a:p>
            <a:r>
              <a:rPr lang="en-US" dirty="0"/>
              <a:t>Events → nodes (circles)</a:t>
            </a:r>
          </a:p>
          <a:p>
            <a:r>
              <a:rPr lang="en-US" dirty="0"/>
              <a:t>Dummy activities may be used</a:t>
            </a:r>
          </a:p>
          <a:p>
            <a:endParaRPr lang="en-US" dirty="0"/>
          </a:p>
          <a:p>
            <a:endParaRPr lang="en-US" dirty="0"/>
          </a:p>
        </p:txBody>
      </p:sp>
    </p:spTree>
    <p:extLst>
      <p:ext uri="{BB962C8B-B14F-4D97-AF65-F5344CB8AC3E}">
        <p14:creationId xmlns:p14="http://schemas.microsoft.com/office/powerpoint/2010/main" val="32682130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2A5765-3F3C-5F3F-2891-6689E28F4880}"/>
              </a:ext>
            </a:extLst>
          </p:cNvPr>
          <p:cNvPicPr>
            <a:picLocks noGrp="1" noChangeAspect="1"/>
          </p:cNvPicPr>
          <p:nvPr>
            <p:ph idx="1"/>
          </p:nvPr>
        </p:nvPicPr>
        <p:blipFill>
          <a:blip r:embed="rId2"/>
          <a:stretch>
            <a:fillRect/>
          </a:stretch>
        </p:blipFill>
        <p:spPr>
          <a:xfrm>
            <a:off x="2779889" y="643466"/>
            <a:ext cx="6632222" cy="5571067"/>
          </a:xfrm>
          <a:prstGeom prst="rect">
            <a:avLst/>
          </a:prstGeom>
        </p:spPr>
      </p:pic>
    </p:spTree>
    <p:extLst>
      <p:ext uri="{BB962C8B-B14F-4D97-AF65-F5344CB8AC3E}">
        <p14:creationId xmlns:p14="http://schemas.microsoft.com/office/powerpoint/2010/main" val="14408010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5E02D-3168-9E88-2CB3-1315102FE6C5}"/>
              </a:ext>
            </a:extLst>
          </p:cNvPr>
          <p:cNvSpPr>
            <a:spLocks noGrp="1"/>
          </p:cNvSpPr>
          <p:nvPr>
            <p:ph type="title"/>
          </p:nvPr>
        </p:nvSpPr>
        <p:spPr/>
        <p:txBody>
          <a:bodyPr/>
          <a:lstStyle/>
          <a:p>
            <a:r>
              <a:rPr lang="en-US" dirty="0"/>
              <a:t>PERT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A6FFBF-8652-F786-ED66-1F2F42C2167F}"/>
                  </a:ext>
                </a:extLst>
              </p:cNvPr>
              <p:cNvSpPr>
                <a:spLocks noGrp="1"/>
              </p:cNvSpPr>
              <p:nvPr>
                <p:ph idx="1"/>
              </p:nvPr>
            </p:nvSpPr>
            <p:spPr/>
            <p:txBody>
              <a:bodyPr>
                <a:normAutofit fontScale="55000" lnSpcReduction="20000"/>
              </a:bodyPr>
              <a:lstStyle/>
              <a:p>
                <a:r>
                  <a:rPr lang="en-US" b="1" dirty="0"/>
                  <a:t>Steps in PERT Analysis</a:t>
                </a:r>
              </a:p>
              <a:p>
                <a:pPr lvl="1"/>
                <a:r>
                  <a:rPr lang="en-US" dirty="0"/>
                  <a:t>Identify all activities</a:t>
                </a:r>
              </a:p>
              <a:p>
                <a:pPr lvl="1"/>
                <a:r>
                  <a:rPr lang="en-US" dirty="0"/>
                  <a:t>Determine precedence relationships</a:t>
                </a:r>
              </a:p>
              <a:p>
                <a:pPr lvl="1"/>
                <a:r>
                  <a:rPr lang="en-US" dirty="0"/>
                  <a:t>Estimate </a:t>
                </a:r>
                <a:r>
                  <a:rPr lang="en-US" b="1" dirty="0"/>
                  <a:t>to, tm, </a:t>
                </a:r>
                <a:r>
                  <a:rPr lang="en-US" b="1" dirty="0" err="1"/>
                  <a:t>tp</a:t>
                </a:r>
                <a:r>
                  <a:rPr lang="en-US" dirty="0"/>
                  <a:t> for each activity</a:t>
                </a:r>
              </a:p>
              <a:p>
                <a:pPr lvl="1"/>
                <a:r>
                  <a:rPr lang="en-US" dirty="0"/>
                  <a:t>Calculate expected time and variance</a:t>
                </a:r>
              </a:p>
              <a:p>
                <a:pPr lvl="1"/>
                <a:r>
                  <a:rPr lang="en-US" dirty="0"/>
                  <a:t>Draw the PERT network diagram</a:t>
                </a:r>
              </a:p>
              <a:p>
                <a:pPr lvl="1"/>
                <a:r>
                  <a:rPr lang="en-US" dirty="0"/>
                  <a:t>Identify the </a:t>
                </a:r>
                <a:r>
                  <a:rPr lang="en-US" b="1" dirty="0"/>
                  <a:t>critical path</a:t>
                </a:r>
                <a:endParaRPr lang="en-US" dirty="0"/>
              </a:p>
              <a:p>
                <a:pPr lvl="1"/>
                <a:r>
                  <a:rPr lang="en-US" dirty="0"/>
                  <a:t>Compute expected project duration</a:t>
                </a:r>
              </a:p>
              <a:p>
                <a:pPr lvl="1"/>
                <a:r>
                  <a:rPr lang="en-US" dirty="0"/>
                  <a:t>Calculate probability of completing by a target date</a:t>
                </a:r>
                <a:br>
                  <a:rPr lang="en-US" dirty="0"/>
                </a:br>
                <a:endParaRPr lang="en-US" dirty="0"/>
              </a:p>
              <a:p>
                <a:r>
                  <a:rPr lang="en-US" b="1" dirty="0"/>
                  <a:t>Probability of Project Completion</a:t>
                </a:r>
              </a:p>
              <a:p>
                <a:pPr lvl="1"/>
                <a:r>
                  <a:rPr lang="en-US" dirty="0"/>
                  <a:t>PERT uses </a:t>
                </a:r>
                <a:r>
                  <a:rPr lang="en-US" b="1" dirty="0"/>
                  <a:t>normal distribution</a:t>
                </a:r>
                <a:r>
                  <a:rPr lang="en-US" dirty="0"/>
                  <a:t> (approximation).</a:t>
                </a:r>
              </a:p>
              <a:p>
                <a:pPr lvl="1"/>
                <a14:m>
                  <m:oMath xmlns:m="http://schemas.openxmlformats.org/officeDocument/2006/math">
                    <m:r>
                      <a:rPr lang="en-US" i="1">
                        <a:latin typeface="Cambria Math" panose="02040503050406030204" pitchFamily="18" charset="0"/>
                      </a:rPr>
                      <m:t>𝑍</m:t>
                    </m:r>
                    <m:r>
                      <a:rPr lang="en-US">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𝑇</m:t>
                            </m:r>
                          </m:e>
                          <m:sub>
                            <m:r>
                              <a:rPr lang="ar-AE" i="1">
                                <a:latin typeface="Cambria Math" panose="02040503050406030204" pitchFamily="18" charset="0"/>
                              </a:rPr>
                              <m:t>𝑠</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𝑇</m:t>
                            </m:r>
                          </m:e>
                          <m:sub>
                            <m:r>
                              <a:rPr lang="ar-AE" i="1">
                                <a:latin typeface="Cambria Math" panose="02040503050406030204" pitchFamily="18" charset="0"/>
                              </a:rPr>
                              <m:t>𝑒</m:t>
                            </m:r>
                          </m:sub>
                        </m:sSub>
                      </m:num>
                      <m:den>
                        <m:sSub>
                          <m:sSubPr>
                            <m:ctrlPr>
                              <a:rPr lang="ar-AE" i="1">
                                <a:latin typeface="Cambria Math" panose="02040503050406030204" pitchFamily="18" charset="0"/>
                              </a:rPr>
                            </m:ctrlPr>
                          </m:sSubPr>
                          <m:e>
                            <m:r>
                              <a:rPr lang="ar-AE" i="1">
                                <a:latin typeface="Cambria Math" panose="02040503050406030204" pitchFamily="18" charset="0"/>
                              </a:rPr>
                              <m:t>𝜎</m:t>
                            </m:r>
                          </m:e>
                          <m:sub>
                            <m:r>
                              <a:rPr lang="ar-AE" i="1">
                                <a:latin typeface="Cambria Math" panose="02040503050406030204" pitchFamily="18" charset="0"/>
                              </a:rPr>
                              <m:t>𝑐𝑝</m:t>
                            </m:r>
                          </m:sub>
                        </m:sSub>
                      </m:den>
                    </m:f>
                  </m:oMath>
                </a14:m>
                <a:endParaRPr lang="ar-AE" dirty="0"/>
              </a:p>
              <a:p>
                <a:r>
                  <a:rPr lang="en-US" dirty="0"/>
                  <a:t>Where:</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𝑇</m:t>
                        </m:r>
                      </m:e>
                      <m:sub>
                        <m:r>
                          <a:rPr lang="ar-AE" i="1">
                            <a:latin typeface="Cambria Math" panose="02040503050406030204" pitchFamily="18" charset="0"/>
                          </a:rPr>
                          <m:t>𝑠</m:t>
                        </m:r>
                      </m:sub>
                    </m:sSub>
                  </m:oMath>
                </a14:m>
                <a:r>
                  <a:rPr lang="ar-AE" dirty="0"/>
                  <a:t>= </a:t>
                </a:r>
                <a:r>
                  <a:rPr lang="en-US" dirty="0"/>
                  <a:t>Scheduled (target) time</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𝑇</m:t>
                        </m:r>
                      </m:e>
                      <m:sub>
                        <m:r>
                          <a:rPr lang="ar-AE" i="1">
                            <a:latin typeface="Cambria Math" panose="02040503050406030204" pitchFamily="18" charset="0"/>
                          </a:rPr>
                          <m:t>𝑒</m:t>
                        </m:r>
                      </m:sub>
                    </m:sSub>
                  </m:oMath>
                </a14:m>
                <a:r>
                  <a:rPr lang="ar-AE" dirty="0"/>
                  <a:t>= </a:t>
                </a:r>
                <a:r>
                  <a:rPr lang="en-US" dirty="0"/>
                  <a:t>Expected project duration</a:t>
                </a:r>
              </a:p>
              <a:p>
                <a:pPr lvl="1"/>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𝜎</m:t>
                        </m:r>
                      </m:e>
                      <m:sub>
                        <m:r>
                          <a:rPr lang="ar-AE" i="1">
                            <a:latin typeface="Cambria Math" panose="02040503050406030204" pitchFamily="18" charset="0"/>
                          </a:rPr>
                          <m:t>𝑐𝑝</m:t>
                        </m:r>
                      </m:sub>
                    </m:sSub>
                  </m:oMath>
                </a14:m>
                <a:r>
                  <a:rPr lang="ar-AE" dirty="0"/>
                  <a:t>= </a:t>
                </a:r>
                <a:r>
                  <a:rPr lang="en-US" dirty="0"/>
                  <a:t>Standard deviation of critical path</a:t>
                </a:r>
              </a:p>
              <a:p>
                <a:pPr lvl="1"/>
                <a:r>
                  <a:rPr lang="en-US" dirty="0"/>
                  <a:t>Z-value is used with </a:t>
                </a:r>
                <a:r>
                  <a:rPr lang="en-US" b="1" dirty="0"/>
                  <a:t>normal distribution tables</a:t>
                </a:r>
                <a:r>
                  <a:rPr lang="en-US" dirty="0"/>
                  <a:t>.</a:t>
                </a:r>
              </a:p>
              <a:p>
                <a:endParaRPr lang="en-US" dirty="0"/>
              </a:p>
            </p:txBody>
          </p:sp>
        </mc:Choice>
        <mc:Fallback xmlns="">
          <p:sp>
            <p:nvSpPr>
              <p:cNvPr id="3" name="Content Placeholder 2">
                <a:extLst>
                  <a:ext uri="{FF2B5EF4-FFF2-40B4-BE49-F238E27FC236}">
                    <a16:creationId xmlns:a16="http://schemas.microsoft.com/office/drawing/2014/main" id="{ECA6FFBF-8652-F786-ED66-1F2F42C2167F}"/>
                  </a:ext>
                </a:extLst>
              </p:cNvPr>
              <p:cNvSpPr>
                <a:spLocks noGrp="1" noRot="1" noChangeAspect="1" noMove="1" noResize="1" noEditPoints="1" noAdjustHandles="1" noChangeArrowheads="1" noChangeShapeType="1" noTextEdit="1"/>
              </p:cNvSpPr>
              <p:nvPr>
                <p:ph idx="1"/>
              </p:nvPr>
            </p:nvSpPr>
            <p:spPr>
              <a:blipFill>
                <a:blip r:embed="rId2"/>
                <a:stretch>
                  <a:fillRect l="-174" t="-1401"/>
                </a:stretch>
              </a:blipFill>
            </p:spPr>
            <p:txBody>
              <a:bodyPr/>
              <a:lstStyle/>
              <a:p>
                <a:r>
                  <a:rPr lang="en-US">
                    <a:noFill/>
                  </a:rPr>
                  <a:t> </a:t>
                </a:r>
              </a:p>
            </p:txBody>
          </p:sp>
        </mc:Fallback>
      </mc:AlternateContent>
    </p:spTree>
    <p:extLst>
      <p:ext uri="{BB962C8B-B14F-4D97-AF65-F5344CB8AC3E}">
        <p14:creationId xmlns:p14="http://schemas.microsoft.com/office/powerpoint/2010/main" val="40085084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89C4C-F706-3417-5005-B8433AC2E256}"/>
              </a:ext>
            </a:extLst>
          </p:cNvPr>
          <p:cNvSpPr>
            <a:spLocks noGrp="1"/>
          </p:cNvSpPr>
          <p:nvPr>
            <p:ph type="title"/>
          </p:nvPr>
        </p:nvSpPr>
        <p:spPr/>
        <p:txBody>
          <a:bodyPr/>
          <a:lstStyle/>
          <a:p>
            <a:r>
              <a:rPr lang="en-US" dirty="0"/>
              <a:t>PERT</a:t>
            </a:r>
          </a:p>
        </p:txBody>
      </p:sp>
      <p:sp>
        <p:nvSpPr>
          <p:cNvPr id="3" name="Content Placeholder 2">
            <a:extLst>
              <a:ext uri="{FF2B5EF4-FFF2-40B4-BE49-F238E27FC236}">
                <a16:creationId xmlns:a16="http://schemas.microsoft.com/office/drawing/2014/main" id="{41F66C02-966A-C73C-05E6-96457B05DEC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428CE2C-DD09-910B-13B1-197A21AC4D48}"/>
              </a:ext>
            </a:extLst>
          </p:cNvPr>
          <p:cNvPicPr>
            <a:picLocks noChangeAspect="1"/>
          </p:cNvPicPr>
          <p:nvPr/>
        </p:nvPicPr>
        <p:blipFill>
          <a:blip r:embed="rId2"/>
          <a:stretch>
            <a:fillRect/>
          </a:stretch>
        </p:blipFill>
        <p:spPr>
          <a:xfrm>
            <a:off x="0" y="149805"/>
            <a:ext cx="12192000" cy="6558390"/>
          </a:xfrm>
          <a:prstGeom prst="rect">
            <a:avLst/>
          </a:prstGeom>
        </p:spPr>
      </p:pic>
    </p:spTree>
    <p:extLst>
      <p:ext uri="{BB962C8B-B14F-4D97-AF65-F5344CB8AC3E}">
        <p14:creationId xmlns:p14="http://schemas.microsoft.com/office/powerpoint/2010/main" val="27023258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6E61B563-A4B2-5783-81AF-A2A053D747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352229"/>
            <a:ext cx="12192000" cy="1519356"/>
            <a:chOff x="0" y="-29768"/>
            <a:chExt cx="12202174" cy="1519356"/>
          </a:xfrm>
        </p:grpSpPr>
        <p:sp>
          <p:nvSpPr>
            <p:cNvPr id="19" name="Rectangle 18">
              <a:extLst>
                <a:ext uri="{FF2B5EF4-FFF2-40B4-BE49-F238E27FC236}">
                  <a16:creationId xmlns:a16="http://schemas.microsoft.com/office/drawing/2014/main" id="{40633BBC-8C60-7DC4-F0CC-CE3225109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CC98078-F2A2-725C-ED61-320B63B69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1CD4C03-24F0-57A9-530E-8F2ABABDC5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880884" y="-2910652"/>
              <a:ext cx="1519356" cy="7281123"/>
            </a:xfrm>
            <a:prstGeom prst="rect">
              <a:avLst/>
            </a:prstGeom>
            <a:gradFill>
              <a:gsLst>
                <a:gs pos="29000">
                  <a:schemeClr val="accent5">
                    <a:lumMod val="60000"/>
                    <a:lumOff val="40000"/>
                    <a:alpha val="0"/>
                  </a:schemeClr>
                </a:gs>
                <a:gs pos="100000">
                  <a:schemeClr val="accent5">
                    <a:lumMod val="75000"/>
                    <a:alpha val="7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ED51D34-F33B-F919-E242-65D2E0BE4046}"/>
              </a:ext>
            </a:extLst>
          </p:cNvPr>
          <p:cNvSpPr>
            <a:spLocks noGrp="1"/>
          </p:cNvSpPr>
          <p:nvPr>
            <p:ph type="title"/>
          </p:nvPr>
        </p:nvSpPr>
        <p:spPr>
          <a:xfrm>
            <a:off x="838200" y="5609902"/>
            <a:ext cx="6924026" cy="913975"/>
          </a:xfrm>
        </p:spPr>
        <p:txBody>
          <a:bodyPr vert="horz" lIns="91440" tIns="45720" rIns="91440" bIns="45720" rtlCol="0" anchor="ctr">
            <a:normAutofit/>
          </a:bodyPr>
          <a:lstStyle/>
          <a:p>
            <a:r>
              <a:rPr lang="en-US" sz="3200">
                <a:solidFill>
                  <a:srgbClr val="FFFFFF"/>
                </a:solidFill>
              </a:rPr>
              <a:t>PERT</a:t>
            </a:r>
          </a:p>
        </p:txBody>
      </p:sp>
      <p:pic>
        <p:nvPicPr>
          <p:cNvPr id="9" name="Content Placeholder 8">
            <a:extLst>
              <a:ext uri="{FF2B5EF4-FFF2-40B4-BE49-F238E27FC236}">
                <a16:creationId xmlns:a16="http://schemas.microsoft.com/office/drawing/2014/main" id="{212DF6B9-87CD-1BAF-D2A7-4F369A23D9C2}"/>
              </a:ext>
            </a:extLst>
          </p:cNvPr>
          <p:cNvPicPr>
            <a:picLocks noGrp="1" noChangeAspect="1"/>
          </p:cNvPicPr>
          <p:nvPr>
            <p:ph idx="1"/>
          </p:nvPr>
        </p:nvPicPr>
        <p:blipFill>
          <a:blip r:embed="rId2"/>
          <a:srcRect t="12201"/>
          <a:stretch>
            <a:fillRect/>
          </a:stretch>
        </p:blipFill>
        <p:spPr>
          <a:xfrm>
            <a:off x="1" y="10"/>
            <a:ext cx="12191998" cy="5352218"/>
          </a:xfrm>
          <a:prstGeom prst="rect">
            <a:avLst/>
          </a:prstGeom>
        </p:spPr>
      </p:pic>
    </p:spTree>
    <p:extLst>
      <p:ext uri="{BB962C8B-B14F-4D97-AF65-F5344CB8AC3E}">
        <p14:creationId xmlns:p14="http://schemas.microsoft.com/office/powerpoint/2010/main" val="14502415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DDFAF-584F-38B4-CAF9-77FD6E66A2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C70B3B-1C83-4CDC-5A8F-E27B4FEB842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D849A2F-A5F9-8786-380C-B1626DF278B5}"/>
              </a:ext>
            </a:extLst>
          </p:cNvPr>
          <p:cNvPicPr>
            <a:picLocks noChangeAspect="1"/>
          </p:cNvPicPr>
          <p:nvPr/>
        </p:nvPicPr>
        <p:blipFill>
          <a:blip r:embed="rId2"/>
          <a:stretch>
            <a:fillRect/>
          </a:stretch>
        </p:blipFill>
        <p:spPr>
          <a:xfrm>
            <a:off x="304308" y="0"/>
            <a:ext cx="11583383" cy="6858000"/>
          </a:xfrm>
          <a:prstGeom prst="rect">
            <a:avLst/>
          </a:prstGeom>
        </p:spPr>
      </p:pic>
    </p:spTree>
    <p:extLst>
      <p:ext uri="{BB962C8B-B14F-4D97-AF65-F5344CB8AC3E}">
        <p14:creationId xmlns:p14="http://schemas.microsoft.com/office/powerpoint/2010/main" val="19309499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1FB9E120-8AD3-0FD8-4FEE-92221DCF6167}"/>
              </a:ext>
            </a:extLst>
          </p:cNvPr>
          <p:cNvPicPr>
            <a:picLocks noGrp="1" noChangeAspect="1"/>
          </p:cNvPicPr>
          <p:nvPr>
            <p:ph idx="1"/>
          </p:nvPr>
        </p:nvPicPr>
        <p:blipFill>
          <a:blip r:embed="rId2"/>
          <a:srcRect l="4871" r="1" b="1"/>
          <a:stretch>
            <a:fillRect/>
          </a:stretch>
        </p:blipFill>
        <p:spPr>
          <a:xfrm>
            <a:off x="20" y="1282"/>
            <a:ext cx="12191980" cy="6856718"/>
          </a:xfrm>
          <a:prstGeom prst="rect">
            <a:avLst/>
          </a:prstGeom>
        </p:spPr>
      </p:pic>
    </p:spTree>
    <p:extLst>
      <p:ext uri="{BB962C8B-B14F-4D97-AF65-F5344CB8AC3E}">
        <p14:creationId xmlns:p14="http://schemas.microsoft.com/office/powerpoint/2010/main" val="41285167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E1DFB3-73EC-F5C8-A91F-9848C89D4D01}"/>
              </a:ext>
            </a:extLst>
          </p:cNvPr>
          <p:cNvPicPr>
            <a:picLocks noGrp="1" noChangeAspect="1"/>
          </p:cNvPicPr>
          <p:nvPr>
            <p:ph idx="1"/>
          </p:nvPr>
        </p:nvPicPr>
        <p:blipFill>
          <a:blip r:embed="rId2"/>
          <a:stretch>
            <a:fillRect/>
          </a:stretch>
        </p:blipFill>
        <p:spPr>
          <a:xfrm>
            <a:off x="643467" y="661839"/>
            <a:ext cx="10905066" cy="5534321"/>
          </a:xfrm>
          <a:prstGeom prst="rect">
            <a:avLst/>
          </a:prstGeom>
        </p:spPr>
      </p:pic>
    </p:spTree>
    <p:extLst>
      <p:ext uri="{BB962C8B-B14F-4D97-AF65-F5344CB8AC3E}">
        <p14:creationId xmlns:p14="http://schemas.microsoft.com/office/powerpoint/2010/main" val="15088592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5E541C-0F03-0C4C-7758-6DFECE90EA05}"/>
              </a:ext>
            </a:extLst>
          </p:cNvPr>
          <p:cNvPicPr>
            <a:picLocks noGrp="1" noChangeAspect="1"/>
          </p:cNvPicPr>
          <p:nvPr>
            <p:ph idx="1"/>
          </p:nvPr>
        </p:nvPicPr>
        <p:blipFill>
          <a:blip r:embed="rId2"/>
          <a:stretch>
            <a:fillRect/>
          </a:stretch>
        </p:blipFill>
        <p:spPr>
          <a:xfrm>
            <a:off x="937604" y="643466"/>
            <a:ext cx="10316792" cy="5571067"/>
          </a:xfrm>
          <a:prstGeom prst="rect">
            <a:avLst/>
          </a:prstGeom>
        </p:spPr>
      </p:pic>
    </p:spTree>
    <p:extLst>
      <p:ext uri="{BB962C8B-B14F-4D97-AF65-F5344CB8AC3E}">
        <p14:creationId xmlns:p14="http://schemas.microsoft.com/office/powerpoint/2010/main" val="28506630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3C3FEF-2E47-D202-AA98-870A5144D8D6}"/>
              </a:ext>
            </a:extLst>
          </p:cNvPr>
          <p:cNvPicPr>
            <a:picLocks noGrp="1" noChangeAspect="1"/>
          </p:cNvPicPr>
          <p:nvPr>
            <p:ph idx="1"/>
          </p:nvPr>
        </p:nvPicPr>
        <p:blipFill>
          <a:blip r:embed="rId2"/>
          <a:stretch>
            <a:fillRect/>
          </a:stretch>
        </p:blipFill>
        <p:spPr>
          <a:xfrm>
            <a:off x="889396" y="643466"/>
            <a:ext cx="10413207" cy="5571067"/>
          </a:xfrm>
          <a:prstGeom prst="rect">
            <a:avLst/>
          </a:prstGeom>
        </p:spPr>
      </p:pic>
    </p:spTree>
    <p:extLst>
      <p:ext uri="{BB962C8B-B14F-4D97-AF65-F5344CB8AC3E}">
        <p14:creationId xmlns:p14="http://schemas.microsoft.com/office/powerpoint/2010/main" val="25609042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BCAC0FFE-AD3B-C19D-ED71-5D06F7C69B1D}"/>
              </a:ext>
            </a:extLst>
          </p:cNvPr>
          <p:cNvPicPr>
            <a:picLocks noGrp="1" noChangeAspect="1"/>
          </p:cNvPicPr>
          <p:nvPr>
            <p:ph idx="1"/>
          </p:nvPr>
        </p:nvPicPr>
        <p:blipFill>
          <a:blip r:embed="rId2"/>
          <a:stretch>
            <a:fillRect/>
          </a:stretch>
        </p:blipFill>
        <p:spPr>
          <a:xfrm>
            <a:off x="764835" y="643466"/>
            <a:ext cx="10662329" cy="5571067"/>
          </a:xfrm>
          <a:prstGeom prst="rect">
            <a:avLst/>
          </a:prstGeom>
        </p:spPr>
      </p:pic>
    </p:spTree>
    <p:extLst>
      <p:ext uri="{BB962C8B-B14F-4D97-AF65-F5344CB8AC3E}">
        <p14:creationId xmlns:p14="http://schemas.microsoft.com/office/powerpoint/2010/main" val="469980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009B2-1BC9-CB77-294E-053FEF4AF7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89B9F3-1213-BA31-9E56-5B312B40985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A51CB67-D919-D150-5ABE-7BF58FA44FD0}"/>
              </a:ext>
            </a:extLst>
          </p:cNvPr>
          <p:cNvPicPr>
            <a:picLocks noChangeAspect="1"/>
          </p:cNvPicPr>
          <p:nvPr/>
        </p:nvPicPr>
        <p:blipFill>
          <a:blip r:embed="rId2"/>
          <a:stretch>
            <a:fillRect/>
          </a:stretch>
        </p:blipFill>
        <p:spPr>
          <a:xfrm>
            <a:off x="0" y="255128"/>
            <a:ext cx="12192000" cy="6347743"/>
          </a:xfrm>
          <a:prstGeom prst="rect">
            <a:avLst/>
          </a:prstGeom>
        </p:spPr>
      </p:pic>
    </p:spTree>
    <p:extLst>
      <p:ext uri="{BB962C8B-B14F-4D97-AF65-F5344CB8AC3E}">
        <p14:creationId xmlns:p14="http://schemas.microsoft.com/office/powerpoint/2010/main" val="16311826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6897D04-C5BF-92DC-D1DF-5E8EF3623CB9}"/>
              </a:ext>
            </a:extLst>
          </p:cNvPr>
          <p:cNvPicPr>
            <a:picLocks noGrp="1" noChangeAspect="1"/>
          </p:cNvPicPr>
          <p:nvPr>
            <p:ph idx="1"/>
          </p:nvPr>
        </p:nvPicPr>
        <p:blipFill>
          <a:blip r:embed="rId2"/>
          <a:stretch>
            <a:fillRect/>
          </a:stretch>
        </p:blipFill>
        <p:spPr>
          <a:xfrm>
            <a:off x="739206" y="643466"/>
            <a:ext cx="10713588" cy="5571067"/>
          </a:xfrm>
          <a:prstGeom prst="rect">
            <a:avLst/>
          </a:prstGeom>
        </p:spPr>
      </p:pic>
    </p:spTree>
    <p:extLst>
      <p:ext uri="{BB962C8B-B14F-4D97-AF65-F5344CB8AC3E}">
        <p14:creationId xmlns:p14="http://schemas.microsoft.com/office/powerpoint/2010/main" val="41021456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8106E-2DAA-64F2-4370-4722387074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FA6F8B-A903-45D2-B673-7429383A853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951789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0A169-5C73-441A-AA6D-DC9B833A5832}"/>
              </a:ext>
            </a:extLst>
          </p:cNvPr>
          <p:cNvSpPr>
            <a:spLocks noGrp="1"/>
          </p:cNvSpPr>
          <p:nvPr>
            <p:ph type="title"/>
          </p:nvPr>
        </p:nvSpPr>
        <p:spPr/>
        <p:txBody>
          <a:bodyPr/>
          <a:lstStyle/>
          <a:p>
            <a:r>
              <a:rPr lang="en-US" dirty="0"/>
              <a:t>PERT vs CPM</a:t>
            </a:r>
          </a:p>
        </p:txBody>
      </p:sp>
      <p:sp>
        <p:nvSpPr>
          <p:cNvPr id="3" name="Content Placeholder 2">
            <a:extLst>
              <a:ext uri="{FF2B5EF4-FFF2-40B4-BE49-F238E27FC236}">
                <a16:creationId xmlns:a16="http://schemas.microsoft.com/office/drawing/2014/main" id="{C3843B12-7816-8557-3CBE-6BC6375AEB97}"/>
              </a:ext>
            </a:extLst>
          </p:cNvPr>
          <p:cNvSpPr>
            <a:spLocks noGrp="1"/>
          </p:cNvSpPr>
          <p:nvPr>
            <p:ph idx="1"/>
          </p:nvPr>
        </p:nvSpPr>
        <p:spPr/>
        <p:txBody>
          <a:bodyPr>
            <a:normAutofit fontScale="55000" lnSpcReduction="20000"/>
          </a:bodyPr>
          <a:lstStyle/>
          <a:p>
            <a:r>
              <a:rPr lang="en-US" b="1" dirty="0"/>
              <a:t>Key Conceptual Differences</a:t>
            </a:r>
          </a:p>
          <a:p>
            <a:r>
              <a:rPr lang="en-US" b="1" dirty="0"/>
              <a:t>CPM</a:t>
            </a:r>
          </a:p>
          <a:p>
            <a:r>
              <a:rPr lang="en-US" dirty="0"/>
              <a:t>Assumes activity durations are </a:t>
            </a:r>
            <a:r>
              <a:rPr lang="en-US" b="1" dirty="0"/>
              <a:t>known and stable</a:t>
            </a:r>
            <a:endParaRPr lang="en-US" dirty="0"/>
          </a:p>
          <a:p>
            <a:r>
              <a:rPr lang="en-US" dirty="0"/>
              <a:t>Emphasizes </a:t>
            </a:r>
            <a:r>
              <a:rPr lang="en-US" b="1" dirty="0"/>
              <a:t>schedule control and crashing</a:t>
            </a:r>
            <a:endParaRPr lang="en-US" dirty="0"/>
          </a:p>
          <a:p>
            <a:r>
              <a:rPr lang="en-US" dirty="0"/>
              <a:t>Best when project activities are </a:t>
            </a:r>
            <a:r>
              <a:rPr lang="en-US" b="1" dirty="0"/>
              <a:t>well understood</a:t>
            </a:r>
            <a:endParaRPr lang="en-US" dirty="0"/>
          </a:p>
          <a:p>
            <a:r>
              <a:rPr lang="en-US" b="1" dirty="0"/>
              <a:t>PERT</a:t>
            </a:r>
          </a:p>
          <a:p>
            <a:r>
              <a:rPr lang="en-US" dirty="0"/>
              <a:t>Assumes durations are </a:t>
            </a:r>
            <a:r>
              <a:rPr lang="en-US" b="1" dirty="0"/>
              <a:t>uncertain</a:t>
            </a:r>
            <a:endParaRPr lang="en-US" dirty="0"/>
          </a:p>
          <a:p>
            <a:r>
              <a:rPr lang="en-US" dirty="0"/>
              <a:t>Uses </a:t>
            </a:r>
            <a:r>
              <a:rPr lang="en-US" b="1" dirty="0"/>
              <a:t>statistical analysis</a:t>
            </a:r>
            <a:endParaRPr lang="en-US" dirty="0"/>
          </a:p>
          <a:p>
            <a:r>
              <a:rPr lang="en-US" dirty="0"/>
              <a:t>Best when project involves </a:t>
            </a:r>
            <a:r>
              <a:rPr lang="en-US" b="1" dirty="0"/>
              <a:t>risk and innovation</a:t>
            </a:r>
            <a:endParaRPr lang="en-US" dirty="0"/>
          </a:p>
          <a:p>
            <a:r>
              <a:rPr lang="en-US" b="1" dirty="0"/>
              <a:t>Simple Example</a:t>
            </a:r>
          </a:p>
          <a:p>
            <a:r>
              <a:rPr lang="en-US" b="1" dirty="0"/>
              <a:t>CPM Example</a:t>
            </a:r>
          </a:p>
          <a:p>
            <a:r>
              <a:rPr lang="en-US" dirty="0"/>
              <a:t>Building a house</a:t>
            </a:r>
            <a:br>
              <a:rPr lang="en-US" dirty="0"/>
            </a:br>
            <a:r>
              <a:rPr lang="en-US" dirty="0"/>
              <a:t>Past data available → durations fixed → </a:t>
            </a:r>
            <a:r>
              <a:rPr lang="en-US" b="1" dirty="0"/>
              <a:t>CPM suitable</a:t>
            </a:r>
            <a:endParaRPr lang="en-US" dirty="0"/>
          </a:p>
          <a:p>
            <a:r>
              <a:rPr lang="en-US" b="1" dirty="0"/>
              <a:t>PERT Example</a:t>
            </a:r>
          </a:p>
          <a:p>
            <a:r>
              <a:rPr lang="en-US" dirty="0"/>
              <a:t>Developing a new drug</a:t>
            </a:r>
            <a:br>
              <a:rPr lang="en-US" dirty="0"/>
            </a:br>
            <a:r>
              <a:rPr lang="en-US" dirty="0"/>
              <a:t>High uncertainty → multiple time estimates → </a:t>
            </a:r>
            <a:r>
              <a:rPr lang="en-US" b="1" dirty="0"/>
              <a:t>PERT suitable</a:t>
            </a:r>
            <a:endParaRPr lang="en-US" dirty="0"/>
          </a:p>
          <a:p>
            <a:endParaRPr lang="en-US" dirty="0"/>
          </a:p>
        </p:txBody>
      </p:sp>
    </p:spTree>
    <p:extLst>
      <p:ext uri="{BB962C8B-B14F-4D97-AF65-F5344CB8AC3E}">
        <p14:creationId xmlns:p14="http://schemas.microsoft.com/office/powerpoint/2010/main" val="1585876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B7F543F2F210C42A1AB556EC2E2AD39" ma:contentTypeVersion="3" ma:contentTypeDescription="Create a new document." ma:contentTypeScope="" ma:versionID="e5606db6c3531daf026a8fd548c663ad">
  <xsd:schema xmlns:xsd="http://www.w3.org/2001/XMLSchema" xmlns:xs="http://www.w3.org/2001/XMLSchema" xmlns:p="http://schemas.microsoft.com/office/2006/metadata/properties" xmlns:ns2="a4f7e055-52ed-4413-8839-c7f22b2234f6" targetNamespace="http://schemas.microsoft.com/office/2006/metadata/properties" ma:root="true" ma:fieldsID="fc3079c0926d43e5991d1c902ac675e6" ns2:_="">
    <xsd:import namespace="a4f7e055-52ed-4413-8839-c7f22b2234f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7e055-52ed-4413-8839-c7f22b2234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6910B71-9543-4476-BA04-B610EBA9BE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7e055-52ed-4413-8839-c7f22b2234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3DDA98-FC00-49B2-AED3-DBBFD13CAC6E}">
  <ds:schemaRefs>
    <ds:schemaRef ds:uri="http://purl.org/dc/terms/"/>
    <ds:schemaRef ds:uri="http://www.w3.org/XML/1998/namespace"/>
    <ds:schemaRef ds:uri="http://schemas.microsoft.com/office/2006/documentManagement/types"/>
    <ds:schemaRef ds:uri="http://schemas.microsoft.com/office/infopath/2007/PartnerControls"/>
    <ds:schemaRef ds:uri="http://schemas.microsoft.com/office/2006/metadata/properties"/>
    <ds:schemaRef ds:uri="a4f7e055-52ed-4413-8839-c7f22b2234f6"/>
    <ds:schemaRef ds:uri="http://purl.org/dc/dcmitype/"/>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765C2CE0-8493-42ED-AA06-97A16EA719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1448</TotalTime>
  <Words>3807</Words>
  <Application>Microsoft Office PowerPoint</Application>
  <PresentationFormat>Widescreen</PresentationFormat>
  <Paragraphs>319</Paragraphs>
  <Slides>65</Slides>
  <Notes>0</Notes>
  <HiddenSlides>0</HiddenSlides>
  <MMClips>0</MMClips>
  <ScaleCrop>false</ScaleCrop>
  <HeadingPairs>
    <vt:vector size="4" baseType="variant">
      <vt:variant>
        <vt:lpstr>Theme</vt:lpstr>
      </vt:variant>
      <vt:variant>
        <vt:i4>1</vt:i4>
      </vt:variant>
      <vt:variant>
        <vt:lpstr>Slide Titles</vt:lpstr>
      </vt:variant>
      <vt:variant>
        <vt:i4>65</vt:i4>
      </vt:variant>
    </vt:vector>
  </HeadingPairs>
  <TitlesOfParts>
    <vt:vector size="66" baseType="lpstr">
      <vt:lpstr>Office Theme</vt:lpstr>
      <vt:lpstr>Activity in Project Management</vt:lpstr>
      <vt:lpstr>Types of Activities in Project Management</vt:lpstr>
      <vt:lpstr>Activity Planning</vt:lpstr>
      <vt:lpstr>Activity Sequencing</vt:lpstr>
      <vt:lpstr>Scheduling Activities Using WBS</vt:lpstr>
      <vt:lpstr>Scheduling activities using Network Planning Model: </vt:lpstr>
      <vt:lpstr>Network Diagram in Project Management</vt:lpstr>
      <vt:lpstr>Components of a Project Schedule Network Diagram:</vt:lpstr>
      <vt:lpstr>Gantt Chart</vt:lpstr>
      <vt:lpstr>PowerPoint Presentation</vt:lpstr>
      <vt:lpstr>PDM Network Diagram</vt:lpstr>
      <vt:lpstr>Types of Dependencies in PDM:</vt:lpstr>
      <vt:lpstr>Steps to Create a PDM Network Diagram:</vt:lpstr>
      <vt:lpstr>Critical Path</vt:lpstr>
      <vt:lpstr>How to Identify the Critical Path?</vt:lpstr>
      <vt:lpstr>Total &amp; Free Floats</vt:lpstr>
      <vt:lpstr>PDM</vt:lpstr>
      <vt:lpstr>PDM</vt:lpstr>
      <vt:lpstr>Forward Pass</vt:lpstr>
      <vt:lpstr>PDM – ES, EF – Forward Pass</vt:lpstr>
      <vt:lpstr>PDM – LS LF – Backward Pass</vt:lpstr>
      <vt:lpstr>PDM – LS LF – Backward Pass</vt:lpstr>
      <vt:lpstr>PDM</vt:lpstr>
      <vt:lpstr>CPM – Critical Path Method</vt:lpstr>
      <vt:lpstr>CPM – Critical Path Method</vt:lpstr>
      <vt:lpstr>Total Float (Slack)</vt:lpstr>
      <vt:lpstr>Free Float</vt:lpstr>
      <vt:lpstr>PowerPoint Presentation</vt:lpstr>
      <vt:lpstr>PowerPoint Presentation</vt:lpstr>
      <vt:lpstr>PowerPoint Presentation</vt:lpstr>
      <vt:lpstr>PowerPoint Presentation</vt:lpstr>
      <vt:lpstr>CPM</vt:lpstr>
      <vt:lpstr>Network Diagram</vt:lpstr>
      <vt:lpstr>Components of a Network Diagram</vt:lpstr>
      <vt:lpstr>Components of a Network Diagram</vt:lpstr>
      <vt:lpstr>Types of Network Diagrams</vt:lpstr>
      <vt:lpstr>PowerPoint Presentation</vt:lpstr>
      <vt:lpstr>How to find the critical path in a project:</vt:lpstr>
      <vt:lpstr>PowerPoint Presentation</vt:lpstr>
      <vt:lpstr>PowerPoint Presentation</vt:lpstr>
      <vt:lpstr>AON vs AOA</vt:lpstr>
      <vt:lpstr>AOA</vt:lpstr>
      <vt:lpstr>AOA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PERT</vt:lpstr>
      <vt:lpstr>PowerPoint Presentation</vt:lpstr>
      <vt:lpstr>PERT</vt:lpstr>
      <vt:lpstr>PERT</vt:lpstr>
      <vt:lpstr>PERT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PERT vs CPM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Surendra Kc</dc:creator>
  <cp:lastModifiedBy>Surendra Kc</cp:lastModifiedBy>
  <cp:revision>2</cp:revision>
  <dcterms:created xsi:type="dcterms:W3CDTF">2026-01-19T12:03:53Z</dcterms:created>
  <dcterms:modified xsi:type="dcterms:W3CDTF">2026-01-27T15:26:10Z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0x0101007B7F543F2F210C42A1AB556EC2E2AD39</vt:lpwstr>
  </property>
</Properties>
</file>