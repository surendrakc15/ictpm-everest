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7" r:id="rId5"/>
    <p:sldId id="258" r:id="rId6"/>
    <p:sldId id="259" r:id="rId7"/>
    <p:sldId id="260" r:id="rId8"/>
    <p:sldId id="276" r:id="rId9"/>
    <p:sldId id="277" r:id="rId10"/>
    <p:sldId id="278" r:id="rId11"/>
    <p:sldId id="279" r:id="rId12"/>
    <p:sldId id="261" r:id="rId13"/>
    <p:sldId id="280" r:id="rId14"/>
    <p:sldId id="281" r:id="rId15"/>
    <p:sldId id="291" r:id="rId16"/>
    <p:sldId id="282" r:id="rId17"/>
    <p:sldId id="283" r:id="rId18"/>
    <p:sldId id="284" r:id="rId19"/>
    <p:sldId id="285" r:id="rId20"/>
    <p:sldId id="286" r:id="rId21"/>
    <p:sldId id="287" r:id="rId22"/>
    <p:sldId id="288" r:id="rId23"/>
    <p:sldId id="289" r:id="rId24"/>
    <p:sldId id="290" r:id="rId25"/>
    <p:sldId id="292" r:id="rId26"/>
    <p:sldId id="297" r:id="rId27"/>
    <p:sldId id="298" r:id="rId28"/>
    <p:sldId id="299" r:id="rId29"/>
    <p:sldId id="300" r:id="rId30"/>
    <p:sldId id="293" r:id="rId31"/>
    <p:sldId id="301" r:id="rId32"/>
    <p:sldId id="302" r:id="rId33"/>
    <p:sldId id="303" r:id="rId34"/>
    <p:sldId id="304" r:id="rId35"/>
    <p:sldId id="294" r:id="rId36"/>
    <p:sldId id="295" r:id="rId37"/>
    <p:sldId id="296" r:id="rId38"/>
    <p:sldId id="262" r:id="rId39"/>
    <p:sldId id="305" r:id="rId40"/>
    <p:sldId id="306" r:id="rId41"/>
    <p:sldId id="307" r:id="rId42"/>
    <p:sldId id="308" r:id="rId43"/>
    <p:sldId id="263" r:id="rId44"/>
    <p:sldId id="264" r:id="rId45"/>
    <p:sldId id="309" r:id="rId46"/>
    <p:sldId id="310" r:id="rId47"/>
    <p:sldId id="311" r:id="rId48"/>
    <p:sldId id="265" r:id="rId49"/>
    <p:sldId id="266" r:id="rId50"/>
    <p:sldId id="267" r:id="rId51"/>
    <p:sldId id="268" r:id="rId52"/>
    <p:sldId id="269" r:id="rId53"/>
    <p:sldId id="270" r:id="rId54"/>
    <p:sldId id="271" r:id="rId55"/>
    <p:sldId id="272" r:id="rId56"/>
    <p:sldId id="273" r:id="rId57"/>
    <p:sldId id="274" r:id="rId58"/>
    <p:sldId id="275" r:id="rId59"/>
    <p:sldId id="312" r:id="rId60"/>
    <p:sldId id="313" r:id="rId61"/>
    <p:sldId id="314" r:id="rId62"/>
    <p:sldId id="315" r:id="rId63"/>
    <p:sldId id="316" r:id="rId64"/>
    <p:sldId id="317" r:id="rId65"/>
    <p:sldId id="318" r:id="rId66"/>
    <p:sldId id="319" r:id="rId67"/>
    <p:sldId id="320" r:id="rId68"/>
    <p:sldId id="321" r:id="rId69"/>
    <p:sldId id="322" r:id="rId70"/>
    <p:sldId id="323" r:id="rId71"/>
    <p:sldId id="324" r:id="rId72"/>
    <p:sldId id="325" r:id="rId73"/>
    <p:sldId id="326" r:id="rId74"/>
    <p:sldId id="327" r:id="rId75"/>
    <p:sldId id="328" r:id="rId76"/>
    <p:sldId id="329" r:id="rId77"/>
    <p:sldId id="330" r:id="rId78"/>
    <p:sldId id="331" r:id="rId79"/>
    <p:sldId id="332" r:id="rId8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226E441-0F9C-47B2-A9E8-55B48408E1D3}" v="87" dt="2026-01-19T08:02:06.74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84" Type="http://schemas.openxmlformats.org/officeDocument/2006/relationships/tableStyles" Target="tableStyles.xml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slide" Target="slides/slide75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77" Type="http://schemas.openxmlformats.org/officeDocument/2006/relationships/slide" Target="slides/slide73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80" Type="http://schemas.openxmlformats.org/officeDocument/2006/relationships/slide" Target="slides/slide76.xml"/><Relationship Id="rId85" Type="http://schemas.microsoft.com/office/2015/10/relationships/revisionInfo" Target="revisionInfo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83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8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61" Type="http://schemas.openxmlformats.org/officeDocument/2006/relationships/slide" Target="slides/slide57.xml"/><Relationship Id="rId8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D5C27D-75EC-D8D3-4418-32A4CD9802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E6B75F-F767-DDA3-D7FC-F0F6E4DE73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13DDD8-1D06-2CC0-0F05-52DD6EDF42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4FE6F-08CD-4686-9C08-7EC6D8E2C1F3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C70966-E54C-CBE8-E163-DA30625ADB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06569D-CEDD-0D3F-94FA-74A0D9BB7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CE00D-2AA5-4BFD-A8CB-978FADAA34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1481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FF62A-7689-46E5-D07D-7E7771151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B408D3-C215-0EA2-9BAF-A5F7BD0891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B1A7A2-D390-B0A6-3364-F44E0A3D5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4FE6F-08CD-4686-9C08-7EC6D8E2C1F3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42621C-3798-9B6B-881E-C1772376C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D98659-1107-DE61-AE14-9CB33A89A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CE00D-2AA5-4BFD-A8CB-978FADAA34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127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44CD19-B986-2937-CFF3-B30DC86D4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D69A7B-CCA2-1B47-370A-5C2E4F1F17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3E083C-749C-60C9-2E25-13EC2BFBD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4FE6F-08CD-4686-9C08-7EC6D8E2C1F3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69D558-095B-9A59-70E9-E46345BD8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B290ED-662A-E16F-90B7-097B6B5D88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CE00D-2AA5-4BFD-A8CB-978FADAA34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80599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4FB2A-1401-42A0-75BB-ABD8B7D76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6DC61D-4131-D0FD-6DF7-62F9D23C20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003F8A-55A1-036E-7CB0-2D2089203D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5F667A-8959-0872-0273-BEA6132578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4FE6F-08CD-4686-9C08-7EC6D8E2C1F3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C16B52-3BD8-B57C-794D-6B368A4923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A567B0-2643-31A1-737C-270F28DF7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CE00D-2AA5-4BFD-A8CB-978FADAA34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9863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C0550-3E2F-92B3-BBEA-0BE60DA72A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E41E80-7689-BEFA-7BEB-E52ECA01E3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4150F1-02D6-B898-5F9F-024A0CC46D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E6E976-FF0B-4C91-CE52-F994AB1A34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94AA2EB-603D-98AA-7C8C-B6DE8FE367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07CB246-FC7B-1A4C-76A9-8E5EDF83F1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4FE6F-08CD-4686-9C08-7EC6D8E2C1F3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24502B1-0783-37BA-D342-6AA32E5350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9E82C8-2735-62BC-BF54-8FE6886E2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CE00D-2AA5-4BFD-A8CB-978FADAA34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1229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A1B016-73DE-4DDF-A2B6-B71D378DC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7212FA-6E93-48CF-715B-62ADE7BFA2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4FE6F-08CD-4686-9C08-7EC6D8E2C1F3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A68436-F85A-6B13-F28C-FFCCF9B3C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FD0B24-4B49-3597-566A-5A99B3DEA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CE00D-2AA5-4BFD-A8CB-978FADAA34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252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FC22778-C756-3A05-D9A9-4181A1576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4FE6F-08CD-4686-9C08-7EC6D8E2C1F3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FE019D4-B6D5-CF27-149F-B5FEE8D5D5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205713-CA23-2019-C40C-213B5F9BE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CE00D-2AA5-4BFD-A8CB-978FADAA34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3843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3F25FA-0487-5275-7623-9D1BECBFEF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5FA27A-2134-63A6-7568-2E26D84227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19BADA-8880-B3F2-8F6C-677E5AA1D8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EA0E8E-1AF4-C971-775D-7D880D70B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4FE6F-08CD-4686-9C08-7EC6D8E2C1F3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9816B4-DDBA-CA76-3CD4-2CE555406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F46AFD-F000-F87D-95F9-53A10E8EC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CE00D-2AA5-4BFD-A8CB-978FADAA34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6499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C46867-4D29-4539-FFA5-4D59A3B217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302EA7-32AA-96B0-E3D1-B414A0C76E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DA0B78-4053-60D8-90D4-6055101F07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E3B28B-E642-6288-9294-01436F217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4FE6F-08CD-4686-9C08-7EC6D8E2C1F3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4601B3-D23D-F671-606D-9003427A27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B3FA86-C8C6-7EB3-D374-5A5E886EF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CE00D-2AA5-4BFD-A8CB-978FADAA34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129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DBB1F-61C2-E7E0-515D-7E9A6FBF59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D6C2D4-E2D3-61D3-0BAF-5B84A06D6E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D1CB89-90E6-1E00-E271-83E47587D3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4FE6F-08CD-4686-9C08-7EC6D8E2C1F3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60285D-023B-EFAC-638E-588A9CDDFA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8811B5-4809-FC6B-014B-EC3705BED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CE00D-2AA5-4BFD-A8CB-978FADAA34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49290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5FF09DC-85A5-0824-DE46-08512F68F7B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DA2338-EB1B-24E0-BBA2-7EE3E68393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89216F-8D0D-2547-5209-D78C7D3E51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4FE6F-08CD-4686-9C08-7EC6D8E2C1F3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C08B09-825B-5332-6103-DC0031CCC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2B4050-8537-4BC8-B698-FDA53EC1D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CE00D-2AA5-4BFD-A8CB-978FADAA34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0510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C66DFB-EE04-AE4C-15CC-8180762566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3A2541-3904-4BD0-7149-22B70064F1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C38697-29BC-1515-CBBC-C92CAD7DAA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64FE6F-08CD-4686-9C08-7EC6D8E2C1F3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6BA277-B9D9-6C1B-5450-A6EFAB6B01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CF227-0F55-6D9F-5817-3E5F37583D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1CE00D-2AA5-4BFD-A8CB-978FADAA34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6199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3D289-99B8-416C-A494-0F43E1AA1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Analysis and Evaluation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A8CEA9-CC30-3FFF-AF5E-EC44229092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b="1" dirty="0"/>
              <a:t>Project Analysis and Evaluation</a:t>
            </a:r>
            <a:r>
              <a:rPr lang="en-US" dirty="0"/>
              <a:t> is a systematic process of assessing whether a proposed project is feasible, viable, and aligned with organizational objectives before committing significant resources.</a:t>
            </a:r>
          </a:p>
          <a:p>
            <a:r>
              <a:rPr lang="en-US" dirty="0"/>
              <a:t>Project analysis and evaluation are not named as a single process, but they are </a:t>
            </a:r>
            <a:r>
              <a:rPr lang="en-US" b="1" dirty="0"/>
              <a:t>embedded across multiple knowledge areas and process groups</a:t>
            </a:r>
            <a:r>
              <a:rPr lang="en-US" dirty="0"/>
              <a:t>, mainly during </a:t>
            </a:r>
            <a:r>
              <a:rPr lang="en-US" b="1" dirty="0"/>
              <a:t>Initiating, Planning, Monitoring &amp; Controlling, and Closing</a:t>
            </a:r>
            <a:r>
              <a:rPr lang="en-US" dirty="0"/>
              <a:t>.</a:t>
            </a:r>
          </a:p>
          <a:p>
            <a:r>
              <a:rPr lang="en-US" dirty="0"/>
              <a:t>They focus on:</a:t>
            </a:r>
          </a:p>
          <a:p>
            <a:pPr lvl="1"/>
            <a:r>
              <a:rPr lang="en-US" b="1" dirty="0"/>
              <a:t>Analyzing</a:t>
            </a:r>
            <a:r>
              <a:rPr lang="en-US" dirty="0"/>
              <a:t> whether a project is viable, aligned with business goals, and feasible</a:t>
            </a:r>
          </a:p>
          <a:p>
            <a:pPr lvl="1"/>
            <a:r>
              <a:rPr lang="en-US" b="1" dirty="0"/>
              <a:t>Evaluating</a:t>
            </a:r>
            <a:r>
              <a:rPr lang="en-US" dirty="0"/>
              <a:t> project performance, progress, and outcomes against baselines and objectives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80844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B57FA-F449-8589-8BF4-00E486BDC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Analysis -</a:t>
            </a:r>
            <a:r>
              <a:rPr lang="en-US" b="1" dirty="0"/>
              <a:t> Business Case Analysis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01F6F3-8CCB-C7C9-0A80-13AAF19E48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b="1" dirty="0"/>
              <a:t>Business Case Analysis (Initiating Process Group)</a:t>
            </a:r>
          </a:p>
          <a:p>
            <a:r>
              <a:rPr lang="en-US" b="1" dirty="0"/>
              <a:t>Purpose:</a:t>
            </a:r>
            <a:br>
              <a:rPr lang="en-US" dirty="0"/>
            </a:br>
            <a:r>
              <a:rPr lang="en-US" dirty="0"/>
              <a:t>To justify the project from a business perspective.</a:t>
            </a:r>
          </a:p>
          <a:p>
            <a:r>
              <a:rPr lang="en-US" b="1" dirty="0"/>
              <a:t>Key Questions:</a:t>
            </a:r>
            <a:endParaRPr lang="en-US" dirty="0"/>
          </a:p>
          <a:p>
            <a:pPr lvl="1"/>
            <a:r>
              <a:rPr lang="en-US" dirty="0"/>
              <a:t>Why is this project needed?</a:t>
            </a:r>
          </a:p>
          <a:p>
            <a:pPr lvl="1"/>
            <a:r>
              <a:rPr lang="en-US" dirty="0"/>
              <a:t>What value will it deliver?</a:t>
            </a:r>
          </a:p>
          <a:p>
            <a:pPr lvl="1"/>
            <a:r>
              <a:rPr lang="en-US" dirty="0"/>
              <a:t>Do benefits outweigh costs?</a:t>
            </a:r>
          </a:p>
          <a:p>
            <a:r>
              <a:rPr lang="en-US" b="1" dirty="0"/>
              <a:t>Includes:</a:t>
            </a:r>
            <a:endParaRPr lang="en-US" dirty="0"/>
          </a:p>
          <a:p>
            <a:pPr lvl="1"/>
            <a:r>
              <a:rPr lang="en-US" dirty="0"/>
              <a:t>Cost–benefit analysis</a:t>
            </a:r>
          </a:p>
          <a:p>
            <a:pPr lvl="1"/>
            <a:r>
              <a:rPr lang="en-US" dirty="0"/>
              <a:t>Market demand</a:t>
            </a:r>
          </a:p>
          <a:p>
            <a:pPr lvl="1"/>
            <a:r>
              <a:rPr lang="en-US" dirty="0"/>
              <a:t>Strategic alignment</a:t>
            </a:r>
          </a:p>
          <a:p>
            <a:pPr lvl="1"/>
            <a:r>
              <a:rPr lang="en-US" dirty="0"/>
              <a:t>Risk vs reward</a:t>
            </a:r>
          </a:p>
          <a:p>
            <a:r>
              <a:rPr lang="en-US" b="1" dirty="0"/>
              <a:t>Example: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dirty="0"/>
              <a:t>A bank wants to develop a </a:t>
            </a:r>
            <a:r>
              <a:rPr lang="en-US" b="1" dirty="0"/>
              <a:t>mobile banking app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Estimated cost: ₹2 crore</a:t>
            </a:r>
          </a:p>
          <a:p>
            <a:pPr lvl="1"/>
            <a:r>
              <a:rPr lang="en-US" dirty="0"/>
              <a:t>Expected benefit: ₹6 crore in 3 years</a:t>
            </a:r>
          </a:p>
          <a:p>
            <a:pPr lvl="1"/>
            <a:r>
              <a:rPr lang="en-US" dirty="0"/>
              <a:t>Strategic goal: Increase digital customers</a:t>
            </a:r>
          </a:p>
          <a:p>
            <a:pPr lvl="1"/>
            <a:r>
              <a:rPr lang="en-US" dirty="0"/>
              <a:t>👉 Since benefits exceed costs and align with strategy, the project is approved.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144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A84ED9-715C-04CD-B4F0-53503A296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Analysis -</a:t>
            </a:r>
            <a:r>
              <a:rPr lang="en-US" b="1" dirty="0"/>
              <a:t> </a:t>
            </a:r>
            <a:r>
              <a:rPr lang="en-US" dirty="0"/>
              <a:t>Feasibility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59FC46-349C-15C6-207E-110B492B74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Evaluates whether the project is </a:t>
            </a:r>
            <a:r>
              <a:rPr lang="en-US" b="1" dirty="0"/>
              <a:t>practically achievable</a:t>
            </a:r>
            <a:r>
              <a:rPr lang="en-US" dirty="0"/>
              <a:t>.</a:t>
            </a:r>
          </a:p>
          <a:p>
            <a:r>
              <a:rPr lang="en-US" b="1" dirty="0"/>
              <a:t>Types of Feasibility:</a:t>
            </a:r>
            <a:endParaRPr lang="en-US" dirty="0"/>
          </a:p>
          <a:p>
            <a:pPr lvl="1"/>
            <a:r>
              <a:rPr lang="en-US" dirty="0"/>
              <a:t>Technical feasibility</a:t>
            </a:r>
          </a:p>
          <a:p>
            <a:pPr lvl="1"/>
            <a:r>
              <a:rPr lang="en-US" dirty="0"/>
              <a:t>Financial feasibility</a:t>
            </a:r>
          </a:p>
          <a:p>
            <a:pPr lvl="1"/>
            <a:r>
              <a:rPr lang="en-US" dirty="0"/>
              <a:t>Operational feasibility</a:t>
            </a:r>
          </a:p>
          <a:p>
            <a:pPr lvl="1"/>
            <a:r>
              <a:rPr lang="en-US" dirty="0"/>
              <a:t>Legal feasibility</a:t>
            </a:r>
          </a:p>
          <a:p>
            <a:pPr lvl="1"/>
            <a:r>
              <a:rPr lang="en-US" dirty="0"/>
              <a:t>Schedule feasibility</a:t>
            </a:r>
          </a:p>
          <a:p>
            <a:r>
              <a:rPr lang="en-US" b="1" dirty="0"/>
              <a:t>Example:</a:t>
            </a:r>
            <a:br>
              <a:rPr lang="en-US" dirty="0"/>
            </a:br>
            <a:r>
              <a:rPr lang="en-US" dirty="0"/>
              <a:t>A hospital plans to implement an </a:t>
            </a:r>
            <a:r>
              <a:rPr lang="en-US" b="1" dirty="0"/>
              <a:t>AI-based diagnostic system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Technical: Do we have AI expertise? ✔</a:t>
            </a:r>
          </a:p>
          <a:p>
            <a:pPr lvl="1"/>
            <a:r>
              <a:rPr lang="en-US" dirty="0"/>
              <a:t>Financial: Budget available? ✔</a:t>
            </a:r>
          </a:p>
          <a:p>
            <a:pPr lvl="1"/>
            <a:r>
              <a:rPr lang="en-US" dirty="0"/>
              <a:t>Legal: Complies with medical laws? ✔</a:t>
            </a:r>
          </a:p>
          <a:p>
            <a:pPr lvl="1"/>
            <a:r>
              <a:rPr lang="en-US" dirty="0"/>
              <a:t>Schedule: Can it be done in 12 months? ❌</a:t>
            </a:r>
          </a:p>
          <a:p>
            <a:pPr lvl="1"/>
            <a:r>
              <a:rPr lang="en-US" dirty="0"/>
              <a:t>👉 Schedule risk identified and addressed before approval.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03113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D4F997-1C2A-98BD-F068-778278185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Analysis -</a:t>
            </a:r>
            <a:r>
              <a:rPr lang="en-US" b="1" dirty="0"/>
              <a:t> </a:t>
            </a:r>
            <a:r>
              <a:rPr lang="en-US" dirty="0"/>
              <a:t>Stakeholder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D09460-C49C-69F2-24DC-E6F39417F5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Identifies stakeholders and analyzes:</a:t>
            </a:r>
          </a:p>
          <a:p>
            <a:pPr lvl="1"/>
            <a:r>
              <a:rPr lang="en-US" dirty="0"/>
              <a:t>Power</a:t>
            </a:r>
          </a:p>
          <a:p>
            <a:pPr lvl="1"/>
            <a:r>
              <a:rPr lang="en-US" dirty="0"/>
              <a:t>Interest</a:t>
            </a:r>
          </a:p>
          <a:p>
            <a:pPr lvl="1"/>
            <a:r>
              <a:rPr lang="en-US" dirty="0"/>
              <a:t>Influence</a:t>
            </a:r>
          </a:p>
          <a:p>
            <a:pPr lvl="1"/>
            <a:r>
              <a:rPr lang="en-US" dirty="0"/>
              <a:t>Expectations</a:t>
            </a:r>
          </a:p>
          <a:p>
            <a:r>
              <a:rPr lang="en-US" b="1" dirty="0"/>
              <a:t>Tools:</a:t>
            </a:r>
            <a:endParaRPr lang="en-US" dirty="0"/>
          </a:p>
          <a:p>
            <a:pPr lvl="1"/>
            <a:r>
              <a:rPr lang="en-US" dirty="0"/>
              <a:t>Power–Interest Grid</a:t>
            </a:r>
          </a:p>
          <a:p>
            <a:pPr lvl="1"/>
            <a:r>
              <a:rPr lang="en-US" dirty="0"/>
              <a:t>Stakeholder Register</a:t>
            </a:r>
          </a:p>
          <a:p>
            <a:r>
              <a:rPr lang="en-US" b="1" dirty="0"/>
              <a:t>Example:</a:t>
            </a:r>
            <a:br>
              <a:rPr lang="en-US" dirty="0"/>
            </a:br>
            <a:r>
              <a:rPr lang="en-US" dirty="0"/>
              <a:t>For a highway construction project:</a:t>
            </a:r>
          </a:p>
          <a:p>
            <a:pPr lvl="1"/>
            <a:r>
              <a:rPr lang="en-US" dirty="0"/>
              <a:t>Government: High power, high interest</a:t>
            </a:r>
          </a:p>
          <a:p>
            <a:pPr lvl="1"/>
            <a:r>
              <a:rPr lang="en-US" dirty="0"/>
              <a:t>Local residents: Low power, high interest</a:t>
            </a:r>
          </a:p>
          <a:p>
            <a:pPr lvl="1"/>
            <a:r>
              <a:rPr lang="en-US" dirty="0"/>
              <a:t>Contractors: High power, medium interest</a:t>
            </a:r>
          </a:p>
          <a:p>
            <a:pPr lvl="1"/>
            <a:r>
              <a:rPr lang="en-US" dirty="0"/>
              <a:t>👉 Communication strategies are planned accordingly.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8965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BBE78A-224E-5958-8B8D-B8AFB4F4E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– Power-Interest Grid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4E2B9B-6EB3-2F2F-03B0-1B307DE50D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Software Project Scenario (Assumption)</a:t>
            </a:r>
          </a:p>
          <a:p>
            <a:r>
              <a:rPr lang="en-US" b="1" dirty="0"/>
              <a:t>Project Title:</a:t>
            </a:r>
            <a:r>
              <a:rPr lang="en-US" dirty="0"/>
              <a:t> Online Learning Management System (LMS) Development</a:t>
            </a:r>
            <a:br>
              <a:rPr lang="en-US" dirty="0"/>
            </a:br>
            <a:r>
              <a:rPr lang="en-US" b="1" dirty="0"/>
              <a:t>Organization:</a:t>
            </a:r>
            <a:r>
              <a:rPr lang="en-US" dirty="0"/>
              <a:t> ABC Technologies</a:t>
            </a:r>
            <a:br>
              <a:rPr lang="en-US" dirty="0"/>
            </a:br>
            <a:r>
              <a:rPr lang="en-US" b="1" dirty="0"/>
              <a:t>Project Objective:</a:t>
            </a:r>
            <a:r>
              <a:rPr lang="en-US" dirty="0"/>
              <a:t> Develop and deploy a web-based LMS for a university within 8 months.</a:t>
            </a:r>
          </a:p>
          <a:p>
            <a:pPr marL="0" indent="0">
              <a:buNone/>
            </a:pPr>
            <a:r>
              <a:rPr lang="en-US" b="1" dirty="0"/>
              <a:t>Power–Interest Grid</a:t>
            </a:r>
          </a:p>
          <a:p>
            <a:r>
              <a:rPr lang="en-US" dirty="0"/>
              <a:t>The </a:t>
            </a:r>
            <a:r>
              <a:rPr lang="en-US" b="1" dirty="0"/>
              <a:t>Power–Interest Grid</a:t>
            </a:r>
            <a:r>
              <a:rPr lang="en-US" dirty="0"/>
              <a:t> classifies stakeholders based on:</a:t>
            </a:r>
          </a:p>
          <a:p>
            <a:pPr lvl="1"/>
            <a:r>
              <a:rPr lang="en-US" b="1" dirty="0"/>
              <a:t>Power:</a:t>
            </a:r>
            <a:r>
              <a:rPr lang="en-US" dirty="0"/>
              <a:t> Ability to influence project decisions</a:t>
            </a:r>
          </a:p>
          <a:p>
            <a:pPr lvl="1"/>
            <a:r>
              <a:rPr lang="en-US" b="1" dirty="0"/>
              <a:t>Interest:</a:t>
            </a:r>
            <a:r>
              <a:rPr lang="en-US" dirty="0"/>
              <a:t> Level of concern or involvement in project outcomes</a:t>
            </a:r>
          </a:p>
          <a:p>
            <a:r>
              <a:rPr lang="en-US" dirty="0"/>
              <a:t>PMBOK defines four quadrants:</a:t>
            </a:r>
          </a:p>
          <a:p>
            <a:pPr lvl="1"/>
            <a:r>
              <a:rPr lang="en-US" dirty="0"/>
              <a:t>Manage Closely</a:t>
            </a:r>
          </a:p>
          <a:p>
            <a:pPr lvl="1"/>
            <a:r>
              <a:rPr lang="en-US" dirty="0"/>
              <a:t>Keep Satisfied</a:t>
            </a:r>
          </a:p>
          <a:p>
            <a:pPr lvl="1"/>
            <a:r>
              <a:rPr lang="en-US" dirty="0"/>
              <a:t>Keep Informed</a:t>
            </a:r>
          </a:p>
          <a:p>
            <a:pPr lvl="1"/>
            <a:r>
              <a:rPr lang="en-US" dirty="0"/>
              <a:t>Monitor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70507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F4FD81-04F2-14FE-49B0-8D7B00E22B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2C6D90-C9A5-6EA6-A515-7F1D2DCAA0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9A0A45-47F7-06E2-1AE3-106D3F32EA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352" y="1617916"/>
            <a:ext cx="6400800" cy="20859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AB563C7-AC46-1F07-576B-FD473E6730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0579" y="3703891"/>
            <a:ext cx="7029450" cy="2352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16525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39BA13-EC50-727C-B245-17EA32B410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– Stakeholder register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A6DF16-2814-1D6F-CD17-6F5B1AFE11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Identifies all project stakeholders and captures relevant information regarding their interests, influence, involvement, and impact on the project.</a:t>
            </a:r>
          </a:p>
          <a:p>
            <a:r>
              <a:rPr lang="en-US" dirty="0"/>
              <a:t>The stakeholder register is needed to:</a:t>
            </a:r>
          </a:p>
          <a:p>
            <a:r>
              <a:rPr lang="en-US" b="1" dirty="0"/>
              <a:t>Identify all stakeholders early</a:t>
            </a:r>
            <a:endParaRPr lang="en-US" dirty="0"/>
          </a:p>
          <a:p>
            <a:pPr lvl="1"/>
            <a:r>
              <a:rPr lang="en-US" dirty="0"/>
              <a:t>Prevents missing critical stakeholders</a:t>
            </a:r>
          </a:p>
          <a:p>
            <a:r>
              <a:rPr lang="en-US" b="1" dirty="0"/>
              <a:t>Understand stakeholder expectations</a:t>
            </a:r>
            <a:endParaRPr lang="en-US" dirty="0"/>
          </a:p>
          <a:p>
            <a:pPr lvl="1"/>
            <a:r>
              <a:rPr lang="en-US" dirty="0"/>
              <a:t>Helps avoid conflicts and misunderstandings</a:t>
            </a:r>
          </a:p>
          <a:p>
            <a:r>
              <a:rPr lang="en-US" b="1" dirty="0"/>
              <a:t>Assess influence and impact</a:t>
            </a:r>
            <a:endParaRPr lang="en-US" dirty="0"/>
          </a:p>
          <a:p>
            <a:pPr lvl="1"/>
            <a:r>
              <a:rPr lang="en-US" dirty="0"/>
              <a:t>Enables prioritization of stakeholders</a:t>
            </a:r>
          </a:p>
          <a:p>
            <a:r>
              <a:rPr lang="en-US" b="1" dirty="0"/>
              <a:t>Plan communication and engagement</a:t>
            </a:r>
            <a:endParaRPr lang="en-US" dirty="0"/>
          </a:p>
          <a:p>
            <a:pPr lvl="1"/>
            <a:r>
              <a:rPr lang="en-US" dirty="0"/>
              <a:t>Supports development of the Stakeholder Engagement Plan</a:t>
            </a:r>
          </a:p>
          <a:p>
            <a:r>
              <a:rPr lang="en-US" b="1" dirty="0"/>
              <a:t>Support decision-making</a:t>
            </a:r>
            <a:endParaRPr lang="en-US" dirty="0"/>
          </a:p>
          <a:p>
            <a:pPr lvl="1"/>
            <a:r>
              <a:rPr lang="en-US" dirty="0"/>
              <a:t>Helps the project manager manage approvals, resistance, and support</a:t>
            </a:r>
          </a:p>
          <a:p>
            <a:r>
              <a:rPr lang="en-US" b="1" dirty="0"/>
              <a:t>Reduce project risks</a:t>
            </a:r>
            <a:endParaRPr lang="en-US" dirty="0"/>
          </a:p>
          <a:p>
            <a:pPr lvl="1"/>
            <a:r>
              <a:rPr lang="en-US" dirty="0"/>
              <a:t>Unmanaged stakeholders are a major cause of project failure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76470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0984B4-D33B-825E-DC61-CDADF3C513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597"/>
            <a:ext cx="9392421" cy="1330841"/>
          </a:xfrm>
        </p:spPr>
        <p:txBody>
          <a:bodyPr>
            <a:normAutofit/>
          </a:bodyPr>
          <a:lstStyle/>
          <a:p>
            <a:r>
              <a:rPr lang="en-US" dirty="0"/>
              <a:t>Example – Stakeholder Register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702A40-143D-C203-61D7-CF38A96D18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034" y="2198362"/>
            <a:ext cx="4958966" cy="3917773"/>
          </a:xfrm>
        </p:spPr>
        <p:txBody>
          <a:bodyPr>
            <a:normAutofit/>
          </a:bodyPr>
          <a:lstStyle/>
          <a:p>
            <a:r>
              <a:rPr lang="en-US" sz="1400"/>
              <a:t>Components of a Stakeholder Register</a:t>
            </a:r>
          </a:p>
          <a:p>
            <a:r>
              <a:rPr lang="en-US" sz="1400"/>
              <a:t>Stakeholder Identification Information</a:t>
            </a:r>
          </a:p>
          <a:p>
            <a:r>
              <a:rPr lang="en-US" sz="1400"/>
              <a:t>Stakeholder Assessment Information</a:t>
            </a:r>
          </a:p>
          <a:p>
            <a:r>
              <a:rPr lang="en-US" sz="1400" b="1"/>
              <a:t>Stakeholder Assessment Information</a:t>
            </a:r>
          </a:p>
          <a:p>
            <a:pPr lvl="1"/>
            <a:r>
              <a:rPr lang="en-US" sz="1400"/>
              <a:t>Power (High / Medium / Low)</a:t>
            </a:r>
          </a:p>
          <a:p>
            <a:pPr lvl="1"/>
            <a:r>
              <a:rPr lang="en-US" sz="1400"/>
              <a:t>Interest (High / Medium / Low)</a:t>
            </a:r>
          </a:p>
          <a:p>
            <a:pPr lvl="1"/>
            <a:r>
              <a:rPr lang="en-US" sz="1400"/>
              <a:t>Influence</a:t>
            </a:r>
          </a:p>
          <a:p>
            <a:pPr lvl="1"/>
            <a:r>
              <a:rPr lang="en-US" sz="1400"/>
              <a:t>Impact on project success</a:t>
            </a:r>
          </a:p>
          <a:p>
            <a:pPr lvl="1"/>
            <a:r>
              <a:rPr lang="en-US" sz="1400"/>
              <a:t>Attitude (Supportive, Neutral, Resistant)</a:t>
            </a:r>
          </a:p>
          <a:p>
            <a:r>
              <a:rPr lang="en-US" sz="1400" b="1"/>
              <a:t>Stakeholder Classification</a:t>
            </a:r>
          </a:p>
          <a:p>
            <a:pPr lvl="1"/>
            <a:r>
              <a:rPr lang="en-US" sz="1400"/>
              <a:t>Internal / External</a:t>
            </a:r>
          </a:p>
          <a:p>
            <a:pPr lvl="1"/>
            <a:r>
              <a:rPr lang="en-US" sz="1400"/>
              <a:t>Supporter / Neutral / Opponent</a:t>
            </a:r>
          </a:p>
          <a:p>
            <a:pPr lvl="1"/>
            <a:r>
              <a:rPr lang="en-US" sz="1400"/>
              <a:t>Power–Interest category</a:t>
            </a:r>
          </a:p>
          <a:p>
            <a:pPr lvl="1"/>
            <a:r>
              <a:rPr lang="en-US" sz="1400"/>
              <a:t>Engagement strategy</a:t>
            </a:r>
          </a:p>
          <a:p>
            <a:endParaRPr lang="en-US" sz="140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3FB13CB-AB87-D6F4-C165-4517D1A955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9367" y="3075243"/>
            <a:ext cx="4788505" cy="1975257"/>
          </a:xfrm>
          <a:prstGeom prst="rect">
            <a:avLst/>
          </a:prstGeom>
        </p:spPr>
      </p:pic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4388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B687E-E968-07C7-734B-A73AC8F763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Analysis -</a:t>
            </a:r>
            <a:r>
              <a:rPr lang="en-US" b="1" dirty="0"/>
              <a:t> </a:t>
            </a:r>
            <a:r>
              <a:rPr lang="en-US" dirty="0"/>
              <a:t>Risk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777228-5848-83D5-6522-D9DEDD305F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Identifies and analyzes uncertainties that may affect project objectives.</a:t>
            </a:r>
          </a:p>
          <a:p>
            <a:r>
              <a:rPr lang="en-US" b="1" dirty="0"/>
              <a:t>Types:</a:t>
            </a:r>
            <a:endParaRPr lang="en-US" dirty="0"/>
          </a:p>
          <a:p>
            <a:pPr lvl="1"/>
            <a:r>
              <a:rPr lang="en-US" dirty="0"/>
              <a:t>Qualitative Risk Analysis (probability &amp; impact)</a:t>
            </a:r>
          </a:p>
          <a:p>
            <a:pPr lvl="1"/>
            <a:r>
              <a:rPr lang="en-US" dirty="0"/>
              <a:t>Quantitative Risk Analysis (numerical impact)</a:t>
            </a:r>
          </a:p>
          <a:p>
            <a:r>
              <a:rPr lang="en-US" b="1" dirty="0"/>
              <a:t>Example:</a:t>
            </a:r>
            <a:br>
              <a:rPr lang="en-US" dirty="0"/>
            </a:br>
            <a:r>
              <a:rPr lang="en-US" dirty="0"/>
              <a:t>In a software project:</a:t>
            </a:r>
          </a:p>
          <a:p>
            <a:pPr lvl="1"/>
            <a:r>
              <a:rPr lang="en-US" dirty="0"/>
              <a:t>Risk: Key developer may resign</a:t>
            </a:r>
          </a:p>
          <a:p>
            <a:pPr lvl="1"/>
            <a:r>
              <a:rPr lang="en-US" dirty="0"/>
              <a:t>Probability: Medium</a:t>
            </a:r>
          </a:p>
          <a:p>
            <a:pPr lvl="1"/>
            <a:r>
              <a:rPr lang="en-US" dirty="0"/>
              <a:t>Impact: High</a:t>
            </a:r>
          </a:p>
          <a:p>
            <a:pPr lvl="1"/>
            <a:r>
              <a:rPr lang="en-US" dirty="0"/>
              <a:t>👉 Mitigation: Cross-training team members.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53281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5A68FC4-687B-C3FB-12C0-49835269B4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425" b="-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85925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5BF4DD-DA4A-D0DA-F0D4-484241748C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Risk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78E818-68BD-DAD1-316C-6EB093DD32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Risk is an uncertain event or condition that, if it occurs, has a positive or negative effect on one or more project objectives such as scope, schedule, cost, quality, or performance.</a:t>
            </a:r>
          </a:p>
          <a:p>
            <a:r>
              <a:rPr lang="en-US" dirty="0"/>
              <a:t>Key points:</a:t>
            </a:r>
          </a:p>
          <a:p>
            <a:pPr lvl="1"/>
            <a:r>
              <a:rPr lang="en-US" dirty="0"/>
              <a:t>Risk is about </a:t>
            </a:r>
            <a:r>
              <a:rPr lang="en-US" b="1" dirty="0"/>
              <a:t>uncertainty</a:t>
            </a:r>
            <a:endParaRPr lang="en-US" dirty="0"/>
          </a:p>
          <a:p>
            <a:pPr lvl="1"/>
            <a:r>
              <a:rPr lang="en-US" dirty="0"/>
              <a:t>It may have </a:t>
            </a:r>
            <a:r>
              <a:rPr lang="en-US" b="1" dirty="0"/>
              <a:t>negative effects (threats)</a:t>
            </a:r>
            <a:r>
              <a:rPr lang="en-US" dirty="0"/>
              <a:t> or </a:t>
            </a:r>
            <a:r>
              <a:rPr lang="en-US" b="1" dirty="0"/>
              <a:t>positive effects (opportunities)</a:t>
            </a:r>
            <a:endParaRPr lang="en-US" dirty="0"/>
          </a:p>
          <a:p>
            <a:pPr lvl="1"/>
            <a:r>
              <a:rPr lang="en-US" dirty="0"/>
              <a:t>Risks exist in </a:t>
            </a:r>
            <a:r>
              <a:rPr lang="en-US" b="1" dirty="0"/>
              <a:t>all projects</a:t>
            </a:r>
            <a:r>
              <a:rPr lang="en-US" dirty="0"/>
              <a:t>, especially IT projects</a:t>
            </a:r>
          </a:p>
          <a:p>
            <a:pPr marL="0" indent="0">
              <a:buNone/>
            </a:pPr>
            <a:r>
              <a:rPr lang="en-US" b="1" dirty="0"/>
              <a:t>Characteristics of Risk</a:t>
            </a:r>
          </a:p>
          <a:p>
            <a:pPr lvl="1"/>
            <a:r>
              <a:rPr lang="en-US" dirty="0"/>
              <a:t>Future-oriented</a:t>
            </a:r>
          </a:p>
          <a:p>
            <a:pPr lvl="1"/>
            <a:r>
              <a:rPr lang="en-US" dirty="0"/>
              <a:t>Uncertain in nature</a:t>
            </a:r>
          </a:p>
          <a:p>
            <a:pPr lvl="1"/>
            <a:r>
              <a:rPr lang="en-US" dirty="0"/>
              <a:t>Has a cause and an effect</a:t>
            </a:r>
          </a:p>
          <a:p>
            <a:pPr lvl="1"/>
            <a:r>
              <a:rPr lang="en-US" dirty="0"/>
              <a:t>Can impact cost, time, quality, scope, or reputation</a:t>
            </a:r>
          </a:p>
          <a:p>
            <a:pPr lvl="1"/>
            <a:r>
              <a:rPr lang="en-US" dirty="0"/>
              <a:t>Can be managed but not completely eliminated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90268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D438151-8CD1-AE13-C4DE-78A0A0F1C5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1760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33294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49276C-609F-D57A-0520-83C0068400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Risk </a:t>
            </a:r>
            <a:r>
              <a:rPr lang="en-US" dirty="0" err="1"/>
              <a:t>Managment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7DAC0-5ED6-A6A8-2C89-45E02217DD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Types of Risk</a:t>
            </a:r>
          </a:p>
          <a:p>
            <a:pPr marL="0" indent="0">
              <a:buNone/>
            </a:pPr>
            <a:r>
              <a:rPr lang="en-US" b="1" dirty="0"/>
              <a:t>Based on Impact</a:t>
            </a:r>
          </a:p>
          <a:p>
            <a:r>
              <a:rPr lang="en-US" b="1" dirty="0"/>
              <a:t>Negative Risk (Threat)</a:t>
            </a:r>
          </a:p>
          <a:p>
            <a:pPr lvl="1"/>
            <a:r>
              <a:rPr lang="en-US" dirty="0"/>
              <a:t>Events that can harm the project.</a:t>
            </a:r>
          </a:p>
          <a:p>
            <a:pPr lvl="1"/>
            <a:r>
              <a:rPr lang="en-US" b="1" dirty="0"/>
              <a:t>Example (IT Company):</a:t>
            </a:r>
            <a:endParaRPr lang="en-US" dirty="0"/>
          </a:p>
          <a:p>
            <a:pPr lvl="1"/>
            <a:r>
              <a:rPr lang="en-US" dirty="0"/>
              <a:t>Cybersecurity breach delaying software release</a:t>
            </a:r>
          </a:p>
          <a:p>
            <a:pPr lvl="1"/>
            <a:r>
              <a:rPr lang="en-US" dirty="0"/>
              <a:t>Key developer resigns during critical phase</a:t>
            </a:r>
          </a:p>
          <a:p>
            <a:r>
              <a:rPr lang="en-US" b="1" dirty="0"/>
              <a:t>Positive Risk (Opportunity)</a:t>
            </a:r>
          </a:p>
          <a:p>
            <a:pPr lvl="1"/>
            <a:r>
              <a:rPr lang="en-US" dirty="0"/>
              <a:t>Events that can benefit the project.</a:t>
            </a:r>
          </a:p>
          <a:p>
            <a:pPr lvl="1"/>
            <a:r>
              <a:rPr lang="en-US" b="1" dirty="0"/>
              <a:t>Example:</a:t>
            </a:r>
            <a:endParaRPr lang="en-US" dirty="0"/>
          </a:p>
          <a:p>
            <a:pPr lvl="1"/>
            <a:r>
              <a:rPr lang="en-US" dirty="0"/>
              <a:t>Use of a new automation tool reduces development time</a:t>
            </a:r>
          </a:p>
          <a:p>
            <a:pPr lvl="1"/>
            <a:r>
              <a:rPr lang="en-US" dirty="0"/>
              <a:t>Client requests additional features with extra payment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97579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5EDE35-4A49-9751-AAB5-C05F3A39FE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Risk in IT Projects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731E1E-3F97-98DA-118F-24ABE92457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Technical Risk</a:t>
            </a:r>
          </a:p>
          <a:p>
            <a:pPr lvl="1"/>
            <a:r>
              <a:rPr lang="en-US" dirty="0"/>
              <a:t>Risks related to technology, tools, or systems.</a:t>
            </a:r>
          </a:p>
          <a:p>
            <a:r>
              <a:rPr lang="en-US" b="1" dirty="0"/>
              <a:t>Examples:</a:t>
            </a:r>
            <a:endParaRPr lang="en-US" dirty="0"/>
          </a:p>
          <a:p>
            <a:pPr lvl="1"/>
            <a:r>
              <a:rPr lang="en-US" dirty="0"/>
              <a:t>New programming framework is unstable</a:t>
            </a:r>
          </a:p>
          <a:p>
            <a:pPr lvl="1"/>
            <a:r>
              <a:rPr lang="en-US" dirty="0"/>
              <a:t>Integration failure between legacy system and new software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Project Management Risk</a:t>
            </a:r>
          </a:p>
          <a:p>
            <a:pPr lvl="1"/>
            <a:r>
              <a:rPr lang="en-US" dirty="0"/>
              <a:t>Risks related to planning, scheduling, and control.</a:t>
            </a:r>
          </a:p>
          <a:p>
            <a:r>
              <a:rPr lang="en-US" b="1" dirty="0"/>
              <a:t>Examples:</a:t>
            </a:r>
            <a:endParaRPr lang="en-US" dirty="0"/>
          </a:p>
          <a:p>
            <a:pPr lvl="1"/>
            <a:r>
              <a:rPr lang="en-US" dirty="0"/>
              <a:t>Poor effort estimation</a:t>
            </a:r>
          </a:p>
          <a:p>
            <a:pPr lvl="1"/>
            <a:r>
              <a:rPr lang="en-US" dirty="0"/>
              <a:t>Inadequate communication among teams</a:t>
            </a:r>
          </a:p>
          <a:p>
            <a:pPr lvl="1"/>
            <a:r>
              <a:rPr lang="en-US" dirty="0"/>
              <a:t>Unrealistic deadlines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61586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313F5-9064-AC79-ACB0-963B11F346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Risks in IT Projects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2BBFA2-6EF9-65FF-689E-B16DA43992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Business / Organizational Risk</a:t>
            </a:r>
          </a:p>
          <a:p>
            <a:pPr lvl="1"/>
            <a:r>
              <a:rPr lang="en-US" dirty="0"/>
              <a:t>Risks related to organizational environment.</a:t>
            </a:r>
          </a:p>
          <a:p>
            <a:r>
              <a:rPr lang="en-US" b="1" dirty="0"/>
              <a:t>Examples:</a:t>
            </a:r>
            <a:endParaRPr lang="en-US" dirty="0"/>
          </a:p>
          <a:p>
            <a:pPr lvl="1"/>
            <a:r>
              <a:rPr lang="en-US" dirty="0"/>
              <a:t>Change in company strategy</a:t>
            </a:r>
          </a:p>
          <a:p>
            <a:pPr lvl="1"/>
            <a:r>
              <a:rPr lang="en-US" dirty="0"/>
              <a:t>Budget cuts from management</a:t>
            </a:r>
          </a:p>
          <a:p>
            <a:pPr lvl="1"/>
            <a:r>
              <a:rPr lang="en-US" dirty="0"/>
              <a:t>Client organization restructuring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External Risk</a:t>
            </a:r>
          </a:p>
          <a:p>
            <a:pPr lvl="1"/>
            <a:r>
              <a:rPr lang="en-US" dirty="0"/>
              <a:t>Risks outside the organization’s control.</a:t>
            </a:r>
          </a:p>
          <a:p>
            <a:r>
              <a:rPr lang="en-US" b="1" dirty="0"/>
              <a:t>Examples:</a:t>
            </a:r>
            <a:endParaRPr lang="en-US" dirty="0"/>
          </a:p>
          <a:p>
            <a:pPr lvl="1"/>
            <a:r>
              <a:rPr lang="en-US" dirty="0"/>
              <a:t>Changes in government IT regulations</a:t>
            </a:r>
          </a:p>
          <a:p>
            <a:pPr lvl="1"/>
            <a:r>
              <a:rPr lang="en-US" dirty="0"/>
              <a:t>New data privacy laws (GDPR)</a:t>
            </a:r>
          </a:p>
          <a:p>
            <a:pPr lvl="1"/>
            <a:r>
              <a:rPr lang="en-US" dirty="0"/>
              <a:t>Vendor failure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22793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9641C-1D74-A228-5B5F-E620826971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Risks in IT Projects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D1392C-04F9-1F46-D581-850C679A6B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Resource Risk</a:t>
            </a:r>
          </a:p>
          <a:p>
            <a:pPr lvl="1"/>
            <a:r>
              <a:rPr lang="en-US" dirty="0"/>
              <a:t>Risks related to human or material resources.</a:t>
            </a:r>
          </a:p>
          <a:p>
            <a:r>
              <a:rPr lang="en-US" b="1" dirty="0"/>
              <a:t>Examples:</a:t>
            </a:r>
            <a:endParaRPr lang="en-US" dirty="0"/>
          </a:p>
          <a:p>
            <a:pPr lvl="1"/>
            <a:r>
              <a:rPr lang="en-US" dirty="0"/>
              <a:t>Skilled developers not available</a:t>
            </a:r>
          </a:p>
          <a:p>
            <a:pPr lvl="1"/>
            <a:r>
              <a:rPr lang="en-US" dirty="0"/>
              <a:t>High employee attrition rate</a:t>
            </a:r>
          </a:p>
          <a:p>
            <a:pPr lvl="1"/>
            <a:r>
              <a:rPr lang="en-US" dirty="0"/>
              <a:t>Dependency on a single expert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Security Risk</a:t>
            </a:r>
          </a:p>
          <a:p>
            <a:pPr lvl="1"/>
            <a:r>
              <a:rPr lang="en-US" dirty="0"/>
              <a:t>Very critical in IT projects.</a:t>
            </a:r>
          </a:p>
          <a:p>
            <a:r>
              <a:rPr lang="en-US" b="1" dirty="0"/>
              <a:t>Examples:</a:t>
            </a:r>
            <a:endParaRPr lang="en-US" dirty="0"/>
          </a:p>
          <a:p>
            <a:pPr lvl="1"/>
            <a:r>
              <a:rPr lang="en-US" dirty="0"/>
              <a:t>Data theft</a:t>
            </a:r>
          </a:p>
          <a:p>
            <a:pPr lvl="1"/>
            <a:r>
              <a:rPr lang="en-US" dirty="0"/>
              <a:t>Malware attacks</a:t>
            </a:r>
          </a:p>
          <a:p>
            <a:pPr lvl="1"/>
            <a:r>
              <a:rPr lang="en-US" dirty="0"/>
              <a:t>Unauthorized access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97941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6156F-CD1C-E2F1-95DD-1DE7CA9F5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Risk Needs to Be Managed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9A511E-C9C1-065D-48CB-FA94ED953C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Risk management is essential because:</a:t>
            </a:r>
          </a:p>
          <a:p>
            <a:pPr lvl="1"/>
            <a:r>
              <a:rPr lang="en-US" b="1" dirty="0"/>
              <a:t>Prevents project failure</a:t>
            </a:r>
            <a:endParaRPr lang="en-US" dirty="0"/>
          </a:p>
          <a:p>
            <a:pPr lvl="1"/>
            <a:r>
              <a:rPr lang="en-US" b="1" dirty="0"/>
              <a:t>Reduces cost overruns</a:t>
            </a:r>
            <a:endParaRPr lang="en-US" dirty="0"/>
          </a:p>
          <a:p>
            <a:pPr lvl="1"/>
            <a:r>
              <a:rPr lang="en-US" b="1" dirty="0"/>
              <a:t>Avoids schedule delays</a:t>
            </a:r>
            <a:endParaRPr lang="en-US" dirty="0"/>
          </a:p>
          <a:p>
            <a:pPr lvl="1"/>
            <a:r>
              <a:rPr lang="en-US" b="1" dirty="0"/>
              <a:t>Improves decision-making</a:t>
            </a:r>
            <a:endParaRPr lang="en-US" dirty="0"/>
          </a:p>
          <a:p>
            <a:pPr lvl="1"/>
            <a:r>
              <a:rPr lang="en-US" b="1" dirty="0"/>
              <a:t>Increases chances of project success</a:t>
            </a:r>
            <a:endParaRPr lang="en-US" dirty="0"/>
          </a:p>
          <a:p>
            <a:pPr lvl="1"/>
            <a:r>
              <a:rPr lang="en-US" b="1" dirty="0"/>
              <a:t>Improves stakeholder confidence</a:t>
            </a:r>
            <a:endParaRPr lang="en-US" dirty="0"/>
          </a:p>
          <a:p>
            <a:pPr lvl="1"/>
            <a:r>
              <a:rPr lang="en-US" b="1" dirty="0"/>
              <a:t>Helps identify opportunities</a:t>
            </a:r>
            <a:endParaRPr lang="en-US" dirty="0"/>
          </a:p>
          <a:p>
            <a:r>
              <a:rPr lang="en-US" b="1" dirty="0"/>
              <a:t>Example:</a:t>
            </a:r>
            <a:br>
              <a:rPr lang="en-US" dirty="0"/>
            </a:br>
            <a:r>
              <a:rPr lang="en-US" dirty="0"/>
              <a:t>	Early identification of performance risk in a cloud application helps allocate better infrastructure, avoiding customer complaints later.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20009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57D6D4-DE04-4857-48BB-890265E1D3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Risk Management (Risk Response Strategies)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AD8BDF-136D-6403-E4A8-77D4E4CC45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Strategies for Negative Risks (Threats)</a:t>
            </a:r>
            <a:endParaRPr lang="en-US" dirty="0"/>
          </a:p>
          <a:p>
            <a:r>
              <a:rPr lang="en-US" b="1" dirty="0"/>
              <a:t>Risk Avoidance</a:t>
            </a:r>
          </a:p>
          <a:p>
            <a:pPr lvl="1"/>
            <a:r>
              <a:rPr lang="en-US" dirty="0"/>
              <a:t>Eliminating the risk completely.</a:t>
            </a:r>
          </a:p>
          <a:p>
            <a:r>
              <a:rPr lang="en-US" b="1" dirty="0"/>
              <a:t>IT Example:</a:t>
            </a:r>
            <a:endParaRPr lang="en-US" dirty="0"/>
          </a:p>
          <a:p>
            <a:pPr lvl="1"/>
            <a:r>
              <a:rPr lang="en-US" dirty="0"/>
              <a:t>Avoid using an untested technology</a:t>
            </a:r>
          </a:p>
          <a:p>
            <a:pPr lvl="1"/>
            <a:r>
              <a:rPr lang="en-US" dirty="0"/>
              <a:t>Cancel a high-risk feature</a:t>
            </a:r>
          </a:p>
          <a:p>
            <a:r>
              <a:rPr lang="en-US" b="1" dirty="0"/>
              <a:t>Risk Mitigation</a:t>
            </a:r>
          </a:p>
          <a:p>
            <a:pPr lvl="1"/>
            <a:r>
              <a:rPr lang="en-US" dirty="0"/>
              <a:t>Reducing the probability or impact of the risk.</a:t>
            </a:r>
          </a:p>
          <a:p>
            <a:r>
              <a:rPr lang="en-US" b="1" dirty="0"/>
              <a:t>IT Example:</a:t>
            </a:r>
            <a:endParaRPr lang="en-US" dirty="0"/>
          </a:p>
          <a:p>
            <a:pPr lvl="1"/>
            <a:r>
              <a:rPr lang="en-US" dirty="0"/>
              <a:t>Conduct code reviews to reduce defect risk</a:t>
            </a:r>
          </a:p>
          <a:p>
            <a:pPr lvl="1"/>
            <a:r>
              <a:rPr lang="en-US" dirty="0"/>
              <a:t>Provide training to reduce skill gap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0836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C819E2-CF6E-B6D9-949E-5BEF6160F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Risk Management (Risk Response Strategies)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108F1E-D674-AD53-5198-B7B7EC9109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Risk Transfer</a:t>
            </a:r>
          </a:p>
          <a:p>
            <a:pPr lvl="1"/>
            <a:r>
              <a:rPr lang="en-US" dirty="0"/>
              <a:t>Shifting the risk to a third party.</a:t>
            </a:r>
          </a:p>
          <a:p>
            <a:r>
              <a:rPr lang="en-US" b="1" dirty="0"/>
              <a:t>IT Example:</a:t>
            </a:r>
            <a:endParaRPr lang="en-US" dirty="0"/>
          </a:p>
          <a:p>
            <a:pPr lvl="1"/>
            <a:r>
              <a:rPr lang="en-US" dirty="0"/>
              <a:t>Outsourcing security testing</a:t>
            </a:r>
          </a:p>
          <a:p>
            <a:pPr lvl="1"/>
            <a:r>
              <a:rPr lang="en-US" dirty="0"/>
              <a:t>Purchasing cyber insurance</a:t>
            </a:r>
          </a:p>
          <a:p>
            <a:pPr lvl="1"/>
            <a:r>
              <a:rPr lang="en-US" dirty="0"/>
              <a:t>Using SLA with cloud vendor</a:t>
            </a:r>
          </a:p>
          <a:p>
            <a:r>
              <a:rPr lang="en-US" b="1" dirty="0"/>
              <a:t>Risk Acceptance</a:t>
            </a:r>
          </a:p>
          <a:p>
            <a:pPr lvl="1"/>
            <a:r>
              <a:rPr lang="en-US" dirty="0"/>
              <a:t>Accepting the risk and taking no immediate action.</a:t>
            </a:r>
          </a:p>
          <a:p>
            <a:r>
              <a:rPr lang="en-US" b="1" dirty="0"/>
              <a:t>IT Example:</a:t>
            </a:r>
            <a:endParaRPr lang="en-US" dirty="0"/>
          </a:p>
          <a:p>
            <a:pPr lvl="1"/>
            <a:r>
              <a:rPr lang="en-US" dirty="0"/>
              <a:t>Accepting minor UI bugs and fixing them later</a:t>
            </a:r>
          </a:p>
          <a:p>
            <a:pPr lvl="1"/>
            <a:r>
              <a:rPr lang="en-US" dirty="0"/>
              <a:t>Keeping contingency reserve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57074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48EEE3-B3A8-5351-66E7-F475CB0D1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Strategies for Positive Risks (Opportunities)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878062-507D-3870-EECF-1D8A79EDD6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Exploit</a:t>
            </a:r>
          </a:p>
          <a:p>
            <a:r>
              <a:rPr lang="en-US" dirty="0"/>
              <a:t>Enhance</a:t>
            </a:r>
          </a:p>
          <a:p>
            <a:r>
              <a:rPr lang="en-US" dirty="0"/>
              <a:t>Share</a:t>
            </a:r>
          </a:p>
          <a:p>
            <a:r>
              <a:rPr lang="en-US" dirty="0"/>
              <a:t>Accept</a:t>
            </a:r>
          </a:p>
          <a:p>
            <a:r>
              <a:rPr lang="en-US" b="1" dirty="0"/>
              <a:t>Example:</a:t>
            </a:r>
            <a:br>
              <a:rPr lang="en-US" dirty="0"/>
            </a:br>
            <a:r>
              <a:rPr lang="en-US" dirty="0"/>
              <a:t>Using AI tools to speed up software testing.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07600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DE9009-FBAC-BF43-E1B5-DF81E8AA7C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Risk Management Process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26FA016-3319-A042-C561-620F8D75C5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87921" y="1966293"/>
            <a:ext cx="8816156" cy="4452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82239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AB27F-6DCB-A485-F563-44FF5D823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Risk Management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8F4304-5F57-DBD8-D033-78716A22BE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b="1" dirty="0"/>
              <a:t>Plan Risk Management</a:t>
            </a:r>
          </a:p>
          <a:p>
            <a:pPr lvl="1"/>
            <a:r>
              <a:rPr lang="en-US" dirty="0"/>
              <a:t>Defines how to conduct risk management activities.</a:t>
            </a:r>
          </a:p>
          <a:p>
            <a:r>
              <a:rPr lang="en-US" b="1" dirty="0"/>
              <a:t>Outputs:</a:t>
            </a:r>
            <a:endParaRPr lang="en-US" dirty="0"/>
          </a:p>
          <a:p>
            <a:pPr lvl="1"/>
            <a:r>
              <a:rPr lang="en-US" dirty="0"/>
              <a:t>Risk Management Plan</a:t>
            </a:r>
          </a:p>
          <a:p>
            <a:r>
              <a:rPr lang="en-US" b="1" dirty="0"/>
              <a:t>Example:</a:t>
            </a:r>
            <a:br>
              <a:rPr lang="en-US" dirty="0"/>
            </a:br>
            <a:r>
              <a:rPr lang="en-US" dirty="0"/>
              <a:t>	Decide risk categories, probability scales, and reporting format.</a:t>
            </a:r>
          </a:p>
          <a:p>
            <a:r>
              <a:rPr lang="en-US" b="1" dirty="0"/>
              <a:t>Identify Risks</a:t>
            </a:r>
          </a:p>
          <a:p>
            <a:pPr lvl="1"/>
            <a:r>
              <a:rPr lang="en-US" dirty="0"/>
              <a:t>Identifying all possible risks that may affect the project.</a:t>
            </a:r>
          </a:p>
          <a:p>
            <a:r>
              <a:rPr lang="en-US" b="1" dirty="0"/>
              <a:t>Tools:</a:t>
            </a:r>
            <a:endParaRPr lang="en-US" dirty="0"/>
          </a:p>
          <a:p>
            <a:pPr lvl="1"/>
            <a:r>
              <a:rPr lang="en-US" dirty="0"/>
              <a:t>Brainstorming</a:t>
            </a:r>
          </a:p>
          <a:p>
            <a:pPr lvl="1"/>
            <a:r>
              <a:rPr lang="en-US" dirty="0"/>
              <a:t>Checklists</a:t>
            </a:r>
          </a:p>
          <a:p>
            <a:pPr lvl="1"/>
            <a:r>
              <a:rPr lang="en-US" dirty="0"/>
              <a:t>Expert judgment</a:t>
            </a:r>
          </a:p>
          <a:p>
            <a:pPr lvl="1"/>
            <a:r>
              <a:rPr lang="en-US" dirty="0"/>
              <a:t>SWOT analysis</a:t>
            </a:r>
          </a:p>
          <a:p>
            <a:r>
              <a:rPr lang="en-US" b="1" dirty="0"/>
              <a:t>Example:</a:t>
            </a:r>
            <a:br>
              <a:rPr lang="en-US" dirty="0"/>
            </a:br>
            <a:r>
              <a:rPr lang="en-US" dirty="0"/>
              <a:t>	Identify risk of API failure during system integration.</a:t>
            </a:r>
          </a:p>
          <a:p>
            <a:r>
              <a:rPr lang="en-US" b="1" dirty="0"/>
              <a:t>Output:</a:t>
            </a:r>
            <a:endParaRPr lang="en-US" dirty="0"/>
          </a:p>
          <a:p>
            <a:pPr lvl="1"/>
            <a:r>
              <a:rPr lang="en-US" dirty="0"/>
              <a:t>Risk Register (initial)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07461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F5B6DA-8AAC-7964-F5B9-19EC457FAA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SWOT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9DF292-3302-9EA0-DBB6-EA8027A88E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1" dirty="0"/>
              <a:t>SWOT</a:t>
            </a:r>
            <a:r>
              <a:rPr lang="en-US" dirty="0"/>
              <a:t> stands for:</a:t>
            </a:r>
          </a:p>
          <a:p>
            <a:pPr lvl="1"/>
            <a:r>
              <a:rPr lang="en-US" b="1" dirty="0"/>
              <a:t>S – Strengths</a:t>
            </a:r>
            <a:endParaRPr lang="en-US" dirty="0"/>
          </a:p>
          <a:p>
            <a:pPr lvl="1"/>
            <a:r>
              <a:rPr lang="en-US" b="1" dirty="0"/>
              <a:t>W – Weaknesses</a:t>
            </a:r>
            <a:endParaRPr lang="en-US" dirty="0"/>
          </a:p>
          <a:p>
            <a:pPr lvl="1"/>
            <a:r>
              <a:rPr lang="en-US" b="1" dirty="0"/>
              <a:t>O – Opportunities</a:t>
            </a:r>
            <a:endParaRPr lang="en-US" dirty="0"/>
          </a:p>
          <a:p>
            <a:pPr lvl="1"/>
            <a:r>
              <a:rPr lang="en-US" b="1" dirty="0"/>
              <a:t>T – Threats</a:t>
            </a:r>
            <a:endParaRPr lang="en-US" dirty="0"/>
          </a:p>
          <a:p>
            <a:r>
              <a:rPr lang="en-US" dirty="0"/>
              <a:t>It is a </a:t>
            </a:r>
            <a:r>
              <a:rPr lang="en-US" b="1" dirty="0"/>
              <a:t>strategic analysis technique</a:t>
            </a:r>
            <a:r>
              <a:rPr lang="en-US" dirty="0"/>
              <a:t> used to evaluate </a:t>
            </a:r>
            <a:r>
              <a:rPr lang="en-US" b="1" dirty="0"/>
              <a:t>internal and external factors</a:t>
            </a:r>
            <a:r>
              <a:rPr lang="en-US" dirty="0"/>
              <a:t> that can affect a project or organization.</a:t>
            </a:r>
          </a:p>
          <a:p>
            <a:r>
              <a:rPr lang="en-US" dirty="0"/>
              <a:t>In </a:t>
            </a:r>
            <a:r>
              <a:rPr lang="en-US" b="1" dirty="0"/>
              <a:t>PMBOK Project Risk Management</a:t>
            </a:r>
            <a:r>
              <a:rPr lang="en-US" dirty="0"/>
              <a:t>, SWOT analysis is used during the </a:t>
            </a:r>
            <a:r>
              <a:rPr lang="en-US" b="1" dirty="0"/>
              <a:t>Identify Risks</a:t>
            </a:r>
            <a:r>
              <a:rPr lang="en-US" dirty="0"/>
              <a:t> process to identify:</a:t>
            </a:r>
          </a:p>
          <a:p>
            <a:pPr lvl="1"/>
            <a:r>
              <a:rPr lang="en-US" b="1" dirty="0"/>
              <a:t>Negative risks (Threats)</a:t>
            </a:r>
            <a:r>
              <a:rPr lang="en-US" dirty="0"/>
              <a:t> → things that may harm the project</a:t>
            </a:r>
          </a:p>
          <a:p>
            <a:pPr lvl="1"/>
            <a:r>
              <a:rPr lang="en-US" b="1" dirty="0"/>
              <a:t>Positive risks (Opportunities)</a:t>
            </a:r>
            <a:r>
              <a:rPr lang="en-US" dirty="0"/>
              <a:t> → things that may benefit the project</a:t>
            </a:r>
          </a:p>
          <a:p>
            <a:r>
              <a:rPr lang="en-US" b="1" dirty="0"/>
              <a:t>Classification:</a:t>
            </a:r>
          </a:p>
          <a:p>
            <a:pPr lvl="1"/>
            <a:r>
              <a:rPr lang="en-US" b="1" dirty="0"/>
              <a:t>Strengths &amp; Weaknesses</a:t>
            </a:r>
            <a:r>
              <a:rPr lang="en-US" dirty="0"/>
              <a:t> → </a:t>
            </a:r>
            <a:r>
              <a:rPr lang="en-US" i="1" dirty="0"/>
              <a:t>Internal factors</a:t>
            </a:r>
            <a:endParaRPr lang="en-US" dirty="0"/>
          </a:p>
          <a:p>
            <a:pPr lvl="1"/>
            <a:r>
              <a:rPr lang="en-US" b="1" dirty="0"/>
              <a:t>Opportunities &amp; Threats</a:t>
            </a:r>
            <a:r>
              <a:rPr lang="en-US" dirty="0"/>
              <a:t> → </a:t>
            </a:r>
            <a:r>
              <a:rPr lang="en-US" i="1" dirty="0"/>
              <a:t>External factors</a:t>
            </a:r>
            <a:endParaRPr lang="en-US" dirty="0"/>
          </a:p>
          <a:p>
            <a:r>
              <a:rPr lang="en-US" dirty="0"/>
              <a:t>Each SWOT factor is converted into </a:t>
            </a:r>
            <a:r>
              <a:rPr lang="en-US" b="1" dirty="0"/>
              <a:t>specific, documented project risks</a:t>
            </a:r>
            <a:r>
              <a:rPr lang="en-US" dirty="0"/>
              <a:t> and recorded in the </a:t>
            </a:r>
            <a:r>
              <a:rPr lang="en-US" b="1" dirty="0"/>
              <a:t>Risk Register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75415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E4DE54-7266-93FC-963A-F7EE8E2D2E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SWOT Analysis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947AAE1-5233-2364-225C-8A462B92F26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46440940"/>
              </p:ext>
            </p:extLst>
          </p:nvPr>
        </p:nvGraphicFramePr>
        <p:xfrm>
          <a:off x="4502428" y="817851"/>
          <a:ext cx="7225749" cy="5222300"/>
        </p:xfrm>
        <a:graphic>
          <a:graphicData uri="http://schemas.openxmlformats.org/drawingml/2006/table">
            <a:tbl>
              <a:tblPr>
                <a:tableStyleId>{8EC20E35-A176-4012-BC5E-935CFFF8708E}</a:tableStyleId>
              </a:tblPr>
              <a:tblGrid>
                <a:gridCol w="2583705">
                  <a:extLst>
                    <a:ext uri="{9D8B030D-6E8A-4147-A177-3AD203B41FA5}">
                      <a16:colId xmlns:a16="http://schemas.microsoft.com/office/drawing/2014/main" val="930938354"/>
                    </a:ext>
                  </a:extLst>
                </a:gridCol>
                <a:gridCol w="4642044">
                  <a:extLst>
                    <a:ext uri="{9D8B030D-6E8A-4147-A177-3AD203B41FA5}">
                      <a16:colId xmlns:a16="http://schemas.microsoft.com/office/drawing/2014/main" val="284368528"/>
                    </a:ext>
                  </a:extLst>
                </a:gridCol>
              </a:tblGrid>
              <a:tr h="10444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SWOT Element</a:t>
                      </a:r>
                    </a:p>
                  </a:txBody>
                  <a:tcPr marL="141143" marR="141143" marT="70572" marB="705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Role in Risk Identification</a:t>
                      </a:r>
                    </a:p>
                  </a:txBody>
                  <a:tcPr marL="141143" marR="141143" marT="70572" marB="70572" anchor="ctr"/>
                </a:tc>
                <a:extLst>
                  <a:ext uri="{0D108BD9-81ED-4DB2-BD59-A6C34878D82A}">
                    <a16:rowId xmlns:a16="http://schemas.microsoft.com/office/drawing/2014/main" val="1581885815"/>
                  </a:ext>
                </a:extLst>
              </a:tr>
              <a:tr h="10444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Strengths</a:t>
                      </a:r>
                    </a:p>
                  </a:txBody>
                  <a:tcPr marL="141143" marR="141143" marT="70572" marB="705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May reduce risks or create opportunities</a:t>
                      </a:r>
                    </a:p>
                  </a:txBody>
                  <a:tcPr marL="141143" marR="141143" marT="70572" marB="70572" anchor="ctr"/>
                </a:tc>
                <a:extLst>
                  <a:ext uri="{0D108BD9-81ED-4DB2-BD59-A6C34878D82A}">
                    <a16:rowId xmlns:a16="http://schemas.microsoft.com/office/drawing/2014/main" val="4028537737"/>
                  </a:ext>
                </a:extLst>
              </a:tr>
              <a:tr h="10444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Weaknesses</a:t>
                      </a:r>
                    </a:p>
                  </a:txBody>
                  <a:tcPr marL="141143" marR="141143" marT="70572" marB="705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Internal sources of project threats</a:t>
                      </a:r>
                    </a:p>
                  </a:txBody>
                  <a:tcPr marL="141143" marR="141143" marT="70572" marB="70572" anchor="ctr"/>
                </a:tc>
                <a:extLst>
                  <a:ext uri="{0D108BD9-81ED-4DB2-BD59-A6C34878D82A}">
                    <a16:rowId xmlns:a16="http://schemas.microsoft.com/office/drawing/2014/main" val="3202723366"/>
                  </a:ext>
                </a:extLst>
              </a:tr>
              <a:tr h="10444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Opportunities</a:t>
                      </a:r>
                    </a:p>
                  </a:txBody>
                  <a:tcPr marL="141143" marR="141143" marT="70572" marB="705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Positive risks to exploit or enhance</a:t>
                      </a:r>
                    </a:p>
                  </a:txBody>
                  <a:tcPr marL="141143" marR="141143" marT="70572" marB="70572" anchor="ctr"/>
                </a:tc>
                <a:extLst>
                  <a:ext uri="{0D108BD9-81ED-4DB2-BD59-A6C34878D82A}">
                    <a16:rowId xmlns:a16="http://schemas.microsoft.com/office/drawing/2014/main" val="587292871"/>
                  </a:ext>
                </a:extLst>
              </a:tr>
              <a:tr h="10444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Threats</a:t>
                      </a:r>
                    </a:p>
                  </a:txBody>
                  <a:tcPr marL="141143" marR="141143" marT="70572" marB="705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/>
                        <a:t>External sources of negative risks</a:t>
                      </a:r>
                    </a:p>
                  </a:txBody>
                  <a:tcPr marL="141143" marR="141143" marT="70572" marB="70572" anchor="ctr"/>
                </a:tc>
                <a:extLst>
                  <a:ext uri="{0D108BD9-81ED-4DB2-BD59-A6C34878D82A}">
                    <a16:rowId xmlns:a16="http://schemas.microsoft.com/office/drawing/2014/main" val="11516373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330434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AB7B9-DC97-884B-78C9-55F50152C3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SWOT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A93231-0601-B40D-A123-A34F8D7BD4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Strengths (Internal – Positive)</a:t>
            </a:r>
          </a:p>
          <a:p>
            <a:pPr lvl="1"/>
            <a:r>
              <a:rPr lang="en-US" dirty="0"/>
              <a:t>Experienced software development team</a:t>
            </a:r>
          </a:p>
          <a:p>
            <a:pPr lvl="1"/>
            <a:r>
              <a:rPr lang="en-US" dirty="0"/>
              <a:t>Use of modern programming frameworks</a:t>
            </a:r>
          </a:p>
          <a:p>
            <a:pPr lvl="1"/>
            <a:r>
              <a:rPr lang="en-US" dirty="0"/>
              <a:t>Strong management and stakeholder support</a:t>
            </a:r>
          </a:p>
          <a:p>
            <a:pPr lvl="1"/>
            <a:r>
              <a:rPr lang="en-US" dirty="0"/>
              <a:t>Proven project management methodology</a:t>
            </a:r>
          </a:p>
          <a:p>
            <a:pPr lvl="1"/>
            <a:r>
              <a:rPr lang="en-US" dirty="0"/>
              <a:t>Good development and testing infrastructure</a:t>
            </a:r>
          </a:p>
          <a:p>
            <a:r>
              <a:rPr lang="en-US" b="1" dirty="0"/>
              <a:t>Weaknesses (Internal – Negative)</a:t>
            </a:r>
          </a:p>
          <a:p>
            <a:pPr lvl="1"/>
            <a:r>
              <a:rPr lang="en-US" dirty="0"/>
              <a:t>Limited cybersecurity expertise</a:t>
            </a:r>
          </a:p>
          <a:p>
            <a:pPr lvl="1"/>
            <a:r>
              <a:rPr lang="en-US" dirty="0"/>
              <a:t>Incomplete or unclear user requirements</a:t>
            </a:r>
          </a:p>
          <a:p>
            <a:pPr lvl="1"/>
            <a:r>
              <a:rPr lang="en-US" dirty="0"/>
              <a:t>Dependence on key technical resources</a:t>
            </a:r>
          </a:p>
          <a:p>
            <a:pPr lvl="1"/>
            <a:r>
              <a:rPr lang="en-US" dirty="0"/>
              <a:t>Limited experience with third-party integrations</a:t>
            </a:r>
          </a:p>
          <a:p>
            <a:pPr lvl="1"/>
            <a:r>
              <a:rPr lang="en-US" dirty="0"/>
              <a:t>Tight project schedule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153147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2B9754-3CC6-DCED-8BB1-3B941D0145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SWOT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7E0C05-D7D0-2D7C-E0E1-7CADA65DAE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Opportunities (External – Positive)</a:t>
            </a:r>
          </a:p>
          <a:p>
            <a:pPr lvl="1"/>
            <a:r>
              <a:rPr lang="en-US" dirty="0"/>
              <a:t>Availability of cloud computing services</a:t>
            </a:r>
          </a:p>
          <a:p>
            <a:pPr lvl="1"/>
            <a:r>
              <a:rPr lang="en-US" dirty="0"/>
              <a:t>Automated testing and DevOps tools</a:t>
            </a:r>
          </a:p>
          <a:p>
            <a:pPr lvl="1"/>
            <a:r>
              <a:rPr lang="en-US" dirty="0"/>
              <a:t>Growing online market demand</a:t>
            </a:r>
          </a:p>
          <a:p>
            <a:pPr lvl="1"/>
            <a:r>
              <a:rPr lang="en-US" dirty="0"/>
              <a:t>Reusable open-source components</a:t>
            </a:r>
          </a:p>
          <a:p>
            <a:pPr lvl="1"/>
            <a:r>
              <a:rPr lang="en-US" dirty="0"/>
              <a:t>Vendor discounts for cloud services</a:t>
            </a:r>
          </a:p>
          <a:p>
            <a:r>
              <a:rPr lang="en-US" b="1" dirty="0"/>
              <a:t>Threats (External – Negative)</a:t>
            </a:r>
          </a:p>
          <a:p>
            <a:pPr lvl="1"/>
            <a:r>
              <a:rPr lang="en-US" dirty="0"/>
              <a:t>Cybersecurity attacks and data breaches</a:t>
            </a:r>
          </a:p>
          <a:p>
            <a:pPr lvl="1"/>
            <a:r>
              <a:rPr lang="en-US" dirty="0"/>
              <a:t>Frequent changes in technology</a:t>
            </a:r>
          </a:p>
          <a:p>
            <a:pPr lvl="1"/>
            <a:r>
              <a:rPr lang="en-US" dirty="0"/>
              <a:t>Changes in data privacy regulations</a:t>
            </a:r>
          </a:p>
          <a:p>
            <a:pPr lvl="1"/>
            <a:r>
              <a:rPr lang="en-US" dirty="0"/>
              <a:t>Third-party API or vendor failures</a:t>
            </a:r>
          </a:p>
          <a:p>
            <a:pPr lvl="1"/>
            <a:r>
              <a:rPr lang="en-US" dirty="0"/>
              <a:t>Increased competition and market pressure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714482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3DE06-2DB8-A27D-4AC0-0D4995359A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Risk Management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3EDEA4-B215-592C-4CB9-2D438624ED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 dirty="0"/>
              <a:t>Perform Qualitative Risk Analysis</a:t>
            </a:r>
          </a:p>
          <a:p>
            <a:pPr lvl="1"/>
            <a:r>
              <a:rPr lang="en-US" dirty="0"/>
              <a:t>Prioritizing risks based on probability and impact.</a:t>
            </a:r>
          </a:p>
          <a:p>
            <a:r>
              <a:rPr lang="en-US" b="1" dirty="0"/>
              <a:t>Techniques:</a:t>
            </a:r>
            <a:endParaRPr lang="en-US" dirty="0"/>
          </a:p>
          <a:p>
            <a:pPr lvl="1"/>
            <a:r>
              <a:rPr lang="en-US" dirty="0"/>
              <a:t>Probability–Impact Matrix</a:t>
            </a:r>
          </a:p>
          <a:p>
            <a:pPr lvl="1"/>
            <a:r>
              <a:rPr lang="en-US" dirty="0"/>
              <a:t>Risk categorization</a:t>
            </a:r>
          </a:p>
          <a:p>
            <a:r>
              <a:rPr lang="en-US" b="1" dirty="0"/>
              <a:t>Example:</a:t>
            </a:r>
            <a:br>
              <a:rPr lang="en-US" dirty="0"/>
            </a:br>
            <a:r>
              <a:rPr lang="en-US" dirty="0"/>
              <a:t>	High probability + high impact → Critical risk</a:t>
            </a:r>
          </a:p>
          <a:p>
            <a:r>
              <a:rPr lang="en-US" b="1" dirty="0"/>
              <a:t>Perform Quantitative Risk Analysis</a:t>
            </a:r>
          </a:p>
          <a:p>
            <a:pPr lvl="1"/>
            <a:r>
              <a:rPr lang="en-US" dirty="0"/>
              <a:t>Numerical analysis of risk impact.</a:t>
            </a:r>
          </a:p>
          <a:p>
            <a:r>
              <a:rPr lang="en-US" b="1" dirty="0"/>
              <a:t>Techniques:</a:t>
            </a:r>
            <a:endParaRPr lang="en-US" dirty="0"/>
          </a:p>
          <a:p>
            <a:pPr lvl="1"/>
            <a:r>
              <a:rPr lang="en-US" dirty="0"/>
              <a:t>Expected Monetary Value (EMV)</a:t>
            </a:r>
          </a:p>
          <a:p>
            <a:pPr lvl="1"/>
            <a:r>
              <a:rPr lang="en-US" dirty="0"/>
              <a:t>Monte Carlo simulation</a:t>
            </a:r>
          </a:p>
          <a:p>
            <a:r>
              <a:rPr lang="en-US" b="1" dirty="0"/>
              <a:t>Example:</a:t>
            </a:r>
            <a:br>
              <a:rPr lang="en-US" dirty="0"/>
            </a:br>
            <a:r>
              <a:rPr lang="en-US" dirty="0"/>
              <a:t>	Risk may cause ₹5,00,000 loss with 20% probability.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738723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7F096-AD6A-A97E-E5CB-756119A7D1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Qualitative Risk Analysis (QRA)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2DEF6F-5945-FD1A-66A4-C66E5D119A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dirty="0"/>
              <a:t>Qualitative Risk Analysis is the </a:t>
            </a:r>
            <a:r>
              <a:rPr lang="en-US" b="1" dirty="0"/>
              <a:t>process of prioritizing risks based on their probability of occurrence and impact</a:t>
            </a:r>
            <a:r>
              <a:rPr lang="en-US" dirty="0"/>
              <a:t> on project objectives (scope, time, cost, quality, etc.) using </a:t>
            </a:r>
            <a:r>
              <a:rPr lang="en-US" b="1" dirty="0"/>
              <a:t>subjective assessment techniques</a:t>
            </a:r>
            <a:r>
              <a:rPr lang="en-US" dirty="0"/>
              <a:t>.</a:t>
            </a:r>
          </a:p>
          <a:p>
            <a:r>
              <a:rPr lang="en-US" dirty="0"/>
              <a:t>It is </a:t>
            </a:r>
            <a:r>
              <a:rPr lang="en-US" b="1" dirty="0"/>
              <a:t>usually done first</a:t>
            </a:r>
            <a:r>
              <a:rPr lang="en-US" dirty="0"/>
              <a:t>, because it’s faster and helps focus on high-priority risks for further quantitative analysis.</a:t>
            </a:r>
          </a:p>
          <a:p>
            <a:r>
              <a:rPr lang="en-US" b="1" dirty="0"/>
              <a:t>Steps in Qualitative Risk Analysis</a:t>
            </a:r>
          </a:p>
          <a:p>
            <a:r>
              <a:rPr lang="en-US" b="1" dirty="0"/>
              <a:t>Risk Identification</a:t>
            </a:r>
            <a:endParaRPr lang="en-US" dirty="0"/>
          </a:p>
          <a:p>
            <a:pPr lvl="1"/>
            <a:r>
              <a:rPr lang="en-US" dirty="0"/>
              <a:t>Collect all risks from Risk Register (often using tools like SWOT, brainstorming, checklists).</a:t>
            </a:r>
          </a:p>
          <a:p>
            <a:r>
              <a:rPr lang="en-US" b="1" dirty="0"/>
              <a:t>Risk Probability Assessment</a:t>
            </a:r>
            <a:endParaRPr lang="en-US" dirty="0"/>
          </a:p>
          <a:p>
            <a:pPr lvl="1"/>
            <a:r>
              <a:rPr lang="en-US" dirty="0"/>
              <a:t>Assess the likelihood of each risk occurring.</a:t>
            </a:r>
          </a:p>
          <a:p>
            <a:pPr lvl="1"/>
            <a:r>
              <a:rPr lang="en-US" dirty="0"/>
              <a:t>Example scale: High / Medium / Low or 0–1 probability.</a:t>
            </a:r>
          </a:p>
          <a:p>
            <a:r>
              <a:rPr lang="en-US" b="1" dirty="0"/>
              <a:t>Risk Impact Assessment</a:t>
            </a:r>
            <a:endParaRPr lang="en-US" dirty="0"/>
          </a:p>
          <a:p>
            <a:pPr lvl="1"/>
            <a:r>
              <a:rPr lang="en-US" dirty="0"/>
              <a:t>Assess the effect of each risk on project objectives.</a:t>
            </a:r>
          </a:p>
          <a:p>
            <a:pPr lvl="1"/>
            <a:r>
              <a:rPr lang="en-US" dirty="0"/>
              <a:t>Example scale: High / Medium / Low or numerical score (1–5).</a:t>
            </a:r>
          </a:p>
          <a:p>
            <a:r>
              <a:rPr lang="en-US" b="1" dirty="0"/>
              <a:t>Risk Prioritization</a:t>
            </a:r>
            <a:endParaRPr lang="en-US" dirty="0"/>
          </a:p>
          <a:p>
            <a:pPr lvl="1"/>
            <a:r>
              <a:rPr lang="en-US" dirty="0"/>
              <a:t>Combine probability and impact to calculate </a:t>
            </a:r>
            <a:r>
              <a:rPr lang="en-US" b="1" dirty="0"/>
              <a:t>risk rating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Tools: </a:t>
            </a:r>
            <a:r>
              <a:rPr lang="en-US" b="1" dirty="0"/>
              <a:t>Probability-Impact Matrix (P-I Matrix)</a:t>
            </a:r>
            <a:r>
              <a:rPr lang="en-US" dirty="0"/>
              <a:t>.</a:t>
            </a:r>
          </a:p>
          <a:p>
            <a:r>
              <a:rPr lang="en-US" b="1" dirty="0"/>
              <a:t>Risk Categorization (Optional)</a:t>
            </a:r>
            <a:endParaRPr lang="en-US" dirty="0"/>
          </a:p>
          <a:p>
            <a:pPr lvl="1"/>
            <a:r>
              <a:rPr lang="en-US" dirty="0"/>
              <a:t>Group risks by source or type (technical, financial, external, organizational).</a:t>
            </a:r>
          </a:p>
          <a:p>
            <a:r>
              <a:rPr lang="en-US" b="1" dirty="0"/>
              <a:t>Update Risk Register</a:t>
            </a:r>
            <a:endParaRPr lang="en-US" dirty="0"/>
          </a:p>
          <a:p>
            <a:pPr lvl="1"/>
            <a:r>
              <a:rPr lang="en-US" dirty="0"/>
              <a:t>Document </a:t>
            </a:r>
            <a:r>
              <a:rPr lang="en-US" b="1" dirty="0"/>
              <a:t>risk score</a:t>
            </a:r>
            <a:r>
              <a:rPr lang="en-US" dirty="0"/>
              <a:t>, priority, and notes for next steps.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060122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013A7E-A973-5CC1-F72E-C9A69B6A39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597"/>
            <a:ext cx="9392421" cy="1330841"/>
          </a:xfrm>
        </p:spPr>
        <p:txBody>
          <a:bodyPr>
            <a:normAutofit/>
          </a:bodyPr>
          <a:lstStyle/>
          <a:p>
            <a:r>
              <a:rPr lang="en-US" dirty="0"/>
              <a:t>Qualitative Risk Analysis (QRA)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EDC9EB-9609-9542-0FD2-1EC5568AC6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034" y="2198362"/>
            <a:ext cx="4958966" cy="3917773"/>
          </a:xfrm>
        </p:spPr>
        <p:txBody>
          <a:bodyPr>
            <a:normAutofit/>
          </a:bodyPr>
          <a:lstStyle/>
          <a:p>
            <a:r>
              <a:rPr lang="en-US" sz="2000" b="1"/>
              <a:t>Types of Qualitative Risk Analysis Techniques</a:t>
            </a:r>
          </a:p>
          <a:p>
            <a:r>
              <a:rPr lang="en-US" sz="2000" b="1"/>
              <a:t>Probability-Impact Matrix</a:t>
            </a:r>
            <a:endParaRPr lang="en-US" sz="2000"/>
          </a:p>
          <a:p>
            <a:r>
              <a:rPr lang="en-US" sz="2000" b="1"/>
              <a:t>Risk Data Quality Assessment</a:t>
            </a:r>
            <a:endParaRPr lang="en-US" sz="2000"/>
          </a:p>
          <a:p>
            <a:r>
              <a:rPr lang="en-US" sz="2000" b="1"/>
              <a:t>Risk Urgency Assessment</a:t>
            </a:r>
            <a:endParaRPr lang="en-US" sz="2000"/>
          </a:p>
          <a:p>
            <a:r>
              <a:rPr lang="en-US" sz="2000" b="1"/>
              <a:t>Expert Judgment</a:t>
            </a:r>
            <a:endParaRPr lang="en-US" sz="2000"/>
          </a:p>
          <a:p>
            <a:r>
              <a:rPr lang="en-US" sz="2000" b="1"/>
              <a:t>Categorical (Risk Breakdown Structure) analysis</a:t>
            </a:r>
            <a:endParaRPr lang="en-US" sz="2000"/>
          </a:p>
          <a:p>
            <a:endParaRPr lang="en-US" sz="20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AFAB3C-832D-C739-835C-8C147E71A5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9367" y="3093200"/>
            <a:ext cx="4788505" cy="1939343"/>
          </a:xfrm>
          <a:prstGeom prst="rect">
            <a:avLst/>
          </a:prstGeom>
        </p:spPr>
      </p:pic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118027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40417-AAC1-8F0B-4578-94DC6A13D2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Quantitative Risk Analysis (</a:t>
            </a:r>
            <a:r>
              <a:rPr lang="en-US" dirty="0" err="1"/>
              <a:t>QuanRA</a:t>
            </a:r>
            <a:r>
              <a:rPr lang="en-US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134B9C-9298-67D6-1919-EDA36F9946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dirty="0"/>
              <a:t>Quantitative Risk Analysis is the </a:t>
            </a:r>
            <a:r>
              <a:rPr lang="en-US" b="1" dirty="0"/>
              <a:t>numerical analysis of the effect of identified risks on project objectives</a:t>
            </a:r>
            <a:r>
              <a:rPr lang="en-US" dirty="0"/>
              <a:t>, usually using </a:t>
            </a:r>
            <a:r>
              <a:rPr lang="en-US" b="1" dirty="0"/>
              <a:t>statistical, mathematical, or simulation techniques</a:t>
            </a:r>
            <a:r>
              <a:rPr lang="en-US" dirty="0"/>
              <a:t>.</a:t>
            </a:r>
          </a:p>
          <a:p>
            <a:r>
              <a:rPr lang="en-US" dirty="0"/>
              <a:t>It </a:t>
            </a:r>
            <a:r>
              <a:rPr lang="en-US" b="1" dirty="0"/>
              <a:t>provides a numerical estimate</a:t>
            </a:r>
            <a:r>
              <a:rPr lang="en-US" dirty="0"/>
              <a:t> of potential cost, time, or performance impact.</a:t>
            </a:r>
          </a:p>
          <a:p>
            <a:r>
              <a:rPr lang="en-US" b="1" dirty="0"/>
              <a:t>Steps in Quantitative Risk Analysis</a:t>
            </a:r>
          </a:p>
          <a:p>
            <a:r>
              <a:rPr lang="en-US" b="1" dirty="0"/>
              <a:t>Input Risk Data</a:t>
            </a:r>
            <a:endParaRPr lang="en-US" dirty="0"/>
          </a:p>
          <a:p>
            <a:pPr lvl="1"/>
            <a:r>
              <a:rPr lang="en-US" dirty="0"/>
              <a:t>Use risks prioritized from Qualitative Risk Analysis.</a:t>
            </a:r>
          </a:p>
          <a:p>
            <a:r>
              <a:rPr lang="en-US" b="1" dirty="0"/>
              <a:t>Assign Numerical Values</a:t>
            </a:r>
            <a:endParaRPr lang="en-US" dirty="0"/>
          </a:p>
          <a:p>
            <a:pPr lvl="1"/>
            <a:r>
              <a:rPr lang="en-US" dirty="0"/>
              <a:t>Probability: 0–1 or %</a:t>
            </a:r>
          </a:p>
          <a:p>
            <a:pPr lvl="1"/>
            <a:r>
              <a:rPr lang="en-US" dirty="0"/>
              <a:t>Impact: monetary value, duration, or other measurable metric</a:t>
            </a:r>
          </a:p>
          <a:p>
            <a:r>
              <a:rPr lang="en-US" b="1" dirty="0"/>
              <a:t>Model Risk Effects</a:t>
            </a:r>
            <a:endParaRPr lang="en-US" dirty="0"/>
          </a:p>
          <a:p>
            <a:pPr lvl="1"/>
            <a:r>
              <a:rPr lang="en-US" dirty="0"/>
              <a:t>Methods: </a:t>
            </a:r>
            <a:r>
              <a:rPr lang="en-US" b="1" dirty="0"/>
              <a:t>Expected Monetary Value (EMV)</a:t>
            </a:r>
            <a:r>
              <a:rPr lang="en-US" dirty="0"/>
              <a:t>, Monte Carlo simulation, sensitivity analysis, decision tree analysis.</a:t>
            </a:r>
          </a:p>
          <a:p>
            <a:r>
              <a:rPr lang="en-US" b="1" dirty="0"/>
              <a:t>Analyze Risk Exposure</a:t>
            </a:r>
            <a:endParaRPr lang="en-US" dirty="0"/>
          </a:p>
          <a:p>
            <a:pPr lvl="1"/>
            <a:r>
              <a:rPr lang="en-US" dirty="0"/>
              <a:t>Calculate </a:t>
            </a:r>
            <a:r>
              <a:rPr lang="en-US" b="1" dirty="0"/>
              <a:t>Overall Project Risk Exposure</a:t>
            </a:r>
            <a:r>
              <a:rPr lang="en-US" dirty="0"/>
              <a:t> = </a:t>
            </a:r>
            <a:r>
              <a:rPr lang="el-GR" dirty="0"/>
              <a:t>Σ (</a:t>
            </a:r>
            <a:r>
              <a:rPr lang="en-US" dirty="0"/>
              <a:t>Probability × Impact)</a:t>
            </a:r>
          </a:p>
          <a:p>
            <a:r>
              <a:rPr lang="en-US" b="1" dirty="0"/>
              <a:t>Prioritize Risks Based on Numerical Impact</a:t>
            </a:r>
            <a:endParaRPr lang="en-US" dirty="0"/>
          </a:p>
          <a:p>
            <a:pPr lvl="1"/>
            <a:r>
              <a:rPr lang="en-US" dirty="0"/>
              <a:t>Rank risks that have the </a:t>
            </a:r>
            <a:r>
              <a:rPr lang="en-US" b="1" dirty="0"/>
              <a:t>highest quantitative effect</a:t>
            </a:r>
            <a:r>
              <a:rPr lang="en-US" dirty="0"/>
              <a:t>.</a:t>
            </a:r>
          </a:p>
          <a:p>
            <a:r>
              <a:rPr lang="en-US" b="1" dirty="0"/>
              <a:t>Document Results in Risk Register</a:t>
            </a:r>
            <a:endParaRPr lang="en-US" dirty="0"/>
          </a:p>
          <a:p>
            <a:pPr lvl="1"/>
            <a:r>
              <a:rPr lang="en-US" dirty="0"/>
              <a:t>Include numeric impact, probability, risk exposure, and recommended response.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114673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0DCC097-1DB8-4B6D-85D0-6FBA0E1CA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E0B58608-23C8-4441-994D-C6823EEE1D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2083506"/>
          </a:xfrm>
          <a:custGeom>
            <a:avLst/>
            <a:gdLst>
              <a:gd name="connsiteX0" fmla="*/ 0 w 12191999"/>
              <a:gd name="connsiteY0" fmla="*/ 0 h 2083506"/>
              <a:gd name="connsiteX1" fmla="*/ 9429748 w 12191999"/>
              <a:gd name="connsiteY1" fmla="*/ 0 h 2083506"/>
              <a:gd name="connsiteX2" fmla="*/ 9429748 w 12191999"/>
              <a:gd name="connsiteY2" fmla="*/ 1 h 2083506"/>
              <a:gd name="connsiteX3" fmla="*/ 12191999 w 12191999"/>
              <a:gd name="connsiteY3" fmla="*/ 1 h 2083506"/>
              <a:gd name="connsiteX4" fmla="*/ 12191999 w 12191999"/>
              <a:gd name="connsiteY4" fmla="*/ 1164372 h 2083506"/>
              <a:gd name="connsiteX5" fmla="*/ 12147852 w 12191999"/>
              <a:gd name="connsiteY5" fmla="*/ 1163783 h 2083506"/>
              <a:gd name="connsiteX6" fmla="*/ 11993604 w 12191999"/>
              <a:gd name="connsiteY6" fmla="*/ 1153496 h 2083506"/>
              <a:gd name="connsiteX7" fmla="*/ 11865319 w 12191999"/>
              <a:gd name="connsiteY7" fmla="*/ 1176624 h 2083506"/>
              <a:gd name="connsiteX8" fmla="*/ 11718353 w 12191999"/>
              <a:gd name="connsiteY8" fmla="*/ 1209136 h 2083506"/>
              <a:gd name="connsiteX9" fmla="*/ 11609067 w 12191999"/>
              <a:gd name="connsiteY9" fmla="*/ 1218512 h 2083506"/>
              <a:gd name="connsiteX10" fmla="*/ 11545958 w 12191999"/>
              <a:gd name="connsiteY10" fmla="*/ 1240430 h 2083506"/>
              <a:gd name="connsiteX11" fmla="*/ 11445770 w 12191999"/>
              <a:gd name="connsiteY11" fmla="*/ 1225780 h 2083506"/>
              <a:gd name="connsiteX12" fmla="*/ 11398842 w 12191999"/>
              <a:gd name="connsiteY12" fmla="*/ 1227250 h 2083506"/>
              <a:gd name="connsiteX13" fmla="*/ 11240093 w 12191999"/>
              <a:gd name="connsiteY13" fmla="*/ 1266797 h 2083506"/>
              <a:gd name="connsiteX14" fmla="*/ 11141364 w 12191999"/>
              <a:gd name="connsiteY14" fmla="*/ 1288059 h 2083506"/>
              <a:gd name="connsiteX15" fmla="*/ 11015396 w 12191999"/>
              <a:gd name="connsiteY15" fmla="*/ 1353104 h 2083506"/>
              <a:gd name="connsiteX16" fmla="*/ 10973905 w 12191999"/>
              <a:gd name="connsiteY16" fmla="*/ 1365109 h 2083506"/>
              <a:gd name="connsiteX17" fmla="*/ 10904858 w 12191999"/>
              <a:gd name="connsiteY17" fmla="*/ 1371966 h 2083506"/>
              <a:gd name="connsiteX18" fmla="*/ 10827883 w 12191999"/>
              <a:gd name="connsiteY18" fmla="*/ 1410270 h 2083506"/>
              <a:gd name="connsiteX19" fmla="*/ 10690996 w 12191999"/>
              <a:gd name="connsiteY19" fmla="*/ 1426394 h 2083506"/>
              <a:gd name="connsiteX20" fmla="*/ 10624461 w 12191999"/>
              <a:gd name="connsiteY20" fmla="*/ 1444283 h 2083506"/>
              <a:gd name="connsiteX21" fmla="*/ 10517208 w 12191999"/>
              <a:gd name="connsiteY21" fmla="*/ 1478947 h 2083506"/>
              <a:gd name="connsiteX22" fmla="*/ 10497937 w 12191999"/>
              <a:gd name="connsiteY22" fmla="*/ 1469831 h 2083506"/>
              <a:gd name="connsiteX23" fmla="*/ 10471201 w 12191999"/>
              <a:gd name="connsiteY23" fmla="*/ 1486037 h 2083506"/>
              <a:gd name="connsiteX24" fmla="*/ 10448263 w 12191999"/>
              <a:gd name="connsiteY24" fmla="*/ 1478223 h 2083506"/>
              <a:gd name="connsiteX25" fmla="*/ 10388089 w 12191999"/>
              <a:gd name="connsiteY25" fmla="*/ 1507175 h 2083506"/>
              <a:gd name="connsiteX26" fmla="*/ 10333720 w 12191999"/>
              <a:gd name="connsiteY26" fmla="*/ 1515848 h 2083506"/>
              <a:gd name="connsiteX27" fmla="*/ 10104338 w 12191999"/>
              <a:gd name="connsiteY27" fmla="*/ 1569424 h 2083506"/>
              <a:gd name="connsiteX28" fmla="*/ 9910445 w 12191999"/>
              <a:gd name="connsiteY28" fmla="*/ 1632275 h 2083506"/>
              <a:gd name="connsiteX29" fmla="*/ 9770872 w 12191999"/>
              <a:gd name="connsiteY29" fmla="*/ 1688088 h 2083506"/>
              <a:gd name="connsiteX30" fmla="*/ 9733849 w 12191999"/>
              <a:gd name="connsiteY30" fmla="*/ 1700034 h 2083506"/>
              <a:gd name="connsiteX31" fmla="*/ 9703714 w 12191999"/>
              <a:gd name="connsiteY31" fmla="*/ 1730093 h 2083506"/>
              <a:gd name="connsiteX32" fmla="*/ 9698351 w 12191999"/>
              <a:gd name="connsiteY32" fmla="*/ 1730377 h 2083506"/>
              <a:gd name="connsiteX33" fmla="*/ 9632895 w 12191999"/>
              <a:gd name="connsiteY33" fmla="*/ 1736363 h 2083506"/>
              <a:gd name="connsiteX34" fmla="*/ 9569107 w 12191999"/>
              <a:gd name="connsiteY34" fmla="*/ 1741010 h 2083506"/>
              <a:gd name="connsiteX35" fmla="*/ 9536451 w 12191999"/>
              <a:gd name="connsiteY35" fmla="*/ 1755120 h 2083506"/>
              <a:gd name="connsiteX36" fmla="*/ 9529385 w 12191999"/>
              <a:gd name="connsiteY36" fmla="*/ 1757515 h 2083506"/>
              <a:gd name="connsiteX37" fmla="*/ 9498527 w 12191999"/>
              <a:gd name="connsiteY37" fmla="*/ 1753117 h 2083506"/>
              <a:gd name="connsiteX38" fmla="*/ 9436642 w 12191999"/>
              <a:gd name="connsiteY38" fmla="*/ 1755478 h 2083506"/>
              <a:gd name="connsiteX39" fmla="*/ 9429748 w 12191999"/>
              <a:gd name="connsiteY39" fmla="*/ 1756317 h 2083506"/>
              <a:gd name="connsiteX40" fmla="*/ 9429748 w 12191999"/>
              <a:gd name="connsiteY40" fmla="*/ 1768745 h 2083506"/>
              <a:gd name="connsiteX41" fmla="*/ 9425802 w 12191999"/>
              <a:gd name="connsiteY41" fmla="*/ 1769273 h 2083506"/>
              <a:gd name="connsiteX42" fmla="*/ 9349763 w 12191999"/>
              <a:gd name="connsiteY42" fmla="*/ 1776107 h 2083506"/>
              <a:gd name="connsiteX43" fmla="*/ 9256503 w 12191999"/>
              <a:gd name="connsiteY43" fmla="*/ 1800699 h 2083506"/>
              <a:gd name="connsiteX44" fmla="*/ 9222873 w 12191999"/>
              <a:gd name="connsiteY44" fmla="*/ 1803003 h 2083506"/>
              <a:gd name="connsiteX45" fmla="*/ 9224095 w 12191999"/>
              <a:gd name="connsiteY45" fmla="*/ 1807355 h 2083506"/>
              <a:gd name="connsiteX46" fmla="*/ 9211603 w 12191999"/>
              <a:gd name="connsiteY46" fmla="*/ 1807675 h 2083506"/>
              <a:gd name="connsiteX47" fmla="*/ 9183719 w 12191999"/>
              <a:gd name="connsiteY47" fmla="*/ 1807781 h 2083506"/>
              <a:gd name="connsiteX48" fmla="*/ 9100221 w 12191999"/>
              <a:gd name="connsiteY48" fmla="*/ 1808989 h 2083506"/>
              <a:gd name="connsiteX49" fmla="*/ 9077439 w 12191999"/>
              <a:gd name="connsiteY49" fmla="*/ 1817333 h 2083506"/>
              <a:gd name="connsiteX50" fmla="*/ 9055889 w 12191999"/>
              <a:gd name="connsiteY50" fmla="*/ 1817464 h 2083506"/>
              <a:gd name="connsiteX51" fmla="*/ 8930912 w 12191999"/>
              <a:gd name="connsiteY51" fmla="*/ 1828648 h 2083506"/>
              <a:gd name="connsiteX52" fmla="*/ 8913729 w 12191999"/>
              <a:gd name="connsiteY52" fmla="*/ 1829483 h 2083506"/>
              <a:gd name="connsiteX53" fmla="*/ 8904423 w 12191999"/>
              <a:gd name="connsiteY53" fmla="*/ 1833234 h 2083506"/>
              <a:gd name="connsiteX54" fmla="*/ 8871099 w 12191999"/>
              <a:gd name="connsiteY54" fmla="*/ 1833979 h 2083506"/>
              <a:gd name="connsiteX55" fmla="*/ 8869557 w 12191999"/>
              <a:gd name="connsiteY55" fmla="*/ 1836113 h 2083506"/>
              <a:gd name="connsiteX56" fmla="*/ 8760021 w 12191999"/>
              <a:gd name="connsiteY56" fmla="*/ 1854442 h 2083506"/>
              <a:gd name="connsiteX57" fmla="*/ 8741254 w 12191999"/>
              <a:gd name="connsiteY57" fmla="*/ 1857469 h 2083506"/>
              <a:gd name="connsiteX58" fmla="*/ 8725039 w 12191999"/>
              <a:gd name="connsiteY58" fmla="*/ 1856552 h 2083506"/>
              <a:gd name="connsiteX59" fmla="*/ 8635265 w 12191999"/>
              <a:gd name="connsiteY59" fmla="*/ 1859168 h 2083506"/>
              <a:gd name="connsiteX60" fmla="*/ 8613911 w 12191999"/>
              <a:gd name="connsiteY60" fmla="*/ 1857561 h 2083506"/>
              <a:gd name="connsiteX61" fmla="*/ 8604931 w 12191999"/>
              <a:gd name="connsiteY61" fmla="*/ 1854170 h 2083506"/>
              <a:gd name="connsiteX62" fmla="*/ 8570171 w 12191999"/>
              <a:gd name="connsiteY62" fmla="*/ 1860579 h 2083506"/>
              <a:gd name="connsiteX63" fmla="*/ 8516537 w 12191999"/>
              <a:gd name="connsiteY63" fmla="*/ 1864971 h 2083506"/>
              <a:gd name="connsiteX64" fmla="*/ 8491046 w 12191999"/>
              <a:gd name="connsiteY64" fmla="*/ 1868141 h 2083506"/>
              <a:gd name="connsiteX65" fmla="*/ 8470478 w 12191999"/>
              <a:gd name="connsiteY65" fmla="*/ 1866216 h 2083506"/>
              <a:gd name="connsiteX66" fmla="*/ 8353433 w 12191999"/>
              <a:gd name="connsiteY66" fmla="*/ 1865729 h 2083506"/>
              <a:gd name="connsiteX67" fmla="*/ 8347675 w 12191999"/>
              <a:gd name="connsiteY67" fmla="*/ 1865075 h 2083506"/>
              <a:gd name="connsiteX68" fmla="*/ 8343939 w 12191999"/>
              <a:gd name="connsiteY68" fmla="*/ 1865677 h 2083506"/>
              <a:gd name="connsiteX69" fmla="*/ 8221566 w 12191999"/>
              <a:gd name="connsiteY69" fmla="*/ 1881148 h 2083506"/>
              <a:gd name="connsiteX70" fmla="*/ 8066095 w 12191999"/>
              <a:gd name="connsiteY70" fmla="*/ 1919902 h 2083506"/>
              <a:gd name="connsiteX71" fmla="*/ 8044849 w 12191999"/>
              <a:gd name="connsiteY71" fmla="*/ 1916308 h 2083506"/>
              <a:gd name="connsiteX72" fmla="*/ 8041142 w 12191999"/>
              <a:gd name="connsiteY72" fmla="*/ 1915506 h 2083506"/>
              <a:gd name="connsiteX73" fmla="*/ 8022159 w 12191999"/>
              <a:gd name="connsiteY73" fmla="*/ 1911521 h 2083506"/>
              <a:gd name="connsiteX74" fmla="*/ 7944932 w 12191999"/>
              <a:gd name="connsiteY74" fmla="*/ 1917265 h 2083506"/>
              <a:gd name="connsiteX75" fmla="*/ 7879011 w 12191999"/>
              <a:gd name="connsiteY75" fmla="*/ 1928570 h 2083506"/>
              <a:gd name="connsiteX76" fmla="*/ 7865529 w 12191999"/>
              <a:gd name="connsiteY76" fmla="*/ 1934399 h 2083506"/>
              <a:gd name="connsiteX77" fmla="*/ 7774801 w 12191999"/>
              <a:gd name="connsiteY77" fmla="*/ 1947969 h 2083506"/>
              <a:gd name="connsiteX78" fmla="*/ 7748398 w 12191999"/>
              <a:gd name="connsiteY78" fmla="*/ 1955982 h 2083506"/>
              <a:gd name="connsiteX79" fmla="*/ 7740684 w 12191999"/>
              <a:gd name="connsiteY79" fmla="*/ 1955717 h 2083506"/>
              <a:gd name="connsiteX80" fmla="*/ 7712976 w 12191999"/>
              <a:gd name="connsiteY80" fmla="*/ 1960442 h 2083506"/>
              <a:gd name="connsiteX81" fmla="*/ 7699956 w 12191999"/>
              <a:gd name="connsiteY81" fmla="*/ 1966104 h 2083506"/>
              <a:gd name="connsiteX82" fmla="*/ 7684158 w 12191999"/>
              <a:gd name="connsiteY82" fmla="*/ 1962927 h 2083506"/>
              <a:gd name="connsiteX83" fmla="*/ 7643109 w 12191999"/>
              <a:gd name="connsiteY83" fmla="*/ 1964400 h 2083506"/>
              <a:gd name="connsiteX84" fmla="*/ 7630180 w 12191999"/>
              <a:gd name="connsiteY84" fmla="*/ 1970266 h 2083506"/>
              <a:gd name="connsiteX85" fmla="*/ 7609131 w 12191999"/>
              <a:gd name="connsiteY85" fmla="*/ 1971774 h 2083506"/>
              <a:gd name="connsiteX86" fmla="*/ 7555555 w 12191999"/>
              <a:gd name="connsiteY86" fmla="*/ 1969491 h 2083506"/>
              <a:gd name="connsiteX87" fmla="*/ 7520919 w 12191999"/>
              <a:gd name="connsiteY87" fmla="*/ 1970177 h 2083506"/>
              <a:gd name="connsiteX88" fmla="*/ 7456258 w 12191999"/>
              <a:gd name="connsiteY88" fmla="*/ 1960468 h 2083506"/>
              <a:gd name="connsiteX89" fmla="*/ 7393047 w 12191999"/>
              <a:gd name="connsiteY89" fmla="*/ 1952408 h 2083506"/>
              <a:gd name="connsiteX90" fmla="*/ 7199912 w 12191999"/>
              <a:gd name="connsiteY90" fmla="*/ 1959913 h 2083506"/>
              <a:gd name="connsiteX91" fmla="*/ 7146774 w 12191999"/>
              <a:gd name="connsiteY91" fmla="*/ 1956641 h 2083506"/>
              <a:gd name="connsiteX92" fmla="*/ 7122244 w 12191999"/>
              <a:gd name="connsiteY92" fmla="*/ 1953891 h 2083506"/>
              <a:gd name="connsiteX93" fmla="*/ 7032241 w 12191999"/>
              <a:gd name="connsiteY93" fmla="*/ 1962723 h 2083506"/>
              <a:gd name="connsiteX94" fmla="*/ 6941492 w 12191999"/>
              <a:gd name="connsiteY94" fmla="*/ 1976868 h 2083506"/>
              <a:gd name="connsiteX95" fmla="*/ 6906514 w 12191999"/>
              <a:gd name="connsiteY95" fmla="*/ 1968589 h 2083506"/>
              <a:gd name="connsiteX96" fmla="*/ 6826395 w 12191999"/>
              <a:gd name="connsiteY96" fmla="*/ 1974141 h 2083506"/>
              <a:gd name="connsiteX97" fmla="*/ 6716431 w 12191999"/>
              <a:gd name="connsiteY97" fmla="*/ 2004297 h 2083506"/>
              <a:gd name="connsiteX98" fmla="*/ 6569607 w 12191999"/>
              <a:gd name="connsiteY98" fmla="*/ 2015496 h 2083506"/>
              <a:gd name="connsiteX99" fmla="*/ 6561430 w 12191999"/>
              <a:gd name="connsiteY99" fmla="*/ 2020996 h 2083506"/>
              <a:gd name="connsiteX100" fmla="*/ 6549371 w 12191999"/>
              <a:gd name="connsiteY100" fmla="*/ 2024747 h 2083506"/>
              <a:gd name="connsiteX101" fmla="*/ 6547040 w 12191999"/>
              <a:gd name="connsiteY101" fmla="*/ 2024474 h 2083506"/>
              <a:gd name="connsiteX102" fmla="*/ 6530482 w 12191999"/>
              <a:gd name="connsiteY102" fmla="*/ 2026659 h 2083506"/>
              <a:gd name="connsiteX103" fmla="*/ 6528565 w 12191999"/>
              <a:gd name="connsiteY103" fmla="*/ 2028600 h 2083506"/>
              <a:gd name="connsiteX104" fmla="*/ 6517741 w 12191999"/>
              <a:gd name="connsiteY104" fmla="*/ 2030558 h 2083506"/>
              <a:gd name="connsiteX105" fmla="*/ 6497855 w 12191999"/>
              <a:gd name="connsiteY105" fmla="*/ 2035650 h 2083506"/>
              <a:gd name="connsiteX106" fmla="*/ 6492785 w 12191999"/>
              <a:gd name="connsiteY106" fmla="*/ 2035444 h 2083506"/>
              <a:gd name="connsiteX107" fmla="*/ 6460692 w 12191999"/>
              <a:gd name="connsiteY107" fmla="*/ 2041321 h 2083506"/>
              <a:gd name="connsiteX108" fmla="*/ 6459609 w 12191999"/>
              <a:gd name="connsiteY108" fmla="*/ 2040851 h 2083506"/>
              <a:gd name="connsiteX109" fmla="*/ 6447765 w 12191999"/>
              <a:gd name="connsiteY109" fmla="*/ 2040102 h 2083506"/>
              <a:gd name="connsiteX110" fmla="*/ 6426590 w 12191999"/>
              <a:gd name="connsiteY110" fmla="*/ 2039928 h 2083506"/>
              <a:gd name="connsiteX111" fmla="*/ 6401693 w 12191999"/>
              <a:gd name="connsiteY111" fmla="*/ 2033537 h 2083506"/>
              <a:gd name="connsiteX112" fmla="*/ 6387141 w 12191999"/>
              <a:gd name="connsiteY112" fmla="*/ 2033161 h 2083506"/>
              <a:gd name="connsiteX113" fmla="*/ 6357846 w 12191999"/>
              <a:gd name="connsiteY113" fmla="*/ 2036782 h 2083506"/>
              <a:gd name="connsiteX114" fmla="*/ 6342914 w 12191999"/>
              <a:gd name="connsiteY114" fmla="*/ 2037585 h 2083506"/>
              <a:gd name="connsiteX115" fmla="*/ 6336300 w 12191999"/>
              <a:gd name="connsiteY115" fmla="*/ 2038781 h 2083506"/>
              <a:gd name="connsiteX116" fmla="*/ 6317178 w 12191999"/>
              <a:gd name="connsiteY116" fmla="*/ 2038968 h 2083506"/>
              <a:gd name="connsiteX117" fmla="*/ 6161427 w 12191999"/>
              <a:gd name="connsiteY117" fmla="*/ 2047338 h 2083506"/>
              <a:gd name="connsiteX118" fmla="*/ 6097339 w 12191999"/>
              <a:gd name="connsiteY118" fmla="*/ 2082438 h 2083506"/>
              <a:gd name="connsiteX119" fmla="*/ 6079059 w 12191999"/>
              <a:gd name="connsiteY119" fmla="*/ 2081299 h 2083506"/>
              <a:gd name="connsiteX120" fmla="*/ 5998439 w 12191999"/>
              <a:gd name="connsiteY120" fmla="*/ 2070958 h 2083506"/>
              <a:gd name="connsiteX121" fmla="*/ 5904290 w 12191999"/>
              <a:gd name="connsiteY121" fmla="*/ 2070255 h 2083506"/>
              <a:gd name="connsiteX122" fmla="*/ 5814867 w 12191999"/>
              <a:gd name="connsiteY122" fmla="*/ 2079032 h 2083506"/>
              <a:gd name="connsiteX123" fmla="*/ 5725743 w 12191999"/>
              <a:gd name="connsiteY123" fmla="*/ 2070558 h 2083506"/>
              <a:gd name="connsiteX124" fmla="*/ 5650546 w 12191999"/>
              <a:gd name="connsiteY124" fmla="*/ 2052412 h 2083506"/>
              <a:gd name="connsiteX125" fmla="*/ 5581284 w 12191999"/>
              <a:gd name="connsiteY125" fmla="*/ 2023175 h 2083506"/>
              <a:gd name="connsiteX126" fmla="*/ 5572593 w 12191999"/>
              <a:gd name="connsiteY126" fmla="*/ 2018391 h 2083506"/>
              <a:gd name="connsiteX127" fmla="*/ 5548580 w 12191999"/>
              <a:gd name="connsiteY127" fmla="*/ 2016951 h 2083506"/>
              <a:gd name="connsiteX128" fmla="*/ 5471173 w 12191999"/>
              <a:gd name="connsiteY128" fmla="*/ 2018786 h 2083506"/>
              <a:gd name="connsiteX129" fmla="*/ 5340320 w 12191999"/>
              <a:gd name="connsiteY129" fmla="*/ 2037611 h 2083506"/>
              <a:gd name="connsiteX130" fmla="*/ 5254376 w 12191999"/>
              <a:gd name="connsiteY130" fmla="*/ 2042928 h 2083506"/>
              <a:gd name="connsiteX131" fmla="*/ 5258035 w 12191999"/>
              <a:gd name="connsiteY131" fmla="*/ 2035649 h 2083506"/>
              <a:gd name="connsiteX132" fmla="*/ 5230622 w 12191999"/>
              <a:gd name="connsiteY132" fmla="*/ 2024576 h 2083506"/>
              <a:gd name="connsiteX133" fmla="*/ 5026203 w 12191999"/>
              <a:gd name="connsiteY133" fmla="*/ 2030162 h 2083506"/>
              <a:gd name="connsiteX134" fmla="*/ 4973988 w 12191999"/>
              <a:gd name="connsiteY134" fmla="*/ 2026668 h 2083506"/>
              <a:gd name="connsiteX135" fmla="*/ 4928030 w 12191999"/>
              <a:gd name="connsiteY135" fmla="*/ 2033642 h 2083506"/>
              <a:gd name="connsiteX136" fmla="*/ 4908970 w 12191999"/>
              <a:gd name="connsiteY136" fmla="*/ 2030033 h 2083506"/>
              <a:gd name="connsiteX137" fmla="*/ 4905679 w 12191999"/>
              <a:gd name="connsiteY137" fmla="*/ 2029300 h 2083506"/>
              <a:gd name="connsiteX138" fmla="*/ 4892525 w 12191999"/>
              <a:gd name="connsiteY138" fmla="*/ 2028768 h 2083506"/>
              <a:gd name="connsiteX139" fmla="*/ 4888818 w 12191999"/>
              <a:gd name="connsiteY139" fmla="*/ 2025619 h 2083506"/>
              <a:gd name="connsiteX140" fmla="*/ 4869018 w 12191999"/>
              <a:gd name="connsiteY140" fmla="*/ 2022668 h 2083506"/>
              <a:gd name="connsiteX141" fmla="*/ 4844804 w 12191999"/>
              <a:gd name="connsiteY141" fmla="*/ 2022527 h 2083506"/>
              <a:gd name="connsiteX142" fmla="*/ 4758778 w 12191999"/>
              <a:gd name="connsiteY142" fmla="*/ 2021694 h 2083506"/>
              <a:gd name="connsiteX143" fmla="*/ 4744748 w 12191999"/>
              <a:gd name="connsiteY143" fmla="*/ 2023396 h 2083506"/>
              <a:gd name="connsiteX144" fmla="*/ 4698956 w 12191999"/>
              <a:gd name="connsiteY144" fmla="*/ 2020558 h 2083506"/>
              <a:gd name="connsiteX145" fmla="*/ 4658147 w 12191999"/>
              <a:gd name="connsiteY145" fmla="*/ 2019920 h 2083506"/>
              <a:gd name="connsiteX146" fmla="*/ 4631706 w 12191999"/>
              <a:gd name="connsiteY146" fmla="*/ 2021274 h 2083506"/>
              <a:gd name="connsiteX147" fmla="*/ 4624776 w 12191999"/>
              <a:gd name="connsiteY147" fmla="*/ 2020152 h 2083506"/>
              <a:gd name="connsiteX148" fmla="*/ 4598150 w 12191999"/>
              <a:gd name="connsiteY148" fmla="*/ 2019429 h 2083506"/>
              <a:gd name="connsiteX149" fmla="*/ 4584588 w 12191999"/>
              <a:gd name="connsiteY149" fmla="*/ 2021092 h 2083506"/>
              <a:gd name="connsiteX150" fmla="*/ 4571203 w 12191999"/>
              <a:gd name="connsiteY150" fmla="*/ 2017263 h 2083506"/>
              <a:gd name="connsiteX151" fmla="*/ 4567930 w 12191999"/>
              <a:gd name="connsiteY151" fmla="*/ 2014458 h 2083506"/>
              <a:gd name="connsiteX152" fmla="*/ 4548984 w 12191999"/>
              <a:gd name="connsiteY152" fmla="*/ 2015717 h 2083506"/>
              <a:gd name="connsiteX153" fmla="*/ 4533451 w 12191999"/>
              <a:gd name="connsiteY153" fmla="*/ 2012976 h 2083506"/>
              <a:gd name="connsiteX154" fmla="*/ 4519910 w 12191999"/>
              <a:gd name="connsiteY154" fmla="*/ 2014768 h 2083506"/>
              <a:gd name="connsiteX155" fmla="*/ 4514290 w 12191999"/>
              <a:gd name="connsiteY155" fmla="*/ 2014364 h 2083506"/>
              <a:gd name="connsiteX156" fmla="*/ 4500320 w 12191999"/>
              <a:gd name="connsiteY156" fmla="*/ 2013007 h 2083506"/>
              <a:gd name="connsiteX157" fmla="*/ 4476219 w 12191999"/>
              <a:gd name="connsiteY157" fmla="*/ 2009993 h 2083506"/>
              <a:gd name="connsiteX158" fmla="*/ 4468701 w 12191999"/>
              <a:gd name="connsiteY158" fmla="*/ 2009574 h 2083506"/>
              <a:gd name="connsiteX159" fmla="*/ 4452333 w 12191999"/>
              <a:gd name="connsiteY159" fmla="*/ 2004964 h 2083506"/>
              <a:gd name="connsiteX160" fmla="*/ 4420644 w 12191999"/>
              <a:gd name="connsiteY160" fmla="*/ 2001021 h 2083506"/>
              <a:gd name="connsiteX161" fmla="*/ 4364856 w 12191999"/>
              <a:gd name="connsiteY161" fmla="*/ 1987267 h 2083506"/>
              <a:gd name="connsiteX162" fmla="*/ 4332062 w 12191999"/>
              <a:gd name="connsiteY162" fmla="*/ 1980703 h 2083506"/>
              <a:gd name="connsiteX163" fmla="*/ 4309876 w 12191999"/>
              <a:gd name="connsiteY163" fmla="*/ 1974653 h 2083506"/>
              <a:gd name="connsiteX164" fmla="*/ 4244391 w 12191999"/>
              <a:gd name="connsiteY164" fmla="*/ 1966109 h 2083506"/>
              <a:gd name="connsiteX165" fmla="*/ 4132071 w 12191999"/>
              <a:gd name="connsiteY165" fmla="*/ 1954813 h 2083506"/>
              <a:gd name="connsiteX166" fmla="*/ 4109069 w 12191999"/>
              <a:gd name="connsiteY166" fmla="*/ 1951778 h 2083506"/>
              <a:gd name="connsiteX167" fmla="*/ 4092908 w 12191999"/>
              <a:gd name="connsiteY167" fmla="*/ 1946662 h 2083506"/>
              <a:gd name="connsiteX168" fmla="*/ 4092306 w 12191999"/>
              <a:gd name="connsiteY168" fmla="*/ 1943291 h 2083506"/>
              <a:gd name="connsiteX169" fmla="*/ 4080234 w 12191999"/>
              <a:gd name="connsiteY169" fmla="*/ 1941219 h 2083506"/>
              <a:gd name="connsiteX170" fmla="*/ 4077778 w 12191999"/>
              <a:gd name="connsiteY170" fmla="*/ 1940145 h 2083506"/>
              <a:gd name="connsiteX171" fmla="*/ 4062936 w 12191999"/>
              <a:gd name="connsiteY171" fmla="*/ 1934506 h 2083506"/>
              <a:gd name="connsiteX172" fmla="*/ 4012506 w 12191999"/>
              <a:gd name="connsiteY172" fmla="*/ 1935475 h 2083506"/>
              <a:gd name="connsiteX173" fmla="*/ 3965880 w 12191999"/>
              <a:gd name="connsiteY173" fmla="*/ 1925968 h 2083506"/>
              <a:gd name="connsiteX174" fmla="*/ 3765338 w 12191999"/>
              <a:gd name="connsiteY174" fmla="*/ 1906649 h 2083506"/>
              <a:gd name="connsiteX175" fmla="*/ 3749493 w 12191999"/>
              <a:gd name="connsiteY175" fmla="*/ 1893071 h 2083506"/>
              <a:gd name="connsiteX176" fmla="*/ 3672704 w 12191999"/>
              <a:gd name="connsiteY176" fmla="*/ 1881383 h 2083506"/>
              <a:gd name="connsiteX177" fmla="*/ 3530082 w 12191999"/>
              <a:gd name="connsiteY177" fmla="*/ 1883187 h 2083506"/>
              <a:gd name="connsiteX178" fmla="*/ 3387664 w 12191999"/>
              <a:gd name="connsiteY178" fmla="*/ 1862579 h 2083506"/>
              <a:gd name="connsiteX179" fmla="*/ 3371681 w 12191999"/>
              <a:gd name="connsiteY179" fmla="*/ 1865293 h 2083506"/>
              <a:gd name="connsiteX180" fmla="*/ 3355305 w 12191999"/>
              <a:gd name="connsiteY180" fmla="*/ 1865842 h 2083506"/>
              <a:gd name="connsiteX181" fmla="*/ 3353790 w 12191999"/>
              <a:gd name="connsiteY181" fmla="*/ 1865158 h 2083506"/>
              <a:gd name="connsiteX182" fmla="*/ 3336210 w 12191999"/>
              <a:gd name="connsiteY182" fmla="*/ 1863564 h 2083506"/>
              <a:gd name="connsiteX183" fmla="*/ 3331381 w 12191999"/>
              <a:gd name="connsiteY183" fmla="*/ 1864716 h 2083506"/>
              <a:gd name="connsiteX184" fmla="*/ 3319012 w 12191999"/>
              <a:gd name="connsiteY184" fmla="*/ 1864093 h 2083506"/>
              <a:gd name="connsiteX185" fmla="*/ 3293818 w 12191999"/>
              <a:gd name="connsiteY185" fmla="*/ 1864135 h 2083506"/>
              <a:gd name="connsiteX186" fmla="*/ 3289881 w 12191999"/>
              <a:gd name="connsiteY186" fmla="*/ 1862954 h 2083506"/>
              <a:gd name="connsiteX187" fmla="*/ 3253090 w 12191999"/>
              <a:gd name="connsiteY187" fmla="*/ 1861164 h 2083506"/>
              <a:gd name="connsiteX188" fmla="*/ 3252949 w 12191999"/>
              <a:gd name="connsiteY188" fmla="*/ 1860574 h 2083506"/>
              <a:gd name="connsiteX189" fmla="*/ 3244187 w 12191999"/>
              <a:gd name="connsiteY189" fmla="*/ 1857604 h 2083506"/>
              <a:gd name="connsiteX190" fmla="*/ 3246570 w 12191999"/>
              <a:gd name="connsiteY190" fmla="*/ 1852946 h 2083506"/>
              <a:gd name="connsiteX191" fmla="*/ 3237810 w 12191999"/>
              <a:gd name="connsiteY191" fmla="*/ 1853064 h 2083506"/>
              <a:gd name="connsiteX192" fmla="*/ 3230822 w 12191999"/>
              <a:gd name="connsiteY192" fmla="*/ 1855474 h 2083506"/>
              <a:gd name="connsiteX193" fmla="*/ 3136549 w 12191999"/>
              <a:gd name="connsiteY193" fmla="*/ 1874037 h 2083506"/>
              <a:gd name="connsiteX194" fmla="*/ 2845754 w 12191999"/>
              <a:gd name="connsiteY194" fmla="*/ 1910932 h 2083506"/>
              <a:gd name="connsiteX195" fmla="*/ 2786878 w 12191999"/>
              <a:gd name="connsiteY195" fmla="*/ 1917162 h 2083506"/>
              <a:gd name="connsiteX196" fmla="*/ 2725298 w 12191999"/>
              <a:gd name="connsiteY196" fmla="*/ 1912340 h 2083506"/>
              <a:gd name="connsiteX197" fmla="*/ 2697754 w 12191999"/>
              <a:gd name="connsiteY197" fmla="*/ 1914863 h 2083506"/>
              <a:gd name="connsiteX198" fmla="*/ 2568063 w 12191999"/>
              <a:gd name="connsiteY198" fmla="*/ 1936283 h 2083506"/>
              <a:gd name="connsiteX199" fmla="*/ 2489784 w 12191999"/>
              <a:gd name="connsiteY199" fmla="*/ 1943720 h 2083506"/>
              <a:gd name="connsiteX200" fmla="*/ 2458978 w 12191999"/>
              <a:gd name="connsiteY200" fmla="*/ 1938095 h 2083506"/>
              <a:gd name="connsiteX201" fmla="*/ 2318712 w 12191999"/>
              <a:gd name="connsiteY201" fmla="*/ 1934474 h 2083506"/>
              <a:gd name="connsiteX202" fmla="*/ 2268709 w 12191999"/>
              <a:gd name="connsiteY202" fmla="*/ 1940521 h 2083506"/>
              <a:gd name="connsiteX203" fmla="*/ 2264080 w 12191999"/>
              <a:gd name="connsiteY203" fmla="*/ 1941232 h 2083506"/>
              <a:gd name="connsiteX204" fmla="*/ 2254684 w 12191999"/>
              <a:gd name="connsiteY204" fmla="*/ 1943524 h 2083506"/>
              <a:gd name="connsiteX205" fmla="*/ 2252523 w 12191999"/>
              <a:gd name="connsiteY205" fmla="*/ 1943004 h 2083506"/>
              <a:gd name="connsiteX206" fmla="*/ 2173350 w 12191999"/>
              <a:gd name="connsiteY206" fmla="*/ 1929202 h 2083506"/>
              <a:gd name="connsiteX207" fmla="*/ 2155266 w 12191999"/>
              <a:gd name="connsiteY207" fmla="*/ 1920267 h 2083506"/>
              <a:gd name="connsiteX208" fmla="*/ 2091013 w 12191999"/>
              <a:gd name="connsiteY208" fmla="*/ 1914631 h 2083506"/>
              <a:gd name="connsiteX209" fmla="*/ 2030712 w 12191999"/>
              <a:gd name="connsiteY209" fmla="*/ 1897690 h 2083506"/>
              <a:gd name="connsiteX210" fmla="*/ 1908838 w 12191999"/>
              <a:gd name="connsiteY210" fmla="*/ 1892222 h 2083506"/>
              <a:gd name="connsiteX211" fmla="*/ 1877796 w 12191999"/>
              <a:gd name="connsiteY211" fmla="*/ 1883887 h 2083506"/>
              <a:gd name="connsiteX212" fmla="*/ 1875824 w 12191999"/>
              <a:gd name="connsiteY212" fmla="*/ 1879265 h 2083506"/>
              <a:gd name="connsiteX213" fmla="*/ 1823048 w 12191999"/>
              <a:gd name="connsiteY213" fmla="*/ 1881064 h 2083506"/>
              <a:gd name="connsiteX214" fmla="*/ 1765736 w 12191999"/>
              <a:gd name="connsiteY214" fmla="*/ 1856578 h 2083506"/>
              <a:gd name="connsiteX215" fmla="*/ 1725669 w 12191999"/>
              <a:gd name="connsiteY215" fmla="*/ 1833744 h 2083506"/>
              <a:gd name="connsiteX216" fmla="*/ 1725216 w 12191999"/>
              <a:gd name="connsiteY216" fmla="*/ 1829447 h 2083506"/>
              <a:gd name="connsiteX217" fmla="*/ 1721485 w 12191999"/>
              <a:gd name="connsiteY217" fmla="*/ 1828960 h 2083506"/>
              <a:gd name="connsiteX218" fmla="*/ 1717786 w 12191999"/>
              <a:gd name="connsiteY218" fmla="*/ 1832224 h 2083506"/>
              <a:gd name="connsiteX219" fmla="*/ 1689907 w 12191999"/>
              <a:gd name="connsiteY219" fmla="*/ 1825425 h 2083506"/>
              <a:gd name="connsiteX220" fmla="*/ 1688093 w 12191999"/>
              <a:gd name="connsiteY220" fmla="*/ 1817391 h 2083506"/>
              <a:gd name="connsiteX221" fmla="*/ 1496789 w 12191999"/>
              <a:gd name="connsiteY221" fmla="*/ 1805297 h 2083506"/>
              <a:gd name="connsiteX222" fmla="*/ 1392839 w 12191999"/>
              <a:gd name="connsiteY222" fmla="*/ 1758649 h 2083506"/>
              <a:gd name="connsiteX223" fmla="*/ 1360872 w 12191999"/>
              <a:gd name="connsiteY223" fmla="*/ 1752441 h 2083506"/>
              <a:gd name="connsiteX224" fmla="*/ 1313885 w 12191999"/>
              <a:gd name="connsiteY224" fmla="*/ 1731785 h 2083506"/>
              <a:gd name="connsiteX225" fmla="*/ 1247665 w 12191999"/>
              <a:gd name="connsiteY225" fmla="*/ 1727765 h 2083506"/>
              <a:gd name="connsiteX226" fmla="*/ 1196850 w 12191999"/>
              <a:gd name="connsiteY226" fmla="*/ 1729622 h 2083506"/>
              <a:gd name="connsiteX227" fmla="*/ 1168728 w 12191999"/>
              <a:gd name="connsiteY227" fmla="*/ 1728550 h 2083506"/>
              <a:gd name="connsiteX228" fmla="*/ 1096918 w 12191999"/>
              <a:gd name="connsiteY228" fmla="*/ 1721485 h 2083506"/>
              <a:gd name="connsiteX229" fmla="*/ 1094082 w 12191999"/>
              <a:gd name="connsiteY229" fmla="*/ 1720113 h 2083506"/>
              <a:gd name="connsiteX230" fmla="*/ 1040782 w 12191999"/>
              <a:gd name="connsiteY230" fmla="*/ 1721762 h 2083506"/>
              <a:gd name="connsiteX231" fmla="*/ 955980 w 12191999"/>
              <a:gd name="connsiteY231" fmla="*/ 1719289 h 2083506"/>
              <a:gd name="connsiteX232" fmla="*/ 926108 w 12191999"/>
              <a:gd name="connsiteY232" fmla="*/ 1715917 h 2083506"/>
              <a:gd name="connsiteX233" fmla="*/ 876049 w 12191999"/>
              <a:gd name="connsiteY233" fmla="*/ 1710422 h 2083506"/>
              <a:gd name="connsiteX234" fmla="*/ 839194 w 12191999"/>
              <a:gd name="connsiteY234" fmla="*/ 1700176 h 2083506"/>
              <a:gd name="connsiteX235" fmla="*/ 797112 w 12191999"/>
              <a:gd name="connsiteY235" fmla="*/ 1698014 h 2083506"/>
              <a:gd name="connsiteX236" fmla="*/ 786610 w 12191999"/>
              <a:gd name="connsiteY236" fmla="*/ 1705455 h 2083506"/>
              <a:gd name="connsiteX237" fmla="*/ 741833 w 12191999"/>
              <a:gd name="connsiteY237" fmla="*/ 1700566 h 2083506"/>
              <a:gd name="connsiteX238" fmla="*/ 673985 w 12191999"/>
              <a:gd name="connsiteY238" fmla="*/ 1692278 h 2083506"/>
              <a:gd name="connsiteX239" fmla="*/ 634665 w 12191999"/>
              <a:gd name="connsiteY239" fmla="*/ 1689550 h 2083506"/>
              <a:gd name="connsiteX240" fmla="*/ 527471 w 12191999"/>
              <a:gd name="connsiteY240" fmla="*/ 1679869 h 2083506"/>
              <a:gd name="connsiteX241" fmla="*/ 420260 w 12191999"/>
              <a:gd name="connsiteY241" fmla="*/ 1668475 h 2083506"/>
              <a:gd name="connsiteX242" fmla="*/ 357630 w 12191999"/>
              <a:gd name="connsiteY242" fmla="*/ 1652142 h 2083506"/>
              <a:gd name="connsiteX243" fmla="*/ 269407 w 12191999"/>
              <a:gd name="connsiteY243" fmla="*/ 1643812 h 2083506"/>
              <a:gd name="connsiteX244" fmla="*/ 254769 w 12191999"/>
              <a:gd name="connsiteY244" fmla="*/ 1641013 h 2083506"/>
              <a:gd name="connsiteX245" fmla="*/ 150763 w 12191999"/>
              <a:gd name="connsiteY245" fmla="*/ 1628143 h 2083506"/>
              <a:gd name="connsiteX246" fmla="*/ 29133 w 12191999"/>
              <a:gd name="connsiteY246" fmla="*/ 1626172 h 2083506"/>
              <a:gd name="connsiteX247" fmla="*/ 0 w 12191999"/>
              <a:gd name="connsiteY247" fmla="*/ 1619589 h 2083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</a:cxnLst>
            <a:rect l="l" t="t" r="r" b="b"/>
            <a:pathLst>
              <a:path w="12191999" h="2083506">
                <a:moveTo>
                  <a:pt x="0" y="0"/>
                </a:moveTo>
                <a:lnTo>
                  <a:pt x="9429748" y="0"/>
                </a:lnTo>
                <a:lnTo>
                  <a:pt x="9429748" y="1"/>
                </a:lnTo>
                <a:lnTo>
                  <a:pt x="12191999" y="1"/>
                </a:lnTo>
                <a:lnTo>
                  <a:pt x="12191999" y="1164372"/>
                </a:lnTo>
                <a:lnTo>
                  <a:pt x="12147852" y="1163783"/>
                </a:lnTo>
                <a:cubicBezTo>
                  <a:pt x="12063101" y="1189107"/>
                  <a:pt x="12045020" y="1156925"/>
                  <a:pt x="11993604" y="1153496"/>
                </a:cubicBezTo>
                <a:cubicBezTo>
                  <a:pt x="11954216" y="1165241"/>
                  <a:pt x="11911195" y="1167350"/>
                  <a:pt x="11865319" y="1176624"/>
                </a:cubicBezTo>
                <a:cubicBezTo>
                  <a:pt x="11822513" y="1184682"/>
                  <a:pt x="11766915" y="1201558"/>
                  <a:pt x="11718353" y="1209136"/>
                </a:cubicBezTo>
                <a:cubicBezTo>
                  <a:pt x="11675379" y="1217463"/>
                  <a:pt x="11638007" y="1216639"/>
                  <a:pt x="11609067" y="1218512"/>
                </a:cubicBezTo>
                <a:cubicBezTo>
                  <a:pt x="11597582" y="1221322"/>
                  <a:pt x="11554280" y="1243577"/>
                  <a:pt x="11545958" y="1240430"/>
                </a:cubicBezTo>
                <a:lnTo>
                  <a:pt x="11445770" y="1225780"/>
                </a:lnTo>
                <a:cubicBezTo>
                  <a:pt x="11425543" y="1230782"/>
                  <a:pt x="11413740" y="1222096"/>
                  <a:pt x="11398842" y="1227250"/>
                </a:cubicBezTo>
                <a:cubicBezTo>
                  <a:pt x="11367060" y="1233093"/>
                  <a:pt x="11269285" y="1263712"/>
                  <a:pt x="11240093" y="1266797"/>
                </a:cubicBezTo>
                <a:cubicBezTo>
                  <a:pt x="11197297" y="1273685"/>
                  <a:pt x="11181311" y="1272682"/>
                  <a:pt x="11141364" y="1288059"/>
                </a:cubicBezTo>
                <a:cubicBezTo>
                  <a:pt x="11099891" y="1305386"/>
                  <a:pt x="11051533" y="1319157"/>
                  <a:pt x="11015396" y="1353104"/>
                </a:cubicBezTo>
                <a:cubicBezTo>
                  <a:pt x="11009424" y="1362217"/>
                  <a:pt x="10992328" y="1361966"/>
                  <a:pt x="10973905" y="1365109"/>
                </a:cubicBezTo>
                <a:cubicBezTo>
                  <a:pt x="10955482" y="1368254"/>
                  <a:pt x="10907369" y="1372817"/>
                  <a:pt x="10904858" y="1371966"/>
                </a:cubicBezTo>
                <a:cubicBezTo>
                  <a:pt x="10880521" y="1379494"/>
                  <a:pt x="10873670" y="1399734"/>
                  <a:pt x="10827883" y="1410270"/>
                </a:cubicBezTo>
                <a:cubicBezTo>
                  <a:pt x="10790248" y="1415655"/>
                  <a:pt x="10724899" y="1420726"/>
                  <a:pt x="10690996" y="1426394"/>
                </a:cubicBezTo>
                <a:cubicBezTo>
                  <a:pt x="10676463" y="1423331"/>
                  <a:pt x="10634514" y="1436908"/>
                  <a:pt x="10624461" y="1444283"/>
                </a:cubicBezTo>
                <a:cubicBezTo>
                  <a:pt x="10601952" y="1468442"/>
                  <a:pt x="10536224" y="1460228"/>
                  <a:pt x="10517208" y="1478947"/>
                </a:cubicBezTo>
                <a:cubicBezTo>
                  <a:pt x="10509508" y="1482271"/>
                  <a:pt x="10505833" y="1468818"/>
                  <a:pt x="10497937" y="1469831"/>
                </a:cubicBezTo>
                <a:lnTo>
                  <a:pt x="10471201" y="1486037"/>
                </a:lnTo>
                <a:lnTo>
                  <a:pt x="10448263" y="1478223"/>
                </a:lnTo>
                <a:lnTo>
                  <a:pt x="10388089" y="1507175"/>
                </a:lnTo>
                <a:cubicBezTo>
                  <a:pt x="10350285" y="1513081"/>
                  <a:pt x="10383281" y="1526586"/>
                  <a:pt x="10333720" y="1515848"/>
                </a:cubicBezTo>
                <a:cubicBezTo>
                  <a:pt x="10286428" y="1526223"/>
                  <a:pt x="10174884" y="1550019"/>
                  <a:pt x="10104338" y="1569424"/>
                </a:cubicBezTo>
                <a:cubicBezTo>
                  <a:pt x="10066963" y="1581564"/>
                  <a:pt x="9967395" y="1605712"/>
                  <a:pt x="9910445" y="1632275"/>
                </a:cubicBezTo>
                <a:cubicBezTo>
                  <a:pt x="9856131" y="1644130"/>
                  <a:pt x="9831118" y="1689967"/>
                  <a:pt x="9770872" y="1688088"/>
                </a:cubicBezTo>
                <a:cubicBezTo>
                  <a:pt x="9769882" y="1691843"/>
                  <a:pt x="9737016" y="1697044"/>
                  <a:pt x="9733849" y="1700034"/>
                </a:cubicBezTo>
                <a:lnTo>
                  <a:pt x="9703714" y="1730093"/>
                </a:lnTo>
                <a:lnTo>
                  <a:pt x="9698351" y="1730377"/>
                </a:lnTo>
                <a:lnTo>
                  <a:pt x="9632895" y="1736363"/>
                </a:lnTo>
                <a:lnTo>
                  <a:pt x="9569107" y="1741010"/>
                </a:lnTo>
                <a:cubicBezTo>
                  <a:pt x="9558961" y="1745882"/>
                  <a:pt x="9548028" y="1750646"/>
                  <a:pt x="9536451" y="1755120"/>
                </a:cubicBezTo>
                <a:lnTo>
                  <a:pt x="9529385" y="1757515"/>
                </a:lnTo>
                <a:lnTo>
                  <a:pt x="9498527" y="1753117"/>
                </a:lnTo>
                <a:lnTo>
                  <a:pt x="9436642" y="1755478"/>
                </a:lnTo>
                <a:lnTo>
                  <a:pt x="9429748" y="1756317"/>
                </a:lnTo>
                <a:lnTo>
                  <a:pt x="9429748" y="1768745"/>
                </a:lnTo>
                <a:lnTo>
                  <a:pt x="9425802" y="1769273"/>
                </a:lnTo>
                <a:cubicBezTo>
                  <a:pt x="9390751" y="1773262"/>
                  <a:pt x="9371406" y="1773457"/>
                  <a:pt x="9349763" y="1776107"/>
                </a:cubicBezTo>
                <a:cubicBezTo>
                  <a:pt x="9314721" y="1782260"/>
                  <a:pt x="9277650" y="1796217"/>
                  <a:pt x="9256503" y="1800699"/>
                </a:cubicBezTo>
                <a:lnTo>
                  <a:pt x="9222873" y="1803003"/>
                </a:lnTo>
                <a:lnTo>
                  <a:pt x="9224095" y="1807355"/>
                </a:lnTo>
                <a:lnTo>
                  <a:pt x="9211603" y="1807675"/>
                </a:lnTo>
                <a:lnTo>
                  <a:pt x="9183719" y="1807781"/>
                </a:lnTo>
                <a:cubicBezTo>
                  <a:pt x="9166319" y="1808439"/>
                  <a:pt x="9117935" y="1807396"/>
                  <a:pt x="9100221" y="1808989"/>
                </a:cubicBezTo>
                <a:cubicBezTo>
                  <a:pt x="9095111" y="1813630"/>
                  <a:pt x="9087224" y="1816160"/>
                  <a:pt x="9077439" y="1817333"/>
                </a:cubicBezTo>
                <a:lnTo>
                  <a:pt x="9055889" y="1817464"/>
                </a:lnTo>
                <a:lnTo>
                  <a:pt x="8930912" y="1828648"/>
                </a:lnTo>
                <a:lnTo>
                  <a:pt x="8913729" y="1829483"/>
                </a:lnTo>
                <a:lnTo>
                  <a:pt x="8904423" y="1833234"/>
                </a:lnTo>
                <a:cubicBezTo>
                  <a:pt x="8897319" y="1833982"/>
                  <a:pt x="8876911" y="1833498"/>
                  <a:pt x="8871099" y="1833979"/>
                </a:cubicBezTo>
                <a:lnTo>
                  <a:pt x="8869557" y="1836113"/>
                </a:lnTo>
                <a:cubicBezTo>
                  <a:pt x="8851043" y="1839524"/>
                  <a:pt x="8781405" y="1850882"/>
                  <a:pt x="8760021" y="1854442"/>
                </a:cubicBezTo>
                <a:cubicBezTo>
                  <a:pt x="8755749" y="1851161"/>
                  <a:pt x="8746183" y="1856343"/>
                  <a:pt x="8741254" y="1857469"/>
                </a:cubicBezTo>
                <a:cubicBezTo>
                  <a:pt x="8740491" y="1855259"/>
                  <a:pt x="8728559" y="1854585"/>
                  <a:pt x="8725039" y="1856552"/>
                </a:cubicBezTo>
                <a:cubicBezTo>
                  <a:pt x="8641157" y="1867333"/>
                  <a:pt x="8683145" y="1845054"/>
                  <a:pt x="8635265" y="1859168"/>
                </a:cubicBezTo>
                <a:cubicBezTo>
                  <a:pt x="8626795" y="1860103"/>
                  <a:pt x="8619931" y="1859212"/>
                  <a:pt x="8613911" y="1857561"/>
                </a:cubicBezTo>
                <a:lnTo>
                  <a:pt x="8604931" y="1854170"/>
                </a:lnTo>
                <a:lnTo>
                  <a:pt x="8570171" y="1860579"/>
                </a:lnTo>
                <a:cubicBezTo>
                  <a:pt x="8553049" y="1862813"/>
                  <a:pt x="8535028" y="1864294"/>
                  <a:pt x="8516537" y="1864971"/>
                </a:cubicBezTo>
                <a:cubicBezTo>
                  <a:pt x="8512388" y="1860455"/>
                  <a:pt x="8497874" y="1866870"/>
                  <a:pt x="8491046" y="1868141"/>
                </a:cubicBezTo>
                <a:cubicBezTo>
                  <a:pt x="8490975" y="1865191"/>
                  <a:pt x="8475847" y="1863778"/>
                  <a:pt x="8470478" y="1866216"/>
                </a:cubicBezTo>
                <a:cubicBezTo>
                  <a:pt x="8357654" y="1876758"/>
                  <a:pt x="8421139" y="1849210"/>
                  <a:pt x="8353433" y="1865729"/>
                </a:cubicBezTo>
                <a:lnTo>
                  <a:pt x="8347675" y="1865075"/>
                </a:lnTo>
                <a:lnTo>
                  <a:pt x="8343939" y="1865677"/>
                </a:lnTo>
                <a:cubicBezTo>
                  <a:pt x="8309852" y="1870841"/>
                  <a:pt x="8272587" y="1875809"/>
                  <a:pt x="8221566" y="1881148"/>
                </a:cubicBezTo>
                <a:cubicBezTo>
                  <a:pt x="8158043" y="1892960"/>
                  <a:pt x="8095547" y="1914042"/>
                  <a:pt x="8066095" y="1919902"/>
                </a:cubicBezTo>
                <a:cubicBezTo>
                  <a:pt x="8058949" y="1919234"/>
                  <a:pt x="8051921" y="1917862"/>
                  <a:pt x="8044849" y="1916308"/>
                </a:cubicBezTo>
                <a:lnTo>
                  <a:pt x="8041142" y="1915506"/>
                </a:lnTo>
                <a:lnTo>
                  <a:pt x="8022159" y="1911521"/>
                </a:lnTo>
                <a:lnTo>
                  <a:pt x="7944932" y="1917265"/>
                </a:lnTo>
                <a:lnTo>
                  <a:pt x="7879011" y="1928570"/>
                </a:lnTo>
                <a:lnTo>
                  <a:pt x="7865529" y="1934399"/>
                </a:lnTo>
                <a:lnTo>
                  <a:pt x="7774801" y="1947969"/>
                </a:lnTo>
                <a:lnTo>
                  <a:pt x="7748398" y="1955982"/>
                </a:lnTo>
                <a:lnTo>
                  <a:pt x="7740684" y="1955717"/>
                </a:lnTo>
                <a:cubicBezTo>
                  <a:pt x="7728362" y="1958584"/>
                  <a:pt x="7714099" y="1968442"/>
                  <a:pt x="7712976" y="1960442"/>
                </a:cubicBezTo>
                <a:lnTo>
                  <a:pt x="7699956" y="1966104"/>
                </a:lnTo>
                <a:lnTo>
                  <a:pt x="7684158" y="1962927"/>
                </a:lnTo>
                <a:cubicBezTo>
                  <a:pt x="7674684" y="1962643"/>
                  <a:pt x="7652105" y="1963177"/>
                  <a:pt x="7643109" y="1964400"/>
                </a:cubicBezTo>
                <a:lnTo>
                  <a:pt x="7630180" y="1970266"/>
                </a:lnTo>
                <a:lnTo>
                  <a:pt x="7609131" y="1971774"/>
                </a:lnTo>
                <a:cubicBezTo>
                  <a:pt x="7596694" y="1971644"/>
                  <a:pt x="7570258" y="1969757"/>
                  <a:pt x="7555555" y="1969491"/>
                </a:cubicBezTo>
                <a:cubicBezTo>
                  <a:pt x="7541460" y="1966540"/>
                  <a:pt x="7530571" y="1964848"/>
                  <a:pt x="7520919" y="1970177"/>
                </a:cubicBezTo>
                <a:cubicBezTo>
                  <a:pt x="7500295" y="1966884"/>
                  <a:pt x="7480780" y="1949401"/>
                  <a:pt x="7456258" y="1960468"/>
                </a:cubicBezTo>
                <a:cubicBezTo>
                  <a:pt x="7434946" y="1957506"/>
                  <a:pt x="7435772" y="1952500"/>
                  <a:pt x="7393047" y="1952408"/>
                </a:cubicBezTo>
                <a:cubicBezTo>
                  <a:pt x="7356520" y="1952860"/>
                  <a:pt x="7236307" y="1958626"/>
                  <a:pt x="7199912" y="1959913"/>
                </a:cubicBezTo>
                <a:cubicBezTo>
                  <a:pt x="7176501" y="1959942"/>
                  <a:pt x="7160098" y="1958343"/>
                  <a:pt x="7146774" y="1956641"/>
                </a:cubicBezTo>
                <a:lnTo>
                  <a:pt x="7122244" y="1953891"/>
                </a:lnTo>
                <a:lnTo>
                  <a:pt x="7032241" y="1962723"/>
                </a:lnTo>
                <a:cubicBezTo>
                  <a:pt x="6997214" y="1965198"/>
                  <a:pt x="6963725" y="1968396"/>
                  <a:pt x="6941492" y="1976868"/>
                </a:cubicBezTo>
                <a:cubicBezTo>
                  <a:pt x="6947015" y="1970398"/>
                  <a:pt x="6923088" y="1965379"/>
                  <a:pt x="6906514" y="1968589"/>
                </a:cubicBezTo>
                <a:cubicBezTo>
                  <a:pt x="6925890" y="1943204"/>
                  <a:pt x="6840983" y="1991464"/>
                  <a:pt x="6826395" y="1974141"/>
                </a:cubicBezTo>
                <a:cubicBezTo>
                  <a:pt x="6825676" y="1990223"/>
                  <a:pt x="6751393" y="2017492"/>
                  <a:pt x="6716431" y="2004297"/>
                </a:cubicBezTo>
                <a:cubicBezTo>
                  <a:pt x="6663167" y="2007518"/>
                  <a:pt x="6625450" y="2020811"/>
                  <a:pt x="6569607" y="2015496"/>
                </a:cubicBezTo>
                <a:cubicBezTo>
                  <a:pt x="6567874" y="2017648"/>
                  <a:pt x="6565034" y="2019449"/>
                  <a:pt x="6561430" y="2020996"/>
                </a:cubicBezTo>
                <a:lnTo>
                  <a:pt x="6549371" y="2024747"/>
                </a:lnTo>
                <a:lnTo>
                  <a:pt x="6547040" y="2024474"/>
                </a:lnTo>
                <a:cubicBezTo>
                  <a:pt x="6537882" y="2024425"/>
                  <a:pt x="6533193" y="2025332"/>
                  <a:pt x="6530482" y="2026659"/>
                </a:cubicBezTo>
                <a:lnTo>
                  <a:pt x="6528565" y="2028600"/>
                </a:lnTo>
                <a:lnTo>
                  <a:pt x="6517741" y="2030558"/>
                </a:lnTo>
                <a:lnTo>
                  <a:pt x="6497855" y="2035650"/>
                </a:lnTo>
                <a:lnTo>
                  <a:pt x="6492785" y="2035444"/>
                </a:lnTo>
                <a:lnTo>
                  <a:pt x="6460692" y="2041321"/>
                </a:lnTo>
                <a:lnTo>
                  <a:pt x="6459609" y="2040851"/>
                </a:lnTo>
                <a:cubicBezTo>
                  <a:pt x="6456451" y="2039933"/>
                  <a:pt x="6452734" y="2039508"/>
                  <a:pt x="6447765" y="2040102"/>
                </a:cubicBezTo>
                <a:cubicBezTo>
                  <a:pt x="6446007" y="2031126"/>
                  <a:pt x="6441093" y="2037380"/>
                  <a:pt x="6426590" y="2039928"/>
                </a:cubicBezTo>
                <a:cubicBezTo>
                  <a:pt x="6423606" y="2033241"/>
                  <a:pt x="6413230" y="2032925"/>
                  <a:pt x="6401693" y="2033537"/>
                </a:cubicBezTo>
                <a:lnTo>
                  <a:pt x="6387141" y="2033161"/>
                </a:lnTo>
                <a:lnTo>
                  <a:pt x="6357846" y="2036782"/>
                </a:lnTo>
                <a:lnTo>
                  <a:pt x="6342914" y="2037585"/>
                </a:lnTo>
                <a:lnTo>
                  <a:pt x="6336300" y="2038781"/>
                </a:lnTo>
                <a:lnTo>
                  <a:pt x="6317178" y="2038968"/>
                </a:lnTo>
                <a:lnTo>
                  <a:pt x="6161427" y="2047338"/>
                </a:lnTo>
                <a:cubicBezTo>
                  <a:pt x="6147824" y="2057658"/>
                  <a:pt x="6118908" y="2077615"/>
                  <a:pt x="6097339" y="2082438"/>
                </a:cubicBezTo>
                <a:cubicBezTo>
                  <a:pt x="6090149" y="2084046"/>
                  <a:pt x="6083776" y="2083972"/>
                  <a:pt x="6079059" y="2081299"/>
                </a:cubicBezTo>
                <a:cubicBezTo>
                  <a:pt x="6063900" y="2082334"/>
                  <a:pt x="6011621" y="2084537"/>
                  <a:pt x="5998439" y="2070958"/>
                </a:cubicBezTo>
                <a:cubicBezTo>
                  <a:pt x="5976443" y="2071759"/>
                  <a:pt x="5925514" y="2069780"/>
                  <a:pt x="5904290" y="2070255"/>
                </a:cubicBezTo>
                <a:cubicBezTo>
                  <a:pt x="5871515" y="2066244"/>
                  <a:pt x="5843986" y="2088249"/>
                  <a:pt x="5814867" y="2079032"/>
                </a:cubicBezTo>
                <a:cubicBezTo>
                  <a:pt x="5792003" y="2070559"/>
                  <a:pt x="5750009" y="2076273"/>
                  <a:pt x="5725743" y="2070558"/>
                </a:cubicBezTo>
                <a:cubicBezTo>
                  <a:pt x="5716432" y="2058355"/>
                  <a:pt x="5667424" y="2047322"/>
                  <a:pt x="5650546" y="2052412"/>
                </a:cubicBezTo>
                <a:cubicBezTo>
                  <a:pt x="5614627" y="2046084"/>
                  <a:pt x="5608108" y="2028306"/>
                  <a:pt x="5581284" y="2023175"/>
                </a:cubicBezTo>
                <a:lnTo>
                  <a:pt x="5572593" y="2018391"/>
                </a:lnTo>
                <a:lnTo>
                  <a:pt x="5548580" y="2016951"/>
                </a:lnTo>
                <a:cubicBezTo>
                  <a:pt x="5523726" y="2017783"/>
                  <a:pt x="5498337" y="2019663"/>
                  <a:pt x="5471173" y="2018786"/>
                </a:cubicBezTo>
                <a:cubicBezTo>
                  <a:pt x="5447687" y="2003020"/>
                  <a:pt x="5353807" y="2022324"/>
                  <a:pt x="5340320" y="2037611"/>
                </a:cubicBezTo>
                <a:cubicBezTo>
                  <a:pt x="5340015" y="2024215"/>
                  <a:pt x="5271937" y="2042455"/>
                  <a:pt x="5254376" y="2042928"/>
                </a:cubicBezTo>
                <a:cubicBezTo>
                  <a:pt x="5248522" y="2043086"/>
                  <a:pt x="5248281" y="2041270"/>
                  <a:pt x="5258035" y="2035649"/>
                </a:cubicBezTo>
                <a:cubicBezTo>
                  <a:pt x="5239374" y="2037214"/>
                  <a:pt x="5220112" y="2030252"/>
                  <a:pt x="5230622" y="2024576"/>
                </a:cubicBezTo>
                <a:cubicBezTo>
                  <a:pt x="5173932" y="2036724"/>
                  <a:pt x="5090262" y="2024645"/>
                  <a:pt x="5026203" y="2030162"/>
                </a:cubicBezTo>
                <a:cubicBezTo>
                  <a:pt x="4991280" y="2016814"/>
                  <a:pt x="5010212" y="2029164"/>
                  <a:pt x="4973988" y="2026668"/>
                </a:cubicBezTo>
                <a:cubicBezTo>
                  <a:pt x="4983896" y="2038955"/>
                  <a:pt x="4930012" y="2019774"/>
                  <a:pt x="4928030" y="2033642"/>
                </a:cubicBezTo>
                <a:cubicBezTo>
                  <a:pt x="4921501" y="2032748"/>
                  <a:pt x="4915238" y="2031445"/>
                  <a:pt x="4908970" y="2030033"/>
                </a:cubicBezTo>
                <a:lnTo>
                  <a:pt x="4905679" y="2029300"/>
                </a:lnTo>
                <a:lnTo>
                  <a:pt x="4892525" y="2028768"/>
                </a:lnTo>
                <a:lnTo>
                  <a:pt x="4888818" y="2025619"/>
                </a:lnTo>
                <a:lnTo>
                  <a:pt x="4869018" y="2022668"/>
                </a:lnTo>
                <a:cubicBezTo>
                  <a:pt x="4861602" y="2022028"/>
                  <a:pt x="4853622" y="2021880"/>
                  <a:pt x="4844804" y="2022527"/>
                </a:cubicBezTo>
                <a:cubicBezTo>
                  <a:pt x="4823110" y="2028022"/>
                  <a:pt x="4789330" y="2021287"/>
                  <a:pt x="4758778" y="2021694"/>
                </a:cubicBezTo>
                <a:lnTo>
                  <a:pt x="4744748" y="2023396"/>
                </a:lnTo>
                <a:lnTo>
                  <a:pt x="4698956" y="2020558"/>
                </a:lnTo>
                <a:cubicBezTo>
                  <a:pt x="4685921" y="2020008"/>
                  <a:pt x="4672392" y="2019718"/>
                  <a:pt x="4658147" y="2019920"/>
                </a:cubicBezTo>
                <a:lnTo>
                  <a:pt x="4631706" y="2021274"/>
                </a:lnTo>
                <a:lnTo>
                  <a:pt x="4624776" y="2020152"/>
                </a:lnTo>
                <a:cubicBezTo>
                  <a:pt x="4612703" y="2020277"/>
                  <a:pt x="4596727" y="2024226"/>
                  <a:pt x="4598150" y="2019429"/>
                </a:cubicBezTo>
                <a:lnTo>
                  <a:pt x="4584588" y="2021092"/>
                </a:lnTo>
                <a:lnTo>
                  <a:pt x="4571203" y="2017263"/>
                </a:lnTo>
                <a:cubicBezTo>
                  <a:pt x="4569736" y="2016374"/>
                  <a:pt x="4568633" y="2015427"/>
                  <a:pt x="4567930" y="2014458"/>
                </a:cubicBezTo>
                <a:lnTo>
                  <a:pt x="4548984" y="2015717"/>
                </a:lnTo>
                <a:lnTo>
                  <a:pt x="4533451" y="2012976"/>
                </a:lnTo>
                <a:lnTo>
                  <a:pt x="4519910" y="2014768"/>
                </a:lnTo>
                <a:lnTo>
                  <a:pt x="4514290" y="2014364"/>
                </a:lnTo>
                <a:lnTo>
                  <a:pt x="4500320" y="2013007"/>
                </a:lnTo>
                <a:cubicBezTo>
                  <a:pt x="4493159" y="2012056"/>
                  <a:pt x="4485144" y="2010910"/>
                  <a:pt x="4476219" y="2009993"/>
                </a:cubicBezTo>
                <a:lnTo>
                  <a:pt x="4468701" y="2009574"/>
                </a:lnTo>
                <a:lnTo>
                  <a:pt x="4452333" y="2004964"/>
                </a:lnTo>
                <a:cubicBezTo>
                  <a:pt x="4440422" y="2001479"/>
                  <a:pt x="4431048" y="1999130"/>
                  <a:pt x="4420644" y="2001021"/>
                </a:cubicBezTo>
                <a:cubicBezTo>
                  <a:pt x="4402911" y="1996519"/>
                  <a:pt x="4390524" y="1983900"/>
                  <a:pt x="4364856" y="1987267"/>
                </a:cubicBezTo>
                <a:cubicBezTo>
                  <a:pt x="4372645" y="1981550"/>
                  <a:pt x="4336350" y="1986575"/>
                  <a:pt x="4332062" y="1980703"/>
                </a:cubicBezTo>
                <a:cubicBezTo>
                  <a:pt x="4330083" y="1975974"/>
                  <a:pt x="4318612" y="1976397"/>
                  <a:pt x="4309876" y="1974653"/>
                </a:cubicBezTo>
                <a:cubicBezTo>
                  <a:pt x="4303650" y="1969824"/>
                  <a:pt x="4259693" y="1965414"/>
                  <a:pt x="4244391" y="1966109"/>
                </a:cubicBezTo>
                <a:cubicBezTo>
                  <a:pt x="4201255" y="1970914"/>
                  <a:pt x="4166558" y="1951471"/>
                  <a:pt x="4132071" y="1954813"/>
                </a:cubicBezTo>
                <a:cubicBezTo>
                  <a:pt x="4123041" y="1954358"/>
                  <a:pt x="4115554" y="1953263"/>
                  <a:pt x="4109069" y="1951778"/>
                </a:cubicBezTo>
                <a:lnTo>
                  <a:pt x="4092908" y="1946662"/>
                </a:lnTo>
                <a:cubicBezTo>
                  <a:pt x="4092707" y="1945539"/>
                  <a:pt x="4092506" y="1944415"/>
                  <a:pt x="4092306" y="1943291"/>
                </a:cubicBezTo>
                <a:lnTo>
                  <a:pt x="4080234" y="1941219"/>
                </a:lnTo>
                <a:lnTo>
                  <a:pt x="4077778" y="1940145"/>
                </a:lnTo>
                <a:cubicBezTo>
                  <a:pt x="4073105" y="1938081"/>
                  <a:pt x="4068339" y="1936119"/>
                  <a:pt x="4062936" y="1934506"/>
                </a:cubicBezTo>
                <a:cubicBezTo>
                  <a:pt x="4048082" y="1947155"/>
                  <a:pt x="4014523" y="1922869"/>
                  <a:pt x="4012506" y="1935475"/>
                </a:cubicBezTo>
                <a:cubicBezTo>
                  <a:pt x="3980228" y="1928812"/>
                  <a:pt x="3986775" y="1942559"/>
                  <a:pt x="3965880" y="1925968"/>
                </a:cubicBezTo>
                <a:cubicBezTo>
                  <a:pt x="3899515" y="1923414"/>
                  <a:pt x="3830855" y="1902158"/>
                  <a:pt x="3765338" y="1906649"/>
                </a:cubicBezTo>
                <a:cubicBezTo>
                  <a:pt x="3780686" y="1902635"/>
                  <a:pt x="3768784" y="1893856"/>
                  <a:pt x="3749493" y="1893071"/>
                </a:cubicBezTo>
                <a:cubicBezTo>
                  <a:pt x="3807776" y="1876857"/>
                  <a:pt x="3656400" y="1898030"/>
                  <a:pt x="3672704" y="1881383"/>
                </a:cubicBezTo>
                <a:cubicBezTo>
                  <a:pt x="3645532" y="1893973"/>
                  <a:pt x="3537791" y="1900656"/>
                  <a:pt x="3530082" y="1883187"/>
                </a:cubicBezTo>
                <a:cubicBezTo>
                  <a:pt x="3479808" y="1875044"/>
                  <a:pt x="3426017" y="1877998"/>
                  <a:pt x="3387664" y="1862579"/>
                </a:cubicBezTo>
                <a:cubicBezTo>
                  <a:pt x="3382649" y="1863935"/>
                  <a:pt x="3377277" y="1864791"/>
                  <a:pt x="3371681" y="1865293"/>
                </a:cubicBezTo>
                <a:lnTo>
                  <a:pt x="3355305" y="1865842"/>
                </a:lnTo>
                <a:lnTo>
                  <a:pt x="3353790" y="1865158"/>
                </a:lnTo>
                <a:cubicBezTo>
                  <a:pt x="3346144" y="1863282"/>
                  <a:pt x="3340687" y="1863057"/>
                  <a:pt x="3336210" y="1863564"/>
                </a:cubicBezTo>
                <a:lnTo>
                  <a:pt x="3331381" y="1864716"/>
                </a:lnTo>
                <a:lnTo>
                  <a:pt x="3319012" y="1864093"/>
                </a:lnTo>
                <a:lnTo>
                  <a:pt x="3293818" y="1864135"/>
                </a:lnTo>
                <a:lnTo>
                  <a:pt x="3289881" y="1862954"/>
                </a:lnTo>
                <a:lnTo>
                  <a:pt x="3253090" y="1861164"/>
                </a:lnTo>
                <a:cubicBezTo>
                  <a:pt x="3253042" y="1860968"/>
                  <a:pt x="3252996" y="1860771"/>
                  <a:pt x="3252949" y="1860574"/>
                </a:cubicBezTo>
                <a:cubicBezTo>
                  <a:pt x="3251799" y="1859213"/>
                  <a:pt x="3249368" y="1858131"/>
                  <a:pt x="3244187" y="1857604"/>
                </a:cubicBezTo>
                <a:cubicBezTo>
                  <a:pt x="3250860" y="1853873"/>
                  <a:pt x="3250577" y="1852999"/>
                  <a:pt x="3246570" y="1852946"/>
                </a:cubicBezTo>
                <a:lnTo>
                  <a:pt x="3237810" y="1853064"/>
                </a:lnTo>
                <a:lnTo>
                  <a:pt x="3230822" y="1855474"/>
                </a:lnTo>
                <a:cubicBezTo>
                  <a:pt x="3206812" y="1862286"/>
                  <a:pt x="3176733" y="1868865"/>
                  <a:pt x="3136549" y="1874037"/>
                </a:cubicBezTo>
                <a:cubicBezTo>
                  <a:pt x="3081163" y="1880168"/>
                  <a:pt x="2902557" y="1900580"/>
                  <a:pt x="2845754" y="1910932"/>
                </a:cubicBezTo>
                <a:cubicBezTo>
                  <a:pt x="2860822" y="1944376"/>
                  <a:pt x="2813389" y="1905358"/>
                  <a:pt x="2786878" y="1917162"/>
                </a:cubicBezTo>
                <a:cubicBezTo>
                  <a:pt x="2766803" y="1917398"/>
                  <a:pt x="2741628" y="1915886"/>
                  <a:pt x="2725298" y="1912340"/>
                </a:cubicBezTo>
                <a:cubicBezTo>
                  <a:pt x="2716680" y="1911427"/>
                  <a:pt x="2707572" y="1911972"/>
                  <a:pt x="2697754" y="1914863"/>
                </a:cubicBezTo>
                <a:cubicBezTo>
                  <a:pt x="2667185" y="1939014"/>
                  <a:pt x="2622149" y="1926211"/>
                  <a:pt x="2568063" y="1936283"/>
                </a:cubicBezTo>
                <a:cubicBezTo>
                  <a:pt x="2552625" y="1932001"/>
                  <a:pt x="2502682" y="1953378"/>
                  <a:pt x="2489784" y="1943720"/>
                </a:cubicBezTo>
                <a:cubicBezTo>
                  <a:pt x="2478524" y="1943155"/>
                  <a:pt x="2467418" y="1949411"/>
                  <a:pt x="2458978" y="1938095"/>
                </a:cubicBezTo>
                <a:cubicBezTo>
                  <a:pt x="2417552" y="1934639"/>
                  <a:pt x="2366376" y="1931293"/>
                  <a:pt x="2318712" y="1934474"/>
                </a:cubicBezTo>
                <a:cubicBezTo>
                  <a:pt x="2296029" y="1936526"/>
                  <a:pt x="2282069" y="1938434"/>
                  <a:pt x="2268709" y="1940521"/>
                </a:cubicBezTo>
                <a:lnTo>
                  <a:pt x="2264080" y="1941232"/>
                </a:lnTo>
                <a:lnTo>
                  <a:pt x="2254684" y="1943524"/>
                </a:lnTo>
                <a:lnTo>
                  <a:pt x="2252523" y="1943004"/>
                </a:lnTo>
                <a:lnTo>
                  <a:pt x="2173350" y="1929202"/>
                </a:lnTo>
                <a:lnTo>
                  <a:pt x="2155266" y="1920267"/>
                </a:lnTo>
                <a:lnTo>
                  <a:pt x="2091013" y="1914631"/>
                </a:lnTo>
                <a:cubicBezTo>
                  <a:pt x="2033357" y="1920614"/>
                  <a:pt x="2070513" y="1905065"/>
                  <a:pt x="2030712" y="1897690"/>
                </a:cubicBezTo>
                <a:cubicBezTo>
                  <a:pt x="1994539" y="1893055"/>
                  <a:pt x="1958569" y="1883188"/>
                  <a:pt x="1908838" y="1892222"/>
                </a:cubicBezTo>
                <a:cubicBezTo>
                  <a:pt x="1897236" y="1896147"/>
                  <a:pt x="1883338" y="1892415"/>
                  <a:pt x="1877796" y="1883887"/>
                </a:cubicBezTo>
                <a:cubicBezTo>
                  <a:pt x="1876842" y="1882419"/>
                  <a:pt x="1876177" y="1880863"/>
                  <a:pt x="1875824" y="1879265"/>
                </a:cubicBezTo>
                <a:cubicBezTo>
                  <a:pt x="1843474" y="1887199"/>
                  <a:pt x="1841511" y="1873818"/>
                  <a:pt x="1823048" y="1881064"/>
                </a:cubicBezTo>
                <a:cubicBezTo>
                  <a:pt x="1792640" y="1872164"/>
                  <a:pt x="1782358" y="1850450"/>
                  <a:pt x="1765736" y="1856578"/>
                </a:cubicBezTo>
                <a:cubicBezTo>
                  <a:pt x="1753024" y="1849107"/>
                  <a:pt x="1745932" y="1828316"/>
                  <a:pt x="1725669" y="1833744"/>
                </a:cubicBezTo>
                <a:cubicBezTo>
                  <a:pt x="1727428" y="1831405"/>
                  <a:pt x="1726953" y="1830157"/>
                  <a:pt x="1725216" y="1829447"/>
                </a:cubicBezTo>
                <a:lnTo>
                  <a:pt x="1721485" y="1828960"/>
                </a:lnTo>
                <a:lnTo>
                  <a:pt x="1717786" y="1832224"/>
                </a:lnTo>
                <a:cubicBezTo>
                  <a:pt x="1703445" y="1843277"/>
                  <a:pt x="1706547" y="1827935"/>
                  <a:pt x="1689907" y="1825425"/>
                </a:cubicBezTo>
                <a:cubicBezTo>
                  <a:pt x="1682338" y="1823445"/>
                  <a:pt x="1685181" y="1820226"/>
                  <a:pt x="1688093" y="1817391"/>
                </a:cubicBezTo>
                <a:lnTo>
                  <a:pt x="1496789" y="1805297"/>
                </a:lnTo>
                <a:cubicBezTo>
                  <a:pt x="1463551" y="1793913"/>
                  <a:pt x="1426345" y="1786892"/>
                  <a:pt x="1392839" y="1758649"/>
                </a:cubicBezTo>
                <a:cubicBezTo>
                  <a:pt x="1386461" y="1750573"/>
                  <a:pt x="1374031" y="1756918"/>
                  <a:pt x="1360872" y="1752441"/>
                </a:cubicBezTo>
                <a:cubicBezTo>
                  <a:pt x="1347711" y="1747963"/>
                  <a:pt x="1332751" y="1735898"/>
                  <a:pt x="1313885" y="1731785"/>
                </a:cubicBezTo>
                <a:cubicBezTo>
                  <a:pt x="1281989" y="1726305"/>
                  <a:pt x="1256405" y="1739744"/>
                  <a:pt x="1247665" y="1727765"/>
                </a:cubicBezTo>
                <a:cubicBezTo>
                  <a:pt x="1231363" y="1728538"/>
                  <a:pt x="1209120" y="1742556"/>
                  <a:pt x="1196850" y="1729622"/>
                </a:cubicBezTo>
                <a:cubicBezTo>
                  <a:pt x="1195195" y="1740224"/>
                  <a:pt x="1178147" y="1721561"/>
                  <a:pt x="1168728" y="1728550"/>
                </a:cubicBezTo>
                <a:cubicBezTo>
                  <a:pt x="1152073" y="1727193"/>
                  <a:pt x="1122804" y="1725926"/>
                  <a:pt x="1096918" y="1721485"/>
                </a:cubicBezTo>
                <a:lnTo>
                  <a:pt x="1094082" y="1720113"/>
                </a:lnTo>
                <a:lnTo>
                  <a:pt x="1040782" y="1721762"/>
                </a:lnTo>
                <a:cubicBezTo>
                  <a:pt x="987172" y="1722352"/>
                  <a:pt x="1023272" y="1708707"/>
                  <a:pt x="955980" y="1719289"/>
                </a:cubicBezTo>
                <a:cubicBezTo>
                  <a:pt x="948995" y="1714208"/>
                  <a:pt x="940521" y="1713816"/>
                  <a:pt x="926108" y="1715917"/>
                </a:cubicBezTo>
                <a:cubicBezTo>
                  <a:pt x="900077" y="1715834"/>
                  <a:pt x="902688" y="1703436"/>
                  <a:pt x="876049" y="1710422"/>
                </a:cubicBezTo>
                <a:cubicBezTo>
                  <a:pt x="881084" y="1703830"/>
                  <a:pt x="826830" y="1706893"/>
                  <a:pt x="839194" y="1700176"/>
                </a:cubicBezTo>
                <a:cubicBezTo>
                  <a:pt x="822548" y="1693764"/>
                  <a:pt x="813674" y="1703628"/>
                  <a:pt x="797112" y="1698014"/>
                </a:cubicBezTo>
                <a:cubicBezTo>
                  <a:pt x="778195" y="1696418"/>
                  <a:pt x="807647" y="1705364"/>
                  <a:pt x="786610" y="1705455"/>
                </a:cubicBezTo>
                <a:cubicBezTo>
                  <a:pt x="761170" y="1704357"/>
                  <a:pt x="760599" y="1716610"/>
                  <a:pt x="741833" y="1700566"/>
                </a:cubicBezTo>
                <a:lnTo>
                  <a:pt x="673985" y="1692278"/>
                </a:lnTo>
                <a:cubicBezTo>
                  <a:pt x="658515" y="1695829"/>
                  <a:pt x="646395" y="1693620"/>
                  <a:pt x="634665" y="1689550"/>
                </a:cubicBezTo>
                <a:cubicBezTo>
                  <a:pt x="599149" y="1689690"/>
                  <a:pt x="567176" y="1683160"/>
                  <a:pt x="527471" y="1679869"/>
                </a:cubicBezTo>
                <a:cubicBezTo>
                  <a:pt x="484099" y="1683240"/>
                  <a:pt x="462693" y="1671949"/>
                  <a:pt x="420260" y="1668475"/>
                </a:cubicBezTo>
                <a:cubicBezTo>
                  <a:pt x="377482" y="1677390"/>
                  <a:pt x="393500" y="1652730"/>
                  <a:pt x="357630" y="1652142"/>
                </a:cubicBezTo>
                <a:cubicBezTo>
                  <a:pt x="298692" y="1659518"/>
                  <a:pt x="359631" y="1643849"/>
                  <a:pt x="269407" y="1643812"/>
                </a:cubicBezTo>
                <a:cubicBezTo>
                  <a:pt x="264204" y="1645215"/>
                  <a:pt x="253436" y="1643159"/>
                  <a:pt x="254769" y="1641013"/>
                </a:cubicBezTo>
                <a:cubicBezTo>
                  <a:pt x="234996" y="1641090"/>
                  <a:pt x="179093" y="1626583"/>
                  <a:pt x="150763" y="1628143"/>
                </a:cubicBezTo>
                <a:cubicBezTo>
                  <a:pt x="96232" y="1619954"/>
                  <a:pt x="68845" y="1629422"/>
                  <a:pt x="29133" y="1626172"/>
                </a:cubicBezTo>
                <a:lnTo>
                  <a:pt x="0" y="16195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D113A9-262F-F810-A530-7980931670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675" y="494414"/>
            <a:ext cx="10534650" cy="81740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Quantitative Risk Analysis (QuanRA)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58FF993-516A-D94D-8B6B-901BA59525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95898" y="2354239"/>
            <a:ext cx="9400204" cy="3948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099781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CD18A-97E4-D5A8-26DC-4BCA02BBE0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Risk Management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B5E191-FFD0-E680-913A-FDDA0AEBB9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1" dirty="0"/>
              <a:t>6.5 Plan Risk Responses</a:t>
            </a:r>
          </a:p>
          <a:p>
            <a:r>
              <a:rPr lang="en-US" dirty="0"/>
              <a:t>Developing actions to address risks.</a:t>
            </a:r>
          </a:p>
          <a:p>
            <a:r>
              <a:rPr lang="en-US" b="1" dirty="0"/>
              <a:t>Example:</a:t>
            </a:r>
            <a:br>
              <a:rPr lang="en-US" dirty="0"/>
            </a:br>
            <a:r>
              <a:rPr lang="en-US" dirty="0"/>
              <a:t>Hiring backup developers to handle attrition risk.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6.6 Implement Risk Responses</a:t>
            </a:r>
          </a:p>
          <a:p>
            <a:r>
              <a:rPr lang="en-US" dirty="0"/>
              <a:t>Executing planned risk response actions.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6.7 Monitor Risks</a:t>
            </a:r>
          </a:p>
          <a:p>
            <a:r>
              <a:rPr lang="en-US" dirty="0"/>
              <a:t>Tracking identified risks and identifying new risks.</a:t>
            </a:r>
          </a:p>
          <a:p>
            <a:r>
              <a:rPr lang="en-US" b="1" dirty="0"/>
              <a:t>Example:</a:t>
            </a:r>
            <a:br>
              <a:rPr lang="en-US" dirty="0"/>
            </a:br>
            <a:r>
              <a:rPr lang="en-US" dirty="0"/>
              <a:t>Weekly risk review meetings.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784578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B9A8E-16F9-5C84-2751-4E32917AE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Risk Register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A3DD58-F2B6-2288-1E0D-FC50D9EA6D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Records identified risks, their characteristics, and planned responses throughout the project lifecycle.</a:t>
            </a:r>
          </a:p>
          <a:p>
            <a:r>
              <a:rPr lang="en-US" dirty="0"/>
              <a:t>It is a </a:t>
            </a:r>
            <a:r>
              <a:rPr lang="en-US" b="1" dirty="0"/>
              <a:t>living document</a:t>
            </a:r>
            <a:r>
              <a:rPr lang="en-US" dirty="0"/>
              <a:t> updated continuously.</a:t>
            </a:r>
          </a:p>
          <a:p>
            <a:r>
              <a:rPr lang="en-US" b="1" dirty="0"/>
              <a:t>7.2 Components of a Risk Register</a:t>
            </a:r>
          </a:p>
          <a:p>
            <a:r>
              <a:rPr lang="en-US" dirty="0"/>
              <a:t>Risk ID</a:t>
            </a:r>
          </a:p>
          <a:p>
            <a:r>
              <a:rPr lang="en-US" dirty="0"/>
              <a:t>Risk Description</a:t>
            </a:r>
          </a:p>
          <a:p>
            <a:r>
              <a:rPr lang="en-US" dirty="0"/>
              <a:t>Risk Category</a:t>
            </a:r>
          </a:p>
          <a:p>
            <a:r>
              <a:rPr lang="en-US" dirty="0"/>
              <a:t>Probability</a:t>
            </a:r>
          </a:p>
          <a:p>
            <a:r>
              <a:rPr lang="en-US" dirty="0"/>
              <a:t>Impact</a:t>
            </a:r>
          </a:p>
          <a:p>
            <a:r>
              <a:rPr lang="en-US" dirty="0"/>
              <a:t>Risk Priority</a:t>
            </a:r>
          </a:p>
          <a:p>
            <a:r>
              <a:rPr lang="en-US" dirty="0"/>
              <a:t>Risk Owner</a:t>
            </a:r>
          </a:p>
          <a:p>
            <a:r>
              <a:rPr lang="en-US" dirty="0"/>
              <a:t>Response Strategy</a:t>
            </a:r>
          </a:p>
          <a:p>
            <a:r>
              <a:rPr lang="en-US" dirty="0"/>
              <a:t>Status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705549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D9237A-0044-79D2-13B4-5B9E114477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Risk Register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C060070-5FB9-2ED6-4D93-648FE6A657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02428" y="1649660"/>
            <a:ext cx="7225748" cy="355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013425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1AA2A9-EC28-BA2F-AFA9-8F41F211A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Evaluation - Performance Evaluation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36A067-881D-44BC-FFA2-2DFBC97E18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Project evaluation measures </a:t>
            </a:r>
            <a:r>
              <a:rPr lang="en-US" b="1" dirty="0"/>
              <a:t>how well the project is performing</a:t>
            </a:r>
            <a:r>
              <a:rPr lang="en-US" dirty="0"/>
              <a:t> and </a:t>
            </a:r>
            <a:r>
              <a:rPr lang="en-US" b="1" dirty="0"/>
              <a:t>whether objectives are met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Uses </a:t>
            </a:r>
            <a:r>
              <a:rPr lang="en-US" b="1" dirty="0"/>
              <a:t>Earned Value Management (EVM)</a:t>
            </a:r>
            <a:r>
              <a:rPr lang="en-US" dirty="0"/>
              <a:t>.</a:t>
            </a:r>
          </a:p>
          <a:p>
            <a:r>
              <a:rPr lang="en-US" b="1" dirty="0"/>
              <a:t>Key Metrics:</a:t>
            </a:r>
            <a:endParaRPr lang="en-US" dirty="0"/>
          </a:p>
          <a:p>
            <a:pPr lvl="1"/>
            <a:r>
              <a:rPr lang="en-US" dirty="0"/>
              <a:t>Planned Value (PV)</a:t>
            </a:r>
          </a:p>
          <a:p>
            <a:pPr lvl="1"/>
            <a:r>
              <a:rPr lang="en-US" dirty="0"/>
              <a:t>Earned Value (EV)</a:t>
            </a:r>
          </a:p>
          <a:p>
            <a:pPr lvl="1"/>
            <a:r>
              <a:rPr lang="en-US" dirty="0"/>
              <a:t>Actual Cost (AC)</a:t>
            </a:r>
          </a:p>
          <a:p>
            <a:pPr lvl="1"/>
            <a:r>
              <a:rPr lang="en-US" dirty="0"/>
              <a:t>Schedule Performance Index (SPI)</a:t>
            </a:r>
          </a:p>
          <a:p>
            <a:pPr lvl="1"/>
            <a:r>
              <a:rPr lang="en-US" dirty="0"/>
              <a:t>Cost Performance Index (CPI)</a:t>
            </a:r>
          </a:p>
          <a:p>
            <a:r>
              <a:rPr lang="en-US" b="1" dirty="0"/>
              <a:t>Example:</a:t>
            </a:r>
            <a:endParaRPr lang="en-US" dirty="0"/>
          </a:p>
          <a:p>
            <a:pPr lvl="1"/>
            <a:r>
              <a:rPr lang="en-US" dirty="0"/>
              <a:t>PV = ₹10,00,000</a:t>
            </a:r>
          </a:p>
          <a:p>
            <a:pPr lvl="1"/>
            <a:r>
              <a:rPr lang="en-US" dirty="0"/>
              <a:t>EV = ₹8,00,000</a:t>
            </a:r>
          </a:p>
          <a:p>
            <a:pPr lvl="1"/>
            <a:r>
              <a:rPr lang="en-US" dirty="0"/>
              <a:t>AC = ₹9,00,000</a:t>
            </a:r>
          </a:p>
          <a:p>
            <a:pPr lvl="1"/>
            <a:r>
              <a:rPr lang="en-US" dirty="0"/>
              <a:t>CPI = EV / AC = 0.89 → Over budget</a:t>
            </a:r>
          </a:p>
          <a:p>
            <a:pPr lvl="1"/>
            <a:r>
              <a:rPr lang="en-US" dirty="0"/>
              <a:t>SPI = EV / PV = 0.8 → Behind schedule</a:t>
            </a:r>
          </a:p>
          <a:p>
            <a:r>
              <a:rPr lang="en-US" dirty="0"/>
              <a:t>👉 Corrective actions required.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097797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69D47016-023F-44BD-981C-50E7A10A66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359D0E-1B95-47B8-8004-051154A337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457200"/>
            <a:ext cx="4343400" cy="1929384"/>
          </a:xfrm>
        </p:spPr>
        <p:txBody>
          <a:bodyPr anchor="ctr">
            <a:normAutofit/>
          </a:bodyPr>
          <a:lstStyle/>
          <a:p>
            <a:r>
              <a:rPr lang="en-US" sz="4800"/>
              <a:t>Performance Evaluation</a:t>
            </a:r>
          </a:p>
        </p:txBody>
      </p:sp>
      <p:sp>
        <p:nvSpPr>
          <p:cNvPr id="14" name="sketchy line">
            <a:extLst>
              <a:ext uri="{FF2B5EF4-FFF2-40B4-BE49-F238E27FC236}">
                <a16:creationId xmlns:a16="http://schemas.microsoft.com/office/drawing/2014/main" id="{6D8B37B0-0682-433E-BC8D-498C04ABD9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471415" y="1412748"/>
            <a:ext cx="1554480" cy="18288"/>
          </a:xfrm>
          <a:custGeom>
            <a:avLst/>
            <a:gdLst>
              <a:gd name="csX0" fmla="*/ 0 w 1554480"/>
              <a:gd name="csY0" fmla="*/ 0 h 18288"/>
              <a:gd name="csX1" fmla="*/ 549250 w 1554480"/>
              <a:gd name="csY1" fmla="*/ 0 h 18288"/>
              <a:gd name="csX2" fmla="*/ 1082954 w 1554480"/>
              <a:gd name="csY2" fmla="*/ 0 h 18288"/>
              <a:gd name="csX3" fmla="*/ 1554480 w 1554480"/>
              <a:gd name="csY3" fmla="*/ 0 h 18288"/>
              <a:gd name="csX4" fmla="*/ 1554480 w 1554480"/>
              <a:gd name="csY4" fmla="*/ 18288 h 18288"/>
              <a:gd name="csX5" fmla="*/ 1067410 w 1554480"/>
              <a:gd name="csY5" fmla="*/ 18288 h 18288"/>
              <a:gd name="csX6" fmla="*/ 549250 w 1554480"/>
              <a:gd name="csY6" fmla="*/ 18288 h 18288"/>
              <a:gd name="csX7" fmla="*/ 0 w 1554480"/>
              <a:gd name="csY7" fmla="*/ 18288 h 18288"/>
              <a:gd name="csX8" fmla="*/ 0 w 1554480"/>
              <a:gd name="csY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940C46-CB3D-B820-E29E-1018AC3473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41263" y="457200"/>
            <a:ext cx="6007608" cy="1929384"/>
          </a:xfrm>
        </p:spPr>
        <p:txBody>
          <a:bodyPr anchor="ctr">
            <a:normAutofit/>
          </a:bodyPr>
          <a:lstStyle/>
          <a:p>
            <a:endParaRPr lang="en-US" sz="22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625296-D730-2558-F332-349010BCDA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" y="2597620"/>
            <a:ext cx="5468112" cy="362262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028134E-5413-008F-82E1-12D4FC5656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496" y="2693312"/>
            <a:ext cx="5468112" cy="3431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76699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69D47016-023F-44BD-981C-50E7A10A66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855C00-4871-D2C5-5C58-BCBC2C51AD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457200"/>
            <a:ext cx="4343400" cy="1929384"/>
          </a:xfrm>
        </p:spPr>
        <p:txBody>
          <a:bodyPr anchor="ctr">
            <a:normAutofit/>
          </a:bodyPr>
          <a:lstStyle/>
          <a:p>
            <a:r>
              <a:rPr lang="en-US" sz="4800"/>
              <a:t>Performance Evaluation</a:t>
            </a:r>
          </a:p>
        </p:txBody>
      </p:sp>
      <p:sp>
        <p:nvSpPr>
          <p:cNvPr id="14" name="sketchy line">
            <a:extLst>
              <a:ext uri="{FF2B5EF4-FFF2-40B4-BE49-F238E27FC236}">
                <a16:creationId xmlns:a16="http://schemas.microsoft.com/office/drawing/2014/main" id="{6D8B37B0-0682-433E-BC8D-498C04ABD9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471415" y="1412748"/>
            <a:ext cx="1554480" cy="18288"/>
          </a:xfrm>
          <a:custGeom>
            <a:avLst/>
            <a:gdLst>
              <a:gd name="csX0" fmla="*/ 0 w 1554480"/>
              <a:gd name="csY0" fmla="*/ 0 h 18288"/>
              <a:gd name="csX1" fmla="*/ 549250 w 1554480"/>
              <a:gd name="csY1" fmla="*/ 0 h 18288"/>
              <a:gd name="csX2" fmla="*/ 1082954 w 1554480"/>
              <a:gd name="csY2" fmla="*/ 0 h 18288"/>
              <a:gd name="csX3" fmla="*/ 1554480 w 1554480"/>
              <a:gd name="csY3" fmla="*/ 0 h 18288"/>
              <a:gd name="csX4" fmla="*/ 1554480 w 1554480"/>
              <a:gd name="csY4" fmla="*/ 18288 h 18288"/>
              <a:gd name="csX5" fmla="*/ 1067410 w 1554480"/>
              <a:gd name="csY5" fmla="*/ 18288 h 18288"/>
              <a:gd name="csX6" fmla="*/ 549250 w 1554480"/>
              <a:gd name="csY6" fmla="*/ 18288 h 18288"/>
              <a:gd name="csX7" fmla="*/ 0 w 1554480"/>
              <a:gd name="csY7" fmla="*/ 18288 h 18288"/>
              <a:gd name="csX8" fmla="*/ 0 w 1554480"/>
              <a:gd name="csY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1BB6BC-74DD-C362-9FDE-29200B2E38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41263" y="457200"/>
            <a:ext cx="6007608" cy="1929384"/>
          </a:xfrm>
        </p:spPr>
        <p:txBody>
          <a:bodyPr anchor="ctr">
            <a:normAutofit/>
          </a:bodyPr>
          <a:lstStyle/>
          <a:p>
            <a:endParaRPr lang="en-US" sz="220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B0EC947-84DC-A1F1-D064-B9F7E6E568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" y="2645466"/>
            <a:ext cx="5468112" cy="352693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D82C645-FD64-295C-A24E-6460062B33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496" y="3041904"/>
            <a:ext cx="5468112" cy="2734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393955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CAB19D-4CAE-6824-5834-E0A127AAF1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2" y="639193"/>
            <a:ext cx="3571810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1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Performance Evaluation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249C5B6-47E3-449C-A418-32565095D6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54296" y="1178753"/>
            <a:ext cx="7214616" cy="4473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322477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3832B-E0CF-CA86-4A82-6FE503C66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Performance Evaluation – Burndown Chart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D73B82-7777-0300-5306-6602E6C017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A </a:t>
            </a:r>
            <a:r>
              <a:rPr lang="en-US" b="1" dirty="0"/>
              <a:t>Burn Down Chart</a:t>
            </a:r>
            <a:r>
              <a:rPr lang="en-US" dirty="0"/>
              <a:t> is a </a:t>
            </a:r>
            <a:r>
              <a:rPr lang="en-US" b="1" dirty="0"/>
              <a:t>graphical tool used in Agile project management</a:t>
            </a:r>
            <a:r>
              <a:rPr lang="en-US" dirty="0"/>
              <a:t> to track:</a:t>
            </a:r>
          </a:p>
          <a:p>
            <a:r>
              <a:rPr lang="en-US" b="1" dirty="0"/>
              <a:t>Remaining work (tasks, story points, or hours)</a:t>
            </a:r>
            <a:endParaRPr lang="en-US" dirty="0"/>
          </a:p>
          <a:p>
            <a:r>
              <a:rPr lang="en-US" b="1" dirty="0"/>
              <a:t>Over time (usually days or sprints)</a:t>
            </a:r>
            <a:endParaRPr lang="en-US" dirty="0"/>
          </a:p>
          <a:p>
            <a:r>
              <a:rPr lang="en-US" dirty="0"/>
              <a:t>It helps </a:t>
            </a:r>
            <a:r>
              <a:rPr lang="en-US" b="1" dirty="0"/>
              <a:t>monitor project progress</a:t>
            </a:r>
            <a:r>
              <a:rPr lang="en-US" dirty="0"/>
              <a:t> and </a:t>
            </a:r>
            <a:r>
              <a:rPr lang="en-US" b="1" dirty="0"/>
              <a:t>evaluate team performance</a:t>
            </a:r>
            <a:r>
              <a:rPr lang="en-US" dirty="0"/>
              <a:t> against the plan.</a:t>
            </a:r>
          </a:p>
          <a:p>
            <a:r>
              <a:rPr lang="en-US" b="1" dirty="0"/>
              <a:t>Key Idea:</a:t>
            </a:r>
            <a:endParaRPr lang="en-US" dirty="0"/>
          </a:p>
          <a:p>
            <a:r>
              <a:rPr lang="en-US" dirty="0"/>
              <a:t>X-axis → Time (days, sprints)</a:t>
            </a:r>
          </a:p>
          <a:p>
            <a:r>
              <a:rPr lang="en-US" dirty="0"/>
              <a:t>Y-axis → Remaining work (effort units, story points, hours)</a:t>
            </a:r>
          </a:p>
          <a:p>
            <a:r>
              <a:rPr lang="en-US" dirty="0"/>
              <a:t>Line → Shows how work is “burning down” to zero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904110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8DAEE3-0994-1341-F639-A138785377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Evaluation - Quality Evaluation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C6611E-9B14-3991-D847-11489D231F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Checks whether deliverables meet quality standards.</a:t>
            </a:r>
          </a:p>
          <a:p>
            <a:r>
              <a:rPr lang="en-US" b="1" dirty="0"/>
              <a:t>Tools:</a:t>
            </a:r>
            <a:endParaRPr lang="en-US" dirty="0"/>
          </a:p>
          <a:p>
            <a:pPr lvl="1"/>
            <a:r>
              <a:rPr lang="en-US" dirty="0"/>
              <a:t>Quality audits</a:t>
            </a:r>
          </a:p>
          <a:p>
            <a:pPr lvl="1"/>
            <a:r>
              <a:rPr lang="en-US" dirty="0"/>
              <a:t>Control charts</a:t>
            </a:r>
          </a:p>
          <a:p>
            <a:pPr lvl="1"/>
            <a:r>
              <a:rPr lang="en-US" dirty="0"/>
              <a:t>Inspections</a:t>
            </a:r>
          </a:p>
          <a:p>
            <a:r>
              <a:rPr lang="en-US" b="1" dirty="0"/>
              <a:t>Example:</a:t>
            </a:r>
            <a:br>
              <a:rPr lang="en-US" dirty="0"/>
            </a:br>
            <a:r>
              <a:rPr lang="en-US" dirty="0"/>
              <a:t>In a construction project:</a:t>
            </a:r>
          </a:p>
          <a:p>
            <a:pPr lvl="1"/>
            <a:r>
              <a:rPr lang="en-US" dirty="0"/>
              <a:t>Concrete strength required: 30 MPa</a:t>
            </a:r>
          </a:p>
          <a:p>
            <a:pPr lvl="1"/>
            <a:r>
              <a:rPr lang="en-US" dirty="0"/>
              <a:t>Test result: 27 MPa</a:t>
            </a:r>
          </a:p>
          <a:p>
            <a:pPr lvl="1"/>
            <a:r>
              <a:rPr lang="en-US" dirty="0"/>
              <a:t>👉 Rework required to meet standards.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141880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8A5BA9-8894-2C6E-C360-303638AB91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Evaluation - Scope Evaluation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1DC2D1-4122-8A54-9AF5-4E4963B8FB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Ensures deliverables meet stakeholder requirements.</a:t>
            </a:r>
          </a:p>
          <a:p>
            <a:r>
              <a:rPr lang="en-US" b="1" dirty="0"/>
              <a:t>Example:</a:t>
            </a:r>
            <a:br>
              <a:rPr lang="en-US" dirty="0"/>
            </a:br>
            <a:r>
              <a:rPr lang="en-US" dirty="0"/>
              <a:t>Client requested:</a:t>
            </a:r>
          </a:p>
          <a:p>
            <a:r>
              <a:rPr lang="en-US" dirty="0"/>
              <a:t>Website with payment gateway</a:t>
            </a:r>
          </a:p>
          <a:p>
            <a:r>
              <a:rPr lang="en-US" dirty="0"/>
              <a:t>Mobile responsive design</a:t>
            </a:r>
          </a:p>
          <a:p>
            <a:r>
              <a:rPr lang="en-US" dirty="0"/>
              <a:t>If mobile responsiveness is missing:</a:t>
            </a:r>
            <a:br>
              <a:rPr lang="en-US" dirty="0"/>
            </a:br>
            <a:r>
              <a:rPr lang="en-US" dirty="0"/>
              <a:t>👉 Deliverable is not accepted.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302858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C3F04-BDC3-C971-05C7-1094F842B0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Scope Evaluation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810EFB-753F-5DEE-4644-C4A5319A00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Scope Evaluation</a:t>
            </a:r>
            <a:r>
              <a:rPr lang="en-US" dirty="0"/>
              <a:t> is the process of </a:t>
            </a:r>
            <a:r>
              <a:rPr lang="en-US" b="1" dirty="0"/>
              <a:t>assessing whether the project’s deliverables meet the defined project scope and requirements</a:t>
            </a:r>
            <a:r>
              <a:rPr lang="en-US" dirty="0"/>
              <a:t>.</a:t>
            </a:r>
          </a:p>
          <a:p>
            <a:r>
              <a:rPr lang="en-US" b="1" dirty="0"/>
              <a:t>Purpose:</a:t>
            </a:r>
            <a:endParaRPr lang="en-US" dirty="0"/>
          </a:p>
          <a:p>
            <a:r>
              <a:rPr lang="en-US" dirty="0"/>
              <a:t>Ensure </a:t>
            </a:r>
            <a:r>
              <a:rPr lang="en-US" b="1" dirty="0"/>
              <a:t>deliverables match scope statement and WBS</a:t>
            </a:r>
            <a:endParaRPr lang="en-US" dirty="0"/>
          </a:p>
          <a:p>
            <a:r>
              <a:rPr lang="en-US" dirty="0"/>
              <a:t>Identify </a:t>
            </a:r>
            <a:r>
              <a:rPr lang="en-US" b="1" dirty="0"/>
              <a:t>scope creep</a:t>
            </a:r>
            <a:r>
              <a:rPr lang="en-US" dirty="0"/>
              <a:t> (unauthorized changes)</a:t>
            </a:r>
          </a:p>
          <a:p>
            <a:r>
              <a:rPr lang="en-US" dirty="0"/>
              <a:t>Confirm </a:t>
            </a:r>
            <a:r>
              <a:rPr lang="en-US" b="1" dirty="0"/>
              <a:t>completion of milestones and deliverables</a:t>
            </a:r>
            <a:endParaRPr lang="en-US" dirty="0"/>
          </a:p>
          <a:p>
            <a:r>
              <a:rPr lang="en-US" dirty="0"/>
              <a:t>Support </a:t>
            </a:r>
            <a:r>
              <a:rPr lang="en-US" b="1" dirty="0"/>
              <a:t>stakeholder approval and acceptance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895851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D956E-F441-EE2F-779A-E51C8E86AB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Scope Evaluation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52A734-846A-1A1A-EF3B-10CFA6BA67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b="1" dirty="0"/>
              <a:t>2. Steps to Perform Scope Evaluation (PMBOK Approach)</a:t>
            </a:r>
          </a:p>
          <a:p>
            <a:r>
              <a:rPr lang="en-US" b="1" dirty="0"/>
              <a:t>Review Project Scope Statement &amp; WBS</a:t>
            </a:r>
            <a:endParaRPr lang="en-US" dirty="0"/>
          </a:p>
          <a:p>
            <a:pPr lvl="1"/>
            <a:r>
              <a:rPr lang="en-US" dirty="0"/>
              <a:t>Understand all approved deliverables, requirements, and exclusions.</a:t>
            </a:r>
          </a:p>
          <a:p>
            <a:r>
              <a:rPr lang="en-US" b="1" dirty="0"/>
              <a:t>Check Deliverables Against Requirements</a:t>
            </a:r>
            <a:endParaRPr lang="en-US" dirty="0"/>
          </a:p>
          <a:p>
            <a:pPr lvl="1"/>
            <a:r>
              <a:rPr lang="en-US" dirty="0"/>
              <a:t>Verify if each deliverable meets </a:t>
            </a:r>
            <a:r>
              <a:rPr lang="en-US" b="1" dirty="0"/>
              <a:t>quality and acceptance criteria</a:t>
            </a:r>
            <a:r>
              <a:rPr lang="en-US" dirty="0"/>
              <a:t>.</a:t>
            </a:r>
          </a:p>
          <a:p>
            <a:r>
              <a:rPr lang="en-US" b="1" dirty="0"/>
              <a:t>Conduct Scope Verification</a:t>
            </a:r>
            <a:endParaRPr lang="en-US" dirty="0"/>
          </a:p>
          <a:p>
            <a:pPr lvl="1"/>
            <a:r>
              <a:rPr lang="en-US" dirty="0"/>
              <a:t>Use </a:t>
            </a:r>
            <a:r>
              <a:rPr lang="en-US" b="1" dirty="0"/>
              <a:t>formal reviews, inspections, walkthroughs, or audits</a:t>
            </a:r>
            <a:r>
              <a:rPr lang="en-US" dirty="0"/>
              <a:t> with stakeholders.</a:t>
            </a:r>
          </a:p>
          <a:p>
            <a:r>
              <a:rPr lang="en-US" b="1" dirty="0"/>
              <a:t>Identify Scope Changes</a:t>
            </a:r>
            <a:endParaRPr lang="en-US" dirty="0"/>
          </a:p>
          <a:p>
            <a:pPr lvl="1"/>
            <a:r>
              <a:rPr lang="en-US" dirty="0"/>
              <a:t>Detect unauthorized work, incomplete tasks, or missing requirements.</a:t>
            </a:r>
          </a:p>
          <a:p>
            <a:r>
              <a:rPr lang="en-US" b="1" dirty="0"/>
              <a:t>Document Findings</a:t>
            </a:r>
            <a:endParaRPr lang="en-US" dirty="0"/>
          </a:p>
          <a:p>
            <a:pPr lvl="1"/>
            <a:r>
              <a:rPr lang="en-US" dirty="0"/>
              <a:t>Record discrepancies, deviations, and approved changes in </a:t>
            </a:r>
            <a:r>
              <a:rPr lang="en-US" b="1" dirty="0"/>
              <a:t>scope documentation</a:t>
            </a:r>
            <a:r>
              <a:rPr lang="en-US" dirty="0"/>
              <a:t>.</a:t>
            </a:r>
          </a:p>
          <a:p>
            <a:r>
              <a:rPr lang="en-US" b="1" dirty="0"/>
              <a:t>Obtain Formal Acceptance</a:t>
            </a:r>
            <a:endParaRPr lang="en-US" dirty="0"/>
          </a:p>
          <a:p>
            <a:pPr lvl="1"/>
            <a:r>
              <a:rPr lang="en-US" dirty="0"/>
              <a:t>Stakeholders formally approve deliverables, ensuring </a:t>
            </a:r>
            <a:r>
              <a:rPr lang="en-US" b="1" dirty="0"/>
              <a:t>closure of scope for the phase/project</a:t>
            </a:r>
            <a:r>
              <a:rPr lang="en-US" dirty="0"/>
              <a:t>.</a:t>
            </a:r>
          </a:p>
          <a:p>
            <a:r>
              <a:rPr lang="en-US" b="1" dirty="0"/>
              <a:t>Update Project Records</a:t>
            </a:r>
            <a:endParaRPr lang="en-US" dirty="0"/>
          </a:p>
          <a:p>
            <a:pPr lvl="1"/>
            <a:r>
              <a:rPr lang="en-US" dirty="0"/>
              <a:t>Update </a:t>
            </a:r>
            <a:r>
              <a:rPr lang="en-US" b="1" dirty="0"/>
              <a:t>project management plan, scope baseline, and change log</a:t>
            </a:r>
            <a:r>
              <a:rPr lang="en-US" dirty="0"/>
              <a:t> as needed.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670103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C436F-2A7A-48CD-D285-8D0B70C23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Scope Evaluation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372C29-92B9-9C7C-A795-9FAA5445D6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3. Tools &amp; Techniques for Scope Evaluation</a:t>
            </a:r>
          </a:p>
          <a:p>
            <a:r>
              <a:rPr lang="en-US" b="1" dirty="0"/>
              <a:t>Inspections / Reviews / Audits</a:t>
            </a:r>
            <a:endParaRPr lang="en-US" dirty="0"/>
          </a:p>
          <a:p>
            <a:r>
              <a:rPr lang="en-US" b="1" dirty="0"/>
              <a:t>Checklists based on scope baseline</a:t>
            </a:r>
            <a:endParaRPr lang="en-US" dirty="0"/>
          </a:p>
          <a:p>
            <a:r>
              <a:rPr lang="en-US" b="1" dirty="0"/>
              <a:t>Variance analysis</a:t>
            </a:r>
            <a:r>
              <a:rPr lang="en-US" dirty="0"/>
              <a:t> (planned vs actual deliverables)</a:t>
            </a:r>
          </a:p>
          <a:p>
            <a:r>
              <a:rPr lang="en-US" b="1" dirty="0"/>
              <a:t>Performance measurement</a:t>
            </a:r>
            <a:r>
              <a:rPr lang="en-US" dirty="0"/>
              <a:t> (e.g., Earned Value metrics)</a:t>
            </a:r>
          </a:p>
          <a:p>
            <a:r>
              <a:rPr lang="en-US" b="1" dirty="0"/>
              <a:t>Expert judgment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595722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5A9975-E076-7919-D2DC-5781B420E9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D197C7-B8D7-4C17-6B81-99B0B37F2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Evaluation - Schedule Evaluation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10D6D3-EF05-EB2F-7228-E3873CE3C0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Evaluates project progress against the schedule baseline.</a:t>
            </a:r>
          </a:p>
          <a:p>
            <a:r>
              <a:rPr lang="en-US" b="1" dirty="0"/>
              <a:t>Tools:</a:t>
            </a:r>
            <a:endParaRPr lang="en-US" dirty="0"/>
          </a:p>
          <a:p>
            <a:r>
              <a:rPr lang="en-US" dirty="0"/>
              <a:t>Gantt charts</a:t>
            </a:r>
          </a:p>
          <a:p>
            <a:r>
              <a:rPr lang="en-US" dirty="0"/>
              <a:t>Milestone reviews</a:t>
            </a:r>
          </a:p>
          <a:p>
            <a:r>
              <a:rPr lang="en-US" dirty="0"/>
              <a:t>Critical Path Method (CPM)</a:t>
            </a:r>
          </a:p>
          <a:p>
            <a:r>
              <a:rPr lang="en-US" b="1" dirty="0"/>
              <a:t>Example:</a:t>
            </a:r>
            <a:br>
              <a:rPr lang="en-US" dirty="0"/>
            </a:br>
            <a:r>
              <a:rPr lang="en-US" dirty="0"/>
              <a:t>If testing was planned for 2 weeks but takes 4 weeks:</a:t>
            </a:r>
            <a:br>
              <a:rPr lang="en-US" dirty="0"/>
            </a:br>
            <a:r>
              <a:rPr lang="en-US" dirty="0"/>
              <a:t>👉 Schedule variance identified and corrective planning done.</a:t>
            </a:r>
          </a:p>
        </p:txBody>
      </p:sp>
    </p:spTree>
    <p:extLst>
      <p:ext uri="{BB962C8B-B14F-4D97-AF65-F5344CB8AC3E}">
        <p14:creationId xmlns:p14="http://schemas.microsoft.com/office/powerpoint/2010/main" val="321755804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55704-B78C-19D4-53A6-6563D9094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Post-Project Evaluation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FE4680-53EF-7693-2BB0-70DF7B857A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Benefits Realization Analysis</a:t>
            </a:r>
          </a:p>
          <a:p>
            <a:r>
              <a:rPr lang="en-US" dirty="0"/>
              <a:t>Checks whether expected benefits are achieved.</a:t>
            </a:r>
          </a:p>
          <a:p>
            <a:r>
              <a:rPr lang="en-US" b="1" dirty="0"/>
              <a:t>Example:</a:t>
            </a:r>
            <a:br>
              <a:rPr lang="en-US" dirty="0"/>
            </a:br>
            <a:r>
              <a:rPr lang="en-US" dirty="0"/>
              <a:t>ERP project expected:</a:t>
            </a:r>
          </a:p>
          <a:p>
            <a:r>
              <a:rPr lang="en-US" dirty="0"/>
              <a:t>20% reduction in operating cost</a:t>
            </a:r>
          </a:p>
          <a:p>
            <a:r>
              <a:rPr lang="en-US" dirty="0"/>
              <a:t>After 1 year:</a:t>
            </a:r>
          </a:p>
          <a:p>
            <a:r>
              <a:rPr lang="en-US" dirty="0"/>
              <a:t>Actual reduction: 15%</a:t>
            </a:r>
          </a:p>
          <a:p>
            <a:r>
              <a:rPr lang="en-US" dirty="0"/>
              <a:t>👉 Partial success; improvement opportunities identified.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387247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5D5044-4D40-2CC9-F550-8B7395FF29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5D466-48DC-EF7B-37B6-3F561130AD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Post-Project Evaluation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CDB93B-BAAF-923C-F802-18760239D3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Lessons Learned Evaluation</a:t>
            </a:r>
          </a:p>
          <a:p>
            <a:r>
              <a:rPr lang="en-US" dirty="0"/>
              <a:t>Identifies:</a:t>
            </a:r>
          </a:p>
          <a:p>
            <a:r>
              <a:rPr lang="en-US" dirty="0"/>
              <a:t>What went well</a:t>
            </a:r>
          </a:p>
          <a:p>
            <a:r>
              <a:rPr lang="en-US" dirty="0"/>
              <a:t>What went wrong</a:t>
            </a:r>
          </a:p>
          <a:p>
            <a:r>
              <a:rPr lang="en-US" dirty="0"/>
              <a:t>What can be improved</a:t>
            </a:r>
          </a:p>
          <a:p>
            <a:r>
              <a:rPr lang="en-US" b="1" dirty="0"/>
              <a:t>Example:</a:t>
            </a:r>
            <a:br>
              <a:rPr lang="en-US" dirty="0"/>
            </a:br>
            <a:r>
              <a:rPr lang="en-US" dirty="0"/>
              <a:t>Lesson learned:</a:t>
            </a:r>
          </a:p>
          <a:p>
            <a:r>
              <a:rPr lang="en-US" dirty="0"/>
              <a:t>Early stakeholder involvement reduced change requests</a:t>
            </a:r>
          </a:p>
          <a:p>
            <a:r>
              <a:rPr lang="en-US" dirty="0"/>
              <a:t>👉 Documented for future projects.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43950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A58934-F64C-6C8C-E5A6-09B5FA8788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F8418F-F520-2A17-16FA-F20D5F085C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Post-Project Evaluation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561D8A-0DAF-ACEB-BA5C-3F008D1891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3.3 Customer Satisfaction Evaluation</a:t>
            </a:r>
          </a:p>
          <a:p>
            <a:r>
              <a:rPr lang="en-US" dirty="0"/>
              <a:t>Measures stakeholder satisfaction.</a:t>
            </a:r>
          </a:p>
          <a:p>
            <a:r>
              <a:rPr lang="en-US" b="1" dirty="0"/>
              <a:t>Tools:</a:t>
            </a:r>
            <a:endParaRPr lang="en-US" dirty="0"/>
          </a:p>
          <a:p>
            <a:r>
              <a:rPr lang="en-US" dirty="0"/>
              <a:t>Surveys</a:t>
            </a:r>
          </a:p>
          <a:p>
            <a:r>
              <a:rPr lang="en-US" dirty="0"/>
              <a:t>Feedback forms</a:t>
            </a:r>
          </a:p>
          <a:p>
            <a:r>
              <a:rPr lang="en-US" dirty="0"/>
              <a:t>Interviews</a:t>
            </a:r>
          </a:p>
          <a:p>
            <a:r>
              <a:rPr lang="en-US" b="1" dirty="0"/>
              <a:t>Example:</a:t>
            </a:r>
            <a:br>
              <a:rPr lang="en-US" dirty="0"/>
            </a:br>
            <a:r>
              <a:rPr lang="en-US" dirty="0"/>
              <a:t>Client rates project:</a:t>
            </a:r>
          </a:p>
          <a:p>
            <a:r>
              <a:rPr lang="en-US" dirty="0"/>
              <a:t>Quality: 4/5</a:t>
            </a:r>
          </a:p>
          <a:p>
            <a:r>
              <a:rPr lang="en-US" dirty="0"/>
              <a:t>Schedule: 3/5</a:t>
            </a:r>
          </a:p>
          <a:p>
            <a:r>
              <a:rPr lang="en-US" dirty="0"/>
              <a:t>Communication: 5/5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128894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C3B59-E1D8-53B2-9D95-8438E5AAF3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Analysis and Evaluation Framework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4F5A6A-B9C5-A4A8-571E-2FAA5BFB1C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Project analysis is commonly divided into three major assessments:</a:t>
            </a:r>
          </a:p>
          <a:p>
            <a:r>
              <a:rPr lang="en-US" b="1" dirty="0"/>
              <a:t>Strategic Assessment</a:t>
            </a:r>
            <a:endParaRPr lang="en-US" dirty="0"/>
          </a:p>
          <a:p>
            <a:r>
              <a:rPr lang="en-US" b="1" dirty="0"/>
              <a:t>Technical Assessment</a:t>
            </a:r>
            <a:endParaRPr lang="en-US" dirty="0"/>
          </a:p>
          <a:p>
            <a:r>
              <a:rPr lang="en-US" b="1" dirty="0"/>
              <a:t>Economic (Financial) Assessment</a:t>
            </a:r>
            <a:endParaRPr lang="en-US" dirty="0"/>
          </a:p>
          <a:p>
            <a:r>
              <a:rPr lang="en-US" b="1" dirty="0"/>
              <a:t>3. Strategic Assessment</a:t>
            </a:r>
          </a:p>
          <a:p>
            <a:r>
              <a:rPr lang="en-US" b="1" dirty="0"/>
              <a:t>3.1 Meaning</a:t>
            </a:r>
          </a:p>
          <a:p>
            <a:r>
              <a:rPr lang="en-US" dirty="0"/>
              <a:t>Strategic assessment evaluates how well a project supports the </a:t>
            </a:r>
            <a:r>
              <a:rPr lang="en-US" b="1" dirty="0"/>
              <a:t>organization’s vision, mission, and long-term strategy</a:t>
            </a:r>
            <a:r>
              <a:rPr lang="en-US" dirty="0"/>
              <a:t>.</a:t>
            </a:r>
          </a:p>
          <a:p>
            <a:r>
              <a:rPr lang="en-US" dirty="0"/>
              <a:t>PMBOK emphasizes that projects should deliver </a:t>
            </a:r>
            <a:r>
              <a:rPr lang="en-US" b="1" dirty="0"/>
              <a:t>business value</a:t>
            </a:r>
            <a:r>
              <a:rPr lang="en-US" dirty="0"/>
              <a:t>, not just outputs.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755619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8CC29A-CF0F-B678-9C9D-6AFE9C49F6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6A8FA-B121-40A9-F2F9-315425F381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Analysis and Evaluation Framework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3EF695-FFAA-986A-A49F-050169B0EE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/>
              <a:t>3.2 Key Strategic Questions</a:t>
            </a:r>
          </a:p>
          <a:p>
            <a:r>
              <a:rPr lang="en-US" dirty="0"/>
              <a:t>Does the project align with organizational goals?</a:t>
            </a:r>
          </a:p>
          <a:p>
            <a:r>
              <a:rPr lang="en-US" dirty="0"/>
              <a:t>Does it provide competitive advantage?</a:t>
            </a:r>
          </a:p>
          <a:p>
            <a:r>
              <a:rPr lang="en-US" dirty="0"/>
              <a:t>Is it aligned with regulatory, social, or environmental requirements?</a:t>
            </a:r>
          </a:p>
          <a:p>
            <a:r>
              <a:rPr lang="en-US" dirty="0"/>
              <a:t>Does it support growth, innovation, or sustainability?</a:t>
            </a:r>
          </a:p>
          <a:p>
            <a:r>
              <a:rPr lang="en-US" b="1" dirty="0"/>
              <a:t>3.3 Strategic Assessment Tools</a:t>
            </a:r>
          </a:p>
          <a:p>
            <a:r>
              <a:rPr lang="en-US" dirty="0"/>
              <a:t>SWOT Analysis</a:t>
            </a:r>
          </a:p>
          <a:p>
            <a:r>
              <a:rPr lang="en-US" dirty="0"/>
              <a:t>PESTLE Analysis</a:t>
            </a:r>
          </a:p>
          <a:p>
            <a:r>
              <a:rPr lang="en-US" dirty="0"/>
              <a:t>Porter’s Five Forces</a:t>
            </a:r>
          </a:p>
          <a:p>
            <a:r>
              <a:rPr lang="en-US" dirty="0"/>
              <a:t>Balanced Scorecard</a:t>
            </a:r>
          </a:p>
          <a:p>
            <a:r>
              <a:rPr lang="en-US" dirty="0"/>
              <a:t>Strategic Alignment Matrix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60811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7C74FC-D8A7-0016-296C-C8305D6F9C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7F7C8D-D6B3-6770-5965-5C76A4DDDE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Analysis and Evaluation Framework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BF54B9-5E7C-8247-8A96-7BC2A8F0A6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3.4 Example</a:t>
            </a:r>
          </a:p>
          <a:p>
            <a:r>
              <a:rPr lang="en-US" b="1" dirty="0"/>
              <a:t>Organization Goal:</a:t>
            </a:r>
            <a:r>
              <a:rPr lang="en-US" dirty="0"/>
              <a:t> Expand digital services</a:t>
            </a:r>
          </a:p>
          <a:p>
            <a:r>
              <a:rPr lang="en-US" b="1" dirty="0"/>
              <a:t>Project A:</a:t>
            </a:r>
            <a:r>
              <a:rPr lang="en-US" dirty="0"/>
              <a:t> Develop a mobile banking application</a:t>
            </a:r>
            <a:br>
              <a:rPr lang="en-US" dirty="0"/>
            </a:br>
            <a:r>
              <a:rPr lang="en-US" b="1" dirty="0"/>
              <a:t>Project B:</a:t>
            </a:r>
            <a:r>
              <a:rPr lang="en-US" dirty="0"/>
              <a:t> Renovate office buildings</a:t>
            </a:r>
          </a:p>
          <a:p>
            <a:r>
              <a:rPr lang="en-US" b="1" dirty="0"/>
              <a:t>Strategic Evaluation:</a:t>
            </a:r>
            <a:endParaRPr lang="en-US" dirty="0"/>
          </a:p>
          <a:p>
            <a:r>
              <a:rPr lang="en-US" dirty="0"/>
              <a:t>Project A supports digital transformation and customer reach</a:t>
            </a:r>
          </a:p>
          <a:p>
            <a:r>
              <a:rPr lang="en-US" dirty="0"/>
              <a:t>Project B improves infrastructure but does not directly support strategy</a:t>
            </a:r>
          </a:p>
          <a:p>
            <a:r>
              <a:rPr lang="en-US" b="1" dirty="0"/>
              <a:t>Conclusion:</a:t>
            </a:r>
            <a:r>
              <a:rPr lang="en-US" dirty="0"/>
              <a:t> Project A scores higher strategically.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953950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C76C6-5BCE-8D2B-E65A-732C7A9E38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Technical Assessment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73395A-EDD9-62FD-6DCE-F3156F9019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Technical assessment evaluates whether the project is </a:t>
            </a:r>
            <a:r>
              <a:rPr lang="en-US" b="1" dirty="0"/>
              <a:t>technically feasible</a:t>
            </a:r>
            <a:r>
              <a:rPr lang="en-US" dirty="0"/>
              <a:t> using available technology, skills, infrastructure, and time.</a:t>
            </a:r>
          </a:p>
          <a:p>
            <a:r>
              <a:rPr lang="en-US" b="1" dirty="0"/>
              <a:t>4.2 Key Technical Factors</a:t>
            </a:r>
          </a:p>
          <a:p>
            <a:r>
              <a:rPr lang="en-US" dirty="0"/>
              <a:t>Availability of technology</a:t>
            </a:r>
          </a:p>
          <a:p>
            <a:r>
              <a:rPr lang="en-US" dirty="0"/>
              <a:t>Technical complexity</a:t>
            </a:r>
          </a:p>
          <a:p>
            <a:r>
              <a:rPr lang="en-US" dirty="0"/>
              <a:t>Resource skills and expertise</a:t>
            </a:r>
          </a:p>
          <a:p>
            <a:r>
              <a:rPr lang="en-US" dirty="0"/>
              <a:t>Integration with existing systems</a:t>
            </a:r>
          </a:p>
          <a:p>
            <a:r>
              <a:rPr lang="en-US" dirty="0"/>
              <a:t>Technical risks</a:t>
            </a:r>
          </a:p>
          <a:p>
            <a:r>
              <a:rPr lang="en-US" dirty="0"/>
              <a:t>Compliance with standards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168759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BD8379-393E-CA45-7523-D91FAE4084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A5024C-8FB2-3BDF-73CE-2CA05360BC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Technical Assessment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132DB4-0868-754E-240C-ACC77405DC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 dirty="0"/>
              <a:t>4.3 Technical Assessment Questions</a:t>
            </a:r>
          </a:p>
          <a:p>
            <a:r>
              <a:rPr lang="en-US" dirty="0"/>
              <a:t>Can the project be implemented with current technology?</a:t>
            </a:r>
          </a:p>
          <a:p>
            <a:r>
              <a:rPr lang="en-US" dirty="0"/>
              <a:t>Are skilled resources available?</a:t>
            </a:r>
          </a:p>
          <a:p>
            <a:r>
              <a:rPr lang="en-US" dirty="0"/>
              <a:t>Is the technology proven or experimental?</a:t>
            </a:r>
          </a:p>
          <a:p>
            <a:r>
              <a:rPr lang="en-US" dirty="0"/>
              <a:t>What are the technical risks?</a:t>
            </a:r>
          </a:p>
          <a:p>
            <a:r>
              <a:rPr lang="en-US" b="1" dirty="0"/>
              <a:t>4.4 Example</a:t>
            </a:r>
          </a:p>
          <a:p>
            <a:r>
              <a:rPr lang="en-US" b="1" dirty="0"/>
              <a:t>Project:</a:t>
            </a:r>
            <a:r>
              <a:rPr lang="en-US" dirty="0"/>
              <a:t> Implement an AI-based customer support system</a:t>
            </a:r>
          </a:p>
          <a:p>
            <a:r>
              <a:rPr lang="en-US" dirty="0"/>
              <a:t>Required AI expertise is limited</a:t>
            </a:r>
          </a:p>
          <a:p>
            <a:r>
              <a:rPr lang="en-US" dirty="0"/>
              <a:t>Existing IT systems require integration</a:t>
            </a:r>
          </a:p>
          <a:p>
            <a:r>
              <a:rPr lang="en-US" dirty="0"/>
              <a:t>Technology is emerging but proven</a:t>
            </a:r>
          </a:p>
          <a:p>
            <a:r>
              <a:rPr lang="en-US" b="1" dirty="0"/>
              <a:t>Assessment Result:</a:t>
            </a:r>
            <a:br>
              <a:rPr lang="en-US" dirty="0"/>
            </a:br>
            <a:r>
              <a:rPr lang="en-US" dirty="0"/>
              <a:t>Technically feasible with moderate risk and training requirements.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815929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027343-0C7B-6BBA-73E8-C39DDAC2F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Economic (Financial) Assessment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2076B4-2DFA-97A9-F57B-979C7B4303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Economic assessment evaluates whether the </a:t>
            </a:r>
            <a:r>
              <a:rPr lang="en-US" b="1" dirty="0"/>
              <a:t>financial benefits outweigh the costs</a:t>
            </a:r>
            <a:r>
              <a:rPr lang="en-US" dirty="0"/>
              <a:t> over the project life cycle.</a:t>
            </a:r>
          </a:p>
          <a:p>
            <a:r>
              <a:rPr lang="en-US" dirty="0"/>
              <a:t>This is a key component of the </a:t>
            </a:r>
            <a:r>
              <a:rPr lang="en-US" b="1" dirty="0"/>
              <a:t>Business Case</a:t>
            </a:r>
            <a:r>
              <a:rPr lang="en-US" dirty="0"/>
              <a:t> in PMBOK.</a:t>
            </a:r>
          </a:p>
          <a:p>
            <a:r>
              <a:rPr lang="en-US" b="1" dirty="0"/>
              <a:t>5.2 Components of Economic Assessment</a:t>
            </a:r>
          </a:p>
          <a:p>
            <a:r>
              <a:rPr lang="en-US" dirty="0"/>
              <a:t>Initial investment cost</a:t>
            </a:r>
          </a:p>
          <a:p>
            <a:r>
              <a:rPr lang="en-US" dirty="0"/>
              <a:t>Operating and maintenance costs</a:t>
            </a:r>
          </a:p>
          <a:p>
            <a:r>
              <a:rPr lang="en-US" dirty="0"/>
              <a:t>Tangible and intangible benefits</a:t>
            </a:r>
          </a:p>
          <a:p>
            <a:r>
              <a:rPr lang="en-US" dirty="0"/>
              <a:t>Project life span</a:t>
            </a:r>
          </a:p>
          <a:p>
            <a:r>
              <a:rPr lang="en-US" dirty="0"/>
              <a:t>Time value of money</a:t>
            </a:r>
          </a:p>
          <a:p>
            <a:r>
              <a:rPr lang="en-US" dirty="0"/>
              <a:t>Risk and uncertainty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262963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9903CA-4380-62D6-B6E3-6F36B62E14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08D8E-29F3-24DD-C81A-16072645D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Economic (Financial) Assessment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BC6019-B638-AD96-53E2-EDED7E8CD9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6. Cost–Benefit Evaluation Techniques</a:t>
            </a:r>
          </a:p>
          <a:p>
            <a:r>
              <a:rPr lang="en-US" dirty="0"/>
              <a:t>These techniques are used to </a:t>
            </a:r>
            <a:r>
              <a:rPr lang="en-US" b="1" dirty="0"/>
              <a:t>compare and select projects</a:t>
            </a:r>
            <a:r>
              <a:rPr lang="en-US" dirty="0"/>
              <a:t> based on financial performance.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059246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1A0DD0-C0A3-075C-41CA-C4E75081C1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Comparison of projects based on cost benefit evaluation</a:t>
            </a:r>
            <a:br>
              <a:rPr lang="en-US" dirty="0"/>
            </a:b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764A5DE-D527-96A9-5150-728461EEABC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US" b="1" dirty="0"/>
                  <a:t>Cost-Benefit Analysis (CBA)</a:t>
                </a:r>
                <a:r>
                  <a:rPr lang="en-US" dirty="0"/>
                  <a:t> is a </a:t>
                </a:r>
                <a:r>
                  <a:rPr lang="en-US" b="1" dirty="0"/>
                  <a:t>financial evaluation technique</a:t>
                </a:r>
                <a:r>
                  <a:rPr lang="en-US" dirty="0"/>
                  <a:t> used to </a:t>
                </a:r>
                <a:r>
                  <a:rPr lang="en-US" b="1" dirty="0"/>
                  <a:t>compare different projects or alternatives</a:t>
                </a:r>
                <a:r>
                  <a:rPr lang="en-US" dirty="0"/>
                  <a:t> based on:</a:t>
                </a:r>
              </a:p>
              <a:p>
                <a:r>
                  <a:rPr lang="en-US" b="1" dirty="0"/>
                  <a:t>Costs</a:t>
                </a:r>
                <a:r>
                  <a:rPr lang="en-US" dirty="0"/>
                  <a:t> → Investment, development, operating, maintenance</a:t>
                </a:r>
              </a:p>
              <a:p>
                <a:r>
                  <a:rPr lang="en-US" b="1" dirty="0"/>
                  <a:t>Benefits</a:t>
                </a:r>
                <a:r>
                  <a:rPr lang="en-US" dirty="0"/>
                  <a:t> → Revenue, cost savings, productivity gains</a:t>
                </a:r>
              </a:p>
              <a:p>
                <a:r>
                  <a:rPr lang="en-US" b="1" dirty="0"/>
                  <a:t>Net Profit / Net Benefit</a:t>
                </a:r>
                <a:r>
                  <a:rPr lang="en-US" dirty="0"/>
                  <a:t> is calculated as:</a:t>
                </a:r>
              </a:p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/>
                      <m:t>Net</m:t>
                    </m:r>
                    <m:r>
                      <m:rPr>
                        <m:nor/>
                      </m:rPr>
                      <a:rPr lang="en-US" b="0" i="1"/>
                      <m:t> </m:t>
                    </m:r>
                    <m:r>
                      <m:rPr>
                        <m:nor/>
                      </m:rPr>
                      <a:rPr lang="en-US" b="0" i="1"/>
                      <m:t>Profit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i="1"/>
                      <m:t>Total</m:t>
                    </m:r>
                    <m:r>
                      <m:rPr>
                        <m:nor/>
                      </m:rPr>
                      <a:rPr lang="en-US" i="1"/>
                      <m:t> </m:t>
                    </m:r>
                    <m:r>
                      <m:rPr>
                        <m:nor/>
                      </m:rPr>
                      <a:rPr lang="en-US" i="1"/>
                      <m:t>Benefits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n-US" i="1"/>
                      <m:t>Total</m:t>
                    </m:r>
                    <m:r>
                      <m:rPr>
                        <m:nor/>
                      </m:rPr>
                      <a:rPr lang="en-US" i="1"/>
                      <m:t> </m:t>
                    </m:r>
                    <m:r>
                      <m:rPr>
                        <m:nor/>
                      </m:rPr>
                      <a:rPr lang="en-US" i="1"/>
                      <m:t>Costs</m:t>
                    </m:r>
                  </m:oMath>
                </a14:m>
                <a:endParaRPr lang="en-US" b="0" dirty="0"/>
              </a:p>
              <a:p>
                <a:r>
                  <a:rPr lang="en-US" b="1" dirty="0"/>
                  <a:t>Purpose:</a:t>
                </a:r>
                <a:endParaRPr lang="en-US" dirty="0"/>
              </a:p>
              <a:p>
                <a:r>
                  <a:rPr lang="en-US" dirty="0"/>
                  <a:t>Determine </a:t>
                </a:r>
                <a:r>
                  <a:rPr lang="en-US" b="1" dirty="0"/>
                  <a:t>financial feasibility</a:t>
                </a:r>
                <a:r>
                  <a:rPr lang="en-US" dirty="0"/>
                  <a:t> of a project</a:t>
                </a:r>
              </a:p>
              <a:p>
                <a:r>
                  <a:rPr lang="en-US" dirty="0"/>
                  <a:t>Help </a:t>
                </a:r>
                <a:r>
                  <a:rPr lang="en-US" b="1" dirty="0"/>
                  <a:t>prioritize projects</a:t>
                </a:r>
                <a:r>
                  <a:rPr lang="en-US" dirty="0"/>
                  <a:t> when multiple options exist</a:t>
                </a:r>
              </a:p>
              <a:p>
                <a:r>
                  <a:rPr lang="en-US" dirty="0"/>
                  <a:t>Support </a:t>
                </a:r>
                <a:r>
                  <a:rPr lang="en-US" b="1" dirty="0"/>
                  <a:t>management decision-making</a:t>
                </a: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764A5DE-D527-96A9-5150-728461EEABC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2801" r="-1333" b="-30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4937488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A60FC1-A401-0455-35A7-24BB889AB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Cost-Benefit Evaluation Technique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57CF7A-D99B-16BA-920E-7CE2DC4746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/>
              <a:t>2. Steps to Compare Projects Using Net Profit</a:t>
            </a:r>
          </a:p>
          <a:p>
            <a:r>
              <a:rPr lang="en-US" b="1" dirty="0"/>
              <a:t>List Alternatives / Projects</a:t>
            </a:r>
            <a:endParaRPr lang="en-US" dirty="0"/>
          </a:p>
          <a:p>
            <a:pPr lvl="1"/>
            <a:r>
              <a:rPr lang="en-US" dirty="0"/>
              <a:t>Identify all IT projects under consideration.</a:t>
            </a:r>
          </a:p>
          <a:p>
            <a:r>
              <a:rPr lang="en-US" b="1" dirty="0"/>
              <a:t>Estimate Costs for Each Project</a:t>
            </a:r>
            <a:endParaRPr lang="en-US" dirty="0"/>
          </a:p>
          <a:p>
            <a:pPr lvl="1"/>
            <a:r>
              <a:rPr lang="en-US" dirty="0"/>
              <a:t>Include development cost, hardware, software licenses, training, maintenance.</a:t>
            </a:r>
          </a:p>
          <a:p>
            <a:r>
              <a:rPr lang="en-US" b="1" dirty="0"/>
              <a:t>Estimate Benefits for Each Project</a:t>
            </a:r>
            <a:endParaRPr lang="en-US" dirty="0"/>
          </a:p>
          <a:p>
            <a:pPr lvl="1"/>
            <a:r>
              <a:rPr lang="en-US" dirty="0"/>
              <a:t>Revenue, cost savings, efficiency improvements, productivity gains.</a:t>
            </a:r>
          </a:p>
          <a:p>
            <a:r>
              <a:rPr lang="en-US" b="1" dirty="0"/>
              <a:t>Calculate Net Profit (Net Benefit)</a:t>
            </a:r>
            <a:endParaRPr lang="en-US" dirty="0"/>
          </a:p>
          <a:p>
            <a:pPr lvl="1"/>
            <a:r>
              <a:rPr lang="en-US" dirty="0"/>
              <a:t>Net Profit = Benefits − Costs</a:t>
            </a:r>
          </a:p>
          <a:p>
            <a:r>
              <a:rPr lang="en-US" b="1" dirty="0"/>
              <a:t>Rank Projects</a:t>
            </a:r>
            <a:endParaRPr lang="en-US" dirty="0"/>
          </a:p>
          <a:p>
            <a:pPr lvl="1"/>
            <a:r>
              <a:rPr lang="en-US" dirty="0"/>
              <a:t>Higher net profit → higher priority for implementation.</a:t>
            </a:r>
          </a:p>
          <a:p>
            <a:r>
              <a:rPr lang="en-US" b="1" dirty="0"/>
              <a:t>Consider Non-Financial Factors (Optional)</a:t>
            </a:r>
            <a:endParaRPr lang="en-US" dirty="0"/>
          </a:p>
          <a:p>
            <a:pPr lvl="1"/>
            <a:r>
              <a:rPr lang="en-US" dirty="0"/>
              <a:t>Strategic alignment, risk, regulatory compliance, customer satisfaction.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45490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0AA581-80C9-53F6-BDA2-A5E4C25EF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Example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97786E6-52DD-8394-5996-91C7DD4BEB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8833" y="467208"/>
            <a:ext cx="7072937" cy="592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51426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872EC1-81C6-4092-8C61-C228491E57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69CA0D-16E1-04E1-5F31-4894FF8787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Step 4: Comparison &amp; Decision</a:t>
            </a:r>
          </a:p>
          <a:p>
            <a:r>
              <a:rPr lang="en-US" b="1" dirty="0"/>
              <a:t>Project A</a:t>
            </a:r>
            <a:r>
              <a:rPr lang="en-US" dirty="0"/>
              <a:t> → Higher net profit ($80,000) → preferred choice</a:t>
            </a:r>
          </a:p>
          <a:p>
            <a:r>
              <a:rPr lang="en-US" b="1" dirty="0"/>
              <a:t>Project B</a:t>
            </a:r>
            <a:r>
              <a:rPr lang="en-US" dirty="0"/>
              <a:t> → Lower net profit ($55,000) → second priority</a:t>
            </a:r>
          </a:p>
          <a:p>
            <a:r>
              <a:rPr lang="en-US" b="1" dirty="0"/>
              <a:t>Interpretation:</a:t>
            </a:r>
            <a:r>
              <a:rPr lang="en-US" dirty="0"/>
              <a:t> Even though Project B costs less, Project A provides higher </a:t>
            </a:r>
            <a:r>
              <a:rPr lang="en-US" b="1" dirty="0"/>
              <a:t>financial benefit</a:t>
            </a:r>
            <a:r>
              <a:rPr lang="en-US" dirty="0"/>
              <a:t> and is therefore prioritized.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895299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AEC2B0-1C8F-0912-FF0A-4EE6A8FA7A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Payback Period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55AC40-0F23-8A06-2B16-901563D22C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The </a:t>
            </a:r>
            <a:r>
              <a:rPr lang="en-US" b="1" dirty="0"/>
              <a:t>payback period</a:t>
            </a:r>
            <a:r>
              <a:rPr lang="en-US" dirty="0"/>
              <a:t> is the </a:t>
            </a:r>
            <a:r>
              <a:rPr lang="en-US" b="1" dirty="0"/>
              <a:t>time it takes for a project to recover its initial investment from its net benefits or cash inflows</a:t>
            </a:r>
            <a:r>
              <a:rPr lang="en-US" dirty="0"/>
              <a:t>.</a:t>
            </a:r>
          </a:p>
          <a:p>
            <a:r>
              <a:rPr lang="en-US" dirty="0"/>
              <a:t>Payback Period (Years)=Annual Net </a:t>
            </a:r>
            <a:r>
              <a:rPr lang="en-US" dirty="0" err="1"/>
              <a:t>BenefitsInitial</a:t>
            </a:r>
            <a:r>
              <a:rPr lang="en-US" dirty="0"/>
              <a:t> Investment​ </a:t>
            </a:r>
          </a:p>
          <a:p>
            <a:r>
              <a:rPr lang="en-US" b="1" dirty="0"/>
              <a:t>Purpose:</a:t>
            </a:r>
            <a:endParaRPr lang="en-US" dirty="0"/>
          </a:p>
          <a:p>
            <a:r>
              <a:rPr lang="en-US" dirty="0"/>
              <a:t>Evaluate the </a:t>
            </a:r>
            <a:r>
              <a:rPr lang="en-US" b="1" dirty="0"/>
              <a:t>financial feasibility</a:t>
            </a:r>
            <a:r>
              <a:rPr lang="en-US" dirty="0"/>
              <a:t> of a project</a:t>
            </a:r>
          </a:p>
          <a:p>
            <a:r>
              <a:rPr lang="en-US" dirty="0"/>
              <a:t>Compare </a:t>
            </a:r>
            <a:r>
              <a:rPr lang="en-US" b="1" dirty="0"/>
              <a:t>projects with different costs and benefits</a:t>
            </a:r>
            <a:endParaRPr lang="en-US" dirty="0"/>
          </a:p>
          <a:p>
            <a:r>
              <a:rPr lang="en-US" dirty="0"/>
              <a:t>Helps management </a:t>
            </a:r>
            <a:r>
              <a:rPr lang="en-US" b="1" dirty="0"/>
              <a:t>choose faster-returning investments</a:t>
            </a:r>
            <a:endParaRPr lang="en-US" dirty="0"/>
          </a:p>
          <a:p>
            <a:r>
              <a:rPr lang="en-US" b="1" dirty="0"/>
              <a:t>Key Concept:</a:t>
            </a:r>
            <a:endParaRPr lang="en-US" dirty="0"/>
          </a:p>
          <a:p>
            <a:r>
              <a:rPr lang="en-US" dirty="0"/>
              <a:t>Shorter payback period → faster recovery → lower risk</a:t>
            </a:r>
          </a:p>
          <a:p>
            <a:r>
              <a:rPr lang="en-US" dirty="0"/>
              <a:t>Longer payback period → delayed return → higher risk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469792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5A5BA-7451-3BF7-069E-7D2B7B2C5B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Payback Period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52E020-2BBF-028B-AB17-D8678F8FBF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2. Steps to Compare Projects Using Payback Period</a:t>
            </a:r>
          </a:p>
          <a:p>
            <a:r>
              <a:rPr lang="en-US" b="1" dirty="0"/>
              <a:t>List the projects / alternatives</a:t>
            </a:r>
            <a:endParaRPr lang="en-US" dirty="0"/>
          </a:p>
          <a:p>
            <a:r>
              <a:rPr lang="en-US" b="1" dirty="0"/>
              <a:t>Estimate the initial investment (costs)</a:t>
            </a:r>
            <a:endParaRPr lang="en-US" dirty="0"/>
          </a:p>
          <a:p>
            <a:r>
              <a:rPr lang="en-US" b="1" dirty="0"/>
              <a:t>Estimate annual benefits or savings</a:t>
            </a:r>
            <a:endParaRPr lang="en-US" dirty="0"/>
          </a:p>
          <a:p>
            <a:r>
              <a:rPr lang="en-US" b="1" dirty="0"/>
              <a:t>Calculate payback period for each project</a:t>
            </a:r>
            <a:endParaRPr lang="en-US" dirty="0"/>
          </a:p>
          <a:p>
            <a:pPr lvl="1"/>
            <a:r>
              <a:rPr lang="en-US" dirty="0"/>
              <a:t>If benefits vary yearly, cumulative cash flow is used</a:t>
            </a:r>
          </a:p>
          <a:p>
            <a:r>
              <a:rPr lang="en-US" b="1" dirty="0"/>
              <a:t>Rank the projects</a:t>
            </a:r>
            <a:endParaRPr lang="en-US" dirty="0"/>
          </a:p>
          <a:p>
            <a:pPr lvl="1"/>
            <a:r>
              <a:rPr lang="en-US" dirty="0"/>
              <a:t>Lower payback period → preferred choice</a:t>
            </a:r>
          </a:p>
          <a:p>
            <a:r>
              <a:rPr lang="en-US" b="1" dirty="0"/>
              <a:t>Consider other factors</a:t>
            </a:r>
            <a:endParaRPr lang="en-US" dirty="0"/>
          </a:p>
          <a:p>
            <a:pPr lvl="1"/>
            <a:r>
              <a:rPr lang="en-US" dirty="0"/>
              <a:t>Strategic alignment, risk, non-financial benefits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372869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69D47016-023F-44BD-981C-50E7A10A66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DD7B5A-D96E-725E-90B3-14EC63C73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457200"/>
            <a:ext cx="4343400" cy="1929384"/>
          </a:xfrm>
        </p:spPr>
        <p:txBody>
          <a:bodyPr anchor="ctr">
            <a:normAutofit/>
          </a:bodyPr>
          <a:lstStyle/>
          <a:p>
            <a:r>
              <a:rPr lang="en-US" sz="4800"/>
              <a:t>Example</a:t>
            </a:r>
          </a:p>
        </p:txBody>
      </p:sp>
      <p:sp>
        <p:nvSpPr>
          <p:cNvPr id="14" name="sketchy line">
            <a:extLst>
              <a:ext uri="{FF2B5EF4-FFF2-40B4-BE49-F238E27FC236}">
                <a16:creationId xmlns:a16="http://schemas.microsoft.com/office/drawing/2014/main" id="{6D8B37B0-0682-433E-BC8D-498C04ABD9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471415" y="1412748"/>
            <a:ext cx="1554480" cy="18288"/>
          </a:xfrm>
          <a:custGeom>
            <a:avLst/>
            <a:gdLst>
              <a:gd name="csX0" fmla="*/ 0 w 1554480"/>
              <a:gd name="csY0" fmla="*/ 0 h 18288"/>
              <a:gd name="csX1" fmla="*/ 549250 w 1554480"/>
              <a:gd name="csY1" fmla="*/ 0 h 18288"/>
              <a:gd name="csX2" fmla="*/ 1082954 w 1554480"/>
              <a:gd name="csY2" fmla="*/ 0 h 18288"/>
              <a:gd name="csX3" fmla="*/ 1554480 w 1554480"/>
              <a:gd name="csY3" fmla="*/ 0 h 18288"/>
              <a:gd name="csX4" fmla="*/ 1554480 w 1554480"/>
              <a:gd name="csY4" fmla="*/ 18288 h 18288"/>
              <a:gd name="csX5" fmla="*/ 1067410 w 1554480"/>
              <a:gd name="csY5" fmla="*/ 18288 h 18288"/>
              <a:gd name="csX6" fmla="*/ 549250 w 1554480"/>
              <a:gd name="csY6" fmla="*/ 18288 h 18288"/>
              <a:gd name="csX7" fmla="*/ 0 w 1554480"/>
              <a:gd name="csY7" fmla="*/ 18288 h 18288"/>
              <a:gd name="csX8" fmla="*/ 0 w 1554480"/>
              <a:gd name="csY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835D55-FD31-CB12-E009-17EAE9755C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41263" y="457200"/>
            <a:ext cx="6007608" cy="1929384"/>
          </a:xfrm>
        </p:spPr>
        <p:txBody>
          <a:bodyPr anchor="ctr">
            <a:normAutofit/>
          </a:bodyPr>
          <a:lstStyle/>
          <a:p>
            <a:endParaRPr lang="en-US" sz="220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976BD2A-A98E-DE2A-BC58-A4C5AA836D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" y="2857355"/>
            <a:ext cx="5468112" cy="310315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2190DF8-3681-8B96-51A5-D6F3E18965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496" y="2898366"/>
            <a:ext cx="5468112" cy="3021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504426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D6840-E2AE-EFBE-999F-E33DEFA27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Return on Investment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C61C5AF-A196-3C09-2F71-DD98BD10D96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55000" lnSpcReduction="20000"/>
              </a:bodyPr>
              <a:lstStyle/>
              <a:p>
                <a:r>
                  <a:rPr lang="en-US" b="1" dirty="0"/>
                  <a:t>ROI</a:t>
                </a:r>
                <a:r>
                  <a:rPr lang="en-US" dirty="0"/>
                  <a:t> is a </a:t>
                </a:r>
                <a:r>
                  <a:rPr lang="en-US" b="1" dirty="0"/>
                  <a:t>financial metric</a:t>
                </a:r>
                <a:r>
                  <a:rPr lang="en-US" dirty="0"/>
                  <a:t> that measures the </a:t>
                </a:r>
                <a:r>
                  <a:rPr lang="en-US" b="1" dirty="0"/>
                  <a:t>profitability</a:t>
                </a:r>
                <a:r>
                  <a:rPr lang="en-US" dirty="0"/>
                  <a:t> of an investment by comparing the </a:t>
                </a:r>
                <a:r>
                  <a:rPr lang="en-US" b="1" dirty="0"/>
                  <a:t>net benefits (or profit)</a:t>
                </a:r>
                <a:r>
                  <a:rPr lang="en-US" dirty="0"/>
                  <a:t> to the </a:t>
                </a:r>
                <a:r>
                  <a:rPr lang="en-US" b="1" dirty="0"/>
                  <a:t>initial investment</a:t>
                </a:r>
                <a:r>
                  <a:rPr lang="en-US" dirty="0"/>
                  <a:t>.</a:t>
                </a:r>
              </a:p>
              <a:p>
                <a:r>
                  <a:rPr lang="en-US" dirty="0"/>
                  <a:t>The formula for calculating </a:t>
                </a:r>
                <a:r>
                  <a:rPr lang="en-US" b="1" dirty="0"/>
                  <a:t>ROI</a:t>
                </a:r>
                <a:r>
                  <a:rPr lang="en-US" dirty="0"/>
                  <a:t> is:</a:t>
                </a:r>
              </a:p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/>
                      <m:t>ROI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i="1"/>
                          <m:t>Net</m:t>
                        </m:r>
                        <m:r>
                          <m:rPr>
                            <m:nor/>
                          </m:rPr>
                          <a:rPr lang="en-US" i="1"/>
                          <m:t> </m:t>
                        </m:r>
                        <m:r>
                          <m:rPr>
                            <m:nor/>
                          </m:rPr>
                          <a:rPr lang="en-US" i="1"/>
                          <m:t>Profit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i="1"/>
                          <m:t>Initial</m:t>
                        </m:r>
                        <m:r>
                          <m:rPr>
                            <m:nor/>
                          </m:rPr>
                          <a:rPr lang="en-US" i="1"/>
                          <m:t> </m:t>
                        </m:r>
                        <m:r>
                          <m:rPr>
                            <m:nor/>
                          </m:rPr>
                          <a:rPr lang="en-US" i="1"/>
                          <m:t>Investment</m:t>
                        </m:r>
                      </m:den>
                    </m:f>
                    <m:r>
                      <a:rPr lang="ar-AE">
                        <a:latin typeface="Cambria Math" panose="02040503050406030204" pitchFamily="18" charset="0"/>
                      </a:rPr>
                      <m:t>×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endParaRPr lang="ar-AE" b="0" dirty="0"/>
              </a:p>
              <a:p>
                <a:r>
                  <a:rPr lang="en-US" dirty="0"/>
                  <a:t>Where:</a:t>
                </a:r>
              </a:p>
              <a:p>
                <a:r>
                  <a:rPr lang="en-US" b="1" dirty="0"/>
                  <a:t>Net Profit</a:t>
                </a:r>
                <a:r>
                  <a:rPr lang="en-US" dirty="0"/>
                  <a:t> = Total Benefits - Total Costs</a:t>
                </a:r>
              </a:p>
              <a:p>
                <a:r>
                  <a:rPr lang="en-US" b="1" dirty="0"/>
                  <a:t>Initial Investment</a:t>
                </a:r>
                <a:r>
                  <a:rPr lang="en-US" dirty="0"/>
                  <a:t> is the upfront cost of the project.</a:t>
                </a:r>
              </a:p>
              <a:p>
                <a:r>
                  <a:rPr lang="en-US" b="1" dirty="0"/>
                  <a:t>Purpose:</a:t>
                </a:r>
                <a:endParaRPr lang="en-US" dirty="0"/>
              </a:p>
              <a:p>
                <a:r>
                  <a:rPr lang="en-US" dirty="0"/>
                  <a:t>Measure how effectively a project generates profit relative to its costs.</a:t>
                </a:r>
              </a:p>
              <a:p>
                <a:r>
                  <a:rPr lang="en-US" dirty="0"/>
                  <a:t>Help decision-makers </a:t>
                </a:r>
                <a:r>
                  <a:rPr lang="en-US" b="1" dirty="0"/>
                  <a:t>compare multiple projects</a:t>
                </a:r>
                <a:r>
                  <a:rPr lang="en-US" dirty="0"/>
                  <a:t> to determine which one offers the best return for the money invested.</a:t>
                </a:r>
              </a:p>
              <a:p>
                <a:r>
                  <a:rPr lang="en-US" b="1" dirty="0"/>
                  <a:t>ROI Interpretation:</a:t>
                </a:r>
                <a:endParaRPr lang="en-US" dirty="0"/>
              </a:p>
              <a:p>
                <a:r>
                  <a:rPr lang="en-US" dirty="0"/>
                  <a:t>A higher ROI means </a:t>
                </a:r>
                <a:r>
                  <a:rPr lang="en-US" b="1" dirty="0"/>
                  <a:t>higher profitability</a:t>
                </a:r>
                <a:r>
                  <a:rPr lang="en-US" dirty="0"/>
                  <a:t> relative to cost.</a:t>
                </a:r>
              </a:p>
              <a:p>
                <a:r>
                  <a:rPr lang="en-US" dirty="0"/>
                  <a:t>A negative or low ROI suggests that the investment may not be worthwhile.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C61C5AF-A196-3C09-2F71-DD98BD10D96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4" t="-14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8371842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087998-862B-A643-40AC-489E681849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Return on Investment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7BDEAEF-06F2-2A2B-A782-EC308D6830E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r>
                  <a:rPr lang="en-US" b="1" dirty="0"/>
                  <a:t>2. Steps to Compare Projects Using ROI</a:t>
                </a:r>
              </a:p>
              <a:p>
                <a:r>
                  <a:rPr lang="en-US" b="1" dirty="0"/>
                  <a:t>Identify and list the projects</a:t>
                </a:r>
                <a:r>
                  <a:rPr lang="en-US" dirty="0"/>
                  <a:t> to be compared.</a:t>
                </a:r>
              </a:p>
              <a:p>
                <a:r>
                  <a:rPr lang="en-US" b="1" dirty="0"/>
                  <a:t>Estimate the total costs</a:t>
                </a:r>
                <a:r>
                  <a:rPr lang="en-US" dirty="0"/>
                  <a:t> for each project (initial investment + operational costs).</a:t>
                </a:r>
              </a:p>
              <a:p>
                <a:r>
                  <a:rPr lang="en-US" b="1" dirty="0"/>
                  <a:t>Estimate the total benefits</a:t>
                </a:r>
                <a:r>
                  <a:rPr lang="en-US" dirty="0"/>
                  <a:t> or returns generated from the project over a given time period (e.g., yearly, 5 years).</a:t>
                </a:r>
              </a:p>
              <a:p>
                <a:r>
                  <a:rPr lang="en-US" b="1" dirty="0"/>
                  <a:t>Calculate Net Profit</a:t>
                </a:r>
                <a:r>
                  <a:rPr lang="en-US" dirty="0"/>
                  <a:t> for each project:</a:t>
                </a:r>
              </a:p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/>
                      <m:t>Net</m:t>
                    </m:r>
                    <m:r>
                      <m:rPr>
                        <m:nor/>
                      </m:rPr>
                      <a:rPr lang="en-US" b="0" i="1"/>
                      <m:t> </m:t>
                    </m:r>
                    <m:r>
                      <m:rPr>
                        <m:nor/>
                      </m:rPr>
                      <a:rPr lang="en-US" b="0" i="1"/>
                      <m:t>Profit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i="1"/>
                      <m:t>Total</m:t>
                    </m:r>
                    <m:r>
                      <m:rPr>
                        <m:nor/>
                      </m:rPr>
                      <a:rPr lang="en-US" i="1"/>
                      <m:t> </m:t>
                    </m:r>
                    <m:r>
                      <m:rPr>
                        <m:nor/>
                      </m:rPr>
                      <a:rPr lang="en-US" i="1"/>
                      <m:t>Benefits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n-US" i="1"/>
                      <m:t>Total</m:t>
                    </m:r>
                    <m:r>
                      <m:rPr>
                        <m:nor/>
                      </m:rPr>
                      <a:rPr lang="en-US" i="1"/>
                      <m:t> </m:t>
                    </m:r>
                    <m:r>
                      <m:rPr>
                        <m:nor/>
                      </m:rPr>
                      <a:rPr lang="en-US" i="1"/>
                      <m:t>Costs</m:t>
                    </m:r>
                  </m:oMath>
                </a14:m>
                <a:endParaRPr lang="en-US" b="0" dirty="0"/>
              </a:p>
              <a:p>
                <a:r>
                  <a:rPr lang="en-US" b="1" dirty="0"/>
                  <a:t>Calculate ROI</a:t>
                </a:r>
                <a:r>
                  <a:rPr lang="en-US" dirty="0"/>
                  <a:t> for each project using the formula:</a:t>
                </a:r>
              </a:p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/>
                      <m:t>ROI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i="1"/>
                          <m:t>Net</m:t>
                        </m:r>
                        <m:r>
                          <m:rPr>
                            <m:nor/>
                          </m:rPr>
                          <a:rPr lang="en-US" i="1"/>
                          <m:t> </m:t>
                        </m:r>
                        <m:r>
                          <m:rPr>
                            <m:nor/>
                          </m:rPr>
                          <a:rPr lang="en-US" i="1"/>
                          <m:t>Profit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i="1"/>
                          <m:t>Initial</m:t>
                        </m:r>
                        <m:r>
                          <m:rPr>
                            <m:nor/>
                          </m:rPr>
                          <a:rPr lang="en-US" i="1"/>
                          <m:t> </m:t>
                        </m:r>
                        <m:r>
                          <m:rPr>
                            <m:nor/>
                          </m:rPr>
                          <a:rPr lang="en-US" i="1"/>
                          <m:t>Investment</m:t>
                        </m:r>
                      </m:den>
                    </m:f>
                    <m:r>
                      <a:rPr lang="ar-AE">
                        <a:latin typeface="Cambria Math" panose="02040503050406030204" pitchFamily="18" charset="0"/>
                      </a:rPr>
                      <m:t>×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endParaRPr lang="ar-AE" b="0" dirty="0"/>
              </a:p>
              <a:p>
                <a:r>
                  <a:rPr lang="en-US" b="1" dirty="0"/>
                  <a:t>Rank the projects</a:t>
                </a:r>
                <a:r>
                  <a:rPr lang="en-US" dirty="0"/>
                  <a:t> based on their ROI—higher ROI is typically preferred.</a:t>
                </a:r>
              </a:p>
              <a:p>
                <a:r>
                  <a:rPr lang="en-US" b="1" dirty="0"/>
                  <a:t>Consider other non-financial factors</a:t>
                </a:r>
                <a:r>
                  <a:rPr lang="en-US" dirty="0"/>
                  <a:t>, such as risk, strategic alignment, and operational impact.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7BDEAEF-06F2-2A2B-A782-EC308D6830E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7949030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lowchart: Document 15">
            <a:extLst>
              <a:ext uri="{FF2B5EF4-FFF2-40B4-BE49-F238E27FC236}">
                <a16:creationId xmlns:a16="http://schemas.microsoft.com/office/drawing/2014/main" id="{D12DDE76-C203-4047-9998-63900085B5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8175" y="0"/>
            <a:ext cx="3248025" cy="3400426"/>
          </a:xfrm>
          <a:prstGeom prst="flowChartDocument">
            <a:avLst/>
          </a:prstGeom>
          <a:solidFill>
            <a:srgbClr val="2D30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501923-D881-69C5-ECC6-51DE8D7EEE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1162"/>
            <a:ext cx="2840182" cy="237114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Example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4964D8E-0AA4-684E-E61A-F24ED495E6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07933" y="949694"/>
            <a:ext cx="7347537" cy="4959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61145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884070-ACA6-8940-600F-FACDA96548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Example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950A393-634A-8DFD-9893-813B41EEF7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01785" y="1675227"/>
            <a:ext cx="10588429" cy="4394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103157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E0AD9-E65C-1AE0-3BD4-3C2388130D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 Present Value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780992-258B-22F7-A5BE-C139E7BBF51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55000" lnSpcReduction="20000"/>
              </a:bodyPr>
              <a:lstStyle/>
              <a:p>
                <a:r>
                  <a:rPr lang="en-US" b="1" dirty="0"/>
                  <a:t>Net Present Value (NPV)</a:t>
                </a:r>
                <a:r>
                  <a:rPr lang="en-US" dirty="0"/>
                  <a:t> is a </a:t>
                </a:r>
                <a:r>
                  <a:rPr lang="en-US" b="1" dirty="0"/>
                  <a:t>financial metric</a:t>
                </a:r>
                <a:r>
                  <a:rPr lang="en-US" dirty="0"/>
                  <a:t> that calculates the difference between the </a:t>
                </a:r>
                <a:r>
                  <a:rPr lang="en-US" b="1" dirty="0"/>
                  <a:t>present value of cash inflows</a:t>
                </a:r>
                <a:r>
                  <a:rPr lang="en-US" dirty="0"/>
                  <a:t> (benefits) and the </a:t>
                </a:r>
                <a:r>
                  <a:rPr lang="en-US" b="1" dirty="0"/>
                  <a:t>present value of cash outflows</a:t>
                </a:r>
                <a:r>
                  <a:rPr lang="en-US" dirty="0"/>
                  <a:t> (costs) over a specific time period. It accounts for the </a:t>
                </a:r>
                <a:r>
                  <a:rPr lang="en-US" b="1" dirty="0"/>
                  <a:t>time value of money</a:t>
                </a:r>
                <a:r>
                  <a:rPr lang="en-US" dirty="0"/>
                  <a:t> (i.e., money today is worth more than money in the future).</a:t>
                </a:r>
              </a:p>
              <a:p>
                <a:r>
                  <a:rPr lang="en-US" dirty="0"/>
                  <a:t>The formula for NPV is:</a:t>
                </a:r>
              </a:p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/>
                      <m:t>NPV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grow m:val="on"/>
                        <m:subHide m:val="on"/>
                        <m:supHide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f>
                          <m:f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num>
                          <m:den>
                            <m:d>
                              <m:dPr>
                                <m:endChr m:val=""/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  <m:sSup>
                                  <m:sSup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begChr m:val=""/>
                                        <m:endChr m:val=""/>
                                        <m:ctrlP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ar-AE">
                                            <a:latin typeface="Cambria Math" panose="02040503050406030204" pitchFamily="18" charset="0"/>
                                          </a:rPr>
                                          <m:t>)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p>
                                </m:sSup>
                              </m:e>
                            </m:d>
                          </m:den>
                        </m:f>
                      </m:e>
                    </m:nary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ar-AE" b="0" dirty="0"/>
              </a:p>
              <a:p>
                <a:r>
                  <a:rPr lang="en-US" dirty="0"/>
                  <a:t>Where: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ar-AE" dirty="0"/>
                  <a:t>= </a:t>
                </a:r>
                <a:r>
                  <a:rPr lang="en-US" dirty="0"/>
                  <a:t>Cash inflow at time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dirty="0"/>
                  <a:t>= Discount rate (cost of capital, risk-adjusted rate)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= Time period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ar-AE" dirty="0"/>
                  <a:t>= </a:t>
                </a:r>
                <a:r>
                  <a:rPr lang="en-US" dirty="0"/>
                  <a:t>Initial investment (cash outflow at time 0)</a:t>
                </a:r>
              </a:p>
              <a:p>
                <a:r>
                  <a:rPr lang="en-US" b="1" dirty="0"/>
                  <a:t>Purpose:</a:t>
                </a:r>
                <a:endParaRPr lang="en-US" dirty="0"/>
              </a:p>
              <a:p>
                <a:r>
                  <a:rPr lang="en-US" dirty="0"/>
                  <a:t>NPV helps determine whether the </a:t>
                </a:r>
                <a:r>
                  <a:rPr lang="en-US" b="1" dirty="0"/>
                  <a:t>project adds value</a:t>
                </a:r>
                <a:r>
                  <a:rPr lang="en-US" dirty="0"/>
                  <a:t> to the company and whether it’s a </a:t>
                </a:r>
                <a:r>
                  <a:rPr lang="en-US" b="1" dirty="0"/>
                  <a:t>financially viable investment</a:t>
                </a:r>
                <a:r>
                  <a:rPr lang="en-US" dirty="0"/>
                  <a:t>.</a:t>
                </a:r>
              </a:p>
              <a:p>
                <a:r>
                  <a:rPr lang="en-US" dirty="0"/>
                  <a:t>A </a:t>
                </a:r>
                <a:r>
                  <a:rPr lang="en-US" b="1" dirty="0"/>
                  <a:t>positive NPV</a:t>
                </a:r>
                <a:r>
                  <a:rPr lang="en-US" dirty="0"/>
                  <a:t> indicates that the project is expected to generate more value than its cost, making it a good investment.</a:t>
                </a:r>
              </a:p>
              <a:p>
                <a:r>
                  <a:rPr lang="en-US" dirty="0"/>
                  <a:t>A </a:t>
                </a:r>
                <a:r>
                  <a:rPr lang="en-US" b="1" dirty="0"/>
                  <a:t>negative NPV</a:t>
                </a:r>
                <a:r>
                  <a:rPr lang="en-US" dirty="0"/>
                  <a:t> suggests the project will destroy value and should be avoided.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780992-258B-22F7-A5BE-C139E7BBF51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4" t="-14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94364858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7CAB9-0295-54D6-1B9F-F2B609C09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 Present Value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A60788-5EA3-FFF2-1CDF-97BF545F45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/>
              <a:t>Steps to Compare Projects Using NPV</a:t>
            </a:r>
          </a:p>
          <a:p>
            <a:r>
              <a:rPr lang="en-US" b="1" dirty="0"/>
              <a:t>Identify the projects</a:t>
            </a:r>
            <a:r>
              <a:rPr lang="en-US" dirty="0"/>
              <a:t> to be compared.</a:t>
            </a:r>
          </a:p>
          <a:p>
            <a:r>
              <a:rPr lang="en-US" b="1" dirty="0"/>
              <a:t>Estimate the initial investment</a:t>
            </a:r>
            <a:r>
              <a:rPr lang="en-US" dirty="0"/>
              <a:t> for each project.</a:t>
            </a:r>
          </a:p>
          <a:p>
            <a:r>
              <a:rPr lang="en-US" b="1" dirty="0"/>
              <a:t>Forecast the expected cash inflows (benefits)</a:t>
            </a:r>
            <a:r>
              <a:rPr lang="en-US" dirty="0"/>
              <a:t> for each period (e.g., annually).</a:t>
            </a:r>
          </a:p>
          <a:p>
            <a:r>
              <a:rPr lang="en-US" b="1" dirty="0"/>
              <a:t>Choose the discount rate (r)</a:t>
            </a:r>
            <a:r>
              <a:rPr lang="en-US" dirty="0"/>
              <a:t> based on the company’s cost of capital or risk-adjusted rate.</a:t>
            </a:r>
          </a:p>
          <a:p>
            <a:r>
              <a:rPr lang="en-US" b="1" dirty="0"/>
              <a:t>Calculate the present value of each cash inflow</a:t>
            </a:r>
            <a:r>
              <a:rPr lang="en-US" dirty="0"/>
              <a:t> using the formula.</a:t>
            </a:r>
          </a:p>
          <a:p>
            <a:r>
              <a:rPr lang="en-US" b="1" dirty="0"/>
              <a:t>Subtract the initial investment</a:t>
            </a:r>
            <a:r>
              <a:rPr lang="en-US" dirty="0"/>
              <a:t> to calculate the </a:t>
            </a:r>
            <a:r>
              <a:rPr lang="en-US" b="1" dirty="0"/>
              <a:t>NPV</a:t>
            </a:r>
            <a:r>
              <a:rPr lang="en-US" dirty="0"/>
              <a:t>.</a:t>
            </a:r>
          </a:p>
          <a:p>
            <a:r>
              <a:rPr lang="en-US" b="1" dirty="0"/>
              <a:t>Compare NPVs</a:t>
            </a:r>
            <a:r>
              <a:rPr lang="en-US" dirty="0"/>
              <a:t>: Higher NPV is typically preferred.</a:t>
            </a:r>
          </a:p>
          <a:p>
            <a:r>
              <a:rPr lang="en-US" b="1" dirty="0"/>
              <a:t>Consider other non-financial factors</a:t>
            </a:r>
            <a:r>
              <a:rPr lang="en-US" dirty="0"/>
              <a:t>: such as strategic alignment, risks, or customer impact.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555200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84D08C-3B9A-E5D2-6B94-F3FC25060A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Example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5865AFE-54B8-F5A9-11BD-827390F478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1827627"/>
            <a:ext cx="10905066" cy="4089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922698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3F43FB-86DF-8661-9D61-5CC63AD896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Example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996DDA4-D927-CFD4-72B4-B5F31BEAAD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54404" y="1675227"/>
            <a:ext cx="6683191" cy="4394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25267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9D5933-803E-BB9F-3514-EE44707D2F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Example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3B4424D-2E63-F3EE-2402-086F724809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33785" y="1675227"/>
            <a:ext cx="5124430" cy="4394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4359313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65A480-A481-440A-A76B-E27DA5C64C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Example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AE36D215-21EA-3DA4-5018-1423F17E17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1704945"/>
            <a:ext cx="10905066" cy="433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992858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CB7796-4741-297E-E843-398CFA268D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Internal Rate of Return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8E85CE0-1742-8CB4-8602-ECA3E0CA003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55000" lnSpcReduction="20000"/>
              </a:bodyPr>
              <a:lstStyle/>
              <a:p>
                <a:r>
                  <a:rPr lang="en-US" dirty="0"/>
                  <a:t>The </a:t>
                </a:r>
                <a:r>
                  <a:rPr lang="en-US" b="1" dirty="0"/>
                  <a:t>Internal Rate of Return (IRR)</a:t>
                </a:r>
                <a:r>
                  <a:rPr lang="en-US" dirty="0"/>
                  <a:t> is the </a:t>
                </a:r>
                <a:r>
                  <a:rPr lang="en-US" b="1" dirty="0"/>
                  <a:t>discount rate</a:t>
                </a:r>
                <a:r>
                  <a:rPr lang="en-US" dirty="0"/>
                  <a:t> at which the </a:t>
                </a:r>
                <a:r>
                  <a:rPr lang="en-US" b="1" dirty="0"/>
                  <a:t>Net Present Value (NPV)</a:t>
                </a:r>
                <a:r>
                  <a:rPr lang="en-US" dirty="0"/>
                  <a:t> of a project becomes </a:t>
                </a:r>
                <a:r>
                  <a:rPr lang="en-US" b="1" dirty="0"/>
                  <a:t>zero</a:t>
                </a:r>
                <a:r>
                  <a:rPr lang="en-US" dirty="0"/>
                  <a:t>. In other words, it is the rate at which the present value of </a:t>
                </a:r>
                <a:r>
                  <a:rPr lang="en-US" b="1" dirty="0"/>
                  <a:t>cash inflows</a:t>
                </a:r>
                <a:r>
                  <a:rPr lang="en-US" dirty="0"/>
                  <a:t> equals the initial </a:t>
                </a:r>
                <a:r>
                  <a:rPr lang="en-US" b="1" dirty="0"/>
                  <a:t>investment</a:t>
                </a:r>
                <a:r>
                  <a:rPr lang="en-US" dirty="0"/>
                  <a:t>.</a:t>
                </a:r>
              </a:p>
              <a:p>
                <a:r>
                  <a:rPr lang="en-US" dirty="0"/>
                  <a:t>Mathematically, IRR is the rate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dirty="0"/>
                  <a:t>that satisfies the following equation: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𝑁𝑃𝑉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grow m:val="on"/>
                        <m:subHide m:val="on"/>
                        <m:supHide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f>
                          <m:f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num>
                          <m:den>
                            <m:d>
                              <m:dPr>
                                <m:endChr m:val=""/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  <m:sSup>
                                  <m:sSup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begChr m:val=""/>
                                        <m:endChr m:val=""/>
                                        <m:ctrlP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ar-AE">
                                            <a:latin typeface="Cambria Math" panose="02040503050406030204" pitchFamily="18" charset="0"/>
                                          </a:rPr>
                                          <m:t>)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p>
                                </m:sSup>
                              </m:e>
                            </m:d>
                          </m:den>
                        </m:f>
                      </m:e>
                    </m:nary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ar-AE" dirty="0"/>
              </a:p>
              <a:p>
                <a:r>
                  <a:rPr lang="en-US" dirty="0"/>
                  <a:t>Where: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ar-AE" dirty="0"/>
                  <a:t>= </a:t>
                </a:r>
                <a:r>
                  <a:rPr lang="en-US" dirty="0"/>
                  <a:t>Cash inflows at time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dirty="0"/>
                  <a:t>= Internal Rate of Return (IRR)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ar-AE" dirty="0"/>
                  <a:t>= </a:t>
                </a:r>
                <a:r>
                  <a:rPr lang="en-US" dirty="0"/>
                  <a:t>Initial investment (cash outflow at time 0)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= Time period</a:t>
                </a:r>
              </a:p>
              <a:p>
                <a:r>
                  <a:rPr lang="en-US" b="1" dirty="0"/>
                  <a:t>Purpose:</a:t>
                </a:r>
                <a:endParaRPr lang="en-US" dirty="0"/>
              </a:p>
              <a:p>
                <a:r>
                  <a:rPr lang="en-US" b="1" dirty="0"/>
                  <a:t>IRR</a:t>
                </a:r>
                <a:r>
                  <a:rPr lang="en-US" dirty="0"/>
                  <a:t> is used to determine the </a:t>
                </a:r>
                <a:r>
                  <a:rPr lang="en-US" b="1" dirty="0"/>
                  <a:t>expected rate of return</a:t>
                </a:r>
                <a:r>
                  <a:rPr lang="en-US" dirty="0"/>
                  <a:t> for a project.</a:t>
                </a:r>
              </a:p>
              <a:p>
                <a:r>
                  <a:rPr lang="en-US" dirty="0"/>
                  <a:t>It is a key metric in deciding whether to proceed with an investment.</a:t>
                </a:r>
              </a:p>
              <a:p>
                <a:r>
                  <a:rPr lang="en-US" b="1" dirty="0"/>
                  <a:t>IRR</a:t>
                </a:r>
                <a:r>
                  <a:rPr lang="en-US" dirty="0"/>
                  <a:t> helps compare </a:t>
                </a:r>
                <a:r>
                  <a:rPr lang="en-US" b="1" dirty="0"/>
                  <a:t>multiple projects</a:t>
                </a:r>
                <a:r>
                  <a:rPr lang="en-US" dirty="0"/>
                  <a:t>—projects with </a:t>
                </a:r>
                <a:r>
                  <a:rPr lang="en-US" b="1" dirty="0"/>
                  <a:t>higher IRR</a:t>
                </a:r>
                <a:r>
                  <a:rPr lang="en-US" dirty="0"/>
                  <a:t> are usually preferred.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8E85CE0-1742-8CB4-8602-ECA3E0CA003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4" t="-14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05902528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B50CE-51F2-97A4-2757-EB7F475941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Internal Rate of Return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9DAF02-614E-FA91-9AB9-4A6C0D6817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2. Steps to Compare Projects Using IRR</a:t>
            </a:r>
          </a:p>
          <a:p>
            <a:r>
              <a:rPr lang="en-US" b="1" dirty="0"/>
              <a:t>Identify the projects</a:t>
            </a:r>
            <a:r>
              <a:rPr lang="en-US" dirty="0"/>
              <a:t> to be compared.</a:t>
            </a:r>
          </a:p>
          <a:p>
            <a:r>
              <a:rPr lang="en-US" b="1" dirty="0"/>
              <a:t>Estimate the initial investment</a:t>
            </a:r>
            <a:r>
              <a:rPr lang="en-US" dirty="0"/>
              <a:t> for each project.</a:t>
            </a:r>
          </a:p>
          <a:p>
            <a:r>
              <a:rPr lang="en-US" b="1" dirty="0"/>
              <a:t>Forecast the expected cash inflows (benefits)</a:t>
            </a:r>
            <a:r>
              <a:rPr lang="en-US" dirty="0"/>
              <a:t> for each year or period.</a:t>
            </a:r>
          </a:p>
          <a:p>
            <a:r>
              <a:rPr lang="en-US" b="1" dirty="0"/>
              <a:t>Use an iterative process</a:t>
            </a:r>
            <a:r>
              <a:rPr lang="en-US" dirty="0"/>
              <a:t> (trial and error or financial calculator) to find the IRR where the NPV = 0.</a:t>
            </a:r>
          </a:p>
          <a:p>
            <a:r>
              <a:rPr lang="en-US" b="1" dirty="0"/>
              <a:t>Compare IRRs</a:t>
            </a:r>
            <a:r>
              <a:rPr lang="en-US" dirty="0"/>
              <a:t> of different projects.</a:t>
            </a:r>
          </a:p>
          <a:p>
            <a:pPr lvl="1"/>
            <a:r>
              <a:rPr lang="en-US" dirty="0"/>
              <a:t>If the IRR is higher than the </a:t>
            </a:r>
            <a:r>
              <a:rPr lang="en-US" b="1" dirty="0"/>
              <a:t>required rate of return (hurdle rate)</a:t>
            </a:r>
            <a:r>
              <a:rPr lang="en-US" dirty="0"/>
              <a:t> or </a:t>
            </a:r>
            <a:r>
              <a:rPr lang="en-US" b="1" dirty="0"/>
              <a:t>cost of capital</a:t>
            </a:r>
            <a:r>
              <a:rPr lang="en-US" dirty="0"/>
              <a:t>, the project is considered financially viable.</a:t>
            </a:r>
          </a:p>
          <a:p>
            <a:r>
              <a:rPr lang="en-US" b="1" dirty="0"/>
              <a:t>Consider other factors</a:t>
            </a:r>
            <a:r>
              <a:rPr lang="en-US" dirty="0"/>
              <a:t>, such as risk, strategic alignment, and time horizons.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3436484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DF6F0D-C3FD-6A8A-8014-633089E59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Example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CEFD572-09A4-6CB2-3E4E-4094BA872D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1813995"/>
            <a:ext cx="10905066" cy="4116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7693862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74B140-0BB4-BEE0-9E53-9F864DA51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Example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0BCB3E8-FF3C-BBB5-4588-25E71B0415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03552" y="1675227"/>
            <a:ext cx="5184895" cy="4394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49882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B7F543F2F210C42A1AB556EC2E2AD39" ma:contentTypeVersion="3" ma:contentTypeDescription="Create a new document." ma:contentTypeScope="" ma:versionID="e5606db6c3531daf026a8fd548c663ad">
  <xsd:schema xmlns:xsd="http://www.w3.org/2001/XMLSchema" xmlns:xs="http://www.w3.org/2001/XMLSchema" xmlns:p="http://schemas.microsoft.com/office/2006/metadata/properties" xmlns:ns2="a4f7e055-52ed-4413-8839-c7f22b2234f6" targetNamespace="http://schemas.microsoft.com/office/2006/metadata/properties" ma:root="true" ma:fieldsID="fc3079c0926d43e5991d1c902ac675e6" ns2:_="">
    <xsd:import namespace="a4f7e055-52ed-4413-8839-c7f22b2234f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4f7e055-52ed-4413-8839-c7f22b2234f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54C8853-89A1-45C2-B6C7-FDC52CB4EFB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29E5C1C-D6CC-4558-80C3-2A93991369F2}">
  <ds:schemaRefs>
    <ds:schemaRef ds:uri="http://www.w3.org/XML/1998/namespace"/>
    <ds:schemaRef ds:uri="http://purl.org/dc/elements/1.1/"/>
    <ds:schemaRef ds:uri="http://purl.org/dc/terms/"/>
    <ds:schemaRef ds:uri="http://schemas.microsoft.com/office/2006/documentManagement/types"/>
    <ds:schemaRef ds:uri="http://schemas.microsoft.com/office/infopath/2007/PartnerControls"/>
    <ds:schemaRef ds:uri="http://schemas.microsoft.com/office/2006/metadata/properties"/>
    <ds:schemaRef ds:uri="http://schemas.openxmlformats.org/package/2006/metadata/core-properties"/>
    <ds:schemaRef ds:uri="a4f7e055-52ed-4413-8839-c7f22b2234f6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0260877B-E7E4-4AF6-80B0-C089DEBA360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4f7e055-52ed-4413-8839-c7f22b2234f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226</TotalTime>
  <Words>4256</Words>
  <Application>Microsoft Office PowerPoint</Application>
  <PresentationFormat>Widescreen</PresentationFormat>
  <Paragraphs>659</Paragraphs>
  <Slides>76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76</vt:i4>
      </vt:variant>
    </vt:vector>
  </HeadingPairs>
  <TitlesOfParts>
    <vt:vector size="77" baseType="lpstr">
      <vt:lpstr>Office Theme</vt:lpstr>
      <vt:lpstr>Project Analysis and Evaluation</vt:lpstr>
      <vt:lpstr>Project Analysis - Business Case Analysis </vt:lpstr>
      <vt:lpstr>Project Analysis - Feasibility Analysis</vt:lpstr>
      <vt:lpstr>Project Analysis - Stakeholder Analysis</vt:lpstr>
      <vt:lpstr>Example – Power-Interest Grid</vt:lpstr>
      <vt:lpstr>Example</vt:lpstr>
      <vt:lpstr>Example – Stakeholder register</vt:lpstr>
      <vt:lpstr>Example – Stakeholder Register</vt:lpstr>
      <vt:lpstr>Project Analysis - Risk Analysis</vt:lpstr>
      <vt:lpstr>PowerPoint Presentation</vt:lpstr>
      <vt:lpstr>Risk Management</vt:lpstr>
      <vt:lpstr>PowerPoint Presentation</vt:lpstr>
      <vt:lpstr>Risk Managment</vt:lpstr>
      <vt:lpstr>Types of Risk in IT Projects</vt:lpstr>
      <vt:lpstr>Types of Risks in IT Projects</vt:lpstr>
      <vt:lpstr>Types of Risks in IT Projects</vt:lpstr>
      <vt:lpstr>Why Risk Needs to Be Managed</vt:lpstr>
      <vt:lpstr>Types of Risk Management (Risk Response Strategies)</vt:lpstr>
      <vt:lpstr>Types of Risk Management (Risk Response Strategies)</vt:lpstr>
      <vt:lpstr>Strategies for Positive Risks (Opportunities)</vt:lpstr>
      <vt:lpstr>Risk Management Process</vt:lpstr>
      <vt:lpstr>Risk Management Process</vt:lpstr>
      <vt:lpstr>SWOT Analysis</vt:lpstr>
      <vt:lpstr>SWOT Analysis</vt:lpstr>
      <vt:lpstr>SWOT Analysis</vt:lpstr>
      <vt:lpstr>SWOT Analysis</vt:lpstr>
      <vt:lpstr>Risk Management Process</vt:lpstr>
      <vt:lpstr>Qualitative Risk Analysis (QRA)</vt:lpstr>
      <vt:lpstr>Qualitative Risk Analysis (QRA)</vt:lpstr>
      <vt:lpstr>Quantitative Risk Analysis (QuanRA)</vt:lpstr>
      <vt:lpstr>Quantitative Risk Analysis (QuanRA)</vt:lpstr>
      <vt:lpstr>Risk Management Process</vt:lpstr>
      <vt:lpstr>Risk Register</vt:lpstr>
      <vt:lpstr>Risk Register</vt:lpstr>
      <vt:lpstr>Project Evaluation - Performance Evaluation</vt:lpstr>
      <vt:lpstr>Performance Evaluation</vt:lpstr>
      <vt:lpstr>Performance Evaluation</vt:lpstr>
      <vt:lpstr>Performance Evaluation</vt:lpstr>
      <vt:lpstr>Performance Evaluation – Burndown Chart</vt:lpstr>
      <vt:lpstr>Project Evaluation - Quality Evaluation</vt:lpstr>
      <vt:lpstr>Project Evaluation - Scope Evaluation</vt:lpstr>
      <vt:lpstr>Scope Evaluation</vt:lpstr>
      <vt:lpstr>Scope Evaluation</vt:lpstr>
      <vt:lpstr>Scope Evaluation</vt:lpstr>
      <vt:lpstr>Project Evaluation - Schedule Evaluation</vt:lpstr>
      <vt:lpstr>Post-Project Evaluation</vt:lpstr>
      <vt:lpstr>Post-Project Evaluation</vt:lpstr>
      <vt:lpstr>Post-Project Evaluation</vt:lpstr>
      <vt:lpstr>Project Analysis and Evaluation Framework</vt:lpstr>
      <vt:lpstr>Project Analysis and Evaluation Framework</vt:lpstr>
      <vt:lpstr>Project Analysis and Evaluation Framework</vt:lpstr>
      <vt:lpstr>Technical Assessment</vt:lpstr>
      <vt:lpstr>Technical Assessment</vt:lpstr>
      <vt:lpstr>Economic (Financial) Assessment</vt:lpstr>
      <vt:lpstr>Economic (Financial) Assessment</vt:lpstr>
      <vt:lpstr>Comparison of projects based on cost benefit evaluation </vt:lpstr>
      <vt:lpstr>Cost-Benefit Evaluation Technique</vt:lpstr>
      <vt:lpstr>Example</vt:lpstr>
      <vt:lpstr>Example</vt:lpstr>
      <vt:lpstr>Payback Period</vt:lpstr>
      <vt:lpstr>Payback Period</vt:lpstr>
      <vt:lpstr>Example</vt:lpstr>
      <vt:lpstr>Return on Investment</vt:lpstr>
      <vt:lpstr>Return on Investment</vt:lpstr>
      <vt:lpstr>Example</vt:lpstr>
      <vt:lpstr>Example</vt:lpstr>
      <vt:lpstr>Net Present Value</vt:lpstr>
      <vt:lpstr>Net Present Value</vt:lpstr>
      <vt:lpstr>Example</vt:lpstr>
      <vt:lpstr>Example</vt:lpstr>
      <vt:lpstr>Example</vt:lpstr>
      <vt:lpstr>Example</vt:lpstr>
      <vt:lpstr>Internal Rate of Return</vt:lpstr>
      <vt:lpstr>Internal Rate of Return</vt:lpstr>
      <vt:lpstr>Example</vt:lpstr>
      <vt:lpstr>Example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Surendra Kc</dc:creator>
  <cp:lastModifiedBy>Surendra Kc</cp:lastModifiedBy>
  <cp:revision>3</cp:revision>
  <dcterms:created xsi:type="dcterms:W3CDTF">2026-01-19T04:18:45Z</dcterms:created>
  <dcterms:modified xsi:type="dcterms:W3CDTF">2026-01-27T15:27:05Z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0x0101007B7F543F2F210C42A1AB556EC2E2AD39</vt:lpwstr>
  </property>
</Properties>
</file>