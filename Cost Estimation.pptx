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 id="274" r:id="rId17"/>
    <p:sldId id="269" r:id="rId18"/>
    <p:sldId id="275" r:id="rId19"/>
    <p:sldId id="276" r:id="rId20"/>
    <p:sldId id="270" r:id="rId21"/>
    <p:sldId id="271" r:id="rId22"/>
    <p:sldId id="272" r:id="rId23"/>
    <p:sldId id="273" r:id="rId24"/>
    <p:sldId id="277" r:id="rId25"/>
    <p:sldId id="278" r:id="rId26"/>
    <p:sldId id="279" r:id="rId27"/>
    <p:sldId id="280" r:id="rId28"/>
    <p:sldId id="28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2F2917-938C-446A-BBC2-48988D656647}" v="12" dt="2026-01-19T11:56:54.9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84" y="2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66A96-BE59-2825-24B2-9546DC84FE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920264-E362-F26F-02B2-0AC1824404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C1954A-1406-90BE-C98F-4C5E498CEA3C}"/>
              </a:ext>
            </a:extLst>
          </p:cNvPr>
          <p:cNvSpPr>
            <a:spLocks noGrp="1"/>
          </p:cNvSpPr>
          <p:nvPr>
            <p:ph type="dt" sz="half" idx="10"/>
          </p:nvPr>
        </p:nvSpPr>
        <p:spPr/>
        <p:txBody>
          <a:bodyPr/>
          <a:lstStyle/>
          <a:p>
            <a:fld id="{C30A2F4C-1216-401B-BDF3-C3E87F4EE86D}" type="datetimeFigureOut">
              <a:rPr lang="en-US" smtClean="0"/>
              <a:t>1/27/2026</a:t>
            </a:fld>
            <a:endParaRPr lang="en-US"/>
          </a:p>
        </p:txBody>
      </p:sp>
      <p:sp>
        <p:nvSpPr>
          <p:cNvPr id="5" name="Footer Placeholder 4">
            <a:extLst>
              <a:ext uri="{FF2B5EF4-FFF2-40B4-BE49-F238E27FC236}">
                <a16:creationId xmlns:a16="http://schemas.microsoft.com/office/drawing/2014/main" id="{B29B382E-5D20-983D-F9FB-43B63758A1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EB4DD8-F73F-95F1-4CCB-F903BA4AF6E5}"/>
              </a:ext>
            </a:extLst>
          </p:cNvPr>
          <p:cNvSpPr>
            <a:spLocks noGrp="1"/>
          </p:cNvSpPr>
          <p:nvPr>
            <p:ph type="sldNum" sz="quarter" idx="12"/>
          </p:nvPr>
        </p:nvSpPr>
        <p:spPr/>
        <p:txBody>
          <a:bodyPr/>
          <a:lstStyle/>
          <a:p>
            <a:fld id="{697AE14E-DD0C-4344-9954-F0BAD4A45156}" type="slidenum">
              <a:rPr lang="en-US" smtClean="0"/>
              <a:t>‹#›</a:t>
            </a:fld>
            <a:endParaRPr lang="en-US"/>
          </a:p>
        </p:txBody>
      </p:sp>
    </p:spTree>
    <p:extLst>
      <p:ext uri="{BB962C8B-B14F-4D97-AF65-F5344CB8AC3E}">
        <p14:creationId xmlns:p14="http://schemas.microsoft.com/office/powerpoint/2010/main" val="3380479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4E6D4-4FE6-F650-54F1-45A1874DE3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1F2F34-E74B-0B9D-10B3-C13D14944D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AFEE31-B66D-1972-CDC3-5E4ED90DBDD1}"/>
              </a:ext>
            </a:extLst>
          </p:cNvPr>
          <p:cNvSpPr>
            <a:spLocks noGrp="1"/>
          </p:cNvSpPr>
          <p:nvPr>
            <p:ph type="dt" sz="half" idx="10"/>
          </p:nvPr>
        </p:nvSpPr>
        <p:spPr/>
        <p:txBody>
          <a:bodyPr/>
          <a:lstStyle/>
          <a:p>
            <a:fld id="{C30A2F4C-1216-401B-BDF3-C3E87F4EE86D}" type="datetimeFigureOut">
              <a:rPr lang="en-US" smtClean="0"/>
              <a:t>1/27/2026</a:t>
            </a:fld>
            <a:endParaRPr lang="en-US"/>
          </a:p>
        </p:txBody>
      </p:sp>
      <p:sp>
        <p:nvSpPr>
          <p:cNvPr id="5" name="Footer Placeholder 4">
            <a:extLst>
              <a:ext uri="{FF2B5EF4-FFF2-40B4-BE49-F238E27FC236}">
                <a16:creationId xmlns:a16="http://schemas.microsoft.com/office/drawing/2014/main" id="{6502874A-3CD2-0A3D-5A07-A77995CFD4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D77848-1EE0-5ECD-FDAE-A6A21182992E}"/>
              </a:ext>
            </a:extLst>
          </p:cNvPr>
          <p:cNvSpPr>
            <a:spLocks noGrp="1"/>
          </p:cNvSpPr>
          <p:nvPr>
            <p:ph type="sldNum" sz="quarter" idx="12"/>
          </p:nvPr>
        </p:nvSpPr>
        <p:spPr/>
        <p:txBody>
          <a:bodyPr/>
          <a:lstStyle/>
          <a:p>
            <a:fld id="{697AE14E-DD0C-4344-9954-F0BAD4A45156}" type="slidenum">
              <a:rPr lang="en-US" smtClean="0"/>
              <a:t>‹#›</a:t>
            </a:fld>
            <a:endParaRPr lang="en-US"/>
          </a:p>
        </p:txBody>
      </p:sp>
    </p:spTree>
    <p:extLst>
      <p:ext uri="{BB962C8B-B14F-4D97-AF65-F5344CB8AC3E}">
        <p14:creationId xmlns:p14="http://schemas.microsoft.com/office/powerpoint/2010/main" val="2241280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5DC65-379B-4350-0043-A1031FA775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CAFEDC-0356-07F3-0ED2-3E8FA9DCAA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08E674-EDC1-04F3-E0E8-3ECBDB53A949}"/>
              </a:ext>
            </a:extLst>
          </p:cNvPr>
          <p:cNvSpPr>
            <a:spLocks noGrp="1"/>
          </p:cNvSpPr>
          <p:nvPr>
            <p:ph type="dt" sz="half" idx="10"/>
          </p:nvPr>
        </p:nvSpPr>
        <p:spPr/>
        <p:txBody>
          <a:bodyPr/>
          <a:lstStyle/>
          <a:p>
            <a:fld id="{C30A2F4C-1216-401B-BDF3-C3E87F4EE86D}" type="datetimeFigureOut">
              <a:rPr lang="en-US" smtClean="0"/>
              <a:t>1/27/2026</a:t>
            </a:fld>
            <a:endParaRPr lang="en-US"/>
          </a:p>
        </p:txBody>
      </p:sp>
      <p:sp>
        <p:nvSpPr>
          <p:cNvPr id="5" name="Footer Placeholder 4">
            <a:extLst>
              <a:ext uri="{FF2B5EF4-FFF2-40B4-BE49-F238E27FC236}">
                <a16:creationId xmlns:a16="http://schemas.microsoft.com/office/drawing/2014/main" id="{E6D3D0EF-3232-3078-B5F3-3E7E8A668B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FCDF05-CDDF-3BA2-3EF0-EEC9CA0F7443}"/>
              </a:ext>
            </a:extLst>
          </p:cNvPr>
          <p:cNvSpPr>
            <a:spLocks noGrp="1"/>
          </p:cNvSpPr>
          <p:nvPr>
            <p:ph type="sldNum" sz="quarter" idx="12"/>
          </p:nvPr>
        </p:nvSpPr>
        <p:spPr/>
        <p:txBody>
          <a:bodyPr/>
          <a:lstStyle/>
          <a:p>
            <a:fld id="{697AE14E-DD0C-4344-9954-F0BAD4A45156}" type="slidenum">
              <a:rPr lang="en-US" smtClean="0"/>
              <a:t>‹#›</a:t>
            </a:fld>
            <a:endParaRPr lang="en-US"/>
          </a:p>
        </p:txBody>
      </p:sp>
    </p:spTree>
    <p:extLst>
      <p:ext uri="{BB962C8B-B14F-4D97-AF65-F5344CB8AC3E}">
        <p14:creationId xmlns:p14="http://schemas.microsoft.com/office/powerpoint/2010/main" val="1809547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A7B65-9FB0-5305-96D6-22E87DFCF5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79C23E-E1CF-E9D9-890B-B35752095F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852176-4A14-A3DD-BC39-EDF17ADD6A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F9BCEB-D1B0-E78E-2AB4-1EEA84C2DF41}"/>
              </a:ext>
            </a:extLst>
          </p:cNvPr>
          <p:cNvSpPr>
            <a:spLocks noGrp="1"/>
          </p:cNvSpPr>
          <p:nvPr>
            <p:ph type="dt" sz="half" idx="10"/>
          </p:nvPr>
        </p:nvSpPr>
        <p:spPr/>
        <p:txBody>
          <a:bodyPr/>
          <a:lstStyle/>
          <a:p>
            <a:fld id="{C30A2F4C-1216-401B-BDF3-C3E87F4EE86D}" type="datetimeFigureOut">
              <a:rPr lang="en-US" smtClean="0"/>
              <a:t>1/27/2026</a:t>
            </a:fld>
            <a:endParaRPr lang="en-US"/>
          </a:p>
        </p:txBody>
      </p:sp>
      <p:sp>
        <p:nvSpPr>
          <p:cNvPr id="6" name="Footer Placeholder 5">
            <a:extLst>
              <a:ext uri="{FF2B5EF4-FFF2-40B4-BE49-F238E27FC236}">
                <a16:creationId xmlns:a16="http://schemas.microsoft.com/office/drawing/2014/main" id="{A5E32C2E-12AE-6DFB-90A4-AAB2D36889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BF1D7-19CD-0FA9-F39C-BF94774D1070}"/>
              </a:ext>
            </a:extLst>
          </p:cNvPr>
          <p:cNvSpPr>
            <a:spLocks noGrp="1"/>
          </p:cNvSpPr>
          <p:nvPr>
            <p:ph type="sldNum" sz="quarter" idx="12"/>
          </p:nvPr>
        </p:nvSpPr>
        <p:spPr/>
        <p:txBody>
          <a:bodyPr/>
          <a:lstStyle/>
          <a:p>
            <a:fld id="{697AE14E-DD0C-4344-9954-F0BAD4A45156}" type="slidenum">
              <a:rPr lang="en-US" smtClean="0"/>
              <a:t>‹#›</a:t>
            </a:fld>
            <a:endParaRPr lang="en-US"/>
          </a:p>
        </p:txBody>
      </p:sp>
    </p:spTree>
    <p:extLst>
      <p:ext uri="{BB962C8B-B14F-4D97-AF65-F5344CB8AC3E}">
        <p14:creationId xmlns:p14="http://schemas.microsoft.com/office/powerpoint/2010/main" val="3883969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9FDF1-6D28-FD34-CF3F-791FFB3E6C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619AEA-F1DA-3825-707D-75FE753795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A6BAF9-6D8B-F6B2-98EC-E913D03B9D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0C7F157-7AD7-F70F-0477-87603D36A5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1658E5-4A66-5BBE-F0E5-EE662B49C3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CD95FB-797C-93E5-C4F7-FA28A0D35748}"/>
              </a:ext>
            </a:extLst>
          </p:cNvPr>
          <p:cNvSpPr>
            <a:spLocks noGrp="1"/>
          </p:cNvSpPr>
          <p:nvPr>
            <p:ph type="dt" sz="half" idx="10"/>
          </p:nvPr>
        </p:nvSpPr>
        <p:spPr/>
        <p:txBody>
          <a:bodyPr/>
          <a:lstStyle/>
          <a:p>
            <a:fld id="{C30A2F4C-1216-401B-BDF3-C3E87F4EE86D}" type="datetimeFigureOut">
              <a:rPr lang="en-US" smtClean="0"/>
              <a:t>1/27/2026</a:t>
            </a:fld>
            <a:endParaRPr lang="en-US"/>
          </a:p>
        </p:txBody>
      </p:sp>
      <p:sp>
        <p:nvSpPr>
          <p:cNvPr id="8" name="Footer Placeholder 7">
            <a:extLst>
              <a:ext uri="{FF2B5EF4-FFF2-40B4-BE49-F238E27FC236}">
                <a16:creationId xmlns:a16="http://schemas.microsoft.com/office/drawing/2014/main" id="{0EFF7204-CDD8-CF47-14DE-7B333C4622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D02FB4-3237-5F1F-E046-54C719956EEB}"/>
              </a:ext>
            </a:extLst>
          </p:cNvPr>
          <p:cNvSpPr>
            <a:spLocks noGrp="1"/>
          </p:cNvSpPr>
          <p:nvPr>
            <p:ph type="sldNum" sz="quarter" idx="12"/>
          </p:nvPr>
        </p:nvSpPr>
        <p:spPr/>
        <p:txBody>
          <a:bodyPr/>
          <a:lstStyle/>
          <a:p>
            <a:fld id="{697AE14E-DD0C-4344-9954-F0BAD4A45156}" type="slidenum">
              <a:rPr lang="en-US" smtClean="0"/>
              <a:t>‹#›</a:t>
            </a:fld>
            <a:endParaRPr lang="en-US"/>
          </a:p>
        </p:txBody>
      </p:sp>
    </p:spTree>
    <p:extLst>
      <p:ext uri="{BB962C8B-B14F-4D97-AF65-F5344CB8AC3E}">
        <p14:creationId xmlns:p14="http://schemas.microsoft.com/office/powerpoint/2010/main" val="964726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5F59C-2D8B-F535-2918-6137D15C75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BEDF5E-8F3E-CA88-7A9C-2D6763FEE0ED}"/>
              </a:ext>
            </a:extLst>
          </p:cNvPr>
          <p:cNvSpPr>
            <a:spLocks noGrp="1"/>
          </p:cNvSpPr>
          <p:nvPr>
            <p:ph type="dt" sz="half" idx="10"/>
          </p:nvPr>
        </p:nvSpPr>
        <p:spPr/>
        <p:txBody>
          <a:bodyPr/>
          <a:lstStyle/>
          <a:p>
            <a:fld id="{C30A2F4C-1216-401B-BDF3-C3E87F4EE86D}" type="datetimeFigureOut">
              <a:rPr lang="en-US" smtClean="0"/>
              <a:t>1/27/2026</a:t>
            </a:fld>
            <a:endParaRPr lang="en-US"/>
          </a:p>
        </p:txBody>
      </p:sp>
      <p:sp>
        <p:nvSpPr>
          <p:cNvPr id="4" name="Footer Placeholder 3">
            <a:extLst>
              <a:ext uri="{FF2B5EF4-FFF2-40B4-BE49-F238E27FC236}">
                <a16:creationId xmlns:a16="http://schemas.microsoft.com/office/drawing/2014/main" id="{4228A07B-9EC4-6572-7834-3C42767133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8761F3-5103-CCEA-8CB1-614CDD4241DA}"/>
              </a:ext>
            </a:extLst>
          </p:cNvPr>
          <p:cNvSpPr>
            <a:spLocks noGrp="1"/>
          </p:cNvSpPr>
          <p:nvPr>
            <p:ph type="sldNum" sz="quarter" idx="12"/>
          </p:nvPr>
        </p:nvSpPr>
        <p:spPr/>
        <p:txBody>
          <a:bodyPr/>
          <a:lstStyle/>
          <a:p>
            <a:fld id="{697AE14E-DD0C-4344-9954-F0BAD4A45156}" type="slidenum">
              <a:rPr lang="en-US" smtClean="0"/>
              <a:t>‹#›</a:t>
            </a:fld>
            <a:endParaRPr lang="en-US"/>
          </a:p>
        </p:txBody>
      </p:sp>
    </p:spTree>
    <p:extLst>
      <p:ext uri="{BB962C8B-B14F-4D97-AF65-F5344CB8AC3E}">
        <p14:creationId xmlns:p14="http://schemas.microsoft.com/office/powerpoint/2010/main" val="3777081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AE9587-2FB1-758B-3F7B-7153CDA2400F}"/>
              </a:ext>
            </a:extLst>
          </p:cNvPr>
          <p:cNvSpPr>
            <a:spLocks noGrp="1"/>
          </p:cNvSpPr>
          <p:nvPr>
            <p:ph type="dt" sz="half" idx="10"/>
          </p:nvPr>
        </p:nvSpPr>
        <p:spPr/>
        <p:txBody>
          <a:bodyPr/>
          <a:lstStyle/>
          <a:p>
            <a:fld id="{C30A2F4C-1216-401B-BDF3-C3E87F4EE86D}" type="datetimeFigureOut">
              <a:rPr lang="en-US" smtClean="0"/>
              <a:t>1/27/2026</a:t>
            </a:fld>
            <a:endParaRPr lang="en-US"/>
          </a:p>
        </p:txBody>
      </p:sp>
      <p:sp>
        <p:nvSpPr>
          <p:cNvPr id="3" name="Footer Placeholder 2">
            <a:extLst>
              <a:ext uri="{FF2B5EF4-FFF2-40B4-BE49-F238E27FC236}">
                <a16:creationId xmlns:a16="http://schemas.microsoft.com/office/drawing/2014/main" id="{1DB787D0-ACD0-AFF3-B4B9-BC401E45B6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B5DD78-153F-994C-209A-156BA632C824}"/>
              </a:ext>
            </a:extLst>
          </p:cNvPr>
          <p:cNvSpPr>
            <a:spLocks noGrp="1"/>
          </p:cNvSpPr>
          <p:nvPr>
            <p:ph type="sldNum" sz="quarter" idx="12"/>
          </p:nvPr>
        </p:nvSpPr>
        <p:spPr/>
        <p:txBody>
          <a:bodyPr/>
          <a:lstStyle/>
          <a:p>
            <a:fld id="{697AE14E-DD0C-4344-9954-F0BAD4A45156}" type="slidenum">
              <a:rPr lang="en-US" smtClean="0"/>
              <a:t>‹#›</a:t>
            </a:fld>
            <a:endParaRPr lang="en-US"/>
          </a:p>
        </p:txBody>
      </p:sp>
    </p:spTree>
    <p:extLst>
      <p:ext uri="{BB962C8B-B14F-4D97-AF65-F5344CB8AC3E}">
        <p14:creationId xmlns:p14="http://schemas.microsoft.com/office/powerpoint/2010/main" val="1587116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8BCFD-9235-63B2-FF0C-2DE9FC5175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C93CAA-B7C3-517A-0C4B-6913215173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3F592C-2EB6-4926-821D-B7AB00658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CE49D1-54C7-7149-1CF0-B4C6132E0E9D}"/>
              </a:ext>
            </a:extLst>
          </p:cNvPr>
          <p:cNvSpPr>
            <a:spLocks noGrp="1"/>
          </p:cNvSpPr>
          <p:nvPr>
            <p:ph type="dt" sz="half" idx="10"/>
          </p:nvPr>
        </p:nvSpPr>
        <p:spPr/>
        <p:txBody>
          <a:bodyPr/>
          <a:lstStyle/>
          <a:p>
            <a:fld id="{C30A2F4C-1216-401B-BDF3-C3E87F4EE86D}" type="datetimeFigureOut">
              <a:rPr lang="en-US" smtClean="0"/>
              <a:t>1/27/2026</a:t>
            </a:fld>
            <a:endParaRPr lang="en-US"/>
          </a:p>
        </p:txBody>
      </p:sp>
      <p:sp>
        <p:nvSpPr>
          <p:cNvPr id="6" name="Footer Placeholder 5">
            <a:extLst>
              <a:ext uri="{FF2B5EF4-FFF2-40B4-BE49-F238E27FC236}">
                <a16:creationId xmlns:a16="http://schemas.microsoft.com/office/drawing/2014/main" id="{611F47B6-C7D5-3E16-B890-717EDB0565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06E99B-A1E5-314D-696F-AFC9E72E6858}"/>
              </a:ext>
            </a:extLst>
          </p:cNvPr>
          <p:cNvSpPr>
            <a:spLocks noGrp="1"/>
          </p:cNvSpPr>
          <p:nvPr>
            <p:ph type="sldNum" sz="quarter" idx="12"/>
          </p:nvPr>
        </p:nvSpPr>
        <p:spPr/>
        <p:txBody>
          <a:bodyPr/>
          <a:lstStyle/>
          <a:p>
            <a:fld id="{697AE14E-DD0C-4344-9954-F0BAD4A45156}" type="slidenum">
              <a:rPr lang="en-US" smtClean="0"/>
              <a:t>‹#›</a:t>
            </a:fld>
            <a:endParaRPr lang="en-US"/>
          </a:p>
        </p:txBody>
      </p:sp>
    </p:spTree>
    <p:extLst>
      <p:ext uri="{BB962C8B-B14F-4D97-AF65-F5344CB8AC3E}">
        <p14:creationId xmlns:p14="http://schemas.microsoft.com/office/powerpoint/2010/main" val="3772860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73D5C-6476-F1BD-FC55-DA963EFA2C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F70E2D-2DAC-D4CB-0EA9-2A8681B718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750361-C004-B53D-AACC-C269E531EB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128E5C-4E92-EE31-B0CA-09DDCBC51AD6}"/>
              </a:ext>
            </a:extLst>
          </p:cNvPr>
          <p:cNvSpPr>
            <a:spLocks noGrp="1"/>
          </p:cNvSpPr>
          <p:nvPr>
            <p:ph type="dt" sz="half" idx="10"/>
          </p:nvPr>
        </p:nvSpPr>
        <p:spPr/>
        <p:txBody>
          <a:bodyPr/>
          <a:lstStyle/>
          <a:p>
            <a:fld id="{C30A2F4C-1216-401B-BDF3-C3E87F4EE86D}" type="datetimeFigureOut">
              <a:rPr lang="en-US" smtClean="0"/>
              <a:t>1/27/2026</a:t>
            </a:fld>
            <a:endParaRPr lang="en-US"/>
          </a:p>
        </p:txBody>
      </p:sp>
      <p:sp>
        <p:nvSpPr>
          <p:cNvPr id="6" name="Footer Placeholder 5">
            <a:extLst>
              <a:ext uri="{FF2B5EF4-FFF2-40B4-BE49-F238E27FC236}">
                <a16:creationId xmlns:a16="http://schemas.microsoft.com/office/drawing/2014/main" id="{91EB0F25-337B-D484-7BC6-44A543EE6D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559819-9AAE-359B-EF7F-A810A2DF6986}"/>
              </a:ext>
            </a:extLst>
          </p:cNvPr>
          <p:cNvSpPr>
            <a:spLocks noGrp="1"/>
          </p:cNvSpPr>
          <p:nvPr>
            <p:ph type="sldNum" sz="quarter" idx="12"/>
          </p:nvPr>
        </p:nvSpPr>
        <p:spPr/>
        <p:txBody>
          <a:bodyPr/>
          <a:lstStyle/>
          <a:p>
            <a:fld id="{697AE14E-DD0C-4344-9954-F0BAD4A45156}" type="slidenum">
              <a:rPr lang="en-US" smtClean="0"/>
              <a:t>‹#›</a:t>
            </a:fld>
            <a:endParaRPr lang="en-US"/>
          </a:p>
        </p:txBody>
      </p:sp>
    </p:spTree>
    <p:extLst>
      <p:ext uri="{BB962C8B-B14F-4D97-AF65-F5344CB8AC3E}">
        <p14:creationId xmlns:p14="http://schemas.microsoft.com/office/powerpoint/2010/main" val="539414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2D6D-889E-11E6-4369-8BD328AC1D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BF6AD9-087D-A1D5-52B2-D6817C4B2C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56FD08-E209-7654-5F89-1A5300787FBF}"/>
              </a:ext>
            </a:extLst>
          </p:cNvPr>
          <p:cNvSpPr>
            <a:spLocks noGrp="1"/>
          </p:cNvSpPr>
          <p:nvPr>
            <p:ph type="dt" sz="half" idx="10"/>
          </p:nvPr>
        </p:nvSpPr>
        <p:spPr/>
        <p:txBody>
          <a:bodyPr/>
          <a:lstStyle/>
          <a:p>
            <a:fld id="{C30A2F4C-1216-401B-BDF3-C3E87F4EE86D}" type="datetimeFigureOut">
              <a:rPr lang="en-US" smtClean="0"/>
              <a:t>1/27/2026</a:t>
            </a:fld>
            <a:endParaRPr lang="en-US"/>
          </a:p>
        </p:txBody>
      </p:sp>
      <p:sp>
        <p:nvSpPr>
          <p:cNvPr id="5" name="Footer Placeholder 4">
            <a:extLst>
              <a:ext uri="{FF2B5EF4-FFF2-40B4-BE49-F238E27FC236}">
                <a16:creationId xmlns:a16="http://schemas.microsoft.com/office/drawing/2014/main" id="{DA2255C9-FB29-BD55-36D8-5B3A0FB110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1D1935-E944-471B-86F6-CFE169C60AF4}"/>
              </a:ext>
            </a:extLst>
          </p:cNvPr>
          <p:cNvSpPr>
            <a:spLocks noGrp="1"/>
          </p:cNvSpPr>
          <p:nvPr>
            <p:ph type="sldNum" sz="quarter" idx="12"/>
          </p:nvPr>
        </p:nvSpPr>
        <p:spPr/>
        <p:txBody>
          <a:bodyPr/>
          <a:lstStyle/>
          <a:p>
            <a:fld id="{697AE14E-DD0C-4344-9954-F0BAD4A45156}" type="slidenum">
              <a:rPr lang="en-US" smtClean="0"/>
              <a:t>‹#›</a:t>
            </a:fld>
            <a:endParaRPr lang="en-US"/>
          </a:p>
        </p:txBody>
      </p:sp>
    </p:spTree>
    <p:extLst>
      <p:ext uri="{BB962C8B-B14F-4D97-AF65-F5344CB8AC3E}">
        <p14:creationId xmlns:p14="http://schemas.microsoft.com/office/powerpoint/2010/main" val="3763995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B6D9AD-247C-4E76-F226-B10883DEAB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4B9BFE-D603-5FE9-9722-74782F04EC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7CEA7-051E-78FE-26E6-446894859B38}"/>
              </a:ext>
            </a:extLst>
          </p:cNvPr>
          <p:cNvSpPr>
            <a:spLocks noGrp="1"/>
          </p:cNvSpPr>
          <p:nvPr>
            <p:ph type="dt" sz="half" idx="10"/>
          </p:nvPr>
        </p:nvSpPr>
        <p:spPr/>
        <p:txBody>
          <a:bodyPr/>
          <a:lstStyle/>
          <a:p>
            <a:fld id="{C30A2F4C-1216-401B-BDF3-C3E87F4EE86D}" type="datetimeFigureOut">
              <a:rPr lang="en-US" smtClean="0"/>
              <a:t>1/27/2026</a:t>
            </a:fld>
            <a:endParaRPr lang="en-US"/>
          </a:p>
        </p:txBody>
      </p:sp>
      <p:sp>
        <p:nvSpPr>
          <p:cNvPr id="5" name="Footer Placeholder 4">
            <a:extLst>
              <a:ext uri="{FF2B5EF4-FFF2-40B4-BE49-F238E27FC236}">
                <a16:creationId xmlns:a16="http://schemas.microsoft.com/office/drawing/2014/main" id="{E07A8E2D-4CAC-3275-38C3-241062768C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BC8B5D-44E7-5BDE-50E5-C0F734594AB5}"/>
              </a:ext>
            </a:extLst>
          </p:cNvPr>
          <p:cNvSpPr>
            <a:spLocks noGrp="1"/>
          </p:cNvSpPr>
          <p:nvPr>
            <p:ph type="sldNum" sz="quarter" idx="12"/>
          </p:nvPr>
        </p:nvSpPr>
        <p:spPr/>
        <p:txBody>
          <a:bodyPr/>
          <a:lstStyle/>
          <a:p>
            <a:fld id="{697AE14E-DD0C-4344-9954-F0BAD4A45156}" type="slidenum">
              <a:rPr lang="en-US" smtClean="0"/>
              <a:t>‹#›</a:t>
            </a:fld>
            <a:endParaRPr lang="en-US"/>
          </a:p>
        </p:txBody>
      </p:sp>
    </p:spTree>
    <p:extLst>
      <p:ext uri="{BB962C8B-B14F-4D97-AF65-F5344CB8AC3E}">
        <p14:creationId xmlns:p14="http://schemas.microsoft.com/office/powerpoint/2010/main" val="2239509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854C61-1939-A2A7-E2D1-3574DE1837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8765FD-349E-7D5F-51A2-D138C55E91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BECCAC-7CFD-5109-2FF7-43993416F8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0A2F4C-1216-401B-BDF3-C3E87F4EE86D}" type="datetimeFigureOut">
              <a:rPr lang="en-US" smtClean="0"/>
              <a:t>1/27/2026</a:t>
            </a:fld>
            <a:endParaRPr lang="en-US"/>
          </a:p>
        </p:txBody>
      </p:sp>
      <p:sp>
        <p:nvSpPr>
          <p:cNvPr id="5" name="Footer Placeholder 4">
            <a:extLst>
              <a:ext uri="{FF2B5EF4-FFF2-40B4-BE49-F238E27FC236}">
                <a16:creationId xmlns:a16="http://schemas.microsoft.com/office/drawing/2014/main" id="{FC916BF1-C28E-7ED0-FF03-F793BA28A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823777-1EB9-7BF6-AB3D-B9F3EF2A80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7AE14E-DD0C-4344-9954-F0BAD4A45156}" type="slidenum">
              <a:rPr lang="en-US" smtClean="0"/>
              <a:t>‹#›</a:t>
            </a:fld>
            <a:endParaRPr lang="en-US"/>
          </a:p>
        </p:txBody>
      </p:sp>
    </p:spTree>
    <p:extLst>
      <p:ext uri="{BB962C8B-B14F-4D97-AF65-F5344CB8AC3E}">
        <p14:creationId xmlns:p14="http://schemas.microsoft.com/office/powerpoint/2010/main" val="27930454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8A485-0107-A31B-0A04-01CE64FEFFE7}"/>
              </a:ext>
            </a:extLst>
          </p:cNvPr>
          <p:cNvSpPr>
            <a:spLocks noGrp="1"/>
          </p:cNvSpPr>
          <p:nvPr>
            <p:ph type="title"/>
          </p:nvPr>
        </p:nvSpPr>
        <p:spPr/>
        <p:txBody>
          <a:bodyPr/>
          <a:lstStyle/>
          <a:p>
            <a:r>
              <a:rPr lang="en-US" dirty="0"/>
              <a:t>Project Costs</a:t>
            </a:r>
          </a:p>
        </p:txBody>
      </p:sp>
      <p:sp>
        <p:nvSpPr>
          <p:cNvPr id="3" name="Content Placeholder 2">
            <a:extLst>
              <a:ext uri="{FF2B5EF4-FFF2-40B4-BE49-F238E27FC236}">
                <a16:creationId xmlns:a16="http://schemas.microsoft.com/office/drawing/2014/main" id="{16A6A655-BEE0-A15B-250F-A0C29B633877}"/>
              </a:ext>
            </a:extLst>
          </p:cNvPr>
          <p:cNvSpPr>
            <a:spLocks noGrp="1"/>
          </p:cNvSpPr>
          <p:nvPr>
            <p:ph idx="1"/>
          </p:nvPr>
        </p:nvSpPr>
        <p:spPr/>
        <p:txBody>
          <a:bodyPr>
            <a:normAutofit/>
          </a:bodyPr>
          <a:lstStyle/>
          <a:p>
            <a:r>
              <a:rPr lang="en-US" dirty="0"/>
              <a:t>Project costs refer to the financial resources required to complete a project, including:</a:t>
            </a:r>
          </a:p>
          <a:p>
            <a:pPr lvl="1"/>
            <a:r>
              <a:rPr lang="en-US" dirty="0"/>
              <a:t>Labor costs</a:t>
            </a:r>
          </a:p>
          <a:p>
            <a:pPr lvl="1"/>
            <a:r>
              <a:rPr lang="en-US" dirty="0"/>
              <a:t>Material costs</a:t>
            </a:r>
          </a:p>
          <a:p>
            <a:pPr lvl="1"/>
            <a:r>
              <a:rPr lang="en-US" dirty="0"/>
              <a:t>Equipment costs</a:t>
            </a:r>
          </a:p>
          <a:p>
            <a:pPr lvl="1"/>
            <a:r>
              <a:rPr lang="en-US" dirty="0"/>
              <a:t>Operational expenses</a:t>
            </a:r>
          </a:p>
          <a:p>
            <a:pPr lvl="1"/>
            <a:r>
              <a:rPr lang="en-US" dirty="0"/>
              <a:t>Contingency reserves</a:t>
            </a:r>
          </a:p>
          <a:p>
            <a:r>
              <a:rPr lang="en-US" dirty="0"/>
              <a:t>The purpose of project cost management is to ensure that the project is completed within the approved budget, with optimal resource utilization.</a:t>
            </a:r>
          </a:p>
          <a:p>
            <a:endParaRPr lang="en-US" dirty="0"/>
          </a:p>
        </p:txBody>
      </p:sp>
    </p:spTree>
    <p:extLst>
      <p:ext uri="{BB962C8B-B14F-4D97-AF65-F5344CB8AC3E}">
        <p14:creationId xmlns:p14="http://schemas.microsoft.com/office/powerpoint/2010/main" val="2777914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F493-A8B2-08CD-706D-4B2ACDE8EA7B}"/>
              </a:ext>
            </a:extLst>
          </p:cNvPr>
          <p:cNvSpPr>
            <a:spLocks noGrp="1"/>
          </p:cNvSpPr>
          <p:nvPr>
            <p:ph type="title"/>
          </p:nvPr>
        </p:nvSpPr>
        <p:spPr/>
        <p:txBody>
          <a:bodyPr/>
          <a:lstStyle/>
          <a:p>
            <a:r>
              <a:rPr lang="en-US" dirty="0"/>
              <a:t>Types of Project Costs</a:t>
            </a:r>
          </a:p>
        </p:txBody>
      </p:sp>
      <p:sp>
        <p:nvSpPr>
          <p:cNvPr id="3" name="Content Placeholder 2">
            <a:extLst>
              <a:ext uri="{FF2B5EF4-FFF2-40B4-BE49-F238E27FC236}">
                <a16:creationId xmlns:a16="http://schemas.microsoft.com/office/drawing/2014/main" id="{82DDCBD3-4F86-176C-3886-F920F5BB0677}"/>
              </a:ext>
            </a:extLst>
          </p:cNvPr>
          <p:cNvSpPr>
            <a:spLocks noGrp="1"/>
          </p:cNvSpPr>
          <p:nvPr>
            <p:ph idx="1"/>
          </p:nvPr>
        </p:nvSpPr>
        <p:spPr/>
        <p:txBody>
          <a:bodyPr>
            <a:normAutofit fontScale="77500" lnSpcReduction="20000"/>
          </a:bodyPr>
          <a:lstStyle/>
          <a:p>
            <a:pPr marL="0" indent="0">
              <a:buNone/>
            </a:pPr>
            <a:r>
              <a:rPr lang="en-US" dirty="0"/>
              <a:t>Project costs can be classified into several types based on their nature and purpose:</a:t>
            </a:r>
          </a:p>
          <a:p>
            <a:pPr marL="0" indent="0">
              <a:buNone/>
            </a:pPr>
            <a:r>
              <a:rPr lang="en-US" b="1" dirty="0"/>
              <a:t>Direct Costs</a:t>
            </a:r>
          </a:p>
          <a:p>
            <a:pPr marL="0" indent="0">
              <a:buNone/>
            </a:pPr>
            <a:r>
              <a:rPr lang="en-US" dirty="0"/>
              <a:t>Costs directly attributable to the project.</a:t>
            </a:r>
          </a:p>
          <a:p>
            <a:r>
              <a:rPr lang="en-US" b="1" dirty="0"/>
              <a:t>Examples</a:t>
            </a:r>
            <a:r>
              <a:rPr lang="en-US" dirty="0"/>
              <a:t>:</a:t>
            </a:r>
          </a:p>
          <a:p>
            <a:pPr lvl="1"/>
            <a:r>
              <a:rPr lang="en-US" dirty="0"/>
              <a:t>Salaries of project team members</a:t>
            </a:r>
          </a:p>
          <a:p>
            <a:pPr lvl="1"/>
            <a:r>
              <a:rPr lang="en-US" dirty="0"/>
              <a:t>Materials used in construction</a:t>
            </a:r>
          </a:p>
          <a:p>
            <a:pPr lvl="1"/>
            <a:r>
              <a:rPr lang="en-US" dirty="0"/>
              <a:t>Equipment used on-site</a:t>
            </a:r>
          </a:p>
          <a:p>
            <a:pPr marL="0" indent="0">
              <a:buNone/>
            </a:pPr>
            <a:r>
              <a:rPr lang="en-US" b="1" dirty="0"/>
              <a:t>Indirect Costs</a:t>
            </a:r>
          </a:p>
          <a:p>
            <a:pPr marL="0" indent="0">
              <a:buNone/>
            </a:pPr>
            <a:r>
              <a:rPr lang="en-US" dirty="0"/>
              <a:t>Costs that cannot be directly assigned to a specific project activity.</a:t>
            </a:r>
          </a:p>
          <a:p>
            <a:r>
              <a:rPr lang="en-US" b="1" dirty="0"/>
              <a:t>Examples</a:t>
            </a:r>
            <a:r>
              <a:rPr lang="en-US" dirty="0"/>
              <a:t>:</a:t>
            </a:r>
          </a:p>
          <a:p>
            <a:pPr lvl="1"/>
            <a:r>
              <a:rPr lang="en-US" dirty="0"/>
              <a:t>Administrative overhead</a:t>
            </a:r>
          </a:p>
          <a:p>
            <a:pPr lvl="1"/>
            <a:r>
              <a:rPr lang="en-US" dirty="0"/>
              <a:t>Utilities</a:t>
            </a:r>
          </a:p>
          <a:p>
            <a:pPr lvl="1"/>
            <a:r>
              <a:rPr lang="en-US" dirty="0"/>
              <a:t>Rent for office space</a:t>
            </a:r>
          </a:p>
          <a:p>
            <a:endParaRPr lang="en-US" dirty="0"/>
          </a:p>
        </p:txBody>
      </p:sp>
    </p:spTree>
    <p:extLst>
      <p:ext uri="{BB962C8B-B14F-4D97-AF65-F5344CB8AC3E}">
        <p14:creationId xmlns:p14="http://schemas.microsoft.com/office/powerpoint/2010/main" val="2143509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4D2A1-1CF3-7624-52F6-748BCF59D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C1F7C-BAEF-CB34-DF52-FF42672AB5EF}"/>
              </a:ext>
            </a:extLst>
          </p:cNvPr>
          <p:cNvSpPr>
            <a:spLocks noGrp="1"/>
          </p:cNvSpPr>
          <p:nvPr>
            <p:ph type="title"/>
          </p:nvPr>
        </p:nvSpPr>
        <p:spPr/>
        <p:txBody>
          <a:bodyPr/>
          <a:lstStyle/>
          <a:p>
            <a:r>
              <a:rPr lang="en-US" dirty="0"/>
              <a:t>Types of Project Costs</a:t>
            </a:r>
          </a:p>
        </p:txBody>
      </p:sp>
      <p:sp>
        <p:nvSpPr>
          <p:cNvPr id="3" name="Content Placeholder 2">
            <a:extLst>
              <a:ext uri="{FF2B5EF4-FFF2-40B4-BE49-F238E27FC236}">
                <a16:creationId xmlns:a16="http://schemas.microsoft.com/office/drawing/2014/main" id="{7655B2E7-E2AD-0613-0383-D8FAFBD089DE}"/>
              </a:ext>
            </a:extLst>
          </p:cNvPr>
          <p:cNvSpPr>
            <a:spLocks noGrp="1"/>
          </p:cNvSpPr>
          <p:nvPr>
            <p:ph idx="1"/>
          </p:nvPr>
        </p:nvSpPr>
        <p:spPr/>
        <p:txBody>
          <a:bodyPr>
            <a:normAutofit fontScale="92500" lnSpcReduction="10000"/>
          </a:bodyPr>
          <a:lstStyle/>
          <a:p>
            <a:pPr marL="0" indent="0">
              <a:buNone/>
            </a:pPr>
            <a:r>
              <a:rPr lang="en-US" b="1" dirty="0"/>
              <a:t>Fixed Costs</a:t>
            </a:r>
          </a:p>
          <a:p>
            <a:pPr marL="0" indent="0">
              <a:buNone/>
            </a:pPr>
            <a:r>
              <a:rPr lang="en-US" dirty="0"/>
              <a:t>Costs that remain constant throughout the project, regardless of project progress or output.</a:t>
            </a:r>
          </a:p>
          <a:p>
            <a:r>
              <a:rPr lang="en-US" b="1" dirty="0"/>
              <a:t>Examples</a:t>
            </a:r>
            <a:r>
              <a:rPr lang="en-US" dirty="0"/>
              <a:t>:</a:t>
            </a:r>
          </a:p>
          <a:p>
            <a:pPr lvl="1"/>
            <a:r>
              <a:rPr lang="en-US" dirty="0"/>
              <a:t>Lease payments</a:t>
            </a:r>
          </a:p>
          <a:p>
            <a:pPr lvl="1"/>
            <a:r>
              <a:rPr lang="en-US" dirty="0"/>
              <a:t>Insurance costs</a:t>
            </a:r>
          </a:p>
          <a:p>
            <a:pPr marL="0" indent="0">
              <a:buNone/>
            </a:pPr>
            <a:r>
              <a:rPr lang="en-US" b="1" dirty="0"/>
              <a:t>Variable Costs</a:t>
            </a:r>
          </a:p>
          <a:p>
            <a:pPr marL="0" indent="0">
              <a:buNone/>
            </a:pPr>
            <a:r>
              <a:rPr lang="en-US" dirty="0"/>
              <a:t>Costs that change depending on the volume or scope of the project.</a:t>
            </a:r>
          </a:p>
          <a:p>
            <a:r>
              <a:rPr lang="en-US" b="1" dirty="0"/>
              <a:t>Examples</a:t>
            </a:r>
            <a:r>
              <a:rPr lang="en-US" dirty="0"/>
              <a:t>:</a:t>
            </a:r>
          </a:p>
          <a:p>
            <a:pPr lvl="1"/>
            <a:r>
              <a:rPr lang="en-US" dirty="0"/>
              <a:t>Cost of raw materials</a:t>
            </a:r>
          </a:p>
          <a:p>
            <a:pPr lvl="1"/>
            <a:r>
              <a:rPr lang="en-US" dirty="0"/>
              <a:t>Labor costs depending on work hours</a:t>
            </a:r>
          </a:p>
        </p:txBody>
      </p:sp>
    </p:spTree>
    <p:extLst>
      <p:ext uri="{BB962C8B-B14F-4D97-AF65-F5344CB8AC3E}">
        <p14:creationId xmlns:p14="http://schemas.microsoft.com/office/powerpoint/2010/main" val="10305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98431-69C7-37BC-848E-06835897050F}"/>
              </a:ext>
            </a:extLst>
          </p:cNvPr>
          <p:cNvSpPr>
            <a:spLocks noGrp="1"/>
          </p:cNvSpPr>
          <p:nvPr>
            <p:ph type="title"/>
          </p:nvPr>
        </p:nvSpPr>
        <p:spPr/>
        <p:txBody>
          <a:bodyPr/>
          <a:lstStyle/>
          <a:p>
            <a:r>
              <a:rPr lang="en-US" dirty="0"/>
              <a:t>Project Cost Management</a:t>
            </a:r>
          </a:p>
        </p:txBody>
      </p:sp>
      <p:sp>
        <p:nvSpPr>
          <p:cNvPr id="3" name="Content Placeholder 2">
            <a:extLst>
              <a:ext uri="{FF2B5EF4-FFF2-40B4-BE49-F238E27FC236}">
                <a16:creationId xmlns:a16="http://schemas.microsoft.com/office/drawing/2014/main" id="{B0F699FB-7B81-038B-ABCB-93B2DECF78BC}"/>
              </a:ext>
            </a:extLst>
          </p:cNvPr>
          <p:cNvSpPr>
            <a:spLocks noGrp="1"/>
          </p:cNvSpPr>
          <p:nvPr>
            <p:ph idx="1"/>
          </p:nvPr>
        </p:nvSpPr>
        <p:spPr/>
        <p:txBody>
          <a:bodyPr/>
          <a:lstStyle/>
          <a:p>
            <a:pPr marL="0" indent="0">
              <a:buNone/>
            </a:pPr>
            <a:r>
              <a:rPr lang="en-US" dirty="0"/>
              <a:t>Project cost management involves processes required to plan, estimate, budget, finance, manage, and control project costs. The goal is to ensure the project is completed within the approved budget.</a:t>
            </a:r>
          </a:p>
          <a:p>
            <a:r>
              <a:rPr lang="en-US" b="1" dirty="0"/>
              <a:t>Key Components</a:t>
            </a:r>
            <a:r>
              <a:rPr lang="en-US" dirty="0"/>
              <a:t>:</a:t>
            </a:r>
          </a:p>
          <a:p>
            <a:r>
              <a:rPr lang="en-US" dirty="0"/>
              <a:t>Cost estimation</a:t>
            </a:r>
          </a:p>
          <a:p>
            <a:r>
              <a:rPr lang="en-US" dirty="0"/>
              <a:t>Budgeting</a:t>
            </a:r>
          </a:p>
          <a:p>
            <a:r>
              <a:rPr lang="en-US" dirty="0"/>
              <a:t>Cost control</a:t>
            </a:r>
          </a:p>
          <a:p>
            <a:endParaRPr lang="en-US" dirty="0"/>
          </a:p>
        </p:txBody>
      </p:sp>
    </p:spTree>
    <p:extLst>
      <p:ext uri="{BB962C8B-B14F-4D97-AF65-F5344CB8AC3E}">
        <p14:creationId xmlns:p14="http://schemas.microsoft.com/office/powerpoint/2010/main" val="2331355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A9BBB-6097-2B9B-48E4-4FF5BDE76967}"/>
              </a:ext>
            </a:extLst>
          </p:cNvPr>
          <p:cNvSpPr>
            <a:spLocks noGrp="1"/>
          </p:cNvSpPr>
          <p:nvPr>
            <p:ph type="title"/>
          </p:nvPr>
        </p:nvSpPr>
        <p:spPr/>
        <p:txBody>
          <a:bodyPr/>
          <a:lstStyle/>
          <a:p>
            <a:r>
              <a:rPr lang="en-US" dirty="0"/>
              <a:t>Cost Management Processes</a:t>
            </a:r>
          </a:p>
        </p:txBody>
      </p:sp>
      <p:sp>
        <p:nvSpPr>
          <p:cNvPr id="3" name="Content Placeholder 2">
            <a:extLst>
              <a:ext uri="{FF2B5EF4-FFF2-40B4-BE49-F238E27FC236}">
                <a16:creationId xmlns:a16="http://schemas.microsoft.com/office/drawing/2014/main" id="{28A229B0-0FFC-7729-5447-59A9974200DF}"/>
              </a:ext>
            </a:extLst>
          </p:cNvPr>
          <p:cNvSpPr>
            <a:spLocks noGrp="1"/>
          </p:cNvSpPr>
          <p:nvPr>
            <p:ph idx="1"/>
          </p:nvPr>
        </p:nvSpPr>
        <p:spPr/>
        <p:txBody>
          <a:bodyPr>
            <a:normAutofit fontScale="85000" lnSpcReduction="20000"/>
          </a:bodyPr>
          <a:lstStyle/>
          <a:p>
            <a:pPr marL="0" indent="0">
              <a:buNone/>
            </a:pPr>
            <a:r>
              <a:rPr lang="en-US" dirty="0"/>
              <a:t>Project Cost Management consists of </a:t>
            </a:r>
            <a:r>
              <a:rPr lang="en-US" b="1" dirty="0"/>
              <a:t>four main processes</a:t>
            </a:r>
            <a:r>
              <a:rPr lang="en-US" dirty="0"/>
              <a:t>:</a:t>
            </a:r>
          </a:p>
          <a:p>
            <a:pPr marL="0" indent="0">
              <a:buNone/>
            </a:pPr>
            <a:r>
              <a:rPr lang="en-US" b="1" dirty="0"/>
              <a:t>Plan Cost Management</a:t>
            </a:r>
          </a:p>
          <a:p>
            <a:pPr marL="0" indent="0">
              <a:buNone/>
            </a:pPr>
            <a:r>
              <a:rPr lang="en-US" dirty="0"/>
              <a:t>Defining how to manage and control project costs, including how cost estimates will be developed, how budgets will be established, and how performance will be measured.</a:t>
            </a:r>
          </a:p>
          <a:p>
            <a:r>
              <a:rPr lang="en-US" b="1" dirty="0"/>
              <a:t>Outputs</a:t>
            </a:r>
            <a:r>
              <a:rPr lang="en-US" dirty="0"/>
              <a:t>:</a:t>
            </a:r>
          </a:p>
          <a:p>
            <a:pPr lvl="1"/>
            <a:r>
              <a:rPr lang="en-US" dirty="0"/>
              <a:t>Cost Management Plan</a:t>
            </a:r>
          </a:p>
          <a:p>
            <a:pPr marL="0" indent="0">
              <a:buNone/>
            </a:pPr>
            <a:r>
              <a:rPr lang="en-US" b="1" dirty="0"/>
              <a:t>Estimate Costs</a:t>
            </a:r>
          </a:p>
          <a:p>
            <a:pPr marL="0" indent="0">
              <a:buNone/>
            </a:pPr>
            <a:r>
              <a:rPr lang="en-US" dirty="0"/>
              <a:t>Developing an approximation of the costs of resources needed to complete project activities.</a:t>
            </a:r>
          </a:p>
          <a:p>
            <a:r>
              <a:rPr lang="en-US" b="1" dirty="0"/>
              <a:t>Outputs</a:t>
            </a:r>
            <a:r>
              <a:rPr lang="en-US" dirty="0"/>
              <a:t>:</a:t>
            </a:r>
          </a:p>
          <a:p>
            <a:pPr lvl="1"/>
            <a:r>
              <a:rPr lang="en-US" dirty="0"/>
              <a:t>Cost Estimates</a:t>
            </a:r>
          </a:p>
          <a:p>
            <a:pPr lvl="1"/>
            <a:r>
              <a:rPr lang="en-US" dirty="0"/>
              <a:t>Basis of Estimates</a:t>
            </a:r>
          </a:p>
          <a:p>
            <a:endParaRPr lang="en-US" dirty="0"/>
          </a:p>
        </p:txBody>
      </p:sp>
    </p:spTree>
    <p:extLst>
      <p:ext uri="{BB962C8B-B14F-4D97-AF65-F5344CB8AC3E}">
        <p14:creationId xmlns:p14="http://schemas.microsoft.com/office/powerpoint/2010/main" val="2065512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3774E-1674-27C9-E3E4-5E3A646AC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BD2BA-339C-BEB9-9E9F-0B97BE15954C}"/>
              </a:ext>
            </a:extLst>
          </p:cNvPr>
          <p:cNvSpPr>
            <a:spLocks noGrp="1"/>
          </p:cNvSpPr>
          <p:nvPr>
            <p:ph type="title"/>
          </p:nvPr>
        </p:nvSpPr>
        <p:spPr/>
        <p:txBody>
          <a:bodyPr/>
          <a:lstStyle/>
          <a:p>
            <a:r>
              <a:rPr lang="en-US" dirty="0"/>
              <a:t>Cost Management Processes</a:t>
            </a:r>
          </a:p>
        </p:txBody>
      </p:sp>
      <p:sp>
        <p:nvSpPr>
          <p:cNvPr id="3" name="Content Placeholder 2">
            <a:extLst>
              <a:ext uri="{FF2B5EF4-FFF2-40B4-BE49-F238E27FC236}">
                <a16:creationId xmlns:a16="http://schemas.microsoft.com/office/drawing/2014/main" id="{CE5D5C44-6C6A-6EEA-D1B0-1F8E040DB243}"/>
              </a:ext>
            </a:extLst>
          </p:cNvPr>
          <p:cNvSpPr>
            <a:spLocks noGrp="1"/>
          </p:cNvSpPr>
          <p:nvPr>
            <p:ph idx="1"/>
          </p:nvPr>
        </p:nvSpPr>
        <p:spPr/>
        <p:txBody>
          <a:bodyPr>
            <a:normAutofit fontScale="92500" lnSpcReduction="10000"/>
          </a:bodyPr>
          <a:lstStyle/>
          <a:p>
            <a:pPr marL="0" indent="0">
              <a:buNone/>
            </a:pPr>
            <a:r>
              <a:rPr lang="en-US" b="1" dirty="0"/>
              <a:t>Determine Budget</a:t>
            </a:r>
          </a:p>
          <a:p>
            <a:pPr marL="0" indent="0">
              <a:buNone/>
            </a:pPr>
            <a:r>
              <a:rPr lang="en-US" dirty="0"/>
              <a:t>Aggregating the cost estimates to establish an authorized cost baseline.</a:t>
            </a:r>
          </a:p>
          <a:p>
            <a:r>
              <a:rPr lang="en-US" b="1" dirty="0"/>
              <a:t>Outputs</a:t>
            </a:r>
            <a:r>
              <a:rPr lang="en-US" dirty="0"/>
              <a:t>:</a:t>
            </a:r>
          </a:p>
          <a:p>
            <a:pPr lvl="1"/>
            <a:r>
              <a:rPr lang="en-US" dirty="0"/>
              <a:t>Project Budget</a:t>
            </a:r>
          </a:p>
          <a:p>
            <a:pPr lvl="1"/>
            <a:r>
              <a:rPr lang="en-US" dirty="0"/>
              <a:t>Cost Baseline</a:t>
            </a:r>
          </a:p>
          <a:p>
            <a:pPr marL="0" indent="0">
              <a:buNone/>
            </a:pPr>
            <a:r>
              <a:rPr lang="en-US" b="1" dirty="0"/>
              <a:t>Control Costs</a:t>
            </a:r>
          </a:p>
          <a:p>
            <a:pPr marL="0" indent="0">
              <a:buNone/>
            </a:pPr>
            <a:r>
              <a:rPr lang="en-US" dirty="0"/>
              <a:t>Monitoring project cost performance, identifying any variances from the cost baseline, and taking corrective actions as necessary.</a:t>
            </a:r>
          </a:p>
          <a:p>
            <a:r>
              <a:rPr lang="en-US" b="1" dirty="0"/>
              <a:t>Outputs</a:t>
            </a:r>
            <a:r>
              <a:rPr lang="en-US" dirty="0"/>
              <a:t>:</a:t>
            </a:r>
          </a:p>
          <a:p>
            <a:pPr lvl="1"/>
            <a:r>
              <a:rPr lang="en-US" dirty="0"/>
              <a:t>Work Performance Information</a:t>
            </a:r>
          </a:p>
          <a:p>
            <a:pPr lvl="1"/>
            <a:r>
              <a:rPr lang="en-US" dirty="0"/>
              <a:t>Cost Forecasts</a:t>
            </a:r>
          </a:p>
          <a:p>
            <a:endParaRPr lang="en-US" dirty="0"/>
          </a:p>
        </p:txBody>
      </p:sp>
    </p:spTree>
    <p:extLst>
      <p:ext uri="{BB962C8B-B14F-4D97-AF65-F5344CB8AC3E}">
        <p14:creationId xmlns:p14="http://schemas.microsoft.com/office/powerpoint/2010/main" val="194734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0661C-1D25-1DE8-0706-CDAADD2E4193}"/>
              </a:ext>
            </a:extLst>
          </p:cNvPr>
          <p:cNvSpPr>
            <a:spLocks noGrp="1"/>
          </p:cNvSpPr>
          <p:nvPr>
            <p:ph type="title"/>
          </p:nvPr>
        </p:nvSpPr>
        <p:spPr/>
        <p:txBody>
          <a:bodyPr/>
          <a:lstStyle/>
          <a:p>
            <a:r>
              <a:rPr lang="en-US" dirty="0"/>
              <a:t>Project Cost Estimation</a:t>
            </a:r>
          </a:p>
        </p:txBody>
      </p:sp>
      <p:sp>
        <p:nvSpPr>
          <p:cNvPr id="3" name="Content Placeholder 2">
            <a:extLst>
              <a:ext uri="{FF2B5EF4-FFF2-40B4-BE49-F238E27FC236}">
                <a16:creationId xmlns:a16="http://schemas.microsoft.com/office/drawing/2014/main" id="{2EC53382-A6E1-012B-891C-C01138DC3866}"/>
              </a:ext>
            </a:extLst>
          </p:cNvPr>
          <p:cNvSpPr>
            <a:spLocks noGrp="1"/>
          </p:cNvSpPr>
          <p:nvPr>
            <p:ph idx="1"/>
          </p:nvPr>
        </p:nvSpPr>
        <p:spPr/>
        <p:txBody>
          <a:bodyPr>
            <a:normAutofit fontScale="85000" lnSpcReduction="20000"/>
          </a:bodyPr>
          <a:lstStyle/>
          <a:p>
            <a:r>
              <a:rPr lang="en-US" dirty="0"/>
              <a:t>Cost estimation is the process of approximating the monetary resources required to complete project activities. It helps the project manager to plan and budget the project.</a:t>
            </a:r>
          </a:p>
          <a:p>
            <a:pPr marL="0" indent="0">
              <a:buNone/>
            </a:pPr>
            <a:r>
              <a:rPr lang="en-US" b="1" dirty="0"/>
              <a:t>Types of Cost Estimation</a:t>
            </a:r>
          </a:p>
          <a:p>
            <a:r>
              <a:rPr lang="en-US" b="1" dirty="0"/>
              <a:t>Analogous Estimating (Top-Down)</a:t>
            </a:r>
            <a:endParaRPr lang="en-US" dirty="0"/>
          </a:p>
          <a:p>
            <a:pPr lvl="1"/>
            <a:r>
              <a:rPr lang="en-US" b="1" dirty="0"/>
              <a:t>Definition</a:t>
            </a:r>
            <a:r>
              <a:rPr lang="en-US" dirty="0"/>
              <a:t>: Using historical data from similar projects to estimate the cost of the current project.</a:t>
            </a:r>
          </a:p>
          <a:p>
            <a:pPr lvl="1"/>
            <a:r>
              <a:rPr lang="en-US" b="1" dirty="0"/>
              <a:t>Advantages</a:t>
            </a:r>
            <a:r>
              <a:rPr lang="en-US" dirty="0"/>
              <a:t>: Quick, low effort</a:t>
            </a:r>
          </a:p>
          <a:p>
            <a:pPr lvl="1"/>
            <a:r>
              <a:rPr lang="en-US" b="1" dirty="0"/>
              <a:t>Disadvantages</a:t>
            </a:r>
            <a:r>
              <a:rPr lang="en-US" dirty="0"/>
              <a:t>: Less accurate, depends on the availability of past data</a:t>
            </a:r>
          </a:p>
          <a:p>
            <a:pPr lvl="1"/>
            <a:r>
              <a:rPr lang="en-US" b="1" dirty="0"/>
              <a:t>Example</a:t>
            </a:r>
            <a:r>
              <a:rPr lang="en-US" dirty="0"/>
              <a:t>: Estimating the cost of building a house based on the cost of previous house projects.</a:t>
            </a:r>
          </a:p>
          <a:p>
            <a:r>
              <a:rPr lang="en-US" b="1" dirty="0"/>
              <a:t>Parametric Estimating</a:t>
            </a:r>
            <a:endParaRPr lang="en-US" dirty="0"/>
          </a:p>
          <a:p>
            <a:pPr lvl="1"/>
            <a:r>
              <a:rPr lang="en-US" b="1" dirty="0"/>
              <a:t>Definition</a:t>
            </a:r>
            <a:r>
              <a:rPr lang="en-US" dirty="0"/>
              <a:t>: Uses a statistical relationship between historical data and other variables (e.g., cost per square foot).</a:t>
            </a:r>
          </a:p>
          <a:p>
            <a:pPr lvl="1"/>
            <a:r>
              <a:rPr lang="en-US" b="1" dirty="0"/>
              <a:t>Example</a:t>
            </a:r>
            <a:r>
              <a:rPr lang="en-US" dirty="0"/>
              <a:t>: Cost of construction per square foot in a particular city.</a:t>
            </a:r>
          </a:p>
          <a:p>
            <a:endParaRPr lang="en-US" dirty="0"/>
          </a:p>
        </p:txBody>
      </p:sp>
    </p:spTree>
    <p:extLst>
      <p:ext uri="{BB962C8B-B14F-4D97-AF65-F5344CB8AC3E}">
        <p14:creationId xmlns:p14="http://schemas.microsoft.com/office/powerpoint/2010/main" val="322900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388AA-C7B2-8A84-A82E-F39E3F60B6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D7675-F360-99E6-698F-293C926738DC}"/>
              </a:ext>
            </a:extLst>
          </p:cNvPr>
          <p:cNvSpPr>
            <a:spLocks noGrp="1"/>
          </p:cNvSpPr>
          <p:nvPr>
            <p:ph type="title"/>
          </p:nvPr>
        </p:nvSpPr>
        <p:spPr/>
        <p:txBody>
          <a:bodyPr/>
          <a:lstStyle/>
          <a:p>
            <a:r>
              <a:rPr lang="en-US" dirty="0"/>
              <a:t>Project Cost Estimation</a:t>
            </a:r>
          </a:p>
        </p:txBody>
      </p:sp>
      <p:sp>
        <p:nvSpPr>
          <p:cNvPr id="3" name="Content Placeholder 2">
            <a:extLst>
              <a:ext uri="{FF2B5EF4-FFF2-40B4-BE49-F238E27FC236}">
                <a16:creationId xmlns:a16="http://schemas.microsoft.com/office/drawing/2014/main" id="{1DF717E3-38A9-4BE8-777C-5872BE461D49}"/>
              </a:ext>
            </a:extLst>
          </p:cNvPr>
          <p:cNvSpPr>
            <a:spLocks noGrp="1"/>
          </p:cNvSpPr>
          <p:nvPr>
            <p:ph idx="1"/>
          </p:nvPr>
        </p:nvSpPr>
        <p:spPr/>
        <p:txBody>
          <a:bodyPr>
            <a:normAutofit fontScale="70000" lnSpcReduction="20000"/>
          </a:bodyPr>
          <a:lstStyle/>
          <a:p>
            <a:r>
              <a:rPr lang="en-US" b="1" dirty="0"/>
              <a:t>Bottom-Up Estimating</a:t>
            </a:r>
            <a:endParaRPr lang="en-US" dirty="0"/>
          </a:p>
          <a:p>
            <a:pPr lvl="1"/>
            <a:r>
              <a:rPr lang="en-US" b="1" dirty="0"/>
              <a:t>Definition</a:t>
            </a:r>
            <a:r>
              <a:rPr lang="en-US" dirty="0"/>
              <a:t>: Estimating the cost of each individual project activity and then summing them to get the total cost.</a:t>
            </a:r>
          </a:p>
          <a:p>
            <a:pPr lvl="1"/>
            <a:r>
              <a:rPr lang="en-US" b="1" dirty="0"/>
              <a:t>Advantages</a:t>
            </a:r>
            <a:r>
              <a:rPr lang="en-US" dirty="0"/>
              <a:t>: More accurate</a:t>
            </a:r>
          </a:p>
          <a:p>
            <a:pPr lvl="1"/>
            <a:r>
              <a:rPr lang="en-US" b="1" dirty="0"/>
              <a:t>Disadvantages</a:t>
            </a:r>
            <a:r>
              <a:rPr lang="en-US" dirty="0"/>
              <a:t>: Time-consuming</a:t>
            </a:r>
          </a:p>
          <a:p>
            <a:pPr lvl="1"/>
            <a:r>
              <a:rPr lang="en-US" b="1" dirty="0"/>
              <a:t>Example</a:t>
            </a:r>
            <a:r>
              <a:rPr lang="en-US" dirty="0"/>
              <a:t>: Estimating the cost of materials, labor, and equipment for each activity in a construction project.</a:t>
            </a:r>
          </a:p>
          <a:p>
            <a:r>
              <a:rPr lang="en-US" b="1" dirty="0"/>
              <a:t>Three-Point Estimating</a:t>
            </a:r>
            <a:endParaRPr lang="en-US" dirty="0"/>
          </a:p>
          <a:p>
            <a:pPr lvl="1"/>
            <a:r>
              <a:rPr lang="en-US" b="1" dirty="0"/>
              <a:t>Definition</a:t>
            </a:r>
            <a:r>
              <a:rPr lang="en-US" dirty="0"/>
              <a:t>: Uses three estimates for each activity: optimistic, pessimistic, and most likely.</a:t>
            </a:r>
          </a:p>
          <a:p>
            <a:pPr lvl="1"/>
            <a:r>
              <a:rPr lang="en-US" b="1" dirty="0"/>
              <a:t>Formula</a:t>
            </a:r>
            <a:r>
              <a:rPr lang="en-US" dirty="0"/>
              <a:t>:</a:t>
            </a:r>
          </a:p>
          <a:p>
            <a:pPr lvl="1"/>
            <a:r>
              <a:rPr lang="en-US" dirty="0"/>
              <a:t>E = (O + 4M + P) / 6</a:t>
            </a:r>
          </a:p>
          <a:p>
            <a:pPr lvl="1"/>
            <a:r>
              <a:rPr lang="en-US" dirty="0"/>
              <a:t>Where:</a:t>
            </a:r>
          </a:p>
          <a:p>
            <a:pPr lvl="2"/>
            <a:r>
              <a:rPr lang="en-US" dirty="0"/>
              <a:t>E = Expected cost</a:t>
            </a:r>
          </a:p>
          <a:p>
            <a:pPr lvl="2"/>
            <a:r>
              <a:rPr lang="en-US" dirty="0"/>
              <a:t>O = Optimistic cost</a:t>
            </a:r>
          </a:p>
          <a:p>
            <a:pPr lvl="2"/>
            <a:r>
              <a:rPr lang="en-US" dirty="0"/>
              <a:t>M = Most likely cost</a:t>
            </a:r>
          </a:p>
          <a:p>
            <a:pPr lvl="2"/>
            <a:r>
              <a:rPr lang="en-US" dirty="0"/>
              <a:t>P = Pessimistic cost</a:t>
            </a:r>
          </a:p>
          <a:p>
            <a:pPr lvl="1"/>
            <a:r>
              <a:rPr lang="en-US" b="1" dirty="0"/>
              <a:t>Example</a:t>
            </a:r>
            <a:r>
              <a:rPr lang="en-US" dirty="0"/>
              <a:t>: Estimating the cost of software development where O = $10,000, M = $12,000, P = $14,000.</a:t>
            </a:r>
          </a:p>
          <a:p>
            <a:pPr lvl="1"/>
            <a:r>
              <a:rPr lang="en-US" dirty="0"/>
              <a:t>E = (10,000 + 4*12,000 + 14,000) / 6 = $12,000</a:t>
            </a:r>
          </a:p>
          <a:p>
            <a:endParaRPr lang="en-US" dirty="0"/>
          </a:p>
        </p:txBody>
      </p:sp>
    </p:spTree>
    <p:extLst>
      <p:ext uri="{BB962C8B-B14F-4D97-AF65-F5344CB8AC3E}">
        <p14:creationId xmlns:p14="http://schemas.microsoft.com/office/powerpoint/2010/main" val="518050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52944-A1E5-8DC5-0520-30BBB55A6F04}"/>
              </a:ext>
            </a:extLst>
          </p:cNvPr>
          <p:cNvSpPr>
            <a:spLocks noGrp="1"/>
          </p:cNvSpPr>
          <p:nvPr>
            <p:ph type="title"/>
          </p:nvPr>
        </p:nvSpPr>
        <p:spPr/>
        <p:txBody>
          <a:bodyPr/>
          <a:lstStyle/>
          <a:p>
            <a:r>
              <a:rPr lang="en-US" dirty="0"/>
              <a:t>Review of Cost Estimation and Its Types</a:t>
            </a:r>
          </a:p>
        </p:txBody>
      </p:sp>
      <p:sp>
        <p:nvSpPr>
          <p:cNvPr id="3" name="Content Placeholder 2">
            <a:extLst>
              <a:ext uri="{FF2B5EF4-FFF2-40B4-BE49-F238E27FC236}">
                <a16:creationId xmlns:a16="http://schemas.microsoft.com/office/drawing/2014/main" id="{9AA7DA23-33CE-E677-A72A-3C58365E82EC}"/>
              </a:ext>
            </a:extLst>
          </p:cNvPr>
          <p:cNvSpPr>
            <a:spLocks noGrp="1"/>
          </p:cNvSpPr>
          <p:nvPr>
            <p:ph idx="1"/>
          </p:nvPr>
        </p:nvSpPr>
        <p:spPr/>
        <p:txBody>
          <a:bodyPr>
            <a:normAutofit lnSpcReduction="10000"/>
          </a:bodyPr>
          <a:lstStyle/>
          <a:p>
            <a:pPr marL="0" indent="0">
              <a:buNone/>
            </a:pPr>
            <a:r>
              <a:rPr lang="en-US" dirty="0"/>
              <a:t>Cost estimation is crucial for planning and monitoring the financial health of the project. Understanding the </a:t>
            </a:r>
            <a:r>
              <a:rPr lang="en-US" b="1" dirty="0"/>
              <a:t>accuracy</a:t>
            </a:r>
            <a:r>
              <a:rPr lang="en-US" dirty="0"/>
              <a:t> and </a:t>
            </a:r>
            <a:r>
              <a:rPr lang="en-US" b="1" dirty="0"/>
              <a:t>level of detail</a:t>
            </a:r>
            <a:r>
              <a:rPr lang="en-US" dirty="0"/>
              <a:t> required for different types of estimates is essential.</a:t>
            </a:r>
          </a:p>
          <a:p>
            <a:r>
              <a:rPr lang="en-US" b="1" dirty="0"/>
              <a:t>Analogous Estimating</a:t>
            </a:r>
            <a:r>
              <a:rPr lang="en-US" dirty="0"/>
              <a:t>: Quick but less precise.</a:t>
            </a:r>
          </a:p>
          <a:p>
            <a:r>
              <a:rPr lang="en-US" b="1" dirty="0"/>
              <a:t>Parametric Estimating</a:t>
            </a:r>
            <a:r>
              <a:rPr lang="en-US" dirty="0"/>
              <a:t>: More accurate, especially for large projects.</a:t>
            </a:r>
          </a:p>
          <a:p>
            <a:r>
              <a:rPr lang="en-US" b="1" dirty="0"/>
              <a:t>Bottom-Up Estimating</a:t>
            </a:r>
            <a:r>
              <a:rPr lang="en-US" dirty="0"/>
              <a:t>: Very detailed and accurate but time-consuming.</a:t>
            </a:r>
          </a:p>
          <a:p>
            <a:r>
              <a:rPr lang="en-US" b="1" dirty="0"/>
              <a:t>Three-Point Estimating</a:t>
            </a:r>
            <a:r>
              <a:rPr lang="en-US" dirty="0"/>
              <a:t>: Provides a more balanced view by considering different possible scenarios.</a:t>
            </a:r>
          </a:p>
          <a:p>
            <a:endParaRPr lang="en-US" dirty="0"/>
          </a:p>
        </p:txBody>
      </p:sp>
    </p:spTree>
    <p:extLst>
      <p:ext uri="{BB962C8B-B14F-4D97-AF65-F5344CB8AC3E}">
        <p14:creationId xmlns:p14="http://schemas.microsoft.com/office/powerpoint/2010/main" val="3271384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FA4A3-D026-FC05-B907-F43A1E8E0849}"/>
              </a:ext>
            </a:extLst>
          </p:cNvPr>
          <p:cNvSpPr>
            <a:spLocks noGrp="1"/>
          </p:cNvSpPr>
          <p:nvPr>
            <p:ph type="title"/>
          </p:nvPr>
        </p:nvSpPr>
        <p:spPr/>
        <p:txBody>
          <a:bodyPr/>
          <a:lstStyle/>
          <a:p>
            <a:r>
              <a:rPr lang="en-US" dirty="0"/>
              <a:t>Bottom-Up vs Top-Down Approach</a:t>
            </a:r>
          </a:p>
        </p:txBody>
      </p:sp>
      <p:sp>
        <p:nvSpPr>
          <p:cNvPr id="3" name="Content Placeholder 2">
            <a:extLst>
              <a:ext uri="{FF2B5EF4-FFF2-40B4-BE49-F238E27FC236}">
                <a16:creationId xmlns:a16="http://schemas.microsoft.com/office/drawing/2014/main" id="{A838BEEE-DCDB-918C-4427-8544E533DD42}"/>
              </a:ext>
            </a:extLst>
          </p:cNvPr>
          <p:cNvSpPr>
            <a:spLocks noGrp="1"/>
          </p:cNvSpPr>
          <p:nvPr>
            <p:ph idx="1"/>
          </p:nvPr>
        </p:nvSpPr>
        <p:spPr/>
        <p:txBody>
          <a:bodyPr>
            <a:normAutofit fontScale="85000" lnSpcReduction="10000"/>
          </a:bodyPr>
          <a:lstStyle/>
          <a:p>
            <a:pPr marL="0" indent="0">
              <a:buNone/>
            </a:pPr>
            <a:r>
              <a:rPr lang="en-US" b="1" dirty="0"/>
              <a:t>Bottom-Up Estimating</a:t>
            </a:r>
          </a:p>
          <a:p>
            <a:r>
              <a:rPr lang="en-US" dirty="0"/>
              <a:t>Estimating the cost of individual activities and summing them to obtain the total project cost.</a:t>
            </a:r>
          </a:p>
          <a:p>
            <a:pPr lvl="1"/>
            <a:r>
              <a:rPr lang="en-US" b="1" dirty="0"/>
              <a:t>Advantages</a:t>
            </a:r>
            <a:r>
              <a:rPr lang="en-US" dirty="0"/>
              <a:t>: Highly accurate</a:t>
            </a:r>
          </a:p>
          <a:p>
            <a:pPr lvl="1"/>
            <a:r>
              <a:rPr lang="en-US" b="1" dirty="0"/>
              <a:t>Disadvantages</a:t>
            </a:r>
            <a:r>
              <a:rPr lang="en-US" dirty="0"/>
              <a:t>: Time-consuming and requires detailed information</a:t>
            </a:r>
          </a:p>
          <a:p>
            <a:pPr lvl="1"/>
            <a:r>
              <a:rPr lang="en-US" b="1" dirty="0"/>
              <a:t>Example</a:t>
            </a:r>
            <a:r>
              <a:rPr lang="en-US" dirty="0"/>
              <a:t>: Estimating the costs of each task in a construction project (materials, labor, overhead) and adding them up.</a:t>
            </a:r>
          </a:p>
          <a:p>
            <a:pPr marL="0" indent="0">
              <a:buNone/>
            </a:pPr>
            <a:r>
              <a:rPr lang="en-US" b="1" dirty="0"/>
              <a:t>Top-Down Estimating</a:t>
            </a:r>
          </a:p>
          <a:p>
            <a:pPr marL="0" indent="0">
              <a:buNone/>
            </a:pPr>
            <a:r>
              <a:rPr lang="en-US" dirty="0"/>
              <a:t>Using overall project data from similar projects to estimate costs for the current project.</a:t>
            </a:r>
          </a:p>
          <a:p>
            <a:pPr lvl="1"/>
            <a:r>
              <a:rPr lang="en-US" b="1" dirty="0"/>
              <a:t>Advantages</a:t>
            </a:r>
            <a:r>
              <a:rPr lang="en-US" dirty="0"/>
              <a:t>: Quick and cost-effective</a:t>
            </a:r>
          </a:p>
          <a:p>
            <a:pPr lvl="1"/>
            <a:r>
              <a:rPr lang="en-US" b="1" dirty="0"/>
              <a:t>Disadvantages</a:t>
            </a:r>
            <a:r>
              <a:rPr lang="en-US" dirty="0"/>
              <a:t>: Less accurate</a:t>
            </a:r>
          </a:p>
          <a:p>
            <a:pPr lvl="1"/>
            <a:r>
              <a:rPr lang="en-US" b="1" dirty="0"/>
              <a:t>Example</a:t>
            </a:r>
            <a:r>
              <a:rPr lang="en-US" dirty="0"/>
              <a:t>: Estimating the cost of a new IT project based on the cost of similar IT projects.</a:t>
            </a:r>
          </a:p>
          <a:p>
            <a:endParaRPr lang="en-US" dirty="0"/>
          </a:p>
        </p:txBody>
      </p:sp>
    </p:spTree>
    <p:extLst>
      <p:ext uri="{BB962C8B-B14F-4D97-AF65-F5344CB8AC3E}">
        <p14:creationId xmlns:p14="http://schemas.microsoft.com/office/powerpoint/2010/main" val="1215509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A8EE7-D9DC-0607-3F3B-51AE8EF84BDA}"/>
              </a:ext>
            </a:extLst>
          </p:cNvPr>
          <p:cNvSpPr>
            <a:spLocks noGrp="1"/>
          </p:cNvSpPr>
          <p:nvPr>
            <p:ph type="title"/>
          </p:nvPr>
        </p:nvSpPr>
        <p:spPr/>
        <p:txBody>
          <a:bodyPr/>
          <a:lstStyle/>
          <a:p>
            <a:r>
              <a:rPr lang="en-US" dirty="0"/>
              <a:t>Expert Judgment</a:t>
            </a:r>
          </a:p>
        </p:txBody>
      </p:sp>
      <p:sp>
        <p:nvSpPr>
          <p:cNvPr id="3" name="Content Placeholder 2">
            <a:extLst>
              <a:ext uri="{FF2B5EF4-FFF2-40B4-BE49-F238E27FC236}">
                <a16:creationId xmlns:a16="http://schemas.microsoft.com/office/drawing/2014/main" id="{BA13E5F1-2848-5145-3826-C3EC8E4A5C79}"/>
              </a:ext>
            </a:extLst>
          </p:cNvPr>
          <p:cNvSpPr>
            <a:spLocks noGrp="1"/>
          </p:cNvSpPr>
          <p:nvPr>
            <p:ph idx="1"/>
          </p:nvPr>
        </p:nvSpPr>
        <p:spPr/>
        <p:txBody>
          <a:bodyPr/>
          <a:lstStyle/>
          <a:p>
            <a:r>
              <a:rPr lang="en-US" dirty="0"/>
              <a:t>Expert judgment involves relying on the knowledge and experience of experts to help estimate costs, identify risks, and suggest strategies. This is commonly used in all phases of project cost management.</a:t>
            </a:r>
          </a:p>
          <a:p>
            <a:r>
              <a:rPr lang="en-US" b="1" dirty="0"/>
              <a:t>Example:</a:t>
            </a:r>
          </a:p>
          <a:p>
            <a:pPr lvl="1"/>
            <a:r>
              <a:rPr lang="en-US" dirty="0"/>
              <a:t>A senior project manager with experience in software projects is asked to estimate the time and cost required for a new system, based on his previous work on similar systems.</a:t>
            </a:r>
          </a:p>
          <a:p>
            <a:endParaRPr lang="en-US" dirty="0"/>
          </a:p>
        </p:txBody>
      </p:sp>
    </p:spTree>
    <p:extLst>
      <p:ext uri="{BB962C8B-B14F-4D97-AF65-F5344CB8AC3E}">
        <p14:creationId xmlns:p14="http://schemas.microsoft.com/office/powerpoint/2010/main" val="1746041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2B6B6-E136-84FC-3BA3-C3685DF57EDA}"/>
              </a:ext>
            </a:extLst>
          </p:cNvPr>
          <p:cNvSpPr>
            <a:spLocks noGrp="1"/>
          </p:cNvSpPr>
          <p:nvPr>
            <p:ph type="title"/>
          </p:nvPr>
        </p:nvSpPr>
        <p:spPr/>
        <p:txBody>
          <a:bodyPr/>
          <a:lstStyle/>
          <a:p>
            <a:r>
              <a:rPr lang="en-US" dirty="0"/>
              <a:t>T-shirt Sizing</a:t>
            </a:r>
          </a:p>
        </p:txBody>
      </p:sp>
      <p:sp>
        <p:nvSpPr>
          <p:cNvPr id="3" name="Content Placeholder 2">
            <a:extLst>
              <a:ext uri="{FF2B5EF4-FFF2-40B4-BE49-F238E27FC236}">
                <a16:creationId xmlns:a16="http://schemas.microsoft.com/office/drawing/2014/main" id="{E03B5BF5-6F83-4B5E-FB52-30CA71D5124D}"/>
              </a:ext>
            </a:extLst>
          </p:cNvPr>
          <p:cNvSpPr>
            <a:spLocks noGrp="1"/>
          </p:cNvSpPr>
          <p:nvPr>
            <p:ph idx="1"/>
          </p:nvPr>
        </p:nvSpPr>
        <p:spPr/>
        <p:txBody>
          <a:bodyPr>
            <a:normAutofit fontScale="92500" lnSpcReduction="10000"/>
          </a:bodyPr>
          <a:lstStyle/>
          <a:p>
            <a:pPr marL="0" indent="0">
              <a:buNone/>
            </a:pPr>
            <a:r>
              <a:rPr lang="en-US" dirty="0"/>
              <a:t>T-shirt sizing is a </a:t>
            </a:r>
            <a:r>
              <a:rPr lang="en-US" b="1" dirty="0"/>
              <a:t>relative estimation technique</a:t>
            </a:r>
            <a:r>
              <a:rPr lang="en-US" dirty="0"/>
              <a:t> where project tasks or activities are assigned sizes like </a:t>
            </a:r>
            <a:r>
              <a:rPr lang="en-US" b="1" dirty="0"/>
              <a:t>XS, S, M, L, XL</a:t>
            </a:r>
            <a:r>
              <a:rPr lang="en-US" dirty="0"/>
              <a:t>, based on their complexity and effort required.</a:t>
            </a:r>
          </a:p>
          <a:p>
            <a:r>
              <a:rPr lang="en-US" b="1" dirty="0"/>
              <a:t>Example</a:t>
            </a:r>
            <a:r>
              <a:rPr lang="en-US" dirty="0"/>
              <a:t>:</a:t>
            </a:r>
          </a:p>
          <a:p>
            <a:pPr lvl="1"/>
            <a:r>
              <a:rPr lang="en-US" b="1" dirty="0"/>
              <a:t>Small</a:t>
            </a:r>
            <a:r>
              <a:rPr lang="en-US" dirty="0"/>
              <a:t>: Simple task, like creating a login page.</a:t>
            </a:r>
          </a:p>
          <a:p>
            <a:pPr lvl="1"/>
            <a:r>
              <a:rPr lang="en-US" b="1" dirty="0"/>
              <a:t>Large</a:t>
            </a:r>
            <a:r>
              <a:rPr lang="en-US" dirty="0"/>
              <a:t>: Complex task, like integrating payment systems.</a:t>
            </a:r>
          </a:p>
          <a:p>
            <a:r>
              <a:rPr lang="en-US" b="1" dirty="0"/>
              <a:t>Advantages:</a:t>
            </a:r>
          </a:p>
          <a:p>
            <a:pPr lvl="1"/>
            <a:r>
              <a:rPr lang="en-US" dirty="0"/>
              <a:t>Quick and simple</a:t>
            </a:r>
          </a:p>
          <a:p>
            <a:pPr lvl="1"/>
            <a:r>
              <a:rPr lang="en-US" dirty="0"/>
              <a:t>Helps in identifying tasks with high complexity early on</a:t>
            </a:r>
          </a:p>
          <a:p>
            <a:r>
              <a:rPr lang="en-US" b="1" dirty="0"/>
              <a:t>Limitations:</a:t>
            </a:r>
          </a:p>
          <a:p>
            <a:pPr lvl="1"/>
            <a:r>
              <a:rPr lang="en-US" dirty="0"/>
              <a:t>Subjective; no exact numbers, so not suitable for precise budget calculation.</a:t>
            </a:r>
          </a:p>
          <a:p>
            <a:pPr marL="0" indent="0">
              <a:buNone/>
            </a:pPr>
            <a:endParaRPr lang="en-US" dirty="0"/>
          </a:p>
        </p:txBody>
      </p:sp>
    </p:spTree>
    <p:extLst>
      <p:ext uri="{BB962C8B-B14F-4D97-AF65-F5344CB8AC3E}">
        <p14:creationId xmlns:p14="http://schemas.microsoft.com/office/powerpoint/2010/main" val="1033139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E0A3D-16A4-EB87-4287-10F9582B278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ACBDB481-9080-BD25-D0FF-C0B4C78D4590}"/>
              </a:ext>
            </a:extLst>
          </p:cNvPr>
          <p:cNvSpPr>
            <a:spLocks noGrp="1"/>
          </p:cNvSpPr>
          <p:nvPr>
            <p:ph idx="1"/>
          </p:nvPr>
        </p:nvSpPr>
        <p:spPr/>
        <p:txBody>
          <a:bodyPr>
            <a:normAutofit fontScale="47500" lnSpcReduction="20000"/>
          </a:bodyPr>
          <a:lstStyle/>
          <a:p>
            <a:pPr marL="0" indent="0">
              <a:buNone/>
            </a:pPr>
            <a:r>
              <a:rPr lang="en-US" dirty="0"/>
              <a:t>Let's say you’re working on a software development project, and your team needs to estimate the effort for several user stories. Instead of estimating in hours or days, you use T-shirt sizes to compare their complexity relative to each other.</a:t>
            </a:r>
          </a:p>
          <a:p>
            <a:r>
              <a:rPr lang="en-US" b="1" dirty="0"/>
              <a:t>User Story 1: Implement Login Functionality</a:t>
            </a:r>
            <a:endParaRPr lang="en-US" dirty="0"/>
          </a:p>
          <a:p>
            <a:pPr lvl="1"/>
            <a:r>
              <a:rPr lang="en-US" b="1" dirty="0"/>
              <a:t>T-shirt Size:</a:t>
            </a:r>
            <a:r>
              <a:rPr lang="en-US" dirty="0"/>
              <a:t> M (Medium)</a:t>
            </a:r>
          </a:p>
          <a:p>
            <a:pPr lvl="1"/>
            <a:r>
              <a:rPr lang="en-US" b="1" dirty="0"/>
              <a:t>Reasoning:</a:t>
            </a:r>
            <a:r>
              <a:rPr lang="en-US" dirty="0"/>
              <a:t> This involves a standard implementation, including user authentication, password handling, and basic UI. It’s a moderate amount of work but well-understood.</a:t>
            </a:r>
          </a:p>
          <a:p>
            <a:r>
              <a:rPr lang="en-US" b="1" dirty="0"/>
              <a:t>User Story 2: Create User Profile Page</a:t>
            </a:r>
            <a:endParaRPr lang="en-US" dirty="0"/>
          </a:p>
          <a:p>
            <a:pPr lvl="1"/>
            <a:r>
              <a:rPr lang="en-US" b="1" dirty="0"/>
              <a:t>T-shirt Size:</a:t>
            </a:r>
            <a:r>
              <a:rPr lang="en-US" dirty="0"/>
              <a:t> L (Large)</a:t>
            </a:r>
          </a:p>
          <a:p>
            <a:pPr lvl="1"/>
            <a:r>
              <a:rPr lang="en-US" b="1" dirty="0"/>
              <a:t>Reasoning:</a:t>
            </a:r>
            <a:r>
              <a:rPr lang="en-US" dirty="0"/>
              <a:t> It’s a bit more complex as it requires integrating data from the backend, handling user input, and possibly adding a photo upload feature. The UI design could be more complicated too.</a:t>
            </a:r>
          </a:p>
          <a:p>
            <a:r>
              <a:rPr lang="en-US" b="1" dirty="0"/>
              <a:t>User Story 3: Integrate with Payment Gateway</a:t>
            </a:r>
            <a:endParaRPr lang="en-US" dirty="0"/>
          </a:p>
          <a:p>
            <a:pPr lvl="1"/>
            <a:r>
              <a:rPr lang="en-US" b="1" dirty="0"/>
              <a:t>T-shirt Size:</a:t>
            </a:r>
            <a:r>
              <a:rPr lang="en-US" dirty="0"/>
              <a:t> XL (Extra Large)</a:t>
            </a:r>
          </a:p>
          <a:p>
            <a:pPr lvl="1"/>
            <a:r>
              <a:rPr lang="en-US" b="1" dirty="0"/>
              <a:t>Reasoning:</a:t>
            </a:r>
            <a:r>
              <a:rPr lang="en-US" dirty="0"/>
              <a:t> This requires working with external APIs, handling sensitive information securely, and thorough testing. It’s a much more complex task than the others.</a:t>
            </a:r>
          </a:p>
          <a:p>
            <a:r>
              <a:rPr lang="en-US" b="1" dirty="0"/>
              <a:t>User Story 4: Update UI for Dashboard</a:t>
            </a:r>
            <a:endParaRPr lang="en-US" dirty="0"/>
          </a:p>
          <a:p>
            <a:pPr lvl="1"/>
            <a:r>
              <a:rPr lang="en-US" b="1" dirty="0"/>
              <a:t>T-shirt Size:</a:t>
            </a:r>
            <a:r>
              <a:rPr lang="en-US" dirty="0"/>
              <a:t> S (Small)</a:t>
            </a:r>
          </a:p>
          <a:p>
            <a:pPr lvl="1"/>
            <a:r>
              <a:rPr lang="en-US" b="1" dirty="0"/>
              <a:t>Reasoning:</a:t>
            </a:r>
            <a:r>
              <a:rPr lang="en-US" dirty="0"/>
              <a:t> Minor updates to the UI, such as changing the color scheme or rearranging elements. It’s a small effort in terms of development time.</a:t>
            </a:r>
          </a:p>
          <a:p>
            <a:r>
              <a:rPr lang="en-US" b="1" dirty="0"/>
              <a:t>User Story 5: Add Multi-Language Support</a:t>
            </a:r>
            <a:endParaRPr lang="en-US" dirty="0"/>
          </a:p>
          <a:p>
            <a:pPr lvl="1"/>
            <a:r>
              <a:rPr lang="en-US" b="1" dirty="0"/>
              <a:t>T-shirt Size:</a:t>
            </a:r>
            <a:r>
              <a:rPr lang="en-US" dirty="0"/>
              <a:t> L (Large)</a:t>
            </a:r>
          </a:p>
          <a:p>
            <a:pPr lvl="1"/>
            <a:r>
              <a:rPr lang="en-US" b="1" dirty="0"/>
              <a:t>Reasoning:</a:t>
            </a:r>
            <a:r>
              <a:rPr lang="en-US" dirty="0"/>
              <a:t> This involves both backend and frontend changes, translating content, ensuring that the app works in different languages, and testing the localization. It’s not as big as the payment gateway integration but still significant.</a:t>
            </a:r>
          </a:p>
          <a:p>
            <a:pPr marL="0" indent="0">
              <a:buNone/>
            </a:pPr>
            <a:endParaRPr lang="en-US" dirty="0"/>
          </a:p>
        </p:txBody>
      </p:sp>
    </p:spTree>
    <p:extLst>
      <p:ext uri="{BB962C8B-B14F-4D97-AF65-F5344CB8AC3E}">
        <p14:creationId xmlns:p14="http://schemas.microsoft.com/office/powerpoint/2010/main" val="2623798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678D8-0BF9-DA6E-9E92-1B121C7E0CE3}"/>
              </a:ext>
            </a:extLst>
          </p:cNvPr>
          <p:cNvSpPr>
            <a:spLocks noGrp="1"/>
          </p:cNvSpPr>
          <p:nvPr>
            <p:ph type="title"/>
          </p:nvPr>
        </p:nvSpPr>
        <p:spPr/>
        <p:txBody>
          <a:bodyPr/>
          <a:lstStyle/>
          <a:p>
            <a:r>
              <a:rPr lang="en-US" dirty="0"/>
              <a:t>Story Point Estimation</a:t>
            </a:r>
          </a:p>
        </p:txBody>
      </p:sp>
      <p:sp>
        <p:nvSpPr>
          <p:cNvPr id="3" name="Content Placeholder 2">
            <a:extLst>
              <a:ext uri="{FF2B5EF4-FFF2-40B4-BE49-F238E27FC236}">
                <a16:creationId xmlns:a16="http://schemas.microsoft.com/office/drawing/2014/main" id="{F9273CEA-2877-E810-2E5B-6F28730BF0D2}"/>
              </a:ext>
            </a:extLst>
          </p:cNvPr>
          <p:cNvSpPr>
            <a:spLocks noGrp="1"/>
          </p:cNvSpPr>
          <p:nvPr>
            <p:ph idx="1"/>
          </p:nvPr>
        </p:nvSpPr>
        <p:spPr/>
        <p:txBody>
          <a:bodyPr>
            <a:normAutofit fontScale="55000" lnSpcReduction="20000"/>
          </a:bodyPr>
          <a:lstStyle/>
          <a:p>
            <a:pPr marL="0" indent="0">
              <a:buNone/>
            </a:pPr>
            <a:r>
              <a:rPr lang="en-US" dirty="0"/>
              <a:t>Story point estimation is used in </a:t>
            </a:r>
            <a:r>
              <a:rPr lang="en-US" b="1" dirty="0"/>
              <a:t>Agile projects</a:t>
            </a:r>
            <a:r>
              <a:rPr lang="en-US" dirty="0"/>
              <a:t>. It assigns a </a:t>
            </a:r>
            <a:r>
              <a:rPr lang="en-US" b="1" dirty="0"/>
              <a:t>numerical value</a:t>
            </a:r>
            <a:r>
              <a:rPr lang="en-US" dirty="0"/>
              <a:t> to a user story or task based on its complexity, rather than its exact time or cost. Story size estimation is a key part of Agile project management where teams estimate the effort or complexity of a user story, typically using </a:t>
            </a:r>
            <a:r>
              <a:rPr lang="en-US" b="1" dirty="0"/>
              <a:t>Story Points</a:t>
            </a:r>
            <a:r>
              <a:rPr lang="en-US" dirty="0"/>
              <a:t>. Unlike T-shirt sizing (which is more about relative size), </a:t>
            </a:r>
            <a:r>
              <a:rPr lang="en-US" b="1" dirty="0"/>
              <a:t>Story Points</a:t>
            </a:r>
            <a:r>
              <a:rPr lang="en-US" dirty="0"/>
              <a:t> are a more granular way to measure effort based on complexity, time, or work required.</a:t>
            </a:r>
          </a:p>
          <a:p>
            <a:pPr marL="0" indent="0">
              <a:buNone/>
            </a:pPr>
            <a:r>
              <a:rPr lang="en-US" dirty="0"/>
              <a:t>In Agile, this is usually done using techniques like </a:t>
            </a:r>
            <a:r>
              <a:rPr lang="en-US" b="1" dirty="0"/>
              <a:t>Planning Poker</a:t>
            </a:r>
            <a:r>
              <a:rPr lang="en-US" dirty="0"/>
              <a:t>, where each team member independently estimates a user story, and then they discuss and converge on a final estimate.</a:t>
            </a:r>
          </a:p>
          <a:p>
            <a:r>
              <a:rPr lang="en-US" dirty="0"/>
              <a:t>The most common story point scales are:</a:t>
            </a:r>
          </a:p>
          <a:p>
            <a:pPr lvl="1"/>
            <a:r>
              <a:rPr lang="en-US" b="1" dirty="0"/>
              <a:t>1</a:t>
            </a:r>
            <a:r>
              <a:rPr lang="en-US" dirty="0"/>
              <a:t>: Very small effort (often a task that can be completed in a couple of hours)</a:t>
            </a:r>
          </a:p>
          <a:p>
            <a:pPr lvl="1"/>
            <a:r>
              <a:rPr lang="en-US" b="1" dirty="0"/>
              <a:t>2-3</a:t>
            </a:r>
            <a:r>
              <a:rPr lang="en-US" dirty="0"/>
              <a:t>: Small but slightly more complex (a few hours to a day of work)</a:t>
            </a:r>
          </a:p>
          <a:p>
            <a:pPr lvl="1"/>
            <a:r>
              <a:rPr lang="en-US" b="1" dirty="0"/>
              <a:t>5-8</a:t>
            </a:r>
            <a:r>
              <a:rPr lang="en-US" dirty="0"/>
              <a:t>: Medium effort (could take 1-2 days, involves more detailed work)</a:t>
            </a:r>
          </a:p>
          <a:p>
            <a:pPr lvl="1"/>
            <a:r>
              <a:rPr lang="en-US" b="1" dirty="0"/>
              <a:t>13-20</a:t>
            </a:r>
            <a:r>
              <a:rPr lang="en-US" dirty="0"/>
              <a:t>: Large effort (a few days to a week of work, often involves multiple people or departments)</a:t>
            </a:r>
          </a:p>
          <a:p>
            <a:pPr lvl="1"/>
            <a:r>
              <a:rPr lang="en-US" b="1" dirty="0"/>
              <a:t>40+</a:t>
            </a:r>
            <a:r>
              <a:rPr lang="en-US" dirty="0"/>
              <a:t>: Extra large (could be weeks of work or requires a lot of coordination)</a:t>
            </a:r>
          </a:p>
          <a:p>
            <a:r>
              <a:rPr lang="en-US" b="1" dirty="0"/>
              <a:t>Example</a:t>
            </a:r>
            <a:r>
              <a:rPr lang="en-US" dirty="0"/>
              <a:t>:</a:t>
            </a:r>
          </a:p>
          <a:p>
            <a:pPr lvl="1"/>
            <a:r>
              <a:rPr lang="en-US" dirty="0"/>
              <a:t>A simple task might be given </a:t>
            </a:r>
            <a:r>
              <a:rPr lang="en-US" b="1" dirty="0"/>
              <a:t>3 story points</a:t>
            </a:r>
            <a:r>
              <a:rPr lang="en-US" dirty="0"/>
              <a:t>.</a:t>
            </a:r>
          </a:p>
          <a:p>
            <a:pPr lvl="1"/>
            <a:r>
              <a:rPr lang="en-US" dirty="0"/>
              <a:t>A more complex task might be given </a:t>
            </a:r>
            <a:r>
              <a:rPr lang="en-US" b="1" dirty="0"/>
              <a:t>8 story points</a:t>
            </a:r>
            <a:r>
              <a:rPr lang="en-US" dirty="0"/>
              <a:t>.</a:t>
            </a:r>
          </a:p>
          <a:p>
            <a:pPr lvl="1"/>
            <a:r>
              <a:rPr lang="en-US" dirty="0"/>
              <a:t>A very complex task might be assigned </a:t>
            </a:r>
            <a:r>
              <a:rPr lang="en-US" b="1" dirty="0"/>
              <a:t>13 story points</a:t>
            </a:r>
            <a:r>
              <a:rPr lang="en-US" dirty="0"/>
              <a:t>.</a:t>
            </a:r>
          </a:p>
          <a:p>
            <a:r>
              <a:rPr lang="en-US" b="1" dirty="0"/>
              <a:t>Advantages:</a:t>
            </a:r>
          </a:p>
          <a:p>
            <a:pPr lvl="1"/>
            <a:r>
              <a:rPr lang="en-US" dirty="0"/>
              <a:t>Focuses on </a:t>
            </a:r>
            <a:r>
              <a:rPr lang="en-US" b="1" dirty="0"/>
              <a:t>relative effort</a:t>
            </a:r>
            <a:r>
              <a:rPr lang="en-US" dirty="0"/>
              <a:t> rather than absolute time</a:t>
            </a:r>
          </a:p>
          <a:p>
            <a:pPr lvl="1"/>
            <a:r>
              <a:rPr lang="en-US" dirty="0"/>
              <a:t>Facilitates </a:t>
            </a:r>
            <a:r>
              <a:rPr lang="en-US" b="1" dirty="0"/>
              <a:t>team collaboration</a:t>
            </a:r>
            <a:r>
              <a:rPr lang="en-US" dirty="0"/>
              <a:t> and discussion</a:t>
            </a:r>
          </a:p>
          <a:p>
            <a:endParaRPr lang="en-US" dirty="0"/>
          </a:p>
        </p:txBody>
      </p:sp>
    </p:spTree>
    <p:extLst>
      <p:ext uri="{BB962C8B-B14F-4D97-AF65-F5344CB8AC3E}">
        <p14:creationId xmlns:p14="http://schemas.microsoft.com/office/powerpoint/2010/main" val="1701373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12525-49AF-A7FB-349F-016090FB71F3}"/>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3B6A96F0-949C-FF16-0FB5-CB63FF9A3191}"/>
              </a:ext>
            </a:extLst>
          </p:cNvPr>
          <p:cNvSpPr>
            <a:spLocks noGrp="1"/>
          </p:cNvSpPr>
          <p:nvPr>
            <p:ph idx="1"/>
          </p:nvPr>
        </p:nvSpPr>
        <p:spPr/>
        <p:txBody>
          <a:bodyPr>
            <a:normAutofit fontScale="40000" lnSpcReduction="20000"/>
          </a:bodyPr>
          <a:lstStyle/>
          <a:p>
            <a:pPr marL="0" indent="0">
              <a:buNone/>
            </a:pPr>
            <a:r>
              <a:rPr lang="en-US" b="1" dirty="0"/>
              <a:t>Example: Story Size Estimation in an IT Project</a:t>
            </a:r>
          </a:p>
          <a:p>
            <a:pPr marL="0" indent="0">
              <a:buNone/>
            </a:pPr>
            <a:r>
              <a:rPr lang="en-US" dirty="0"/>
              <a:t>Let's say you're working on an </a:t>
            </a:r>
            <a:r>
              <a:rPr lang="en-US" b="1" dirty="0"/>
              <a:t>e-commerce website</a:t>
            </a:r>
            <a:r>
              <a:rPr lang="en-US" dirty="0"/>
              <a:t> and need to estimate several user stories. The stories have different levels of complexity, and the team needs to assign story points to help gauge the overall effort needed for the sprint.</a:t>
            </a:r>
          </a:p>
          <a:p>
            <a:r>
              <a:rPr lang="en-US" b="1" dirty="0"/>
              <a:t>1. User Story: "As a user, I want to be able to register for an account so I can save my cart and preferences."</a:t>
            </a:r>
          </a:p>
          <a:p>
            <a:pPr lvl="1"/>
            <a:r>
              <a:rPr lang="en-US" b="1" dirty="0"/>
              <a:t>Story Points:</a:t>
            </a:r>
            <a:r>
              <a:rPr lang="en-US" dirty="0"/>
              <a:t> </a:t>
            </a:r>
            <a:r>
              <a:rPr lang="en-US" b="1" dirty="0"/>
              <a:t>5</a:t>
            </a:r>
            <a:endParaRPr lang="en-US" dirty="0"/>
          </a:p>
          <a:p>
            <a:pPr lvl="1"/>
            <a:r>
              <a:rPr lang="en-US" b="1" dirty="0"/>
              <a:t>Reasoning:</a:t>
            </a:r>
            <a:r>
              <a:rPr lang="en-US" dirty="0"/>
              <a:t> This is a straightforward feature, but it involves both front-end (UI) and back-end (user management) work. It may require some integration with a database and testing, but it's a common and fairly simple task for the team.</a:t>
            </a:r>
          </a:p>
          <a:p>
            <a:r>
              <a:rPr lang="en-US" b="1" dirty="0"/>
              <a:t>2. User Story: "As a user, I want to be able to filter products by category, price range, and rating."</a:t>
            </a:r>
          </a:p>
          <a:p>
            <a:pPr lvl="1"/>
            <a:r>
              <a:rPr lang="en-US" b="1" dirty="0"/>
              <a:t>Story Points:</a:t>
            </a:r>
            <a:r>
              <a:rPr lang="en-US" dirty="0"/>
              <a:t> </a:t>
            </a:r>
            <a:r>
              <a:rPr lang="en-US" b="1" dirty="0"/>
              <a:t>8</a:t>
            </a:r>
            <a:endParaRPr lang="en-US" dirty="0"/>
          </a:p>
          <a:p>
            <a:pPr lvl="1"/>
            <a:r>
              <a:rPr lang="en-US" b="1" dirty="0"/>
              <a:t>Reasoning:</a:t>
            </a:r>
            <a:r>
              <a:rPr lang="en-US" dirty="0"/>
              <a:t> This involves creating multiple filters and ensuring they work with the database. There's complexity in terms of handling different types of filters, making sure the UI is responsive, and ensuring performance with large datasets. The user experience also needs to be tested across devices.</a:t>
            </a:r>
          </a:p>
          <a:p>
            <a:r>
              <a:rPr lang="en-US" b="1" dirty="0"/>
              <a:t>3. User Story: "As an admin, I want to be able to view reports of all user activity on the platform, including purchases and login times."</a:t>
            </a:r>
          </a:p>
          <a:p>
            <a:pPr lvl="1"/>
            <a:r>
              <a:rPr lang="en-US" b="1" dirty="0"/>
              <a:t>Story Points:</a:t>
            </a:r>
            <a:r>
              <a:rPr lang="en-US" dirty="0"/>
              <a:t> </a:t>
            </a:r>
            <a:r>
              <a:rPr lang="en-US" b="1" dirty="0"/>
              <a:t>13</a:t>
            </a:r>
            <a:endParaRPr lang="en-US" dirty="0"/>
          </a:p>
          <a:p>
            <a:pPr lvl="1"/>
            <a:r>
              <a:rPr lang="en-US" b="1" dirty="0"/>
              <a:t>Reasoning:</a:t>
            </a:r>
            <a:r>
              <a:rPr lang="en-US" dirty="0"/>
              <a:t> This involves not just building a front-end interface for the admin to view the data but also complex back-end work like aggregating and processing user data. You’ll also need to consider security, performance, and integration with existing reporting tools or data pipelines.</a:t>
            </a:r>
          </a:p>
          <a:p>
            <a:r>
              <a:rPr lang="en-US" b="1" dirty="0"/>
              <a:t>4. User Story: "As a user, I want to be able to apply a discount code at checkout."</a:t>
            </a:r>
          </a:p>
          <a:p>
            <a:pPr lvl="1"/>
            <a:r>
              <a:rPr lang="en-US" b="1" dirty="0"/>
              <a:t>Story Points:</a:t>
            </a:r>
            <a:r>
              <a:rPr lang="en-US" dirty="0"/>
              <a:t> </a:t>
            </a:r>
            <a:r>
              <a:rPr lang="en-US" b="1" dirty="0"/>
              <a:t>3</a:t>
            </a:r>
            <a:endParaRPr lang="en-US" dirty="0"/>
          </a:p>
          <a:p>
            <a:pPr lvl="1"/>
            <a:r>
              <a:rPr lang="en-US" b="1" dirty="0"/>
              <a:t>Reasoning:</a:t>
            </a:r>
            <a:r>
              <a:rPr lang="en-US" dirty="0"/>
              <a:t> It’s relatively simple in terms of logic (validating the discount code, applying the discount) but still involves both front-end and back-end work. This is a typical functionality in many e-commerce platforms, so it's a bit less complex compared to others.</a:t>
            </a:r>
          </a:p>
          <a:p>
            <a:r>
              <a:rPr lang="en-US" b="1" dirty="0"/>
              <a:t>5. User Story: "As a user, I want to receive an email confirmation after my order has been placed."</a:t>
            </a:r>
          </a:p>
          <a:p>
            <a:pPr lvl="1"/>
            <a:r>
              <a:rPr lang="en-US" b="1" dirty="0"/>
              <a:t>Story Points:</a:t>
            </a:r>
            <a:r>
              <a:rPr lang="en-US" dirty="0"/>
              <a:t> </a:t>
            </a:r>
            <a:r>
              <a:rPr lang="en-US" b="1" dirty="0"/>
              <a:t>2</a:t>
            </a:r>
            <a:endParaRPr lang="en-US" dirty="0"/>
          </a:p>
          <a:p>
            <a:pPr lvl="1"/>
            <a:r>
              <a:rPr lang="en-US" b="1" dirty="0"/>
              <a:t>Reasoning:</a:t>
            </a:r>
            <a:r>
              <a:rPr lang="en-US" dirty="0"/>
              <a:t> This is a simple feature that only requires integration with an email service and possibly updating user preferences. The complexity is low, and the task could be completed relatively quickly.</a:t>
            </a:r>
          </a:p>
          <a:p>
            <a:endParaRPr lang="en-US" dirty="0"/>
          </a:p>
        </p:txBody>
      </p:sp>
    </p:spTree>
    <p:extLst>
      <p:ext uri="{BB962C8B-B14F-4D97-AF65-F5344CB8AC3E}">
        <p14:creationId xmlns:p14="http://schemas.microsoft.com/office/powerpoint/2010/main" val="1661661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A34C1-41F4-E33A-5B42-FFBEC3C4C6A6}"/>
              </a:ext>
            </a:extLst>
          </p:cNvPr>
          <p:cNvSpPr>
            <a:spLocks noGrp="1"/>
          </p:cNvSpPr>
          <p:nvPr>
            <p:ph type="title"/>
          </p:nvPr>
        </p:nvSpPr>
        <p:spPr/>
        <p:txBody>
          <a:bodyPr/>
          <a:lstStyle/>
          <a:p>
            <a:r>
              <a:rPr lang="en-US" dirty="0"/>
              <a:t>How Estimation Works in Practice</a:t>
            </a:r>
          </a:p>
        </p:txBody>
      </p:sp>
      <p:sp>
        <p:nvSpPr>
          <p:cNvPr id="3" name="Content Placeholder 2">
            <a:extLst>
              <a:ext uri="{FF2B5EF4-FFF2-40B4-BE49-F238E27FC236}">
                <a16:creationId xmlns:a16="http://schemas.microsoft.com/office/drawing/2014/main" id="{8C439694-DA72-F264-BCDC-F0BAF8F5E57A}"/>
              </a:ext>
            </a:extLst>
          </p:cNvPr>
          <p:cNvSpPr>
            <a:spLocks noGrp="1"/>
          </p:cNvSpPr>
          <p:nvPr>
            <p:ph idx="1"/>
          </p:nvPr>
        </p:nvSpPr>
        <p:spPr/>
        <p:txBody>
          <a:bodyPr>
            <a:normAutofit fontScale="62500" lnSpcReduction="20000"/>
          </a:bodyPr>
          <a:lstStyle/>
          <a:p>
            <a:r>
              <a:rPr lang="en-US" b="1" dirty="0"/>
              <a:t>Initial Estimation:</a:t>
            </a:r>
            <a:endParaRPr lang="en-US" dirty="0"/>
          </a:p>
          <a:p>
            <a:pPr lvl="1"/>
            <a:r>
              <a:rPr lang="en-US" dirty="0"/>
              <a:t>Each story is discussed in the </a:t>
            </a:r>
            <a:r>
              <a:rPr lang="en-US" b="1" dirty="0"/>
              <a:t>backlog grooming</a:t>
            </a:r>
            <a:r>
              <a:rPr lang="en-US" dirty="0"/>
              <a:t> or </a:t>
            </a:r>
            <a:r>
              <a:rPr lang="en-US" b="1" dirty="0"/>
              <a:t>planning meeting</a:t>
            </a:r>
            <a:r>
              <a:rPr lang="en-US" dirty="0"/>
              <a:t>.</a:t>
            </a:r>
          </a:p>
          <a:p>
            <a:pPr lvl="1"/>
            <a:r>
              <a:rPr lang="en-US" dirty="0"/>
              <a:t>The </a:t>
            </a:r>
            <a:r>
              <a:rPr lang="en-US" b="1" dirty="0"/>
              <a:t>team</a:t>
            </a:r>
            <a:r>
              <a:rPr lang="en-US" dirty="0"/>
              <a:t> looks at the requirements and starts to assign story points. In most cases, the first few stories are straightforward.</a:t>
            </a:r>
          </a:p>
          <a:p>
            <a:r>
              <a:rPr lang="en-US" b="1" dirty="0"/>
              <a:t>Estimation with Planning Poker (or other methods):</a:t>
            </a:r>
            <a:endParaRPr lang="en-US" dirty="0"/>
          </a:p>
          <a:p>
            <a:pPr lvl="1"/>
            <a:r>
              <a:rPr lang="en-US" dirty="0"/>
              <a:t>Each team member has a set of cards with numbers representing story points (often Fibonacci sequence like 1, 2, 3, 5, 8, 13, etc.).</a:t>
            </a:r>
          </a:p>
          <a:p>
            <a:pPr lvl="1"/>
            <a:r>
              <a:rPr lang="en-US" dirty="0"/>
              <a:t>The team discusses the user story and each member privately chooses a card representing their estimate.</a:t>
            </a:r>
          </a:p>
          <a:p>
            <a:pPr lvl="1"/>
            <a:r>
              <a:rPr lang="en-US" dirty="0"/>
              <a:t>Once all cards are shown, if there’s a big discrepancy, the team discusses their reasoning and comes to a consensus.</a:t>
            </a:r>
          </a:p>
          <a:p>
            <a:r>
              <a:rPr lang="en-US" b="1" dirty="0"/>
              <a:t>Relative Estimation:</a:t>
            </a:r>
            <a:endParaRPr lang="en-US" dirty="0"/>
          </a:p>
          <a:p>
            <a:pPr lvl="1"/>
            <a:r>
              <a:rPr lang="en-US" dirty="0"/>
              <a:t>The estimates are relative — meaning you’re comparing the complexity of a new story with others that have already been estimated.</a:t>
            </a:r>
          </a:p>
          <a:p>
            <a:pPr lvl="1"/>
            <a:r>
              <a:rPr lang="en-US" dirty="0"/>
              <a:t>For example, if a user story feels like it will take "about the same amount of effort" as the "register for account" story, it might get the same number of points.</a:t>
            </a:r>
          </a:p>
          <a:p>
            <a:r>
              <a:rPr lang="en-US" b="1" dirty="0"/>
              <a:t>Review and Adjust:</a:t>
            </a:r>
            <a:endParaRPr lang="en-US" dirty="0"/>
          </a:p>
          <a:p>
            <a:pPr lvl="1"/>
            <a:r>
              <a:rPr lang="en-US" dirty="0"/>
              <a:t>Over time, you will refine your estimates based on experience. As you progress through sprints, you may adjust the initial story points as you gather more data on how long tasks typically take.</a:t>
            </a:r>
          </a:p>
          <a:p>
            <a:endParaRPr lang="en-US" dirty="0"/>
          </a:p>
        </p:txBody>
      </p:sp>
    </p:spTree>
    <p:extLst>
      <p:ext uri="{BB962C8B-B14F-4D97-AF65-F5344CB8AC3E}">
        <p14:creationId xmlns:p14="http://schemas.microsoft.com/office/powerpoint/2010/main" val="1565635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CD92B-18FF-9A8B-4493-A6028BF3BAE0}"/>
              </a:ext>
            </a:extLst>
          </p:cNvPr>
          <p:cNvSpPr>
            <a:spLocks noGrp="1"/>
          </p:cNvSpPr>
          <p:nvPr>
            <p:ph type="title"/>
          </p:nvPr>
        </p:nvSpPr>
        <p:spPr/>
        <p:txBody>
          <a:bodyPr/>
          <a:lstStyle/>
          <a:p>
            <a:r>
              <a:rPr lang="en-US" dirty="0"/>
              <a:t>Planning Cost Management</a:t>
            </a:r>
          </a:p>
        </p:txBody>
      </p:sp>
      <p:sp>
        <p:nvSpPr>
          <p:cNvPr id="3" name="Content Placeholder 2">
            <a:extLst>
              <a:ext uri="{FF2B5EF4-FFF2-40B4-BE49-F238E27FC236}">
                <a16:creationId xmlns:a16="http://schemas.microsoft.com/office/drawing/2014/main" id="{8C2789BC-1B84-0B1A-0CEF-6AA4FC4F6372}"/>
              </a:ext>
            </a:extLst>
          </p:cNvPr>
          <p:cNvSpPr>
            <a:spLocks noGrp="1"/>
          </p:cNvSpPr>
          <p:nvPr>
            <p:ph idx="1"/>
          </p:nvPr>
        </p:nvSpPr>
        <p:spPr/>
        <p:txBody>
          <a:bodyPr/>
          <a:lstStyle/>
          <a:p>
            <a:pPr marL="0" indent="0">
              <a:buNone/>
            </a:pPr>
            <a:r>
              <a:rPr lang="en-US" dirty="0"/>
              <a:t>Planning cost management involves defining how project costs will be </a:t>
            </a:r>
            <a:r>
              <a:rPr lang="en-US" b="1" dirty="0"/>
              <a:t>planned, structured, and controlled</a:t>
            </a:r>
            <a:r>
              <a:rPr lang="en-US" dirty="0"/>
              <a:t>. It includes creating the </a:t>
            </a:r>
            <a:r>
              <a:rPr lang="en-US" b="1" dirty="0"/>
              <a:t>Cost Management Plan</a:t>
            </a:r>
            <a:r>
              <a:rPr lang="en-US" dirty="0"/>
              <a:t>, which outlines:</a:t>
            </a:r>
          </a:p>
          <a:p>
            <a:r>
              <a:rPr lang="en-US" dirty="0"/>
              <a:t>Cost estimating methods</a:t>
            </a:r>
          </a:p>
          <a:p>
            <a:r>
              <a:rPr lang="en-US" dirty="0"/>
              <a:t>Budgeting process</a:t>
            </a:r>
          </a:p>
          <a:p>
            <a:r>
              <a:rPr lang="en-US" dirty="0"/>
              <a:t>Cost control procedures</a:t>
            </a:r>
          </a:p>
          <a:p>
            <a:endParaRPr lang="en-US" dirty="0"/>
          </a:p>
        </p:txBody>
      </p:sp>
    </p:spTree>
    <p:extLst>
      <p:ext uri="{BB962C8B-B14F-4D97-AF65-F5344CB8AC3E}">
        <p14:creationId xmlns:p14="http://schemas.microsoft.com/office/powerpoint/2010/main" val="2751732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9D628-E250-653B-EE36-FC8830307B81}"/>
              </a:ext>
            </a:extLst>
          </p:cNvPr>
          <p:cNvSpPr>
            <a:spLocks noGrp="1"/>
          </p:cNvSpPr>
          <p:nvPr>
            <p:ph type="title"/>
          </p:nvPr>
        </p:nvSpPr>
        <p:spPr/>
        <p:txBody>
          <a:bodyPr/>
          <a:lstStyle/>
          <a:p>
            <a:r>
              <a:rPr lang="en-US" dirty="0"/>
              <a:t>Determining the Budget</a:t>
            </a:r>
          </a:p>
        </p:txBody>
      </p:sp>
      <p:sp>
        <p:nvSpPr>
          <p:cNvPr id="3" name="Content Placeholder 2">
            <a:extLst>
              <a:ext uri="{FF2B5EF4-FFF2-40B4-BE49-F238E27FC236}">
                <a16:creationId xmlns:a16="http://schemas.microsoft.com/office/drawing/2014/main" id="{C83F363D-4C5A-26B4-9CF6-BA595F65491D}"/>
              </a:ext>
            </a:extLst>
          </p:cNvPr>
          <p:cNvSpPr>
            <a:spLocks noGrp="1"/>
          </p:cNvSpPr>
          <p:nvPr>
            <p:ph idx="1"/>
          </p:nvPr>
        </p:nvSpPr>
        <p:spPr/>
        <p:txBody>
          <a:bodyPr>
            <a:normAutofit fontScale="85000" lnSpcReduction="20000"/>
          </a:bodyPr>
          <a:lstStyle/>
          <a:p>
            <a:r>
              <a:rPr lang="en-US" dirty="0"/>
              <a:t>Determining the budget is the process of aggregating cost estimates from all project activities and establishing an authorized cost baseline. It includes:</a:t>
            </a:r>
          </a:p>
          <a:p>
            <a:pPr lvl="1"/>
            <a:r>
              <a:rPr lang="en-US" dirty="0"/>
              <a:t>Direct costs</a:t>
            </a:r>
          </a:p>
          <a:p>
            <a:pPr lvl="1"/>
            <a:r>
              <a:rPr lang="en-US" dirty="0"/>
              <a:t>Contingency reserves</a:t>
            </a:r>
          </a:p>
          <a:p>
            <a:pPr lvl="1"/>
            <a:r>
              <a:rPr lang="en-US" dirty="0"/>
              <a:t>Management reserves</a:t>
            </a:r>
          </a:p>
          <a:p>
            <a:r>
              <a:rPr lang="en-US" b="1" dirty="0"/>
              <a:t>Steps:</a:t>
            </a:r>
          </a:p>
          <a:p>
            <a:pPr lvl="1"/>
            <a:r>
              <a:rPr lang="en-US" dirty="0"/>
              <a:t>Develop detailed cost estimates for each activity.</a:t>
            </a:r>
          </a:p>
          <a:p>
            <a:pPr lvl="1"/>
            <a:r>
              <a:rPr lang="en-US" dirty="0"/>
              <a:t>Aggregate the cost estimates.</a:t>
            </a:r>
          </a:p>
          <a:p>
            <a:pPr lvl="1"/>
            <a:r>
              <a:rPr lang="en-US" dirty="0"/>
              <a:t>Add contingency reserves to manage project risk.</a:t>
            </a:r>
          </a:p>
          <a:p>
            <a:pPr lvl="1"/>
            <a:r>
              <a:rPr lang="en-US" dirty="0"/>
              <a:t>Establish the project cost baseline.</a:t>
            </a:r>
          </a:p>
          <a:p>
            <a:r>
              <a:rPr lang="en-US" b="1" dirty="0"/>
              <a:t>Example:</a:t>
            </a:r>
          </a:p>
          <a:p>
            <a:pPr lvl="1"/>
            <a:r>
              <a:rPr lang="en-US" dirty="0"/>
              <a:t>For a software project, after estimating the costs for coding, testing, and deployment, the total cost is $200,000. Adding a contingency reserve of $30,000, the total project budget becomes $230,000.</a:t>
            </a:r>
          </a:p>
          <a:p>
            <a:endParaRPr lang="en-US" dirty="0"/>
          </a:p>
        </p:txBody>
      </p:sp>
    </p:spTree>
    <p:extLst>
      <p:ext uri="{BB962C8B-B14F-4D97-AF65-F5344CB8AC3E}">
        <p14:creationId xmlns:p14="http://schemas.microsoft.com/office/powerpoint/2010/main" val="349443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A2267-9DFD-BF22-EDBF-9299D3EC1C52}"/>
              </a:ext>
            </a:extLst>
          </p:cNvPr>
          <p:cNvSpPr>
            <a:spLocks noGrp="1"/>
          </p:cNvSpPr>
          <p:nvPr>
            <p:ph type="title"/>
          </p:nvPr>
        </p:nvSpPr>
        <p:spPr/>
        <p:txBody>
          <a:bodyPr/>
          <a:lstStyle/>
          <a:p>
            <a:r>
              <a:rPr lang="en-US" dirty="0"/>
              <a:t>Cost Control and Measures</a:t>
            </a:r>
          </a:p>
        </p:txBody>
      </p:sp>
      <p:sp>
        <p:nvSpPr>
          <p:cNvPr id="3" name="Content Placeholder 2">
            <a:extLst>
              <a:ext uri="{FF2B5EF4-FFF2-40B4-BE49-F238E27FC236}">
                <a16:creationId xmlns:a16="http://schemas.microsoft.com/office/drawing/2014/main" id="{332CDFDC-5B32-9035-5F6D-805153CE6134}"/>
              </a:ext>
            </a:extLst>
          </p:cNvPr>
          <p:cNvSpPr>
            <a:spLocks noGrp="1"/>
          </p:cNvSpPr>
          <p:nvPr>
            <p:ph idx="1"/>
          </p:nvPr>
        </p:nvSpPr>
        <p:spPr/>
        <p:txBody>
          <a:bodyPr>
            <a:normAutofit fontScale="62500" lnSpcReduction="20000"/>
          </a:bodyPr>
          <a:lstStyle/>
          <a:p>
            <a:r>
              <a:rPr lang="en-US" dirty="0"/>
              <a:t>Cost control involves monitoring project performance and taking corrective actions to ensure that the project remains within its budget. It includes tracking actual costs, forecasting future costs, and adjusting the budget as necessary.</a:t>
            </a:r>
          </a:p>
          <a:p>
            <a:r>
              <a:rPr lang="en-US" b="1" dirty="0"/>
              <a:t>Common Measures:</a:t>
            </a:r>
          </a:p>
          <a:p>
            <a:r>
              <a:rPr lang="en-US" b="1" dirty="0"/>
              <a:t>Cost Variance (CV)</a:t>
            </a:r>
            <a:r>
              <a:rPr lang="en-US" dirty="0"/>
              <a:t>:</a:t>
            </a:r>
          </a:p>
          <a:p>
            <a:r>
              <a:rPr lang="en-US" dirty="0"/>
              <a:t>CV = EV - AC</a:t>
            </a:r>
          </a:p>
          <a:p>
            <a:r>
              <a:rPr lang="en-US" dirty="0"/>
              <a:t>Where:</a:t>
            </a:r>
          </a:p>
          <a:p>
            <a:pPr lvl="1"/>
            <a:r>
              <a:rPr lang="en-US" b="1" dirty="0"/>
              <a:t>EV</a:t>
            </a:r>
            <a:r>
              <a:rPr lang="en-US" dirty="0"/>
              <a:t> = Earned Value</a:t>
            </a:r>
          </a:p>
          <a:p>
            <a:pPr lvl="1"/>
            <a:r>
              <a:rPr lang="en-US" b="1" dirty="0"/>
              <a:t>AC</a:t>
            </a:r>
            <a:r>
              <a:rPr lang="en-US" dirty="0"/>
              <a:t> = Actual Cost</a:t>
            </a:r>
          </a:p>
          <a:p>
            <a:r>
              <a:rPr lang="en-US" b="1" dirty="0"/>
              <a:t>Schedule Variance (SV)</a:t>
            </a:r>
            <a:r>
              <a:rPr lang="en-US" dirty="0"/>
              <a:t>:</a:t>
            </a:r>
          </a:p>
          <a:p>
            <a:r>
              <a:rPr lang="en-US" dirty="0"/>
              <a:t>SV = EV - PV</a:t>
            </a:r>
          </a:p>
          <a:p>
            <a:r>
              <a:rPr lang="en-US" b="1" dirty="0"/>
              <a:t>Cost Performance Index (CPI)</a:t>
            </a:r>
            <a:r>
              <a:rPr lang="en-US" dirty="0"/>
              <a:t>:</a:t>
            </a:r>
          </a:p>
          <a:p>
            <a:r>
              <a:rPr lang="en-US" dirty="0"/>
              <a:t>CPI = EV / AC</a:t>
            </a:r>
          </a:p>
          <a:p>
            <a:r>
              <a:rPr lang="en-US" b="1" dirty="0"/>
              <a:t>Schedule Performance Index (SPI)</a:t>
            </a:r>
            <a:r>
              <a:rPr lang="en-US" dirty="0"/>
              <a:t>:</a:t>
            </a:r>
          </a:p>
          <a:p>
            <a:r>
              <a:rPr lang="en-US" dirty="0"/>
              <a:t>SPI = EV / PV</a:t>
            </a:r>
          </a:p>
          <a:p>
            <a:endParaRPr lang="en-US" dirty="0"/>
          </a:p>
        </p:txBody>
      </p:sp>
    </p:spTree>
    <p:extLst>
      <p:ext uri="{BB962C8B-B14F-4D97-AF65-F5344CB8AC3E}">
        <p14:creationId xmlns:p14="http://schemas.microsoft.com/office/powerpoint/2010/main" val="3334543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E20B9-A949-9A91-0970-43AC09AE8804}"/>
              </a:ext>
            </a:extLst>
          </p:cNvPr>
          <p:cNvSpPr>
            <a:spLocks noGrp="1"/>
          </p:cNvSpPr>
          <p:nvPr>
            <p:ph type="title"/>
          </p:nvPr>
        </p:nvSpPr>
        <p:spPr/>
        <p:txBody>
          <a:bodyPr/>
          <a:lstStyle/>
          <a:p>
            <a:r>
              <a:rPr lang="en-US" dirty="0"/>
              <a:t>Earned Value Management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8C7748-ABE2-B862-975D-5383F65AB949}"/>
                  </a:ext>
                </a:extLst>
              </p:cNvPr>
              <p:cNvSpPr>
                <a:spLocks noGrp="1"/>
              </p:cNvSpPr>
              <p:nvPr>
                <p:ph idx="1"/>
              </p:nvPr>
            </p:nvSpPr>
            <p:spPr/>
            <p:txBody>
              <a:bodyPr>
                <a:normAutofit fontScale="62500" lnSpcReduction="20000"/>
              </a:bodyPr>
              <a:lstStyle/>
              <a:p>
                <a:r>
                  <a:rPr lang="en-US" b="1" dirty="0"/>
                  <a:t>Earned Value Management (EVM)</a:t>
                </a:r>
                <a:r>
                  <a:rPr lang="en-US" dirty="0"/>
                  <a:t> is a project management technique used to assess a project's performance by comparing the </a:t>
                </a:r>
                <a:r>
                  <a:rPr lang="en-US" b="1" dirty="0"/>
                  <a:t>planned progress</a:t>
                </a:r>
                <a:r>
                  <a:rPr lang="en-US" dirty="0"/>
                  <a:t> with the </a:t>
                </a:r>
                <a:r>
                  <a:rPr lang="en-US" b="1" dirty="0"/>
                  <a:t>actual progress</a:t>
                </a:r>
                <a:r>
                  <a:rPr lang="en-US" dirty="0"/>
                  <a:t> and the </a:t>
                </a:r>
                <a:r>
                  <a:rPr lang="en-US" b="1" dirty="0"/>
                  <a:t>work completed</a:t>
                </a:r>
                <a:r>
                  <a:rPr lang="en-US" dirty="0"/>
                  <a:t>. This allows project managers to understand whether the project is on track, behind schedule, or over budget.</a:t>
                </a:r>
              </a:p>
              <a:p>
                <a:r>
                  <a:rPr lang="en-US" b="1" dirty="0"/>
                  <a:t>Key EVM Metrics</a:t>
                </a:r>
              </a:p>
              <a:p>
                <a:r>
                  <a:rPr lang="en-US" dirty="0"/>
                  <a:t>Here are the core metrics in EVM:</a:t>
                </a:r>
              </a:p>
              <a:p>
                <a:r>
                  <a:rPr lang="en-US" b="1" dirty="0"/>
                  <a:t>Planned Value (PV)</a:t>
                </a:r>
                <a:r>
                  <a:rPr lang="en-US" dirty="0"/>
                  <a:t>: The value of the work that was planned to be completed by a certain point in time.</a:t>
                </a:r>
              </a:p>
              <a:p>
                <a:r>
                  <a:rPr lang="en-US" b="1" dirty="0"/>
                  <a:t>Earned Value (EV)</a:t>
                </a:r>
                <a:r>
                  <a:rPr lang="en-US" dirty="0"/>
                  <a:t>: The value of the work that has actually been completed by the same point in time.</a:t>
                </a:r>
              </a:p>
              <a:p>
                <a:r>
                  <a:rPr lang="en-US" b="1" dirty="0"/>
                  <a:t>Actual Cost (AC)</a:t>
                </a:r>
                <a:r>
                  <a:rPr lang="en-US" dirty="0"/>
                  <a:t>: The actual cost incurred for the work performed by the given point in time.</a:t>
                </a:r>
              </a:p>
              <a:p>
                <a:r>
                  <a:rPr lang="en-US" dirty="0"/>
                  <a:t>From these three, we derive the following indices:</a:t>
                </a:r>
              </a:p>
              <a:p>
                <a:r>
                  <a:rPr lang="en-US" b="1" dirty="0"/>
                  <a:t>Cost Variance (CV)</a:t>
                </a:r>
                <a:r>
                  <a:rPr lang="en-US" dirty="0"/>
                  <a:t>: Measures cost performance.</a:t>
                </a:r>
              </a:p>
              <a:p>
                <a14:m>
                  <m:oMath xmlns:m="http://schemas.openxmlformats.org/officeDocument/2006/math">
                    <m:r>
                      <a:rPr lang="en-US" i="1">
                        <a:latin typeface="Cambria Math" panose="02040503050406030204" pitchFamily="18" charset="0"/>
                      </a:rPr>
                      <m:t>𝐶𝑉</m:t>
                    </m:r>
                    <m:r>
                      <a:rPr lang="en-US">
                        <a:latin typeface="Cambria Math" panose="02040503050406030204" pitchFamily="18" charset="0"/>
                      </a:rPr>
                      <m:t>=</m:t>
                    </m:r>
                    <m:r>
                      <a:rPr lang="en-US" i="1">
                        <a:latin typeface="Cambria Math" panose="02040503050406030204" pitchFamily="18" charset="0"/>
                      </a:rPr>
                      <m:t>𝐸𝑉</m:t>
                    </m:r>
                    <m:r>
                      <a:rPr lang="en-US">
                        <a:latin typeface="Cambria Math" panose="02040503050406030204" pitchFamily="18" charset="0"/>
                      </a:rPr>
                      <m:t>−</m:t>
                    </m:r>
                    <m:r>
                      <a:rPr lang="en-US" i="1">
                        <a:latin typeface="Cambria Math" panose="02040503050406030204" pitchFamily="18" charset="0"/>
                      </a:rPr>
                      <m:t>𝐴𝐶</m:t>
                    </m:r>
                  </m:oMath>
                </a14:m>
                <a:endParaRPr lang="en-US" dirty="0"/>
              </a:p>
              <a:p>
                <a:pPr lvl="1"/>
                <a:r>
                  <a:rPr lang="en-US" dirty="0"/>
                  <a:t>If CV is positive, the project is under budget.</a:t>
                </a:r>
              </a:p>
              <a:p>
                <a:pPr lvl="1"/>
                <a:r>
                  <a:rPr lang="en-US" dirty="0"/>
                  <a:t>If CV is negative, the project is over budget.</a:t>
                </a:r>
              </a:p>
              <a:p>
                <a:endParaRPr lang="en-US" dirty="0"/>
              </a:p>
            </p:txBody>
          </p:sp>
        </mc:Choice>
        <mc:Fallback xmlns="">
          <p:sp>
            <p:nvSpPr>
              <p:cNvPr id="3" name="Content Placeholder 2">
                <a:extLst>
                  <a:ext uri="{FF2B5EF4-FFF2-40B4-BE49-F238E27FC236}">
                    <a16:creationId xmlns:a16="http://schemas.microsoft.com/office/drawing/2014/main" id="{208C7748-ABE2-B862-975D-5383F65AB949}"/>
                  </a:ext>
                </a:extLst>
              </p:cNvPr>
              <p:cNvSpPr>
                <a:spLocks noGrp="1" noRot="1" noChangeAspect="1" noMove="1" noResize="1" noEditPoints="1" noAdjustHandles="1" noChangeArrowheads="1" noChangeShapeType="1" noTextEdit="1"/>
              </p:cNvSpPr>
              <p:nvPr>
                <p:ph idx="1"/>
              </p:nvPr>
            </p:nvSpPr>
            <p:spPr>
              <a:blipFill>
                <a:blip r:embed="rId2"/>
                <a:stretch>
                  <a:fillRect l="-406" t="-2101"/>
                </a:stretch>
              </a:blipFill>
            </p:spPr>
            <p:txBody>
              <a:bodyPr/>
              <a:lstStyle/>
              <a:p>
                <a:r>
                  <a:rPr lang="en-US">
                    <a:noFill/>
                  </a:rPr>
                  <a:t> </a:t>
                </a:r>
              </a:p>
            </p:txBody>
          </p:sp>
        </mc:Fallback>
      </mc:AlternateContent>
    </p:spTree>
    <p:extLst>
      <p:ext uri="{BB962C8B-B14F-4D97-AF65-F5344CB8AC3E}">
        <p14:creationId xmlns:p14="http://schemas.microsoft.com/office/powerpoint/2010/main" val="1742054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349D6A-BDA1-316C-FA93-586CE7CF51DF}"/>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D45B19-58EA-343F-1CC1-6E0F650D2EB6}"/>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kern="1200">
                <a:solidFill>
                  <a:schemeClr val="tx1"/>
                </a:solidFill>
                <a:latin typeface="+mj-lt"/>
                <a:ea typeface="+mj-ea"/>
                <a:cs typeface="+mj-cs"/>
              </a:rPr>
              <a:t>Earned Value Management</a:t>
            </a:r>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D1B68C94-6B7C-9EE7-3310-30823BEED709}"/>
              </a:ext>
            </a:extLst>
          </p:cNvPr>
          <p:cNvPicPr>
            <a:picLocks noGrp="1" noChangeAspect="1"/>
          </p:cNvPicPr>
          <p:nvPr>
            <p:ph idx="1"/>
          </p:nvPr>
        </p:nvPicPr>
        <p:blipFill>
          <a:blip r:embed="rId2"/>
          <a:stretch>
            <a:fillRect/>
          </a:stretch>
        </p:blipFill>
        <p:spPr>
          <a:xfrm>
            <a:off x="4792598" y="640080"/>
            <a:ext cx="6938011" cy="5550408"/>
          </a:xfrm>
          <a:prstGeom prst="rect">
            <a:avLst/>
          </a:prstGeom>
        </p:spPr>
      </p:pic>
    </p:spTree>
    <p:extLst>
      <p:ext uri="{BB962C8B-B14F-4D97-AF65-F5344CB8AC3E}">
        <p14:creationId xmlns:p14="http://schemas.microsoft.com/office/powerpoint/2010/main" val="4272854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CCA9-7014-AAB3-D20C-3B70292464F8}"/>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9CFA7D-84FD-26A3-40E8-948897C4E511}"/>
                  </a:ext>
                </a:extLst>
              </p:cNvPr>
              <p:cNvSpPr>
                <a:spLocks noGrp="1"/>
              </p:cNvSpPr>
              <p:nvPr>
                <p:ph idx="1"/>
              </p:nvPr>
            </p:nvSpPr>
            <p:spPr/>
            <p:txBody>
              <a:bodyPr>
                <a:normAutofit fontScale="62500" lnSpcReduction="20000"/>
              </a:bodyPr>
              <a:lstStyle/>
              <a:p>
                <a:pPr marL="0" indent="0">
                  <a:buNone/>
                </a:pPr>
                <a:r>
                  <a:rPr lang="en-US" dirty="0"/>
                  <a:t>Let's consider an example of an IT project—building a </a:t>
                </a:r>
                <a:r>
                  <a:rPr lang="en-US" b="1" dirty="0"/>
                  <a:t>custom e-commerce website</a:t>
                </a:r>
                <a:r>
                  <a:rPr lang="en-US" dirty="0"/>
                  <a:t>. The total budget for the project is </a:t>
                </a:r>
                <a:r>
                  <a:rPr lang="en-US" b="1" dirty="0"/>
                  <a:t>$100,000</a:t>
                </a:r>
                <a:r>
                  <a:rPr lang="en-US" dirty="0"/>
                  <a:t>, and it is scheduled to be completed in 6 months. We’ll assume that you’re 3 months into the project, so we will check performance at the </a:t>
                </a:r>
                <a:r>
                  <a:rPr lang="en-US" b="1" dirty="0"/>
                  <a:t>3-month</a:t>
                </a:r>
                <a:r>
                  <a:rPr lang="en-US" dirty="0"/>
                  <a:t> point.</a:t>
                </a:r>
              </a:p>
              <a:p>
                <a:r>
                  <a:rPr lang="en-US" b="1" dirty="0"/>
                  <a:t>Planned Values (PV):</a:t>
                </a:r>
              </a:p>
              <a:p>
                <a:r>
                  <a:rPr lang="en-US" dirty="0"/>
                  <a:t>Based on the schedule, the project was planned to have completed 50% of the work by the 3-month mark. So, </a:t>
                </a:r>
                <a:r>
                  <a:rPr lang="en-US" b="1" dirty="0"/>
                  <a:t>Planned Value (PV)</a:t>
                </a:r>
                <a:r>
                  <a:rPr lang="en-US" dirty="0"/>
                  <a:t> at month 3 is:</a:t>
                </a:r>
              </a:p>
              <a:p>
                <a14:m>
                  <m:oMath xmlns:m="http://schemas.openxmlformats.org/officeDocument/2006/math">
                    <m:r>
                      <a:rPr lang="en-US" i="1">
                        <a:latin typeface="Cambria Math" panose="02040503050406030204" pitchFamily="18" charset="0"/>
                      </a:rPr>
                      <m:t>𝑃𝑉</m:t>
                    </m:r>
                    <m:r>
                      <a:rPr lang="en-US">
                        <a:latin typeface="Cambria Math" panose="02040503050406030204" pitchFamily="18" charset="0"/>
                      </a:rPr>
                      <m:t>=50%×100,000=50,000</m:t>
                    </m:r>
                  </m:oMath>
                </a14:m>
                <a:endParaRPr lang="en-US" dirty="0"/>
              </a:p>
              <a:p>
                <a:r>
                  <a:rPr lang="en-US" b="1" dirty="0"/>
                  <a:t>Earned Value (EV):</a:t>
                </a:r>
              </a:p>
              <a:p>
                <a:r>
                  <a:rPr lang="en-US" dirty="0"/>
                  <a:t>The team has actually completed 40% of the work by month 3 (due to some delays). So, </a:t>
                </a:r>
                <a:r>
                  <a:rPr lang="en-US" b="1" dirty="0"/>
                  <a:t>Earned Value (EV)</a:t>
                </a:r>
                <a:r>
                  <a:rPr lang="en-US" dirty="0"/>
                  <a:t> at month 3 is:</a:t>
                </a:r>
              </a:p>
              <a:p>
                <a14:m>
                  <m:oMath xmlns:m="http://schemas.openxmlformats.org/officeDocument/2006/math">
                    <m:r>
                      <a:rPr lang="en-US" i="1">
                        <a:latin typeface="Cambria Math" panose="02040503050406030204" pitchFamily="18" charset="0"/>
                      </a:rPr>
                      <m:t>𝐸𝑉</m:t>
                    </m:r>
                    <m:r>
                      <a:rPr lang="en-US">
                        <a:latin typeface="Cambria Math" panose="02040503050406030204" pitchFamily="18" charset="0"/>
                      </a:rPr>
                      <m:t>=40%×100,000=40,000</m:t>
                    </m:r>
                  </m:oMath>
                </a14:m>
                <a:endParaRPr lang="en-US" dirty="0"/>
              </a:p>
              <a:p>
                <a:r>
                  <a:rPr lang="en-US" b="1" dirty="0"/>
                  <a:t>Actual Cost (AC):</a:t>
                </a:r>
              </a:p>
              <a:p>
                <a:r>
                  <a:rPr lang="en-US" dirty="0"/>
                  <a:t>The team has spent </a:t>
                </a:r>
                <a:r>
                  <a:rPr lang="en-US" b="1" dirty="0"/>
                  <a:t>$55,000</a:t>
                </a:r>
                <a:r>
                  <a:rPr lang="en-US" dirty="0"/>
                  <a:t> by month 3 to get the 40% of the work done.</a:t>
                </a:r>
              </a:p>
              <a:p>
                <a14:m>
                  <m:oMath xmlns:m="http://schemas.openxmlformats.org/officeDocument/2006/math">
                    <m:r>
                      <a:rPr lang="en-US" i="1">
                        <a:latin typeface="Cambria Math" panose="02040503050406030204" pitchFamily="18" charset="0"/>
                      </a:rPr>
                      <m:t>𝐴𝐶</m:t>
                    </m:r>
                    <m:r>
                      <a:rPr lang="en-US">
                        <a:latin typeface="Cambria Math" panose="02040503050406030204" pitchFamily="18" charset="0"/>
                      </a:rPr>
                      <m:t>=55,000</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BA9CFA7D-84FD-26A3-40E8-948897C4E511}"/>
                  </a:ext>
                </a:extLst>
              </p:cNvPr>
              <p:cNvSpPr>
                <a:spLocks noGrp="1" noRot="1" noChangeAspect="1" noMove="1" noResize="1" noEditPoints="1" noAdjustHandles="1" noChangeArrowheads="1" noChangeShapeType="1" noTextEdit="1"/>
              </p:cNvSpPr>
              <p:nvPr>
                <p:ph idx="1"/>
              </p:nvPr>
            </p:nvSpPr>
            <p:spPr>
              <a:blipFill>
                <a:blip r:embed="rId2"/>
                <a:stretch>
                  <a:fillRect l="-522" t="-2101" r="-580"/>
                </a:stretch>
              </a:blipFill>
            </p:spPr>
            <p:txBody>
              <a:bodyPr/>
              <a:lstStyle/>
              <a:p>
                <a:r>
                  <a:rPr lang="en-US">
                    <a:noFill/>
                  </a:rPr>
                  <a:t> </a:t>
                </a:r>
              </a:p>
            </p:txBody>
          </p:sp>
        </mc:Fallback>
      </mc:AlternateContent>
    </p:spTree>
    <p:extLst>
      <p:ext uri="{BB962C8B-B14F-4D97-AF65-F5344CB8AC3E}">
        <p14:creationId xmlns:p14="http://schemas.microsoft.com/office/powerpoint/2010/main" val="1081481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AD3589-648C-9A74-80A8-E3AF8CFE3D30}"/>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Steps</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D32E978-DD2F-209A-4E1F-6FF256567163}"/>
              </a:ext>
            </a:extLst>
          </p:cNvPr>
          <p:cNvPicPr>
            <a:picLocks noGrp="1" noChangeAspect="1"/>
          </p:cNvPicPr>
          <p:nvPr>
            <p:ph idx="1"/>
          </p:nvPr>
        </p:nvPicPr>
        <p:blipFill>
          <a:blip r:embed="rId2"/>
          <a:stretch>
            <a:fillRect/>
          </a:stretch>
        </p:blipFill>
        <p:spPr>
          <a:xfrm>
            <a:off x="4654296" y="989369"/>
            <a:ext cx="7214616" cy="4851829"/>
          </a:xfrm>
          <a:prstGeom prst="rect">
            <a:avLst/>
          </a:prstGeom>
        </p:spPr>
      </p:pic>
    </p:spTree>
    <p:extLst>
      <p:ext uri="{BB962C8B-B14F-4D97-AF65-F5344CB8AC3E}">
        <p14:creationId xmlns:p14="http://schemas.microsoft.com/office/powerpoint/2010/main" val="1423087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9ED5C5-20A4-0A16-D885-95D34C2DCA4A}"/>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Steps</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28D42A1-0ECE-8F94-33A3-06DC28CB933A}"/>
              </a:ext>
            </a:extLst>
          </p:cNvPr>
          <p:cNvPicPr>
            <a:picLocks noGrp="1" noChangeAspect="1"/>
          </p:cNvPicPr>
          <p:nvPr>
            <p:ph idx="1"/>
          </p:nvPr>
        </p:nvPicPr>
        <p:blipFill>
          <a:blip r:embed="rId2"/>
          <a:stretch>
            <a:fillRect/>
          </a:stretch>
        </p:blipFill>
        <p:spPr>
          <a:xfrm>
            <a:off x="4654296" y="1449301"/>
            <a:ext cx="7214616" cy="3931965"/>
          </a:xfrm>
          <a:prstGeom prst="rect">
            <a:avLst/>
          </a:prstGeom>
        </p:spPr>
      </p:pic>
    </p:spTree>
    <p:extLst>
      <p:ext uri="{BB962C8B-B14F-4D97-AF65-F5344CB8AC3E}">
        <p14:creationId xmlns:p14="http://schemas.microsoft.com/office/powerpoint/2010/main" val="3560524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9F40BE-3381-74D3-7949-0D93A3C259C2}"/>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Steps</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603F230B-3822-4586-B0F4-A3E154AD0617}"/>
              </a:ext>
            </a:extLst>
          </p:cNvPr>
          <p:cNvPicPr>
            <a:picLocks noGrp="1" noChangeAspect="1"/>
          </p:cNvPicPr>
          <p:nvPr>
            <p:ph idx="1"/>
          </p:nvPr>
        </p:nvPicPr>
        <p:blipFill>
          <a:blip r:embed="rId2"/>
          <a:stretch>
            <a:fillRect/>
          </a:stretch>
        </p:blipFill>
        <p:spPr>
          <a:xfrm>
            <a:off x="4654296" y="1476356"/>
            <a:ext cx="7214616" cy="3877856"/>
          </a:xfrm>
          <a:prstGeom prst="rect">
            <a:avLst/>
          </a:prstGeom>
        </p:spPr>
      </p:pic>
    </p:spTree>
    <p:extLst>
      <p:ext uri="{BB962C8B-B14F-4D97-AF65-F5344CB8AC3E}">
        <p14:creationId xmlns:p14="http://schemas.microsoft.com/office/powerpoint/2010/main" val="41682827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B7F543F2F210C42A1AB556EC2E2AD39" ma:contentTypeVersion="3" ma:contentTypeDescription="Create a new document." ma:contentTypeScope="" ma:versionID="e5606db6c3531daf026a8fd548c663ad">
  <xsd:schema xmlns:xsd="http://www.w3.org/2001/XMLSchema" xmlns:xs="http://www.w3.org/2001/XMLSchema" xmlns:p="http://schemas.microsoft.com/office/2006/metadata/properties" xmlns:ns2="a4f7e055-52ed-4413-8839-c7f22b2234f6" targetNamespace="http://schemas.microsoft.com/office/2006/metadata/properties" ma:root="true" ma:fieldsID="fc3079c0926d43e5991d1c902ac675e6" ns2:_="">
    <xsd:import namespace="a4f7e055-52ed-4413-8839-c7f22b2234f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7e055-52ed-4413-8839-c7f22b2234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D59CCB5-FCD0-4AE2-9FAC-EC7E09F89DAF}">
  <ds:schemaRefs>
    <ds:schemaRef ds:uri="http://schemas.microsoft.com/sharepoint/v3/contenttype/forms"/>
  </ds:schemaRefs>
</ds:datastoreItem>
</file>

<file path=customXml/itemProps2.xml><?xml version="1.0" encoding="utf-8"?>
<ds:datastoreItem xmlns:ds="http://schemas.openxmlformats.org/officeDocument/2006/customXml" ds:itemID="{27E3ED7A-F549-477F-B7AA-F5F27241C9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7e055-52ed-4413-8839-c7f22b2234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EED57F0-76D5-46CC-989A-8A45D4B5000D}">
  <ds:schemaRefs>
    <ds:schemaRef ds:uri="http://purl.org/dc/elements/1.1/"/>
    <ds:schemaRef ds:uri="http://purl.org/dc/dcmitype/"/>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a4f7e055-52ed-4413-8839-c7f22b2234f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105</TotalTime>
  <Words>2766</Words>
  <Application>Microsoft Office PowerPoint</Application>
  <PresentationFormat>Widescreen</PresentationFormat>
  <Paragraphs>242</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Project Costs</vt:lpstr>
      <vt:lpstr>Types of Project Costs</vt:lpstr>
      <vt:lpstr>Types of Project Costs</vt:lpstr>
      <vt:lpstr>Project Cost Management</vt:lpstr>
      <vt:lpstr>Cost Management Processes</vt:lpstr>
      <vt:lpstr>Cost Management Processes</vt:lpstr>
      <vt:lpstr>Project Cost Estimation</vt:lpstr>
      <vt:lpstr>Project Cost Estimation</vt:lpstr>
      <vt:lpstr>Review of Cost Estimation and Its Types</vt:lpstr>
      <vt:lpstr>Bottom-Up vs Top-Down Approach</vt:lpstr>
      <vt:lpstr>Expert Judgment</vt:lpstr>
      <vt:lpstr>T-shirt Sizing</vt:lpstr>
      <vt:lpstr>Example</vt:lpstr>
      <vt:lpstr>Story Point Estimation</vt:lpstr>
      <vt:lpstr>Example</vt:lpstr>
      <vt:lpstr>How Estimation Works in Practice</vt:lpstr>
      <vt:lpstr>Planning Cost Management</vt:lpstr>
      <vt:lpstr>Determining the Budget</vt:lpstr>
      <vt:lpstr>Cost Control and Measures</vt:lpstr>
      <vt:lpstr>Earned Value Management</vt:lpstr>
      <vt:lpstr>Earned Value Management</vt:lpstr>
      <vt:lpstr>Example</vt:lpstr>
      <vt:lpstr>Steps</vt:lpstr>
      <vt:lpstr>Steps</vt:lpstr>
      <vt:lpstr>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Surendra Kc</dc:creator>
  <cp:lastModifiedBy>Surendra Kc</cp:lastModifiedBy>
  <cp:revision>2</cp:revision>
  <dcterms:created xsi:type="dcterms:W3CDTF">2026-01-19T10:13:26Z</dcterms:created>
  <dcterms:modified xsi:type="dcterms:W3CDTF">2026-01-27T15:26:42Z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0x0101007B7F543F2F210C42A1AB556EC2E2AD39</vt:lpwstr>
  </property>
</Properties>
</file>