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337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3" r:id="rId53"/>
    <p:sldId id="334" r:id="rId54"/>
    <p:sldId id="335" r:id="rId55"/>
    <p:sldId id="336" r:id="rId56"/>
    <p:sldId id="332" r:id="rId57"/>
    <p:sldId id="284" r:id="rId58"/>
    <p:sldId id="285" r:id="rId59"/>
    <p:sldId id="286" r:id="rId60"/>
    <p:sldId id="287" r:id="rId61"/>
    <p:sldId id="288" r:id="rId62"/>
    <p:sldId id="289" r:id="rId63"/>
    <p:sldId id="290" r:id="rId64"/>
    <p:sldId id="291" r:id="rId65"/>
    <p:sldId id="292" r:id="rId66"/>
    <p:sldId id="293" r:id="rId67"/>
    <p:sldId id="294" r:id="rId68"/>
    <p:sldId id="295" r:id="rId69"/>
    <p:sldId id="298" r:id="rId70"/>
    <p:sldId id="296" r:id="rId71"/>
    <p:sldId id="297" r:id="rId72"/>
    <p:sldId id="299" r:id="rId73"/>
    <p:sldId id="300" r:id="rId74"/>
    <p:sldId id="301" r:id="rId75"/>
    <p:sldId id="302" r:id="rId76"/>
    <p:sldId id="303" r:id="rId77"/>
    <p:sldId id="304" r:id="rId78"/>
    <p:sldId id="305" r:id="rId79"/>
    <p:sldId id="306" r:id="rId80"/>
    <p:sldId id="307" r:id="rId81"/>
    <p:sldId id="308" r:id="rId82"/>
    <p:sldId id="309" r:id="rId83"/>
    <p:sldId id="310" r:id="rId84"/>
    <p:sldId id="311" r:id="rId85"/>
    <p:sldId id="312" r:id="rId86"/>
    <p:sldId id="313" r:id="rId87"/>
    <p:sldId id="314" r:id="rId88"/>
    <p:sldId id="315" r:id="rId89"/>
    <p:sldId id="316" r:id="rId90"/>
    <p:sldId id="317" r:id="rId91"/>
    <p:sldId id="318" r:id="rId92"/>
    <p:sldId id="319" r:id="rId93"/>
    <p:sldId id="320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29AA0-2B67-43AF-E231-947A4CD2CED5}" v="26" dt="2025-07-16T12:18:36.610"/>
    <p1510:client id="{3D21D940-BB42-4008-86AB-1E5A66824D2D}" v="183" dt="2025-07-15T13:19:10.948"/>
    <p1510:client id="{7C5B9453-CC94-E749-B65D-55333784BC21}" v="3" dt="2025-07-16T05:28:46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FA5C-68B2-40E5-75F6-2D13889C4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4B49D-8ECC-2393-E73B-EDB3274BC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AADFC-EF13-CF8F-4618-B4164D0C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D1D63-AAC9-F633-2535-BE7CC47B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C07B1-02AF-1044-6076-2F3DD686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257B-2DDD-352C-3C62-349BD271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91D68-8A7F-D47F-5CE0-528BBD141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C3E82-DF08-63CF-2EA6-5698167D0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470F3-629F-35AC-C260-14B647B3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EFCF-8E9A-3F16-32A1-199C0627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0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D56A-2ABF-70AA-CC67-E4FEF5FD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961B-56BC-E4CC-7811-090DA4225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22795-96C9-6645-E82F-F02485B5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6D326-DA8C-50AD-1C7C-EC70E202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250FD-22A2-121D-57A5-A6A17397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2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A2B1-BCE6-62BB-682E-71467096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B70F-C0E9-68A2-42BF-65B6A9036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DDF34-AD12-A1E4-786E-CA9F75785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98744-BDC8-6388-94A9-F05B2D847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F158B-B646-E510-E2D4-373D837B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16D81-77DD-326D-E7BA-6DBBB7FA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55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43E1-797B-EE24-3F21-0758C4D2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D6A90-6D7F-F2B2-F788-2B703DEAF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2F75A-A6F0-D80B-EF0D-74F5340B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41AA6-99A1-6DEE-A8EB-78FDFF1DF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830EA-4F0D-BC74-1514-D31AEA2A4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1B6373-5668-522F-8127-57F9D501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360A77-8E00-DEAA-2DAA-5FA5631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77E13-266B-FCF2-F982-DD08AAC7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1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BA76-0F1B-ADD8-7060-18637F16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22E05-C9F7-460E-5F5D-83BC9DC8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427C1-2839-190D-EDF2-1718EB784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DBE87-2A4F-2A15-6112-44507D31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4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54182-28DA-41FB-966C-260FEDC6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CAB95-9F00-C4C2-E609-32FA87F2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A6C35-AE5E-614E-D70B-D7F449C0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92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3657-B380-6135-FC0D-5034FB37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B0285-EF97-6A9C-3355-5CEDB4DA9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BE19F-E991-5CBF-4C94-7D3A073C2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C859F-EDD6-80F2-D665-23698D72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E9EC-5811-A9CC-C263-69B7E9AD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09795-880B-0F37-02A9-92891D87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91938-F1AD-AF7B-320B-3562DFD00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1FC104-DD9F-2220-4056-5FFBFE026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CEDDE-9AE6-43E8-D298-7E3E0CE10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555E5-DFCE-5AEA-4A4C-6F72F614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62B68-B0E6-6910-AF2E-CC037B99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8F5BA-93F5-BFED-13AF-4ED04F20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1BDC-0400-848E-35C6-28362C6B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BE42F-24AC-BCA4-0742-8ED1D57CE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8C93-7FA5-D42B-AFF2-3DA61591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5235A-E0BA-394E-EC12-F35DF02B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74E2B-7CCB-681E-48F3-B2BD6FD0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12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CF2F5-4F3F-6F00-FC79-1F594FD91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0F4C4-8D19-2FC0-9140-DA86E5842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0AEE-C47B-5D61-BEB4-447D90FA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4C1D-EF79-079E-A7B7-B8003147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A746-E0D8-2267-E43B-066F845D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0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24260-A92C-86ED-D97F-05FB407AE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465C2-DB03-384D-6FEC-052C1F015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662B5-912E-5F1A-DC41-683C91BD7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A37FD-99B2-442A-8E9C-1A8084B2EAE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C332E-610B-8850-0F14-2E5C990CE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6FAF5-FE60-F8E6-8FF9-FA28BD2C1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BBED4-C9A9-4573-B3EB-58FCB1E3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7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mailto:priya.sharma@company.com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03EF-5443-53D1-F9C5-33177C87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Initiation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82F33-17CE-B9CA-B63C-E693727F9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 </a:t>
            </a:r>
            <a:r>
              <a:rPr lang="en-US" b="1" dirty="0"/>
              <a:t>Project Initiation Phase</a:t>
            </a:r>
            <a:r>
              <a:rPr lang="en-US" dirty="0"/>
              <a:t> is the first phase in the project management lifecycle as defined by the </a:t>
            </a:r>
            <a:r>
              <a:rPr lang="en-US" b="1" dirty="0"/>
              <a:t>PMBOK® Guide (Project Management Body of Knowledge)</a:t>
            </a:r>
            <a:r>
              <a:rPr lang="en-US" dirty="0"/>
              <a:t>. </a:t>
            </a:r>
          </a:p>
          <a:p>
            <a:r>
              <a:rPr lang="en-US" dirty="0"/>
              <a:t>This phase is crucial because it lays the foundation for the entire project.</a:t>
            </a:r>
          </a:p>
          <a:p>
            <a:r>
              <a:rPr lang="en-US" b="1" dirty="0"/>
              <a:t>Purpose</a:t>
            </a:r>
            <a:r>
              <a:rPr lang="en-US" dirty="0"/>
              <a:t>: To define a new project or a new phase of an existing project by obtaining authorization to start the project.</a:t>
            </a:r>
          </a:p>
          <a:p>
            <a:r>
              <a:rPr lang="en-US" b="1" dirty="0"/>
              <a:t>Objective</a:t>
            </a:r>
            <a:r>
              <a:rPr lang="en-US" dirty="0"/>
              <a:t>: Formally authorizes the project.</a:t>
            </a:r>
          </a:p>
          <a:p>
            <a:r>
              <a:rPr lang="en-US" b="1" dirty="0"/>
              <a:t>Key Inputs</a:t>
            </a:r>
            <a:r>
              <a:rPr lang="en-US" dirty="0"/>
              <a:t>: Business case, agreements, enterprise environmental factors (EEFs), organizational process assets (OPAs).</a:t>
            </a:r>
          </a:p>
          <a:p>
            <a:r>
              <a:rPr lang="en-US" b="1" dirty="0"/>
              <a:t>Key Outputs</a:t>
            </a:r>
            <a:r>
              <a:rPr lang="en-US" dirty="0"/>
              <a:t>: Project Charter.</a:t>
            </a:r>
          </a:p>
          <a:p>
            <a:r>
              <a:rPr lang="en-US" b="1" dirty="0"/>
              <a:t>Key Activities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Define project goals and scope</a:t>
            </a:r>
          </a:p>
          <a:p>
            <a:pPr lvl="1"/>
            <a:r>
              <a:rPr lang="en-US" dirty="0"/>
              <a:t>Identify stakeholders</a:t>
            </a:r>
          </a:p>
          <a:p>
            <a:pPr lvl="1"/>
            <a:r>
              <a:rPr lang="en-US" dirty="0"/>
              <a:t>Develop a business case</a:t>
            </a:r>
          </a:p>
          <a:p>
            <a:pPr lvl="1"/>
            <a:r>
              <a:rPr lang="en-US" dirty="0"/>
              <a:t>Select the project using evaluation methods</a:t>
            </a:r>
          </a:p>
          <a:p>
            <a:pPr lvl="1"/>
            <a:r>
              <a:rPr lang="en-US" dirty="0"/>
              <a:t>Create a Project Charter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2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chart with text overlay&#10;&#10;AI-generated content may be incorrect.">
            <a:extLst>
              <a:ext uri="{FF2B5EF4-FFF2-40B4-BE49-F238E27FC236}">
                <a16:creationId xmlns:a16="http://schemas.microsoft.com/office/drawing/2014/main" id="{55246BFC-691A-7594-4A72-6041458FD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0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chart with text on it&#10;&#10;AI-generated content may be incorrect.">
            <a:extLst>
              <a:ext uri="{FF2B5EF4-FFF2-40B4-BE49-F238E27FC236}">
                <a16:creationId xmlns:a16="http://schemas.microsoft.com/office/drawing/2014/main" id="{AB384B74-3D8D-560E-01D8-500155D73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0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D069AD-4B37-E6AF-7BF0-A210954A3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02" b="211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1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D7CA404-A061-D6B2-A6EF-6E4FE0C01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37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project&#10;&#10;AI-generated content may be incorrect.">
            <a:extLst>
              <a:ext uri="{FF2B5EF4-FFF2-40B4-BE49-F238E27FC236}">
                <a16:creationId xmlns:a16="http://schemas.microsoft.com/office/drawing/2014/main" id="{941C05E0-F585-B8AA-C688-CF3AB538D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08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0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project charter output&#10;&#10;AI-generated content may be incorrect.">
            <a:extLst>
              <a:ext uri="{FF2B5EF4-FFF2-40B4-BE49-F238E27FC236}">
                <a16:creationId xmlns:a16="http://schemas.microsoft.com/office/drawing/2014/main" id="{31F4752A-C31A-F66F-50E4-669413F3F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52567"/>
            <a:ext cx="10905066" cy="455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3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chart with text and a blue arrow&#10;&#10;AI-generated content may be incorrect.">
            <a:extLst>
              <a:ext uri="{FF2B5EF4-FFF2-40B4-BE49-F238E27FC236}">
                <a16:creationId xmlns:a16="http://schemas.microsoft.com/office/drawing/2014/main" id="{36E2E5E5-0AD5-5183-51CE-ABFEA285D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44D666ED-699C-2562-BAA4-7F376EEDD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93572"/>
            <a:ext cx="10905066" cy="50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1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 shot of a project&#10;&#10;AI-generated content may be incorrect.">
            <a:extLst>
              <a:ext uri="{FF2B5EF4-FFF2-40B4-BE49-F238E27FC236}">
                <a16:creationId xmlns:a16="http://schemas.microsoft.com/office/drawing/2014/main" id="{745BF3B2-876B-1190-E179-617ECC39B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29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A940-B764-8FAC-F545-CE1EB0D2F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Develop Project Charter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A68BA-15D5-CC86-D11D-A2BEA8788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 </a:t>
            </a:r>
            <a:r>
              <a:rPr lang="en-US" b="1" dirty="0"/>
              <a:t>Project Charter</a:t>
            </a:r>
            <a:r>
              <a:rPr lang="en-US" dirty="0"/>
              <a:t> is a formal document that </a:t>
            </a:r>
            <a:r>
              <a:rPr lang="en-US" b="1" dirty="0"/>
              <a:t>authorizes the project</a:t>
            </a:r>
            <a:r>
              <a:rPr lang="en-US" dirty="0"/>
              <a:t>, defines its </a:t>
            </a:r>
            <a:r>
              <a:rPr lang="en-US" b="1" dirty="0"/>
              <a:t>objectives</a:t>
            </a:r>
            <a:r>
              <a:rPr lang="en-US" dirty="0"/>
              <a:t>, and assigns the </a:t>
            </a:r>
            <a:r>
              <a:rPr lang="en-US" b="1" dirty="0"/>
              <a:t>project manager</a:t>
            </a:r>
            <a:r>
              <a:rPr lang="en-US" dirty="0"/>
              <a:t>.</a:t>
            </a:r>
          </a:p>
          <a:p>
            <a:r>
              <a:rPr lang="en-US" dirty="0"/>
              <a:t>It acts as a high-level roadmap and agreement between stakeholders and the project team.</a:t>
            </a:r>
          </a:p>
          <a:p>
            <a:pPr marL="0" indent="0">
              <a:buNone/>
            </a:pPr>
            <a:r>
              <a:rPr lang="en-US" b="1" dirty="0"/>
              <a:t>Why is a Project Charter Needed?</a:t>
            </a:r>
          </a:p>
          <a:p>
            <a:pPr lvl="1"/>
            <a:r>
              <a:rPr lang="en-US" b="1" dirty="0"/>
              <a:t>Authorization</a:t>
            </a:r>
            <a:r>
              <a:rPr lang="en-US" dirty="0"/>
              <a:t>: Officially starts the project and gives the project manager authority to use resources.</a:t>
            </a:r>
          </a:p>
          <a:p>
            <a:pPr lvl="1"/>
            <a:r>
              <a:rPr lang="en-US" b="1" dirty="0"/>
              <a:t>Clarity</a:t>
            </a:r>
            <a:r>
              <a:rPr lang="en-US" dirty="0"/>
              <a:t>: Defines the project's purpose, scope, and goals.</a:t>
            </a:r>
          </a:p>
          <a:p>
            <a:pPr lvl="1"/>
            <a:r>
              <a:rPr lang="en-US" b="1" dirty="0"/>
              <a:t>Alignment</a:t>
            </a:r>
            <a:r>
              <a:rPr lang="en-US" dirty="0"/>
              <a:t>: Ensures all stakeholders are on the same page.</a:t>
            </a:r>
          </a:p>
          <a:p>
            <a:pPr lvl="1"/>
            <a:r>
              <a:rPr lang="en-US" b="1" dirty="0"/>
              <a:t>Reference</a:t>
            </a:r>
            <a:r>
              <a:rPr lang="en-US" dirty="0"/>
              <a:t>: Serves as a baseline for decision-making and conflict resolution.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7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6BD49-EC5D-C8CB-1B1D-B57A64FDB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Importance of a Project Charter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3FC8BA-3E7F-960C-9BAD-9C454D1E5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503882"/>
              </p:ext>
            </p:extLst>
          </p:nvPr>
        </p:nvGraphicFramePr>
        <p:xfrm>
          <a:off x="835154" y="2437626"/>
          <a:ext cx="10515596" cy="3834442"/>
        </p:xfrm>
        <a:graphic>
          <a:graphicData uri="http://schemas.openxmlformats.org/drawingml/2006/table">
            <a:tbl>
              <a:tblPr firstRow="1" bandRow="1"/>
              <a:tblGrid>
                <a:gridCol w="5061346">
                  <a:extLst>
                    <a:ext uri="{9D8B030D-6E8A-4147-A177-3AD203B41FA5}">
                      <a16:colId xmlns:a16="http://schemas.microsoft.com/office/drawing/2014/main" val="2183714346"/>
                    </a:ext>
                  </a:extLst>
                </a:gridCol>
                <a:gridCol w="5454250">
                  <a:extLst>
                    <a:ext uri="{9D8B030D-6E8A-4147-A177-3AD203B41FA5}">
                      <a16:colId xmlns:a16="http://schemas.microsoft.com/office/drawing/2014/main" val="2022605424"/>
                    </a:ext>
                  </a:extLst>
                </a:gridCol>
              </a:tblGrid>
              <a:tr h="4786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>
                          <a:effectLst/>
                        </a:rPr>
                        <a:t>Benefit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>
                          <a:effectLst/>
                        </a:rPr>
                        <a:t>Description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86957"/>
                  </a:ext>
                </a:extLst>
              </a:tr>
              <a:tr h="8019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Defines Scope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Prevents scope creep by clearly stating what is and isn’t included.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191254"/>
                  </a:ext>
                </a:extLst>
              </a:tr>
              <a:tr h="4786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Identifies Stakeholders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Lists key individuals and their roles.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659383"/>
                  </a:ext>
                </a:extLst>
              </a:tr>
              <a:tr h="4786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Sets Objectives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Aligns the team with measurable goals.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08107"/>
                  </a:ext>
                </a:extLst>
              </a:tr>
              <a:tr h="8019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Establishes Authority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>
                          <a:effectLst/>
                        </a:rPr>
                        <a:t>Empowers the project manager to lead and make decisions.</a:t>
                      </a:r>
                    </a:p>
                  </a:txBody>
                  <a:tcPr marL="89807" marR="59871" marT="59871" marB="5238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300540"/>
                  </a:ext>
                </a:extLst>
              </a:tr>
              <a:tr h="7944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dirty="0">
                          <a:effectLst/>
                        </a:rPr>
                        <a:t>Provides High-Level Timeline and Budget</a:t>
                      </a:r>
                      <a:endParaRPr lang="en-US" sz="2100" dirty="0">
                        <a:effectLst/>
                      </a:endParaRPr>
                    </a:p>
                  </a:txBody>
                  <a:tcPr marL="89807" marR="59871" marT="59871" marB="449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dirty="0">
                          <a:effectLst/>
                        </a:rPr>
                        <a:t>Helps in early planning and resource allocation.</a:t>
                      </a:r>
                    </a:p>
                  </a:txBody>
                  <a:tcPr marL="89807" marR="59871" marT="59871" marB="449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759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777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F6A9-CCA9-66BB-2B5E-FBF612C3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Typical Components of a Project Charter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2B86A-D941-F1C9-35D6-184CE6357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Title and Description</a:t>
            </a:r>
          </a:p>
          <a:p>
            <a:r>
              <a:rPr lang="en-US" dirty="0"/>
              <a:t>Business Case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Scope (Inclusions/Exclusions)</a:t>
            </a:r>
          </a:p>
          <a:p>
            <a:r>
              <a:rPr lang="en-US" dirty="0"/>
              <a:t>Key Stakeholders</a:t>
            </a:r>
          </a:p>
          <a:p>
            <a:r>
              <a:rPr lang="en-US" dirty="0"/>
              <a:t>Project Manager and Authority Level</a:t>
            </a:r>
          </a:p>
          <a:p>
            <a:r>
              <a:rPr lang="en-US" dirty="0"/>
              <a:t>High-Level Timeline and Budget</a:t>
            </a:r>
          </a:p>
          <a:p>
            <a:r>
              <a:rPr lang="en-US" dirty="0"/>
              <a:t>Risks and Assumptions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559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39A1-84D1-7DCC-18CC-5752CF1C9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Charter: Mobile App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D4921-7E93-D56A-CED7-EC1CB165D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Project Title</a:t>
            </a:r>
          </a:p>
          <a:p>
            <a:pPr lvl="1"/>
            <a:r>
              <a:rPr lang="en-US" b="1" dirty="0"/>
              <a:t>ABC Tech Mobile App Development</a:t>
            </a:r>
            <a:endParaRPr lang="en-US" dirty="0"/>
          </a:p>
          <a:p>
            <a:r>
              <a:rPr lang="en-US" b="1" dirty="0"/>
              <a:t>Project Sponsor</a:t>
            </a:r>
          </a:p>
          <a:p>
            <a:pPr lvl="1"/>
            <a:r>
              <a:rPr lang="en-US" b="1" dirty="0"/>
              <a:t>Mr. Suman Thapa</a:t>
            </a:r>
            <a:r>
              <a:rPr lang="en-US" dirty="0"/>
              <a:t> – Chief Technology Officer</a:t>
            </a:r>
          </a:p>
          <a:p>
            <a:r>
              <a:rPr lang="en-US" b="1" dirty="0"/>
              <a:t>Project Manager</a:t>
            </a:r>
          </a:p>
          <a:p>
            <a:pPr lvl="1"/>
            <a:r>
              <a:rPr lang="en-US" b="1" dirty="0"/>
              <a:t>Ms. Rina Joshi</a:t>
            </a:r>
            <a:r>
              <a:rPr lang="en-US" dirty="0"/>
              <a:t> – Senior IT Project Manager</a:t>
            </a:r>
          </a:p>
          <a:p>
            <a:r>
              <a:rPr lang="en-US" b="1" dirty="0"/>
              <a:t>Purpose / Business Case</a:t>
            </a:r>
          </a:p>
          <a:p>
            <a:pPr lvl="1"/>
            <a:r>
              <a:rPr lang="en-US" dirty="0"/>
              <a:t>ABC Tech aims to enhance customer engagement and service accessibility by launching a mobile application. The app will allow users to manage accounts, receive notifications, access support, and interact with services on-the-go.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585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D56C-61AB-953D-3799-E8083A5D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7AD7-D033-BC3C-3AB8-8F022B9B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Charter: Mobile App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13B24-85A3-F5DD-BE4E-0131F84D0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Objectives</a:t>
            </a:r>
          </a:p>
          <a:p>
            <a:pPr lvl="1"/>
            <a:r>
              <a:rPr lang="en-US" dirty="0"/>
              <a:t>Develop a cross-platform mobile app (iOS and Android)</a:t>
            </a:r>
          </a:p>
          <a:p>
            <a:pPr lvl="1"/>
            <a:r>
              <a:rPr lang="en-US" dirty="0"/>
              <a:t>Integrate with existing backend systems (CRM, billing)</a:t>
            </a:r>
          </a:p>
          <a:p>
            <a:pPr lvl="1"/>
            <a:r>
              <a:rPr lang="en-US" dirty="0"/>
              <a:t>Ensure secure login and data encryption</a:t>
            </a:r>
          </a:p>
          <a:p>
            <a:pPr lvl="1"/>
            <a:r>
              <a:rPr lang="en-US" dirty="0"/>
              <a:t>Launch MVP within 4 months</a:t>
            </a:r>
          </a:p>
          <a:p>
            <a:r>
              <a:rPr lang="en-US" b="1" dirty="0"/>
              <a:t>Scope</a:t>
            </a:r>
          </a:p>
          <a:p>
            <a:pPr lvl="1"/>
            <a:r>
              <a:rPr lang="en-US" b="1" dirty="0"/>
              <a:t>In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UI/UX design</a:t>
            </a:r>
          </a:p>
          <a:p>
            <a:pPr lvl="2"/>
            <a:r>
              <a:rPr lang="en-US" dirty="0"/>
              <a:t>Core features: login, dashboard, notifications, support chat</a:t>
            </a:r>
          </a:p>
          <a:p>
            <a:pPr lvl="2"/>
            <a:r>
              <a:rPr lang="en-US" dirty="0"/>
              <a:t>Integration with backend APIs</a:t>
            </a:r>
          </a:p>
          <a:p>
            <a:pPr lvl="2"/>
            <a:r>
              <a:rPr lang="en-US" dirty="0"/>
              <a:t>App store deployment</a:t>
            </a:r>
          </a:p>
          <a:p>
            <a:pPr lvl="1"/>
            <a:r>
              <a:rPr lang="en-US" b="1" dirty="0"/>
              <a:t>Out of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Web portal redesign</a:t>
            </a:r>
          </a:p>
          <a:p>
            <a:pPr lvl="2"/>
            <a:r>
              <a:rPr lang="en-US" dirty="0"/>
              <a:t>Advanced analytics and AI features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836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C6743-EB0F-36B9-DFC7-64310025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00026-A566-E710-520C-5831FDA9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Charter: Mobile App Development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9AF6E32-9CFE-E47F-6FA1-F8B79CEF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Key Stakeholders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523B4D-A1C5-6BC7-1972-915ECDBE6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224070"/>
              </p:ext>
            </p:extLst>
          </p:nvPr>
        </p:nvGraphicFramePr>
        <p:xfrm>
          <a:off x="707960" y="2290936"/>
          <a:ext cx="10763889" cy="3959359"/>
        </p:xfrm>
        <a:graphic>
          <a:graphicData uri="http://schemas.openxmlformats.org/drawingml/2006/table">
            <a:tbl>
              <a:tblPr firstRow="1" bandRow="1"/>
              <a:tblGrid>
                <a:gridCol w="4711486">
                  <a:extLst>
                    <a:ext uri="{9D8B030D-6E8A-4147-A177-3AD203B41FA5}">
                      <a16:colId xmlns:a16="http://schemas.microsoft.com/office/drawing/2014/main" val="2670241987"/>
                    </a:ext>
                  </a:extLst>
                </a:gridCol>
                <a:gridCol w="6052403">
                  <a:extLst>
                    <a:ext uri="{9D8B030D-6E8A-4147-A177-3AD203B41FA5}">
                      <a16:colId xmlns:a16="http://schemas.microsoft.com/office/drawing/2014/main" val="3432677776"/>
                    </a:ext>
                  </a:extLst>
                </a:gridCol>
              </a:tblGrid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>
                          <a:effectLst/>
                        </a:rPr>
                        <a:t>Name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>
                          <a:effectLst/>
                        </a:rPr>
                        <a:t>Role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91441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Suman Thapa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Sponsor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127796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Rina Joshi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Project Manager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129181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Mobile Dev Team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Developers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597979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QA Team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Testers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520838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UI/UX Designers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Designers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208356"/>
                  </a:ext>
                </a:extLst>
              </a:tr>
              <a:tr h="495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Marketing Team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Launch and promotion</a:t>
                      </a:r>
                    </a:p>
                  </a:txBody>
                  <a:tcPr marL="93037" marR="62025" marT="62025" marB="542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981947"/>
                  </a:ext>
                </a:extLst>
              </a:tr>
              <a:tr h="4881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End Users</a:t>
                      </a:r>
                    </a:p>
                  </a:txBody>
                  <a:tcPr marL="93037" marR="62025" marT="62025" marB="46519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>
                          <a:effectLst/>
                        </a:rPr>
                        <a:t>Customers</a:t>
                      </a:r>
                    </a:p>
                  </a:txBody>
                  <a:tcPr marL="93037" marR="62025" marT="62025" marB="46519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06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27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BA7A2-4EF0-F7EE-B190-1F2AA6A7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Sans"/>
              </a:rPr>
              <a:t>Milestones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5AF9BB-AD0C-C4F1-7136-A08A42A87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546247"/>
              </p:ext>
            </p:extLst>
          </p:nvPr>
        </p:nvGraphicFramePr>
        <p:xfrm>
          <a:off x="4905052" y="1517021"/>
          <a:ext cx="6666834" cy="3920764"/>
        </p:xfrm>
        <a:graphic>
          <a:graphicData uri="http://schemas.openxmlformats.org/drawingml/2006/table">
            <a:tbl>
              <a:tblPr/>
              <a:tblGrid>
                <a:gridCol w="4430513">
                  <a:extLst>
                    <a:ext uri="{9D8B030D-6E8A-4147-A177-3AD203B41FA5}">
                      <a16:colId xmlns:a16="http://schemas.microsoft.com/office/drawing/2014/main" val="1977854047"/>
                    </a:ext>
                  </a:extLst>
                </a:gridCol>
                <a:gridCol w="2236321">
                  <a:extLst>
                    <a:ext uri="{9D8B030D-6E8A-4147-A177-3AD203B41FA5}">
                      <a16:colId xmlns:a16="http://schemas.microsoft.com/office/drawing/2014/main" val="2236174213"/>
                    </a:ext>
                  </a:extLst>
                </a:gridCol>
              </a:tblGrid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Milestone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Target Date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712121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Requirements Finalized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Aug 1,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361420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Design Approval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Aug 15,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132833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MVP Development Complete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Oct 15,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707501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UAT &amp; Feedback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Oct 25,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259806"/>
                  </a:ext>
                </a:extLst>
              </a:tr>
              <a:tr h="56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App Store Submission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Nov 1, 2025</a:t>
                      </a:r>
                    </a:p>
                  </a:txBody>
                  <a:tcPr marL="105321" marR="70214" marT="70214" marB="6143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367224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Go-Live</a:t>
                      </a:r>
                    </a:p>
                  </a:txBody>
                  <a:tcPr marL="105321" marR="70214" marT="70214" marB="5266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Nov 10, 2025</a:t>
                      </a:r>
                    </a:p>
                  </a:txBody>
                  <a:tcPr marL="105321" marR="70214" marT="70214" marB="5266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749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171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5649-7545-8ABA-526C-D0EEB0A9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Charter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4908-20ED-7A95-3246-969F5C4D3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Budget Estimate</a:t>
            </a:r>
          </a:p>
          <a:p>
            <a:pPr lvl="1"/>
            <a:r>
              <a:rPr lang="en-US" b="1" dirty="0"/>
              <a:t>NPR 3,500,000</a:t>
            </a:r>
            <a:r>
              <a:rPr lang="en-US" dirty="0"/>
              <a:t> – Includes design, development, testing, and deployment.</a:t>
            </a:r>
          </a:p>
          <a:p>
            <a:r>
              <a:rPr lang="en-US" b="1" dirty="0"/>
              <a:t>Risks and Assumptions</a:t>
            </a:r>
          </a:p>
          <a:p>
            <a:pPr lvl="1"/>
            <a:r>
              <a:rPr lang="en-US" b="1" dirty="0"/>
              <a:t>Risks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App store approval delays</a:t>
            </a:r>
          </a:p>
          <a:p>
            <a:pPr lvl="2"/>
            <a:r>
              <a:rPr lang="en-US" dirty="0"/>
              <a:t>API integration issues</a:t>
            </a:r>
          </a:p>
          <a:p>
            <a:pPr lvl="2"/>
            <a:r>
              <a:rPr lang="en-US" dirty="0"/>
              <a:t>Device compatibility challenges</a:t>
            </a:r>
          </a:p>
          <a:p>
            <a:pPr lvl="1"/>
            <a:r>
              <a:rPr lang="en-US" b="1" dirty="0"/>
              <a:t>Assumptions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Backend systems are stable and accessible</a:t>
            </a:r>
          </a:p>
          <a:p>
            <a:pPr lvl="2"/>
            <a:r>
              <a:rPr lang="en-US" dirty="0"/>
              <a:t>Development team has required tools and skills</a:t>
            </a:r>
          </a:p>
          <a:p>
            <a:pPr lvl="2"/>
            <a:r>
              <a:rPr lang="en-US" dirty="0"/>
              <a:t>Stakeholders are available for feedback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747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468B-36F0-B38E-263C-F7492B99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Charter: College Management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76FCB-58A8-25BA-DA82-98C1968CE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Project Title</a:t>
            </a:r>
          </a:p>
          <a:p>
            <a:pPr lvl="1"/>
            <a:r>
              <a:rPr lang="en-US" b="1" dirty="0"/>
              <a:t>Integrated College Management System for </a:t>
            </a:r>
            <a:r>
              <a:rPr lang="en-US" b="1" dirty="0" err="1"/>
              <a:t>EduSmart</a:t>
            </a:r>
            <a:r>
              <a:rPr lang="en-US" b="1" dirty="0"/>
              <a:t> Pvt. Ltd.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Project Sponsor</a:t>
            </a:r>
          </a:p>
          <a:p>
            <a:pPr lvl="1"/>
            <a:r>
              <a:rPr lang="en-US" b="1" dirty="0"/>
              <a:t>Mr. Prakash Adhikari</a:t>
            </a:r>
            <a:r>
              <a:rPr lang="en-US" dirty="0"/>
              <a:t> – Managing Director, </a:t>
            </a:r>
            <a:r>
              <a:rPr lang="en-US" dirty="0" err="1"/>
              <a:t>EduSmart</a:t>
            </a:r>
            <a:r>
              <a:rPr lang="en-US" dirty="0"/>
              <a:t> Pvt. Ltd.</a:t>
            </a:r>
          </a:p>
          <a:p>
            <a:pPr marL="0" indent="0">
              <a:buNone/>
            </a:pPr>
            <a:r>
              <a:rPr lang="en-US" b="1" dirty="0"/>
              <a:t>Project Manager</a:t>
            </a:r>
          </a:p>
          <a:p>
            <a:pPr lvl="1"/>
            <a:r>
              <a:rPr lang="en-US" b="1" dirty="0"/>
              <a:t>Ms. Nisha Shrestha</a:t>
            </a:r>
            <a:r>
              <a:rPr lang="en-US" dirty="0"/>
              <a:t> – IT Project Manager, ABC Tech Solutions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Purpose / Business Case</a:t>
            </a:r>
          </a:p>
          <a:p>
            <a:pPr lvl="1"/>
            <a:r>
              <a:rPr lang="en-US" dirty="0" err="1"/>
              <a:t>EduSmart</a:t>
            </a:r>
            <a:r>
              <a:rPr lang="en-US" dirty="0"/>
              <a:t> Pvt. Ltd. seeks to digitize and streamline its academic and administrative operations by implementing a comprehensive College Management System. The system will manage student records, faculty data, course scheduling, fee payments, and reporting.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852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4B2E5-2EC2-D61A-8343-7E63F725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9306C-3093-AE02-BBA1-E035418E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Charter: College Management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66780-6E2B-DE95-F275-67CB4ACBB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Objectives</a:t>
            </a:r>
          </a:p>
          <a:p>
            <a:pPr lvl="1"/>
            <a:r>
              <a:rPr lang="en-US" dirty="0"/>
              <a:t>Develop a centralized web-based system for college operations.</a:t>
            </a:r>
          </a:p>
          <a:p>
            <a:pPr lvl="1"/>
            <a:r>
              <a:rPr lang="en-US" dirty="0"/>
              <a:t>Automate student admissions, attendance, grading, and fee management.</a:t>
            </a:r>
          </a:p>
          <a:p>
            <a:pPr lvl="1"/>
            <a:r>
              <a:rPr lang="en-US" dirty="0"/>
              <a:t>Provide role-based access for students, faculty, and administrators.</a:t>
            </a:r>
          </a:p>
          <a:p>
            <a:pPr lvl="1"/>
            <a:r>
              <a:rPr lang="en-US" dirty="0"/>
              <a:t>Launch the system within 5 months with full functionality</a:t>
            </a:r>
          </a:p>
          <a:p>
            <a:r>
              <a:rPr lang="en-US" b="1" dirty="0"/>
              <a:t>Scope</a:t>
            </a:r>
          </a:p>
          <a:p>
            <a:pPr lvl="1"/>
            <a:r>
              <a:rPr lang="en-US" b="1" dirty="0"/>
              <a:t>In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Student registration and profile management</a:t>
            </a:r>
          </a:p>
          <a:p>
            <a:pPr lvl="2"/>
            <a:r>
              <a:rPr lang="en-US" dirty="0"/>
              <a:t>Course and timetable scheduling</a:t>
            </a:r>
          </a:p>
          <a:p>
            <a:pPr lvl="2"/>
            <a:r>
              <a:rPr lang="en-US" dirty="0"/>
              <a:t>Attendance and grading modules</a:t>
            </a:r>
          </a:p>
          <a:p>
            <a:pPr lvl="2"/>
            <a:r>
              <a:rPr lang="en-US" dirty="0"/>
              <a:t>Fee tracking and payment gateway integration</a:t>
            </a:r>
          </a:p>
          <a:p>
            <a:pPr lvl="2"/>
            <a:r>
              <a:rPr lang="en-US" dirty="0"/>
              <a:t>Admin dashboard and reporting tools</a:t>
            </a:r>
          </a:p>
          <a:p>
            <a:pPr lvl="1"/>
            <a:r>
              <a:rPr lang="en-US" b="1" dirty="0"/>
              <a:t>Out of Scope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Mobile app development</a:t>
            </a:r>
          </a:p>
          <a:p>
            <a:pPr lvl="2"/>
            <a:r>
              <a:rPr lang="en-US" dirty="0"/>
              <a:t>Integration with external learning platforms (e.g., Moodle)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27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3EDB7-E47C-91E5-A20E-493697BB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96D17-167F-EAC7-1170-1AA0EA50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Charter: College Management System</a:t>
            </a:r>
            <a:br>
              <a:rPr lang="en-US"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FB2EBA5-BBFF-283A-D9CF-E125EB32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Key Stakeholders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9E830D-894F-7929-2E02-5EDACAD105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029546"/>
              </p:ext>
            </p:extLst>
          </p:nvPr>
        </p:nvGraphicFramePr>
        <p:xfrm>
          <a:off x="1249079" y="2290936"/>
          <a:ext cx="9681650" cy="395935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4894527">
                  <a:extLst>
                    <a:ext uri="{9D8B030D-6E8A-4147-A177-3AD203B41FA5}">
                      <a16:colId xmlns:a16="http://schemas.microsoft.com/office/drawing/2014/main" val="3720630925"/>
                    </a:ext>
                  </a:extLst>
                </a:gridCol>
                <a:gridCol w="4787123">
                  <a:extLst>
                    <a:ext uri="{9D8B030D-6E8A-4147-A177-3AD203B41FA5}">
                      <a16:colId xmlns:a16="http://schemas.microsoft.com/office/drawing/2014/main" val="175687640"/>
                    </a:ext>
                  </a:extLst>
                </a:gridCol>
              </a:tblGrid>
              <a:tr h="5328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marL="105237" marR="70158" marT="126284" marB="613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  <a:effectLst/>
                        </a:rPr>
                        <a:t>Role</a:t>
                      </a:r>
                    </a:p>
                  </a:txBody>
                  <a:tcPr marL="105237" marR="70158" marT="126284" marB="613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52293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Prakash Adhikari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Sponsor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758672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Nisha Shrestha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Project Manager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120085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Development Team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Software Engineers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227972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QA Team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Testers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05787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College Admin Staff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End Users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943799"/>
                  </a:ext>
                </a:extLst>
              </a:tr>
              <a:tr h="4907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Faculty Members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Contributors</a:t>
                      </a:r>
                    </a:p>
                  </a:txBody>
                  <a:tcPr marL="105237" marR="70158" marT="126284" marB="613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88490"/>
                  </a:ext>
                </a:extLst>
              </a:tr>
              <a:tr h="481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Students</a:t>
                      </a:r>
                    </a:p>
                  </a:txBody>
                  <a:tcPr marL="105237" marR="70158" marT="126284" marB="5261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End Users</a:t>
                      </a:r>
                    </a:p>
                  </a:txBody>
                  <a:tcPr marL="105237" marR="70158" marT="126284" marB="5261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330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505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5A95D-0A6E-A89E-D70E-FD8F2612F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E4801-B5A9-5597-4A9B-C96BAA50A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Charter: College Management System</a:t>
            </a:r>
            <a:b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3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9C2560-FC2C-94D1-0566-6CE51FB9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Milestones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21B3-09D0-EC4B-A705-00ADEC3F0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182350"/>
              </p:ext>
            </p:extLst>
          </p:nvPr>
        </p:nvGraphicFramePr>
        <p:xfrm>
          <a:off x="697712" y="2290936"/>
          <a:ext cx="10784385" cy="3959355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7180804">
                  <a:extLst>
                    <a:ext uri="{9D8B030D-6E8A-4147-A177-3AD203B41FA5}">
                      <a16:colId xmlns:a16="http://schemas.microsoft.com/office/drawing/2014/main" val="2173647068"/>
                    </a:ext>
                  </a:extLst>
                </a:gridCol>
                <a:gridCol w="3603581">
                  <a:extLst>
                    <a:ext uri="{9D8B030D-6E8A-4147-A177-3AD203B41FA5}">
                      <a16:colId xmlns:a16="http://schemas.microsoft.com/office/drawing/2014/main" val="1000084752"/>
                    </a:ext>
                  </a:extLst>
                </a:gridCol>
              </a:tblGrid>
              <a:tr h="6082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Milestone</a:t>
                      </a:r>
                    </a:p>
                  </a:txBody>
                  <a:tcPr marL="120126" marR="80084" marT="144151" marB="700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Target Date</a:t>
                      </a:r>
                    </a:p>
                  </a:txBody>
                  <a:tcPr marL="120126" marR="80084" marT="144151" marB="700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675744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Requirements Gathering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Aug 1,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048707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System Design Approval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Aug 20,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57250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Development Phase Complete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Oct 30,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808178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Testing &amp; UAT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Nov 15,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96901"/>
                  </a:ext>
                </a:extLst>
              </a:tr>
              <a:tr h="5601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Training &amp; Deployment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Dec 1, 2025</a:t>
                      </a:r>
                    </a:p>
                  </a:txBody>
                  <a:tcPr marL="120126" marR="80084" marT="144151" marB="700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664762"/>
                  </a:ext>
                </a:extLst>
              </a:tr>
              <a:tr h="55017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Go-Live</a:t>
                      </a:r>
                    </a:p>
                  </a:txBody>
                  <a:tcPr marL="120126" marR="80084" marT="144151" marB="600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Dec 10, 2025</a:t>
                      </a:r>
                    </a:p>
                  </a:txBody>
                  <a:tcPr marL="120126" marR="80084" marT="144151" marB="600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05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913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4AAD-E34B-25A8-37C6-3B1C4347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Charter: College Management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282A-82DF-1112-ECDC-E38BA4C5B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Budget Estimate</a:t>
            </a:r>
          </a:p>
          <a:p>
            <a:pPr lvl="1"/>
            <a:r>
              <a:rPr lang="en-US" b="1" dirty="0"/>
              <a:t>NPR 4,000,000</a:t>
            </a:r>
            <a:r>
              <a:rPr lang="en-US" dirty="0"/>
              <a:t> – Includes design, development, testing, deployment, and training.</a:t>
            </a:r>
          </a:p>
          <a:p>
            <a:r>
              <a:rPr lang="en-US" b="1" dirty="0"/>
              <a:t>Risks and Assumptions</a:t>
            </a:r>
          </a:p>
          <a:p>
            <a:pPr lvl="1"/>
            <a:r>
              <a:rPr lang="en-US" b="1" dirty="0"/>
              <a:t>Risks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Delays in requirement finalization</a:t>
            </a:r>
          </a:p>
          <a:p>
            <a:pPr lvl="2"/>
            <a:r>
              <a:rPr lang="en-US" dirty="0"/>
              <a:t>Resistance to change from staff</a:t>
            </a:r>
          </a:p>
          <a:p>
            <a:pPr lvl="2"/>
            <a:r>
              <a:rPr lang="en-US" dirty="0"/>
              <a:t>Data migration challenges</a:t>
            </a:r>
          </a:p>
          <a:p>
            <a:pPr lvl="1"/>
            <a:r>
              <a:rPr lang="en-US" b="1" dirty="0"/>
              <a:t>Assumptions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College staff will cooperate during training and testing</a:t>
            </a:r>
          </a:p>
          <a:p>
            <a:pPr lvl="2"/>
            <a:r>
              <a:rPr lang="en-US" dirty="0"/>
              <a:t>Required infrastructure (servers, internet) is available</a:t>
            </a:r>
          </a:p>
          <a:p>
            <a:pPr lvl="2"/>
            <a:r>
              <a:rPr lang="en-US" dirty="0"/>
              <a:t>Timely feedback from stakeholders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01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26DA-B3C1-A709-0EAD-1CCB0774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 Stakeholders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7FB6F-69E6-00BF-D9DB-36748A9B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: Identify all people or organizations impacted by the project and document relevant information.</a:t>
            </a:r>
          </a:p>
          <a:p>
            <a:r>
              <a:rPr lang="en-US" b="1" dirty="0"/>
              <a:t>Key Inputs</a:t>
            </a:r>
            <a:r>
              <a:rPr lang="en-US" dirty="0"/>
              <a:t>: Project charter, business documents, EEFs, OPAs.</a:t>
            </a:r>
          </a:p>
          <a:p>
            <a:r>
              <a:rPr lang="en-US" b="1" dirty="0"/>
              <a:t>Key Outputs</a:t>
            </a:r>
            <a:r>
              <a:rPr lang="en-US" dirty="0"/>
              <a:t>: Stakeholder register.</a:t>
            </a:r>
          </a:p>
          <a:p>
            <a:r>
              <a:rPr lang="en-US" b="1" dirty="0"/>
              <a:t>Includes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Stakeholder names and roles</a:t>
            </a:r>
          </a:p>
          <a:p>
            <a:pPr lvl="1"/>
            <a:r>
              <a:rPr lang="en-US" dirty="0"/>
              <a:t>Interests, influence, and impact</a:t>
            </a:r>
          </a:p>
          <a:p>
            <a:pPr lvl="1"/>
            <a:r>
              <a:rPr lang="en-US" dirty="0"/>
              <a:t>Communication needs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53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FD55D-7B33-7A26-D0D4-71740AA9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Enterprise Environmental Factors (EEFs)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F0862-F7F7-93DF-3EEA-CF4BCD456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Enterprise Environmental Factors (EEF)</a:t>
            </a:r>
            <a:r>
              <a:rPr lang="en-US" dirty="0"/>
              <a:t> are the </a:t>
            </a:r>
            <a:r>
              <a:rPr lang="en-US" b="1" dirty="0"/>
              <a:t>conditions and influences</a:t>
            </a:r>
            <a:r>
              <a:rPr lang="en-US" dirty="0"/>
              <a:t>—internal or external to the organization—that affect the project’s success. </a:t>
            </a:r>
          </a:p>
          <a:p>
            <a:pPr marL="0" indent="0">
              <a:buNone/>
            </a:pPr>
            <a:r>
              <a:rPr lang="en-US" dirty="0"/>
              <a:t>These factors are </a:t>
            </a:r>
            <a:r>
              <a:rPr lang="en-US" b="1" dirty="0"/>
              <a:t>not under the direct control</a:t>
            </a:r>
            <a:r>
              <a:rPr lang="en-US" dirty="0"/>
              <a:t> of the project team but must be considered during planning and </a:t>
            </a:r>
            <a:r>
              <a:rPr lang="en-US" dirty="0" err="1"/>
              <a:t>execution.</a:t>
            </a:r>
            <a:r>
              <a:rPr lang="en-US" b="1" dirty="0" err="1"/>
              <a:t>Types</a:t>
            </a:r>
            <a:r>
              <a:rPr lang="en-US" b="1" dirty="0"/>
              <a:t> of EEFs</a:t>
            </a:r>
          </a:p>
          <a:p>
            <a:r>
              <a:rPr lang="en-US" b="1" dirty="0"/>
              <a:t>Internal EEFs (within the organization):</a:t>
            </a:r>
          </a:p>
          <a:p>
            <a:pPr lvl="1"/>
            <a:r>
              <a:rPr lang="en-US" dirty="0"/>
              <a:t>Organizational culture, structure, and governance</a:t>
            </a:r>
          </a:p>
          <a:p>
            <a:pPr lvl="1"/>
            <a:r>
              <a:rPr lang="en-US" dirty="0"/>
              <a:t>Infrastructure (e.g., IT systems, facilities)</a:t>
            </a:r>
          </a:p>
          <a:p>
            <a:pPr lvl="1"/>
            <a:r>
              <a:rPr lang="en-US" dirty="0"/>
              <a:t>Resource availability (e.g., skilled staff, tools)</a:t>
            </a:r>
          </a:p>
          <a:p>
            <a:pPr lvl="1"/>
            <a:r>
              <a:rPr lang="en-US" dirty="0"/>
              <a:t>Internal policies, procedures, and standards</a:t>
            </a:r>
          </a:p>
          <a:p>
            <a:pPr lvl="1"/>
            <a:r>
              <a:rPr lang="en-US" dirty="0"/>
              <a:t>Employee capability and experience</a:t>
            </a:r>
          </a:p>
        </p:txBody>
      </p:sp>
    </p:spTree>
    <p:extLst>
      <p:ext uri="{BB962C8B-B14F-4D97-AF65-F5344CB8AC3E}">
        <p14:creationId xmlns:p14="http://schemas.microsoft.com/office/powerpoint/2010/main" val="2530766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D62B8-9126-92EE-7C3C-A8F4B3EF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D71-8BFF-6910-A41E-7AC1D9DE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Enterprise Environmental Factors (EEFs)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661CE-9D54-628A-6206-CEC1E18FC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External EEFs (outside the organization):</a:t>
            </a:r>
          </a:p>
          <a:p>
            <a:pPr lvl="1"/>
            <a:r>
              <a:rPr lang="en-US" dirty="0"/>
              <a:t>Market conditions</a:t>
            </a:r>
          </a:p>
          <a:p>
            <a:pPr lvl="1"/>
            <a:r>
              <a:rPr lang="en-US" dirty="0"/>
              <a:t>Legal and regulatory environment</a:t>
            </a:r>
          </a:p>
          <a:p>
            <a:pPr lvl="1"/>
            <a:r>
              <a:rPr lang="en-US" dirty="0"/>
              <a:t>Industry standards</a:t>
            </a:r>
          </a:p>
          <a:p>
            <a:pPr lvl="1"/>
            <a:r>
              <a:rPr lang="en-US" dirty="0"/>
              <a:t>Political climate</a:t>
            </a:r>
          </a:p>
          <a:p>
            <a:pPr lvl="1"/>
            <a:r>
              <a:rPr lang="en-US" dirty="0"/>
              <a:t>Economic conditions</a:t>
            </a:r>
          </a:p>
          <a:p>
            <a:pPr lvl="1"/>
            <a:r>
              <a:rPr lang="en-US" dirty="0"/>
              <a:t>Social and cultural influences</a:t>
            </a:r>
          </a:p>
          <a:p>
            <a:pPr marL="0" indent="0">
              <a:buNone/>
            </a:pPr>
            <a:r>
              <a:rPr lang="en-US" b="1" dirty="0"/>
              <a:t>Why EEFs Matter in Project Management</a:t>
            </a:r>
          </a:p>
          <a:p>
            <a:pPr lvl="1"/>
            <a:r>
              <a:rPr lang="en-US" dirty="0"/>
              <a:t>They </a:t>
            </a:r>
            <a:r>
              <a:rPr lang="en-US" b="1" dirty="0"/>
              <a:t>influence how the project is planned and executed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They can </a:t>
            </a:r>
            <a:r>
              <a:rPr lang="en-US" b="1" dirty="0"/>
              <a:t>enable or constrain</a:t>
            </a:r>
            <a:r>
              <a:rPr lang="en-US" dirty="0"/>
              <a:t> project decisions.</a:t>
            </a:r>
          </a:p>
          <a:p>
            <a:pPr lvl="1"/>
            <a:r>
              <a:rPr lang="en-US" dirty="0"/>
              <a:t>Project managers must </a:t>
            </a:r>
            <a:r>
              <a:rPr lang="en-US" b="1" dirty="0"/>
              <a:t>adapt their strategies</a:t>
            </a:r>
            <a:r>
              <a:rPr lang="en-US" dirty="0"/>
              <a:t> based on EEFs.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317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1F5A-97D8-429B-4C66-EB28D24F9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58A2-312B-3726-E7E1-C8E14EBE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EEF in an IT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266DB-30EC-0E68-E7E5-35C45225C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Imagine you're an </a:t>
            </a:r>
            <a:r>
              <a:rPr lang="en-US" b="1" dirty="0"/>
              <a:t>IT Manager</a:t>
            </a:r>
            <a:r>
              <a:rPr lang="en-US" dirty="0"/>
              <a:t> leading a project to develop a mobile app for a college:</a:t>
            </a:r>
          </a:p>
          <a:p>
            <a:r>
              <a:rPr lang="en-US" b="1" dirty="0"/>
              <a:t>Internal EEFs:</a:t>
            </a:r>
          </a:p>
          <a:p>
            <a:pPr lvl="1"/>
            <a:r>
              <a:rPr lang="en-US" dirty="0"/>
              <a:t>The company uses </a:t>
            </a:r>
            <a:r>
              <a:rPr lang="en-US" b="1" dirty="0"/>
              <a:t>Agile methodology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Developers are skilled in </a:t>
            </a:r>
            <a:r>
              <a:rPr lang="en-US" b="1" dirty="0"/>
              <a:t>Flutter and Firebase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organization has strict </a:t>
            </a:r>
            <a:r>
              <a:rPr lang="en-US" b="1" dirty="0"/>
              <a:t>data security policies</a:t>
            </a:r>
            <a:r>
              <a:rPr lang="en-US" dirty="0"/>
              <a:t>.</a:t>
            </a:r>
          </a:p>
          <a:p>
            <a:r>
              <a:rPr lang="en-US" b="1" dirty="0"/>
              <a:t>External EEFs:</a:t>
            </a:r>
          </a:p>
          <a:p>
            <a:pPr lvl="1"/>
            <a:r>
              <a:rPr lang="en-US" dirty="0"/>
              <a:t>Government regulations require </a:t>
            </a:r>
            <a:r>
              <a:rPr lang="en-US" b="1" dirty="0"/>
              <a:t>student data protection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app must support </a:t>
            </a:r>
            <a:r>
              <a:rPr lang="en-US" b="1" dirty="0"/>
              <a:t>multiple languages</a:t>
            </a:r>
            <a:r>
              <a:rPr lang="en-US" dirty="0"/>
              <a:t> due to diverse student demographics.</a:t>
            </a:r>
          </a:p>
          <a:p>
            <a:pPr lvl="1"/>
            <a:r>
              <a:rPr lang="en-US" dirty="0"/>
              <a:t>The market trend favors </a:t>
            </a:r>
            <a:r>
              <a:rPr lang="en-US" b="1" dirty="0"/>
              <a:t>mobile-first solutions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638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-up of a chart&#10;&#10;AI-generated content may be incorrect.">
            <a:extLst>
              <a:ext uri="{FF2B5EF4-FFF2-40B4-BE49-F238E27FC236}">
                <a16:creationId xmlns:a16="http://schemas.microsoft.com/office/drawing/2014/main" id="{33A6303F-56D4-A059-1EE9-5CA204F54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57" r="2009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4592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74C9-E84F-6BD2-4B1A-1B0FE73F1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Organizational Process Assets (OPAs)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57F40-6182-34E3-0C53-68B042803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OPAs are </a:t>
            </a:r>
            <a:r>
              <a:rPr lang="en-US" b="1" dirty="0"/>
              <a:t>plans, processes, policies, procedures, and knowledge bases</a:t>
            </a:r>
            <a:r>
              <a:rPr lang="en-US" dirty="0"/>
              <a:t> specific to and used by the organization. These are </a:t>
            </a:r>
            <a:r>
              <a:rPr lang="en-US" b="1" dirty="0"/>
              <a:t>internal assets</a:t>
            </a:r>
            <a:r>
              <a:rPr lang="en-US" dirty="0"/>
              <a:t> that help manage projects.</a:t>
            </a:r>
          </a:p>
          <a:p>
            <a:pPr marL="0" indent="0">
              <a:buNone/>
            </a:pPr>
            <a:r>
              <a:rPr lang="en-US" b="1" dirty="0"/>
              <a:t>Types of OPAs:</a:t>
            </a:r>
          </a:p>
          <a:p>
            <a:pPr marL="0" indent="0">
              <a:buNone/>
            </a:pPr>
            <a:r>
              <a:rPr lang="en-US" b="1" dirty="0"/>
              <a:t>	Processes, Policies, and Procedures</a:t>
            </a:r>
          </a:p>
          <a:p>
            <a:pPr lvl="2"/>
            <a:r>
              <a:rPr lang="en-US" dirty="0"/>
              <a:t>Templates (e.g., project charter, risk register)</a:t>
            </a:r>
          </a:p>
          <a:p>
            <a:pPr lvl="2"/>
            <a:r>
              <a:rPr lang="en-US" dirty="0"/>
              <a:t>Guidelines (e.g., coding standards)</a:t>
            </a:r>
          </a:p>
          <a:p>
            <a:pPr lvl="2"/>
            <a:r>
              <a:rPr lang="en-US" dirty="0"/>
              <a:t>Approval workflows</a:t>
            </a:r>
          </a:p>
          <a:p>
            <a:pPr lvl="2"/>
            <a:r>
              <a:rPr lang="en-US" dirty="0"/>
              <a:t>Change control procedures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78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F83EB-9C1F-0F96-68C5-8F6B3F8E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D520-5595-5412-263F-4BC1E80B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Organizational Process Assets (OPAs)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86B4C-BC85-2335-A572-45ADEFCF8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Organizational Knowledge Repositories</a:t>
            </a:r>
          </a:p>
          <a:p>
            <a:pPr lvl="1"/>
            <a:r>
              <a:rPr lang="en-US" dirty="0"/>
              <a:t>Historical information (e.g., lessons learned from past projects)</a:t>
            </a:r>
          </a:p>
          <a:p>
            <a:pPr lvl="1"/>
            <a:r>
              <a:rPr lang="en-US" dirty="0"/>
              <a:t>Project files and documentation</a:t>
            </a:r>
          </a:p>
          <a:p>
            <a:pPr lvl="1"/>
            <a:r>
              <a:rPr lang="en-US" dirty="0"/>
              <a:t>Configuration management databases</a:t>
            </a:r>
          </a:p>
          <a:p>
            <a:pPr lvl="1"/>
            <a:r>
              <a:rPr lang="en-US" dirty="0"/>
              <a:t>Financial databases</a:t>
            </a:r>
          </a:p>
          <a:p>
            <a:pPr marL="0" indent="0">
              <a:buNone/>
            </a:pPr>
            <a:r>
              <a:rPr lang="en-US" b="1" dirty="0"/>
              <a:t>Examples in an IT Company:</a:t>
            </a:r>
          </a:p>
          <a:p>
            <a:pPr lvl="1"/>
            <a:r>
              <a:rPr lang="en-US" b="1" dirty="0"/>
              <a:t>Project templates</a:t>
            </a:r>
            <a:r>
              <a:rPr lang="en-US" dirty="0"/>
              <a:t> for agile sprints or waterfall phases.</a:t>
            </a:r>
          </a:p>
          <a:p>
            <a:pPr lvl="1"/>
            <a:r>
              <a:rPr lang="en-US" b="1" dirty="0"/>
              <a:t>Coding standards</a:t>
            </a:r>
            <a:r>
              <a:rPr lang="en-US" dirty="0"/>
              <a:t> for Java or Python.</a:t>
            </a:r>
          </a:p>
          <a:p>
            <a:pPr lvl="1"/>
            <a:r>
              <a:rPr lang="en-US" b="1" dirty="0"/>
              <a:t>Lessons learned</a:t>
            </a:r>
            <a:r>
              <a:rPr lang="en-US" dirty="0"/>
              <a:t> from previous software deployments.</a:t>
            </a:r>
          </a:p>
          <a:p>
            <a:pPr lvl="1"/>
            <a:r>
              <a:rPr lang="en-US" b="1" dirty="0"/>
              <a:t>Bug tracking systems</a:t>
            </a:r>
            <a:r>
              <a:rPr lang="en-US" dirty="0"/>
              <a:t> like Jira or Azure DevOps.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27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66E45-CFC8-96D4-BCBE-209364DF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EEF vs OPA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95B8012-CF66-02F5-0A06-B42F398E6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038423"/>
              </p:ext>
            </p:extLst>
          </p:nvPr>
        </p:nvGraphicFramePr>
        <p:xfrm>
          <a:off x="644056" y="2350748"/>
          <a:ext cx="10927830" cy="3716469"/>
        </p:xfrm>
        <a:graphic>
          <a:graphicData uri="http://schemas.openxmlformats.org/drawingml/2006/table">
            <a:tbl>
              <a:tblPr/>
              <a:tblGrid>
                <a:gridCol w="1921844">
                  <a:extLst>
                    <a:ext uri="{9D8B030D-6E8A-4147-A177-3AD203B41FA5}">
                      <a16:colId xmlns:a16="http://schemas.microsoft.com/office/drawing/2014/main" val="3699303710"/>
                    </a:ext>
                  </a:extLst>
                </a:gridCol>
                <a:gridCol w="4551329">
                  <a:extLst>
                    <a:ext uri="{9D8B030D-6E8A-4147-A177-3AD203B41FA5}">
                      <a16:colId xmlns:a16="http://schemas.microsoft.com/office/drawing/2014/main" val="4258851085"/>
                    </a:ext>
                  </a:extLst>
                </a:gridCol>
                <a:gridCol w="4454657">
                  <a:extLst>
                    <a:ext uri="{9D8B030D-6E8A-4147-A177-3AD203B41FA5}">
                      <a16:colId xmlns:a16="http://schemas.microsoft.com/office/drawing/2014/main" val="982351402"/>
                    </a:ext>
                  </a:extLst>
                </a:gridCol>
              </a:tblGrid>
              <a:tr h="6183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EEF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OPA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67213"/>
                  </a:ext>
                </a:extLst>
              </a:tr>
              <a:tr h="10359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Control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External/Internal, </a:t>
                      </a:r>
                      <a:r>
                        <a:rPr lang="en-US" sz="2700" b="1" i="0" u="none" strike="noStrike">
                          <a:effectLst/>
                          <a:latin typeface="Arial" panose="020B0604020202020204" pitchFamily="34" charset="0"/>
                        </a:rPr>
                        <a:t>not controlled</a:t>
                      </a: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 by project team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Internal, </a:t>
                      </a:r>
                      <a:r>
                        <a:rPr lang="en-US" sz="2700" b="1" i="0" u="none" strike="noStrike">
                          <a:effectLst/>
                          <a:latin typeface="Arial" panose="020B0604020202020204" pitchFamily="34" charset="0"/>
                        </a:rPr>
                        <a:t>controlled</a:t>
                      </a: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 by organization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28787"/>
                  </a:ext>
                </a:extLst>
              </a:tr>
              <a:tr h="10359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Examples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Market trends, regulations, infrastructure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Templates, historical data, procedures</a:t>
                      </a:r>
                    </a:p>
                  </a:txBody>
                  <a:tcPr marL="116007" marR="77338" marT="77338" marB="6767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21985"/>
                  </a:ext>
                </a:extLst>
              </a:tr>
              <a:tr h="10262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116007" marR="77338" marT="77338" marB="580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Constrains or influences project</a:t>
                      </a:r>
                    </a:p>
                  </a:txBody>
                  <a:tcPr marL="116007" marR="77338" marT="77338" marB="580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Supports and guides project execution</a:t>
                      </a:r>
                    </a:p>
                  </a:txBody>
                  <a:tcPr marL="116007" marR="77338" marT="77338" marB="58003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116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80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DE05-73EA-D4D7-A19D-7FBA3A5B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 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02012-8FBF-E42D-7CC0-A0B3EDF1C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 </a:t>
            </a:r>
            <a:r>
              <a:rPr lang="en-US" b="1" dirty="0"/>
              <a:t>Project Initiation Phase</a:t>
            </a:r>
            <a:r>
              <a:rPr lang="en-US" dirty="0"/>
              <a:t>, developing a </a:t>
            </a:r>
            <a:r>
              <a:rPr lang="en-US" b="1" dirty="0"/>
              <a:t>Business Case</a:t>
            </a:r>
            <a:r>
              <a:rPr lang="en-US" dirty="0"/>
              <a:t> is a critical step that justifies the need for the project and demonstrates its value to stakeholders. </a:t>
            </a:r>
          </a:p>
          <a:p>
            <a:r>
              <a:rPr lang="en-US" dirty="0"/>
              <a:t>According to the </a:t>
            </a:r>
            <a:r>
              <a:rPr lang="en-US" b="1" dirty="0"/>
              <a:t>PMBOK® Guide</a:t>
            </a:r>
            <a:r>
              <a:rPr lang="en-US" dirty="0"/>
              <a:t>, the business case is typically created </a:t>
            </a:r>
            <a:r>
              <a:rPr lang="en-US" b="1" dirty="0"/>
              <a:t>before</a:t>
            </a:r>
            <a:r>
              <a:rPr lang="en-US" dirty="0"/>
              <a:t> the project charter and is used to evaluate whether the project is worth pursuing.</a:t>
            </a:r>
          </a:p>
          <a:p>
            <a:r>
              <a:rPr lang="en-US" dirty="0"/>
              <a:t>A </a:t>
            </a:r>
            <a:r>
              <a:rPr lang="en-US" b="1" dirty="0"/>
              <a:t>business case</a:t>
            </a:r>
            <a:r>
              <a:rPr lang="en-US" dirty="0"/>
              <a:t> is a document or presentation that outlines: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 the project is needed</a:t>
            </a:r>
          </a:p>
          <a:p>
            <a:pPr lvl="1"/>
            <a:r>
              <a:rPr lang="en-US" b="1" dirty="0"/>
              <a:t>What</a:t>
            </a:r>
            <a:r>
              <a:rPr lang="en-US" dirty="0"/>
              <a:t> benefits it will deliver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 it aligns with organizational goals</a:t>
            </a:r>
          </a:p>
          <a:p>
            <a:pPr lvl="1"/>
            <a:r>
              <a:rPr lang="en-US" b="1" dirty="0"/>
              <a:t>What</a:t>
            </a:r>
            <a:r>
              <a:rPr lang="en-US" dirty="0"/>
              <a:t> the costs, risks, and expected returns 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54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E67A-F713-2261-7D86-911D035A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Components of a Business Case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0A580-03AF-2850-32B3-68B524670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Executive Summary</a:t>
            </a:r>
            <a:endParaRPr lang="en-US" dirty="0"/>
          </a:p>
          <a:p>
            <a:pPr lvl="1"/>
            <a:r>
              <a:rPr lang="en-US" dirty="0"/>
              <a:t>Brief overview of the project and its purpose</a:t>
            </a:r>
          </a:p>
          <a:p>
            <a:r>
              <a:rPr lang="en-US" b="1" dirty="0"/>
              <a:t>Problem/Opportunity Statement</a:t>
            </a:r>
            <a:endParaRPr lang="en-US" dirty="0"/>
          </a:p>
          <a:p>
            <a:pPr lvl="1"/>
            <a:r>
              <a:rPr lang="en-US" dirty="0"/>
              <a:t>What issue or opportunity is being addressed?</a:t>
            </a:r>
          </a:p>
          <a:p>
            <a:r>
              <a:rPr lang="en-US" b="1" dirty="0"/>
              <a:t>Analysis of Options</a:t>
            </a:r>
            <a:endParaRPr lang="en-US" dirty="0"/>
          </a:p>
          <a:p>
            <a:pPr lvl="1"/>
            <a:r>
              <a:rPr lang="en-US" dirty="0"/>
              <a:t>Possible solutions and why the proposed one is best</a:t>
            </a:r>
          </a:p>
          <a:p>
            <a:r>
              <a:rPr lang="en-US" b="1" dirty="0"/>
              <a:t>Project Description</a:t>
            </a:r>
            <a:endParaRPr lang="en-US" dirty="0"/>
          </a:p>
          <a:p>
            <a:pPr lvl="1"/>
            <a:r>
              <a:rPr lang="en-US" dirty="0"/>
              <a:t>Scope, objectives, and deliverables</a:t>
            </a:r>
          </a:p>
          <a:p>
            <a:r>
              <a:rPr lang="en-US" b="1" dirty="0"/>
              <a:t>Cost-Benefit Analysis</a:t>
            </a:r>
            <a:endParaRPr lang="en-US" dirty="0"/>
          </a:p>
          <a:p>
            <a:pPr lvl="1"/>
            <a:r>
              <a:rPr lang="en-US" dirty="0"/>
              <a:t>Estimated costs vs. expected benefits</a:t>
            </a:r>
          </a:p>
          <a:p>
            <a:r>
              <a:rPr lang="en-US" b="1" dirty="0"/>
              <a:t>Risk Assessment</a:t>
            </a:r>
            <a:endParaRPr lang="en-US" dirty="0"/>
          </a:p>
          <a:p>
            <a:pPr lvl="1"/>
            <a:r>
              <a:rPr lang="en-US" dirty="0"/>
              <a:t>Key risks and mitigation strategies</a:t>
            </a:r>
          </a:p>
          <a:p>
            <a:r>
              <a:rPr lang="en-US" b="1" dirty="0"/>
              <a:t>Recommendation</a:t>
            </a:r>
            <a:endParaRPr lang="en-US" dirty="0"/>
          </a:p>
          <a:p>
            <a:pPr lvl="1"/>
            <a:r>
              <a:rPr lang="en-US" dirty="0"/>
              <a:t>Why this project should be approved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738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C6C5-AF11-F285-7AB5-A5D1B5AA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Case: Development of a 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E5C38-A53D-1AD7-6B19-20B91B5AD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1. Executive Summary</a:t>
            </a:r>
          </a:p>
          <a:p>
            <a:r>
              <a:rPr lang="en-US" dirty="0"/>
              <a:t>The IT company proposes developing a food ordering system for restaurants and cloud kitchens to streamline order management, improve customer experience, and expand digital reach.</a:t>
            </a:r>
          </a:p>
          <a:p>
            <a:r>
              <a:rPr lang="en-US" b="1" dirty="0"/>
              <a:t>2. Problem Statement</a:t>
            </a:r>
          </a:p>
          <a:p>
            <a:r>
              <a:rPr lang="en-US" dirty="0"/>
              <a:t>Many small and mid-sized restaurants lack an integrated digital platform for managing online orders, leading to missed sales opportunities, inefficient operations, and poor customer engagement.</a:t>
            </a:r>
          </a:p>
          <a:p>
            <a:r>
              <a:rPr lang="en-US" b="1" dirty="0"/>
              <a:t>3. Options Considered</a:t>
            </a:r>
          </a:p>
          <a:p>
            <a:r>
              <a:rPr lang="en-US" b="1" dirty="0"/>
              <a:t>Option 1</a:t>
            </a:r>
            <a:r>
              <a:rPr lang="en-US" dirty="0"/>
              <a:t>: Partner with third-party platforms (e.g., Uber Eats, </a:t>
            </a:r>
            <a:r>
              <a:rPr lang="en-US" dirty="0" err="1"/>
              <a:t>Foodmandu</a:t>
            </a:r>
            <a:r>
              <a:rPr lang="en-US" dirty="0"/>
              <a:t>)</a:t>
            </a:r>
          </a:p>
          <a:p>
            <a:r>
              <a:rPr lang="en-US" b="1" dirty="0"/>
              <a:t>Option 2</a:t>
            </a:r>
            <a:r>
              <a:rPr lang="en-US" dirty="0"/>
              <a:t>: Build a custom food ordering system (recommended)</a:t>
            </a:r>
          </a:p>
          <a:p>
            <a:r>
              <a:rPr lang="en-US" b="1" dirty="0"/>
              <a:t>Option 3</a:t>
            </a:r>
            <a:r>
              <a:rPr lang="en-US" dirty="0"/>
              <a:t>: Use open-source solutions with limited customization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61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445D-AE2A-384D-D687-827065C8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348C-2BA9-022A-4B52-1076B65C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Case: Development of a 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85CD-4969-DC9D-5842-5ED8A2D30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4. Project Description</a:t>
            </a:r>
          </a:p>
          <a:p>
            <a:r>
              <a:rPr lang="en-US" dirty="0"/>
              <a:t>Develop a web and mobile-based food ordering system with:</a:t>
            </a:r>
          </a:p>
          <a:p>
            <a:r>
              <a:rPr lang="en-US" dirty="0"/>
              <a:t>Customer-facing app for browsing menus, placing orders, and making payments</a:t>
            </a:r>
          </a:p>
          <a:p>
            <a:r>
              <a:rPr lang="en-US" dirty="0"/>
              <a:t>Admin dashboard for restaurants to manage orders, inventory, and analytics</a:t>
            </a:r>
          </a:p>
          <a:p>
            <a:r>
              <a:rPr lang="en-US" dirty="0"/>
              <a:t>Integration with payment gateways and delivery tracking</a:t>
            </a:r>
          </a:p>
          <a:p>
            <a:r>
              <a:rPr lang="en-US" dirty="0"/>
              <a:t>Support for promotional campaigns and loyalty programs</a:t>
            </a:r>
          </a:p>
          <a:p>
            <a:r>
              <a:rPr lang="en-US" b="1" dirty="0"/>
              <a:t>5. Cost-Benefit Analysis</a:t>
            </a:r>
          </a:p>
          <a:p>
            <a:r>
              <a:rPr lang="en-US" b="1" dirty="0"/>
              <a:t>Estimated Cost</a:t>
            </a:r>
            <a:r>
              <a:rPr lang="en-US" dirty="0"/>
              <a:t>: $80,000 (design, development, testing, deployment)</a:t>
            </a:r>
          </a:p>
          <a:p>
            <a:r>
              <a:rPr lang="en-US" b="1" dirty="0"/>
              <a:t>Expected Benefits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50% increase in direct online orders</a:t>
            </a:r>
          </a:p>
          <a:p>
            <a:pPr lvl="1"/>
            <a:r>
              <a:rPr lang="en-US" dirty="0"/>
              <a:t>30% reduction in order processing time</a:t>
            </a:r>
          </a:p>
          <a:p>
            <a:pPr lvl="1"/>
            <a:r>
              <a:rPr lang="en-US" dirty="0"/>
              <a:t>$100,000 projected annual revenue from licensing and subscriptions</a:t>
            </a:r>
          </a:p>
          <a:p>
            <a:pPr lvl="1"/>
            <a:r>
              <a:rPr lang="en-US" dirty="0"/>
              <a:t>Enhanced brand visibility and customer retention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397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2FC92-F4A2-A820-E8AA-67F7E047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4EF1-F37B-4600-0809-D632A43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Case: Development of a 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B25FC-CBD8-F1ED-E409-B82FBA92B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 Risk Assessment</a:t>
            </a:r>
          </a:p>
          <a:p>
            <a:r>
              <a:rPr lang="en-US" b="1" dirty="0"/>
              <a:t>Risk</a:t>
            </a:r>
            <a:r>
              <a:rPr lang="en-US" dirty="0"/>
              <a:t>: Low adoption by restaurants</a:t>
            </a:r>
          </a:p>
          <a:p>
            <a:pPr lvl="1"/>
            <a:r>
              <a:rPr lang="en-US" b="1" dirty="0"/>
              <a:t>Mitigation</a:t>
            </a:r>
            <a:r>
              <a:rPr lang="en-US" dirty="0"/>
              <a:t>: Offer free trial and onboarding support</a:t>
            </a:r>
          </a:p>
          <a:p>
            <a:r>
              <a:rPr lang="en-US" b="1" dirty="0"/>
              <a:t>Risk</a:t>
            </a:r>
            <a:r>
              <a:rPr lang="en-US" dirty="0"/>
              <a:t>: Technical issues during peak hours</a:t>
            </a:r>
          </a:p>
          <a:p>
            <a:pPr lvl="1"/>
            <a:r>
              <a:rPr lang="en-US" b="1" dirty="0"/>
              <a:t>Mitigation</a:t>
            </a:r>
            <a:r>
              <a:rPr lang="en-US" dirty="0"/>
              <a:t>: Load testing and cloud-based scaling</a:t>
            </a:r>
          </a:p>
          <a:p>
            <a:r>
              <a:rPr lang="en-US" b="1" dirty="0"/>
              <a:t>7. Recommendation</a:t>
            </a:r>
          </a:p>
          <a:p>
            <a:r>
              <a:rPr lang="en-US" dirty="0"/>
              <a:t>Approve the development of the food ordering system to empower restaurants with digital tools, reduce dependency on third-party platforms, and create a scalable revenue stream for the company.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783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BB52-2847-CB28-831E-3067EDAA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87305-ECB6-EBF8-E8B4-12BA69A66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 the </a:t>
            </a:r>
            <a:r>
              <a:rPr lang="en-US" b="1" dirty="0"/>
              <a:t>Project Initiation Phase</a:t>
            </a:r>
            <a:r>
              <a:rPr lang="en-US" dirty="0"/>
              <a:t> as per the </a:t>
            </a:r>
            <a:r>
              <a:rPr lang="en-US" b="1" dirty="0"/>
              <a:t>PMBOK® Guide</a:t>
            </a:r>
            <a:r>
              <a:rPr lang="en-US" dirty="0"/>
              <a:t>, defining </a:t>
            </a:r>
            <a:r>
              <a:rPr lang="en-US" b="1" dirty="0"/>
              <a:t>project goals and scope</a:t>
            </a:r>
            <a:r>
              <a:rPr lang="en-US" dirty="0"/>
              <a:t> is essential to ensure clarity, alignment, and direction for the project. </a:t>
            </a:r>
          </a:p>
          <a:p>
            <a:r>
              <a:rPr lang="en-US" dirty="0"/>
              <a:t>These elements are typically captured in the </a:t>
            </a:r>
            <a:r>
              <a:rPr lang="en-US" b="1" dirty="0"/>
              <a:t>Project Charter</a:t>
            </a:r>
            <a:r>
              <a:rPr lang="en-US" dirty="0"/>
              <a:t> and further refined in the </a:t>
            </a:r>
            <a:r>
              <a:rPr lang="en-US" b="1" dirty="0"/>
              <a:t>Scope Statement</a:t>
            </a:r>
            <a:r>
              <a:rPr lang="en-US" dirty="0"/>
              <a:t> during planning.</a:t>
            </a:r>
          </a:p>
          <a:p>
            <a:r>
              <a:rPr lang="en-US" dirty="0"/>
              <a:t>Project goals are </a:t>
            </a:r>
            <a:r>
              <a:rPr lang="en-US" b="1" dirty="0"/>
              <a:t>high-level statements</a:t>
            </a:r>
            <a:r>
              <a:rPr lang="en-US" dirty="0"/>
              <a:t> that describe what the project aims to achieve. They should align with business objectives and provide a clear purpose.</a:t>
            </a:r>
          </a:p>
          <a:p>
            <a:pPr marL="0" indent="0">
              <a:buNone/>
            </a:pPr>
            <a:r>
              <a:rPr lang="en-US" b="1" dirty="0"/>
              <a:t>Characteristics of Good Goals (SMART):</a:t>
            </a:r>
          </a:p>
          <a:p>
            <a:r>
              <a:rPr lang="en-US" b="1" dirty="0"/>
              <a:t>S</a:t>
            </a:r>
            <a:r>
              <a:rPr lang="en-US" dirty="0"/>
              <a:t>pecific</a:t>
            </a:r>
          </a:p>
          <a:p>
            <a:r>
              <a:rPr lang="en-US" b="1" dirty="0"/>
              <a:t>M</a:t>
            </a:r>
            <a:r>
              <a:rPr lang="en-US" dirty="0"/>
              <a:t>easurable</a:t>
            </a:r>
          </a:p>
          <a:p>
            <a:r>
              <a:rPr lang="en-US" b="1" dirty="0"/>
              <a:t>A</a:t>
            </a:r>
            <a:r>
              <a:rPr lang="en-US" dirty="0"/>
              <a:t>chievable</a:t>
            </a:r>
          </a:p>
          <a:p>
            <a:r>
              <a:rPr lang="en-US" b="1" dirty="0"/>
              <a:t>R</a:t>
            </a:r>
            <a:r>
              <a:rPr lang="en-US" dirty="0"/>
              <a:t>elevant</a:t>
            </a:r>
          </a:p>
          <a:p>
            <a:r>
              <a:rPr lang="en-US" b="1" dirty="0"/>
              <a:t>T</a:t>
            </a:r>
            <a:r>
              <a:rPr lang="en-US" dirty="0"/>
              <a:t>ime-bound</a:t>
            </a:r>
          </a:p>
          <a:p>
            <a:pPr marL="0" indent="0">
              <a:buNone/>
            </a:pPr>
            <a:r>
              <a:rPr lang="en-US" b="1" dirty="0"/>
              <a:t>Example (IT Project: Mobile Banking App)</a:t>
            </a:r>
          </a:p>
          <a:p>
            <a:r>
              <a:rPr lang="en-US" b="1" dirty="0"/>
              <a:t>Goal</a:t>
            </a:r>
            <a:r>
              <a:rPr lang="en-US" dirty="0"/>
              <a:t>: Develop a secure and user-friendly mobile banking app to enable customers to manage accounts, transfer funds, and pay bills by Q4 2025.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6078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045D4-5C73-E4A7-882F-C1FE5273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Goals vs Objectives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DEC45B-9754-E03B-8D44-1FA935228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366" y="2194102"/>
            <a:ext cx="3427001" cy="390858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Goals vs. Objectives: Key Differences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F0AB10-2421-DD59-BF9C-48B184787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990578"/>
              </p:ext>
            </p:extLst>
          </p:nvPr>
        </p:nvGraphicFramePr>
        <p:xfrm>
          <a:off x="5445457" y="1493780"/>
          <a:ext cx="6155143" cy="3894182"/>
        </p:xfrm>
        <a:graphic>
          <a:graphicData uri="http://schemas.openxmlformats.org/drawingml/2006/table">
            <a:tbl>
              <a:tblPr/>
              <a:tblGrid>
                <a:gridCol w="1761214">
                  <a:extLst>
                    <a:ext uri="{9D8B030D-6E8A-4147-A177-3AD203B41FA5}">
                      <a16:colId xmlns:a16="http://schemas.microsoft.com/office/drawing/2014/main" val="1029164972"/>
                    </a:ext>
                  </a:extLst>
                </a:gridCol>
                <a:gridCol w="2112416">
                  <a:extLst>
                    <a:ext uri="{9D8B030D-6E8A-4147-A177-3AD203B41FA5}">
                      <a16:colId xmlns:a16="http://schemas.microsoft.com/office/drawing/2014/main" val="3137447081"/>
                    </a:ext>
                  </a:extLst>
                </a:gridCol>
                <a:gridCol w="2281513">
                  <a:extLst>
                    <a:ext uri="{9D8B030D-6E8A-4147-A177-3AD203B41FA5}">
                      <a16:colId xmlns:a16="http://schemas.microsoft.com/office/drawing/2014/main" val="3030958979"/>
                    </a:ext>
                  </a:extLst>
                </a:gridCol>
              </a:tblGrid>
              <a:tr h="41598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Goals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Objectives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31496"/>
                  </a:ext>
                </a:extLst>
              </a:tr>
              <a:tr h="9779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Definition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Broad, general intentions or desired outcomes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Specific, measurable steps to achieve a goal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76850"/>
                  </a:ext>
                </a:extLst>
              </a:tr>
              <a:tr h="696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Scope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High-level and strategic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Narrow and tactical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902659"/>
                  </a:ext>
                </a:extLst>
              </a:tr>
              <a:tr h="696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Timeframe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Long-term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Short- to medium-term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48478"/>
                  </a:ext>
                </a:extLst>
              </a:tr>
              <a:tr h="696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Measurability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Often not directly measurable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Clearly measurable and trackable</a:t>
                      </a:r>
                    </a:p>
                  </a:txBody>
                  <a:tcPr marL="78045" marR="52030" marT="52030" marB="4552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315860"/>
                  </a:ext>
                </a:extLst>
              </a:tr>
              <a:tr h="4094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Focus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045" marR="52030" marT="52030" marB="3902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Vision-oriented</a:t>
                      </a:r>
                    </a:p>
                  </a:txBody>
                  <a:tcPr marL="78045" marR="52030" marT="52030" marB="3902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Action-oriented</a:t>
                      </a:r>
                    </a:p>
                  </a:txBody>
                  <a:tcPr marL="78045" marR="52030" marT="52030" marB="3902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090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5E6B-C26C-D7F5-F933-976D15A7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Goals</a:t>
            </a:r>
            <a:r>
              <a:rPr lang="en-US" sz="2800" dirty="0"/>
              <a:t> are the </a:t>
            </a:r>
            <a:r>
              <a:rPr lang="en-US" sz="2800" i="1" dirty="0"/>
              <a:t>"what"</a:t>
            </a:r>
            <a:r>
              <a:rPr lang="en-US" sz="2800" dirty="0"/>
              <a:t> you want to achieve.</a:t>
            </a:r>
            <a:br>
              <a:rPr lang="en-US" sz="2800" dirty="0"/>
            </a:br>
            <a:r>
              <a:rPr lang="en-US" sz="2800" b="1" dirty="0"/>
              <a:t>Objectives</a:t>
            </a:r>
            <a:r>
              <a:rPr lang="en-US" sz="2800" dirty="0"/>
              <a:t> are the </a:t>
            </a:r>
            <a:r>
              <a:rPr lang="en-US" sz="2800" i="1" dirty="0"/>
              <a:t>"how"</a:t>
            </a:r>
            <a:r>
              <a:rPr lang="en-US" sz="2800" dirty="0"/>
              <a:t> you will achieve it.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D019-ED91-26E0-6A90-35CD1823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Examples</a:t>
            </a:r>
          </a:p>
          <a:p>
            <a:pPr marL="0" indent="0">
              <a:buNone/>
            </a:pPr>
            <a:r>
              <a:rPr lang="en-US" b="1" dirty="0"/>
              <a:t>Business Context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Increase customer satisfaction.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Improve customer support response time from 24 hours to 6 hours within the next 3 months.</a:t>
            </a:r>
          </a:p>
          <a:p>
            <a:pPr marL="0" indent="0">
              <a:buNone/>
            </a:pPr>
            <a:r>
              <a:rPr lang="en-US" b="1" dirty="0"/>
              <a:t>Software Development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Build a user-friendly mobile app.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Complete UI/UX design for the app by August 15th.</a:t>
            </a:r>
          </a:p>
          <a:p>
            <a:pPr marL="0" indent="0">
              <a:buNone/>
            </a:pPr>
            <a:r>
              <a:rPr lang="en-US" b="1" dirty="0"/>
              <a:t>Education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Become fluent in Spanish.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Complete B2 level Spanish course and pass DELE exam by December.</a:t>
            </a:r>
          </a:p>
          <a:p>
            <a:pPr marL="0" indent="0">
              <a:buNone/>
            </a:pPr>
            <a:r>
              <a:rPr lang="en-US" b="1" dirty="0"/>
              <a:t>Personal Development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 Improve physical fitness.</a:t>
            </a:r>
          </a:p>
          <a:p>
            <a:pPr lvl="1"/>
            <a:r>
              <a:rPr lang="en-US" b="1" dirty="0"/>
              <a:t>Objective:</a:t>
            </a:r>
            <a:r>
              <a:rPr lang="en-US" dirty="0"/>
              <a:t> Exercise 4 times a week for 30 minutes over the next 6 months.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298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396-6F22-3E97-4012-D7593668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CD6C9-C744-B508-50C5-D3E4BC1C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goals are a framework used to set clear, achievable objectives. The acronym </a:t>
            </a:r>
            <a:r>
              <a:rPr lang="en-US" b="1" dirty="0"/>
              <a:t>SMART</a:t>
            </a:r>
            <a:r>
              <a:rPr lang="en-US" dirty="0"/>
              <a:t> stands for: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 – Specific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 – Measurable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 – Achievable</a:t>
            </a:r>
          </a:p>
          <a:p>
            <a:pPr lvl="1"/>
            <a:r>
              <a:rPr lang="en-US" b="1" dirty="0"/>
              <a:t>R</a:t>
            </a:r>
            <a:r>
              <a:rPr lang="en-US" dirty="0"/>
              <a:t> – Relevant</a:t>
            </a:r>
          </a:p>
          <a:p>
            <a:pPr lvl="1"/>
            <a:r>
              <a:rPr lang="en-US" b="1" dirty="0"/>
              <a:t>T</a:t>
            </a:r>
            <a:r>
              <a:rPr lang="en-US" dirty="0"/>
              <a:t> – Time-bound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9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AB20-16AE-A5E6-3E6A-BCB4A52D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7D1E-2A67-9657-993D-7DEEA261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21293-0B41-8FAF-16DA-E629387F6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Specific</a:t>
            </a:r>
          </a:p>
          <a:p>
            <a:r>
              <a:rPr lang="en-US" dirty="0"/>
              <a:t>A goal should be clear and well-defined.</a:t>
            </a:r>
          </a:p>
          <a:p>
            <a:r>
              <a:rPr lang="en-US" dirty="0"/>
              <a:t>✅ </a:t>
            </a:r>
            <a:r>
              <a:rPr lang="en-US" b="1" dirty="0"/>
              <a:t>Specific Example</a:t>
            </a:r>
            <a:r>
              <a:rPr lang="en-US" dirty="0"/>
              <a:t>: “I want to increase my website traffic by 20% by publishing two blog posts per week.”</a:t>
            </a:r>
          </a:p>
          <a:p>
            <a:r>
              <a:rPr lang="en-US" dirty="0"/>
              <a:t>❌ </a:t>
            </a:r>
            <a:r>
              <a:rPr lang="en-US" b="1" dirty="0"/>
              <a:t>Not Specific Example</a:t>
            </a:r>
            <a:r>
              <a:rPr lang="en-US" dirty="0"/>
              <a:t>: “I want to improve my website.”</a:t>
            </a:r>
          </a:p>
          <a:p>
            <a:r>
              <a:rPr lang="en-US" b="1" dirty="0"/>
              <a:t>Why it matters</a:t>
            </a:r>
            <a:r>
              <a:rPr lang="en-US" dirty="0"/>
              <a:t>: Specific goals eliminate ambiguity and help you focus your efforts.</a:t>
            </a:r>
          </a:p>
          <a:p>
            <a:r>
              <a:rPr lang="en-US" b="1" dirty="0"/>
              <a:t>2. Measurable</a:t>
            </a:r>
          </a:p>
          <a:p>
            <a:r>
              <a:rPr lang="en-US" dirty="0"/>
              <a:t>You should be able to track progress and know when the goal is achieved.</a:t>
            </a:r>
          </a:p>
          <a:p>
            <a:r>
              <a:rPr lang="en-US" dirty="0"/>
              <a:t>✅ </a:t>
            </a:r>
            <a:r>
              <a:rPr lang="en-US" b="1" dirty="0"/>
              <a:t>Measurable Example</a:t>
            </a:r>
            <a:r>
              <a:rPr lang="en-US" dirty="0"/>
              <a:t>: “I want to lose 5 kg in 3 months.”</a:t>
            </a:r>
          </a:p>
          <a:p>
            <a:r>
              <a:rPr lang="en-US" dirty="0"/>
              <a:t>❌ </a:t>
            </a:r>
            <a:r>
              <a:rPr lang="en-US" b="1" dirty="0"/>
              <a:t>Not Measurable Example</a:t>
            </a:r>
            <a:r>
              <a:rPr lang="en-US" dirty="0"/>
              <a:t>: “I want to get healthier.”</a:t>
            </a:r>
          </a:p>
          <a:p>
            <a:r>
              <a:rPr lang="en-US" b="1" dirty="0"/>
              <a:t>Why it matters</a:t>
            </a:r>
            <a:r>
              <a:rPr lang="en-US" dirty="0"/>
              <a:t>: Measurable goals allow for tracking and motivation through progress.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1327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D56A-ED94-F502-FF9A-B98469BE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5E2D-8BA4-329A-64F8-9C29AE90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9E40A-F4E8-A7FD-0EFB-F284ED4C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3. Achievable</a:t>
            </a:r>
          </a:p>
          <a:p>
            <a:r>
              <a:rPr lang="en-US" dirty="0"/>
              <a:t>The goal should be realistic given your resources and constraints.</a:t>
            </a:r>
          </a:p>
          <a:p>
            <a:r>
              <a:rPr lang="en-US" dirty="0"/>
              <a:t>✅ </a:t>
            </a:r>
            <a:r>
              <a:rPr lang="en-US" b="1" dirty="0"/>
              <a:t>Achievable Example</a:t>
            </a:r>
            <a:r>
              <a:rPr lang="en-US" dirty="0"/>
              <a:t>: “I will save $200 per month by cutting down on dining out.”</a:t>
            </a:r>
          </a:p>
          <a:p>
            <a:r>
              <a:rPr lang="en-US" dirty="0"/>
              <a:t>❌ </a:t>
            </a:r>
            <a:r>
              <a:rPr lang="en-US" b="1" dirty="0"/>
              <a:t>Not Achievable Example</a:t>
            </a:r>
            <a:r>
              <a:rPr lang="en-US" dirty="0"/>
              <a:t>: “I will become a millionaire in one month without any investment.”</a:t>
            </a:r>
          </a:p>
          <a:p>
            <a:r>
              <a:rPr lang="en-US" b="1" dirty="0"/>
              <a:t>Why it matters</a:t>
            </a:r>
            <a:r>
              <a:rPr lang="en-US" dirty="0"/>
              <a:t>: Unrealistic goals can lead to frustration and failure.</a:t>
            </a:r>
          </a:p>
          <a:p>
            <a:r>
              <a:rPr lang="en-US" b="1" dirty="0"/>
              <a:t>4. Relevant</a:t>
            </a:r>
          </a:p>
          <a:p>
            <a:r>
              <a:rPr lang="en-US" dirty="0"/>
              <a:t>The goal should align with your broader objectives or values.</a:t>
            </a:r>
          </a:p>
          <a:p>
            <a:r>
              <a:rPr lang="en-US" dirty="0"/>
              <a:t>✅ </a:t>
            </a:r>
            <a:r>
              <a:rPr lang="en-US" b="1" dirty="0"/>
              <a:t>Relevant Example</a:t>
            </a:r>
            <a:r>
              <a:rPr lang="en-US" dirty="0"/>
              <a:t>: “I want to learn Python to improve my data analysis skills for my job.”</a:t>
            </a:r>
          </a:p>
          <a:p>
            <a:r>
              <a:rPr lang="en-US" dirty="0"/>
              <a:t>❌ </a:t>
            </a:r>
            <a:r>
              <a:rPr lang="en-US" b="1" dirty="0"/>
              <a:t>Not Relevant Example</a:t>
            </a:r>
            <a:r>
              <a:rPr lang="en-US" dirty="0"/>
              <a:t>: “I want to learn guitar even though I have no interest in music and it doesn’t help my career.”</a:t>
            </a:r>
          </a:p>
          <a:p>
            <a:r>
              <a:rPr lang="en-US" b="1" dirty="0"/>
              <a:t>Why it matters</a:t>
            </a:r>
            <a:r>
              <a:rPr lang="en-US" dirty="0"/>
              <a:t>: Relevant goals keep you focused on what truly matters.</a:t>
            </a:r>
          </a:p>
          <a:p>
            <a:r>
              <a:rPr lang="en-US" b="1" dirty="0"/>
              <a:t>5. Time-bound</a:t>
            </a:r>
          </a:p>
          <a:p>
            <a:r>
              <a:rPr lang="en-US" dirty="0"/>
              <a:t>A goal should have a deadline or timeframe.</a:t>
            </a:r>
          </a:p>
          <a:p>
            <a:r>
              <a:rPr lang="en-US" dirty="0"/>
              <a:t>✅ </a:t>
            </a:r>
            <a:r>
              <a:rPr lang="en-US" b="1" dirty="0"/>
              <a:t>Time-bound Example</a:t>
            </a:r>
            <a:r>
              <a:rPr lang="en-US" dirty="0"/>
              <a:t>: “I will finish writing my thesis by October 30.”</a:t>
            </a:r>
          </a:p>
          <a:p>
            <a:r>
              <a:rPr lang="en-US" dirty="0"/>
              <a:t>❌ </a:t>
            </a:r>
            <a:r>
              <a:rPr lang="en-US" b="1" dirty="0"/>
              <a:t>Not Time-bound Example</a:t>
            </a:r>
            <a:r>
              <a:rPr lang="en-US" dirty="0"/>
              <a:t>: “I will write my thesis someday.”</a:t>
            </a:r>
          </a:p>
          <a:p>
            <a:r>
              <a:rPr lang="en-US" b="1" dirty="0"/>
              <a:t>Why it matters</a:t>
            </a:r>
            <a:r>
              <a:rPr lang="en-US" dirty="0"/>
              <a:t>: Deadlines create urgency and help prioritize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71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C8DC15-7347-9DAE-FAA7-A8E559CDF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0" y="643466"/>
            <a:ext cx="99041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38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188FCC-900E-8863-1097-C6CE98B13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851" y="643466"/>
            <a:ext cx="986029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86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6BF1-476F-C781-483A-972F24AE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C9955-A2B8-BB9F-B3A1-7764300CB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CCF9D-FA01-CA65-B22E-506CEEDB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887"/>
            <a:ext cx="11277600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327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16764-E289-0318-2381-9A21282C6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0" y="643466"/>
            <a:ext cx="99041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253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DD3C-DD8F-B165-8725-7B87939B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7560-CA1B-D17D-82F7-2C547BC38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D98C2-354F-03A3-EF0B-EE4989C04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866775"/>
            <a:ext cx="9553575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371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5B13EB-9CCC-EC3F-F4BC-E440B616A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020" y="643466"/>
            <a:ext cx="1003795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64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C975E-9B47-A1B1-CDDB-4D949D23F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93461"/>
            <a:ext cx="10905066" cy="447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68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C6F6AD-502D-53E4-CA86-8F459EFD6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88991"/>
            <a:ext cx="10905066" cy="488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207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A368-9D48-3F89-5E37-27C2AF39A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876F9-0173-EA88-80FA-BDF46A99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CEC08-4029-30EA-9547-358E729AD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614362"/>
            <a:ext cx="82581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303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survey&#10;&#10;AI-generated content may be incorrect.">
            <a:extLst>
              <a:ext uri="{FF2B5EF4-FFF2-40B4-BE49-F238E27FC236}">
                <a16:creationId xmlns:a16="http://schemas.microsoft.com/office/drawing/2014/main" id="{7DE68DCD-2CC6-D75B-4B1B-BD888D16D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8850" y="643466"/>
            <a:ext cx="787430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386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CD0EC4-5478-D58D-78E9-2A7B18E99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61839"/>
            <a:ext cx="10905066" cy="55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825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0A44-14FE-72D5-7980-7F591F77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ACE19-4F1A-E775-49CA-6400ED67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Scope defines the </a:t>
            </a:r>
            <a:r>
              <a:rPr lang="en-US" b="1" dirty="0"/>
              <a:t>boundaries</a:t>
            </a:r>
            <a:r>
              <a:rPr lang="en-US" dirty="0"/>
              <a:t> of the project—what is included and what is excluded. It outlines the </a:t>
            </a:r>
            <a:r>
              <a:rPr lang="en-US" b="1" dirty="0"/>
              <a:t>deliverables</a:t>
            </a:r>
            <a:r>
              <a:rPr lang="en-US" dirty="0"/>
              <a:t>, </a:t>
            </a:r>
            <a:r>
              <a:rPr lang="en-US" b="1" dirty="0"/>
              <a:t>features</a:t>
            </a:r>
            <a:r>
              <a:rPr lang="en-US" dirty="0"/>
              <a:t>, and </a:t>
            </a:r>
            <a:r>
              <a:rPr lang="en-US" b="1" dirty="0"/>
              <a:t>work required</a:t>
            </a:r>
            <a:r>
              <a:rPr lang="en-US" dirty="0"/>
              <a:t> to complete the project.</a:t>
            </a:r>
          </a:p>
          <a:p>
            <a:r>
              <a:rPr lang="en-US" b="1" dirty="0"/>
              <a:t>➤ Scope Includes:</a:t>
            </a:r>
          </a:p>
          <a:p>
            <a:r>
              <a:rPr lang="en-US" b="1" dirty="0"/>
              <a:t>Inclusions</a:t>
            </a:r>
            <a:r>
              <a:rPr lang="en-US" dirty="0"/>
              <a:t>: Features, functionalities, platforms</a:t>
            </a:r>
          </a:p>
          <a:p>
            <a:r>
              <a:rPr lang="en-US" b="1" dirty="0"/>
              <a:t>Exclusions</a:t>
            </a:r>
            <a:r>
              <a:rPr lang="en-US" dirty="0"/>
              <a:t>: What will not be part of the project</a:t>
            </a:r>
          </a:p>
          <a:p>
            <a:r>
              <a:rPr lang="en-US" b="1" dirty="0"/>
              <a:t>Constraints</a:t>
            </a:r>
            <a:r>
              <a:rPr lang="en-US" dirty="0"/>
              <a:t>: Time, budget, technology</a:t>
            </a:r>
          </a:p>
          <a:p>
            <a:r>
              <a:rPr lang="en-US" b="1" dirty="0"/>
              <a:t>Assumptions</a:t>
            </a:r>
            <a:r>
              <a:rPr lang="en-US" dirty="0"/>
              <a:t>: Conditions assumed to be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273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A18C-5FA8-30A9-24E5-C7FAB1DC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97DD-4912-1FC1-799E-9B048AEFF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Example (IT Project: Food Ordering System)</a:t>
            </a:r>
          </a:p>
          <a:p>
            <a:r>
              <a:rPr lang="en-US" b="1" dirty="0"/>
              <a:t>Scope Includes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Development of mobile and web apps for customers</a:t>
            </a:r>
          </a:p>
          <a:p>
            <a:pPr lvl="1"/>
            <a:r>
              <a:rPr lang="en-US" dirty="0"/>
              <a:t>Admin dashboard for restaurants</a:t>
            </a:r>
          </a:p>
          <a:p>
            <a:pPr lvl="1"/>
            <a:r>
              <a:rPr lang="en-US" dirty="0"/>
              <a:t>Integration with payment gateways</a:t>
            </a:r>
          </a:p>
          <a:p>
            <a:pPr lvl="1"/>
            <a:r>
              <a:rPr lang="en-US" dirty="0"/>
              <a:t>Real-time order tracking</a:t>
            </a:r>
          </a:p>
          <a:p>
            <a:r>
              <a:rPr lang="en-US" b="1" dirty="0"/>
              <a:t>Scope Excludes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Delivery logistics management</a:t>
            </a:r>
          </a:p>
          <a:p>
            <a:pPr lvl="1"/>
            <a:r>
              <a:rPr lang="en-US" dirty="0"/>
              <a:t>POS system integration</a:t>
            </a:r>
          </a:p>
          <a:p>
            <a:r>
              <a:rPr lang="en-US" b="1" dirty="0"/>
              <a:t>Constraints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Budget capped at $80,000</a:t>
            </a:r>
          </a:p>
          <a:p>
            <a:pPr lvl="1"/>
            <a:r>
              <a:rPr lang="en-US" dirty="0"/>
              <a:t>Must be completed within 4 months</a:t>
            </a:r>
          </a:p>
          <a:p>
            <a:r>
              <a:rPr lang="en-US" b="1" dirty="0"/>
              <a:t>Assumptions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Restaurants will provide menu data in standardized format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06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1D7B-DA18-70C5-EB7C-7AEE562C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034F9-2896-DE52-6C03-3A2E9CB2A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the </a:t>
            </a:r>
            <a:r>
              <a:rPr lang="en-US" b="1" dirty="0"/>
              <a:t>Project Initiation Phase</a:t>
            </a:r>
            <a:r>
              <a:rPr lang="en-US" dirty="0"/>
              <a:t>, selecting the right project is crucial to ensure that resources are invested in initiatives that align with strategic goals and deliver value. </a:t>
            </a:r>
          </a:p>
          <a:p>
            <a:r>
              <a:rPr lang="en-US" dirty="0"/>
              <a:t>The </a:t>
            </a:r>
            <a:r>
              <a:rPr lang="en-US" b="1" dirty="0"/>
              <a:t>PMBOK® Guide</a:t>
            </a:r>
            <a:r>
              <a:rPr lang="en-US" dirty="0"/>
              <a:t> outlines several </a:t>
            </a:r>
            <a:r>
              <a:rPr lang="en-US" b="1" dirty="0"/>
              <a:t>project selection methods</a:t>
            </a:r>
            <a:r>
              <a:rPr lang="en-US" dirty="0"/>
              <a:t> that help organizations evaluate and prioritize projects objectively.</a:t>
            </a:r>
          </a:p>
          <a:p>
            <a:pPr marL="0" indent="0">
              <a:buNone/>
            </a:pPr>
            <a:r>
              <a:rPr lang="en-US" b="1" dirty="0"/>
              <a:t>Why Are Project Selection Methods Needed?</a:t>
            </a:r>
          </a:p>
          <a:p>
            <a:r>
              <a:rPr lang="en-US" dirty="0"/>
              <a:t>To </a:t>
            </a:r>
            <a:r>
              <a:rPr lang="en-US" b="1" dirty="0"/>
              <a:t>maximize ROI</a:t>
            </a:r>
            <a:r>
              <a:rPr lang="en-US" dirty="0"/>
              <a:t> and strategic alignment</a:t>
            </a:r>
          </a:p>
          <a:p>
            <a:r>
              <a:rPr lang="en-US" dirty="0"/>
              <a:t>To </a:t>
            </a:r>
            <a:r>
              <a:rPr lang="en-US" b="1" dirty="0"/>
              <a:t>prioritize</a:t>
            </a:r>
            <a:r>
              <a:rPr lang="en-US" dirty="0"/>
              <a:t> among competing projects</a:t>
            </a:r>
          </a:p>
          <a:p>
            <a:r>
              <a:rPr lang="en-US" dirty="0"/>
              <a:t>To </a:t>
            </a:r>
            <a:r>
              <a:rPr lang="en-US" b="1" dirty="0"/>
              <a:t>justify investment</a:t>
            </a:r>
            <a:r>
              <a:rPr lang="en-US" dirty="0"/>
              <a:t> decisions</a:t>
            </a:r>
          </a:p>
          <a:p>
            <a:r>
              <a:rPr lang="en-US" dirty="0"/>
              <a:t>To </a:t>
            </a:r>
            <a:r>
              <a:rPr lang="en-US" b="1" dirty="0"/>
              <a:t>reduce risk</a:t>
            </a:r>
            <a:r>
              <a:rPr lang="en-US" dirty="0"/>
              <a:t> and improve resource allocation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178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5179C-AF3A-0406-4884-0F483EB6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A6FAD-6B3E-B643-156F-C4096D2E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b="1" dirty="0"/>
              <a:t>Common Project Selection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C19D9-566B-709E-2298-B36EE4500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714159"/>
            <a:ext cx="9875259" cy="21478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CE17-6768-829D-AD4C-ACD627BE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 fontScale="55000" lnSpcReduction="20000"/>
          </a:bodyPr>
          <a:lstStyle/>
          <a:p>
            <a:r>
              <a:rPr lang="en-US" sz="2000" b="1" dirty="0"/>
              <a:t>Net Present Value (NPV)</a:t>
            </a:r>
          </a:p>
          <a:p>
            <a:r>
              <a:rPr lang="en-US" sz="2000" dirty="0"/>
              <a:t>NPV is the </a:t>
            </a:r>
            <a:r>
              <a:rPr lang="en-US" sz="2000" b="1" dirty="0"/>
              <a:t>difference between the present value of cash inflows and outflows</a:t>
            </a:r>
            <a:r>
              <a:rPr lang="en-US" sz="2000" dirty="0"/>
              <a:t> over a project's lifetime. It helps determine whether a project will generate more value than it costs.</a:t>
            </a:r>
          </a:p>
          <a:p>
            <a:r>
              <a:rPr lang="en-US" b="1" dirty="0"/>
              <a:t>Net Present Value (NPV)</a:t>
            </a:r>
            <a:r>
              <a:rPr lang="en-US" dirty="0"/>
              <a:t> is a financial metric used to evaluate the profitability of a project. It calculates the </a:t>
            </a:r>
            <a:r>
              <a:rPr lang="en-US" b="1" dirty="0"/>
              <a:t>present value of expected future cash flows</a:t>
            </a:r>
            <a:r>
              <a:rPr lang="en-US" dirty="0"/>
              <a:t> minus the </a:t>
            </a:r>
            <a:r>
              <a:rPr lang="en-US" b="1" dirty="0"/>
              <a:t>initial investment</a:t>
            </a:r>
            <a:r>
              <a:rPr lang="en-US" dirty="0"/>
              <a:t>.</a:t>
            </a:r>
          </a:p>
          <a:p>
            <a:r>
              <a:rPr lang="en-US" b="1" dirty="0"/>
              <a:t>Net Present Value (NPV)</a:t>
            </a:r>
            <a:r>
              <a:rPr lang="en-US" dirty="0"/>
              <a:t> tells you </a:t>
            </a:r>
            <a:r>
              <a:rPr lang="en-US" b="1" dirty="0"/>
              <a:t>how much money a project will make or lose</a:t>
            </a:r>
            <a:r>
              <a:rPr lang="en-US" dirty="0"/>
              <a:t>, after considering the </a:t>
            </a:r>
            <a:r>
              <a:rPr lang="en-US" b="1" dirty="0"/>
              <a:t>value of money over time</a:t>
            </a:r>
            <a:r>
              <a:rPr lang="en-US" dirty="0"/>
              <a:t>.</a:t>
            </a:r>
          </a:p>
          <a:p>
            <a:r>
              <a:rPr lang="en-US" dirty="0"/>
              <a:t>“If I invest money in this project today, will I get more money back in the future—and how much more?”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46288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258B-44A2-4CC4-6E5C-92EE29AF0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ABA2-3DA8-7B2C-365C-E9898451E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Where:</a:t>
            </a:r>
          </a:p>
          <a:p>
            <a:r>
              <a:rPr lang="en-US" dirty="0"/>
              <a:t>Rt​ = Net cash inflow during period </a:t>
            </a:r>
            <a:r>
              <a:rPr lang="en-US" dirty="0" err="1"/>
              <a:t>t</a:t>
            </a:r>
            <a:r>
              <a:rPr lang="en-US" i="1" dirty="0" err="1"/>
              <a:t>t</a:t>
            </a:r>
            <a:endParaRPr lang="en-US" dirty="0"/>
          </a:p>
          <a:p>
            <a:r>
              <a:rPr lang="en-US" dirty="0" err="1"/>
              <a:t>i</a:t>
            </a:r>
            <a:r>
              <a:rPr lang="en-US" dirty="0"/>
              <a:t> = Discount rate</a:t>
            </a:r>
          </a:p>
          <a:p>
            <a:r>
              <a:rPr lang="en-US" dirty="0"/>
              <a:t>t = Time period</a:t>
            </a:r>
          </a:p>
          <a:p>
            <a:r>
              <a:rPr lang="en-US" dirty="0"/>
              <a:t>C0 = Initial investment</a:t>
            </a:r>
          </a:p>
          <a:p>
            <a:pPr marL="0" indent="0">
              <a:buNone/>
            </a:pPr>
            <a:r>
              <a:rPr lang="en-US" b="1" dirty="0"/>
              <a:t>Decision Rule</a:t>
            </a:r>
          </a:p>
          <a:p>
            <a:r>
              <a:rPr lang="en-US" dirty="0"/>
              <a:t>If </a:t>
            </a:r>
            <a:r>
              <a:rPr lang="en-US" b="1" dirty="0"/>
              <a:t>NPV &gt; 0</a:t>
            </a:r>
            <a:r>
              <a:rPr lang="en-US" dirty="0"/>
              <a:t> → Accept the project (profitable)</a:t>
            </a:r>
          </a:p>
          <a:p>
            <a:r>
              <a:rPr lang="en-US" dirty="0"/>
              <a:t>If </a:t>
            </a:r>
            <a:r>
              <a:rPr lang="en-US" b="1" dirty="0"/>
              <a:t>NPV &lt; 0</a:t>
            </a:r>
            <a:r>
              <a:rPr lang="en-US" dirty="0"/>
              <a:t> → Reject the project (loss-making)</a:t>
            </a:r>
          </a:p>
          <a:p>
            <a:r>
              <a:rPr lang="en-US" dirty="0"/>
              <a:t>If </a:t>
            </a:r>
            <a:r>
              <a:rPr lang="en-US" b="1" dirty="0"/>
              <a:t>NPV = 0</a:t>
            </a:r>
            <a:r>
              <a:rPr lang="en-US" dirty="0"/>
              <a:t> → Indifferent (break-even)</a:t>
            </a:r>
          </a:p>
          <a:p>
            <a:pPr marL="0" indent="0">
              <a:buNone/>
            </a:pPr>
            <a:r>
              <a:rPr lang="en-US" b="1" dirty="0"/>
              <a:t>Example (IT Project: Cloud Migration)</a:t>
            </a:r>
          </a:p>
          <a:p>
            <a:r>
              <a:rPr lang="en-US" dirty="0"/>
              <a:t>Initial cost: $100,000</a:t>
            </a:r>
          </a:p>
          <a:p>
            <a:r>
              <a:rPr lang="en-US" dirty="0"/>
              <a:t>Expected annual savings: $30,000 for 5 years</a:t>
            </a:r>
          </a:p>
          <a:p>
            <a:r>
              <a:rPr lang="en-US" dirty="0"/>
              <a:t>Discount rate: 10%</a:t>
            </a:r>
          </a:p>
          <a:p>
            <a:r>
              <a:rPr lang="en-US" dirty="0"/>
              <a:t>If NPV &gt; 0, the project is financially viable.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561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6EA59-7946-A361-4739-11D77C3F6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9616C-778D-EDBE-863D-88E4D17A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000" b="1"/>
              <a:t>Example 1: Software Development Project</a:t>
            </a:r>
          </a:p>
          <a:p>
            <a:r>
              <a:rPr lang="en-US" sz="1000" b="1"/>
              <a:t>Initial Investment</a:t>
            </a:r>
            <a:r>
              <a:rPr lang="en-US" sz="1000"/>
              <a:t>: $100,000</a:t>
            </a:r>
          </a:p>
          <a:p>
            <a:r>
              <a:rPr lang="en-US" sz="1000" b="1"/>
              <a:t>Expected Cash Inflows</a:t>
            </a:r>
            <a:r>
              <a:rPr lang="en-US" sz="1000"/>
              <a:t>:</a:t>
            </a:r>
          </a:p>
          <a:p>
            <a:pPr lvl="1"/>
            <a:r>
              <a:rPr lang="en-US" sz="1000"/>
              <a:t>Year 1: $30,000</a:t>
            </a:r>
          </a:p>
          <a:p>
            <a:pPr lvl="1"/>
            <a:r>
              <a:rPr lang="en-US" sz="1000"/>
              <a:t>Year 2: $40,000</a:t>
            </a:r>
          </a:p>
          <a:p>
            <a:pPr lvl="1"/>
            <a:r>
              <a:rPr lang="en-US" sz="1000"/>
              <a:t>Year 3: $50,000</a:t>
            </a:r>
          </a:p>
          <a:p>
            <a:r>
              <a:rPr lang="en-US" sz="1000" b="1"/>
              <a:t>Discount Rate</a:t>
            </a:r>
            <a:r>
              <a:rPr lang="en-US" sz="1000"/>
              <a:t>: 10%</a:t>
            </a:r>
          </a:p>
          <a:p>
            <a:pPr marL="0" indent="0">
              <a:buNone/>
            </a:pPr>
            <a:endParaRPr lang="en-US" sz="1000"/>
          </a:p>
        </p:txBody>
      </p:sp>
      <p:pic>
        <p:nvPicPr>
          <p:cNvPr id="5" name="Picture 4" descr="A math problem with numbers&#10;&#10;AI-generated content may be incorrect.">
            <a:extLst>
              <a:ext uri="{FF2B5EF4-FFF2-40B4-BE49-F238E27FC236}">
                <a16:creationId xmlns:a16="http://schemas.microsoft.com/office/drawing/2014/main" id="{A7E1A0E3-63E5-5386-F511-E818B3F55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66" y="3014111"/>
            <a:ext cx="10515569" cy="268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045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B3440-2383-5508-B9DF-CEBEBC8AB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/>
              <a:t>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52C94-F5C0-3316-4742-DE604C735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r>
              <a:rPr lang="en-US" sz="1300" b="1"/>
              <a:t>Initial Investment</a:t>
            </a:r>
            <a:r>
              <a:rPr lang="en-US" sz="1300"/>
              <a:t>: $80,000</a:t>
            </a:r>
          </a:p>
          <a:p>
            <a:r>
              <a:rPr lang="en-US" sz="1300" b="1"/>
              <a:t>Expected Cash Inflows</a:t>
            </a:r>
            <a:r>
              <a:rPr lang="en-US" sz="1300"/>
              <a:t>:</a:t>
            </a:r>
          </a:p>
          <a:p>
            <a:pPr lvl="1"/>
            <a:r>
              <a:rPr lang="en-US" sz="1300"/>
              <a:t>Year 1: $40,000</a:t>
            </a:r>
          </a:p>
          <a:p>
            <a:pPr lvl="1"/>
            <a:r>
              <a:rPr lang="en-US" sz="1300"/>
              <a:t>Year 2: $50,000</a:t>
            </a:r>
          </a:p>
          <a:p>
            <a:pPr lvl="1"/>
            <a:r>
              <a:rPr lang="en-US" sz="1300"/>
              <a:t>Year 3: $30,000</a:t>
            </a:r>
          </a:p>
          <a:p>
            <a:r>
              <a:rPr lang="en-US" sz="1300" b="1"/>
              <a:t>Discount Rate</a:t>
            </a:r>
            <a:r>
              <a:rPr lang="en-US" sz="1300"/>
              <a:t>: 8%</a:t>
            </a:r>
          </a:p>
          <a:p>
            <a:endParaRPr lang="en-US" sz="1300"/>
          </a:p>
        </p:txBody>
      </p:sp>
      <p:pic>
        <p:nvPicPr>
          <p:cNvPr id="5" name="Picture 4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8410D8AD-1525-B8EE-F41E-539B4B44A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66" y="3027256"/>
            <a:ext cx="10515569" cy="265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474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EBCA-F74D-47B3-A422-2A936BF2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9C92-ECB1-360A-A842-0F25DB195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 spend money </a:t>
            </a:r>
            <a:r>
              <a:rPr lang="en-US" b="1" dirty="0"/>
              <a:t>now</a:t>
            </a:r>
            <a:r>
              <a:rPr lang="en-US" dirty="0"/>
              <a:t> (investment).</a:t>
            </a:r>
          </a:p>
          <a:p>
            <a:r>
              <a:rPr lang="en-US" dirty="0"/>
              <a:t>You earn money </a:t>
            </a:r>
            <a:r>
              <a:rPr lang="en-US" b="1" dirty="0"/>
              <a:t>later</a:t>
            </a:r>
            <a:r>
              <a:rPr lang="en-US" dirty="0"/>
              <a:t> (future cash flows).</a:t>
            </a:r>
          </a:p>
          <a:p>
            <a:r>
              <a:rPr lang="en-US" dirty="0"/>
              <a:t>NPV calculates the </a:t>
            </a:r>
            <a:r>
              <a:rPr lang="en-US" b="1" dirty="0"/>
              <a:t>value of those future earnings in today’s terms</a:t>
            </a:r>
            <a:r>
              <a:rPr lang="en-US" dirty="0"/>
              <a:t>.</a:t>
            </a:r>
          </a:p>
          <a:p>
            <a:r>
              <a:rPr lang="en-US" dirty="0"/>
              <a:t>If the result is </a:t>
            </a:r>
            <a:r>
              <a:rPr lang="en-US" b="1" dirty="0"/>
              <a:t>positive</a:t>
            </a:r>
            <a:r>
              <a:rPr lang="en-US" dirty="0"/>
              <a:t>, the project is </a:t>
            </a:r>
            <a:r>
              <a:rPr lang="en-US" b="1" dirty="0"/>
              <a:t>worth it</a:t>
            </a:r>
            <a:r>
              <a:rPr lang="en-US" dirty="0"/>
              <a:t>.</a:t>
            </a:r>
          </a:p>
          <a:p>
            <a:r>
              <a:rPr lang="en-US" dirty="0"/>
              <a:t>If it’s </a:t>
            </a:r>
            <a:r>
              <a:rPr lang="en-US" b="1" dirty="0"/>
              <a:t>negative</a:t>
            </a:r>
            <a:r>
              <a:rPr lang="en-US" dirty="0"/>
              <a:t>, the project will </a:t>
            </a:r>
            <a:r>
              <a:rPr lang="en-US" b="1" dirty="0"/>
              <a:t>lose money</a:t>
            </a:r>
            <a:r>
              <a:rPr lang="en-US" dirty="0"/>
              <a:t>.</a:t>
            </a:r>
          </a:p>
          <a:p>
            <a:r>
              <a:rPr lang="en-US" dirty="0"/>
              <a:t>You invest </a:t>
            </a:r>
            <a:r>
              <a:rPr lang="en-US" b="1" dirty="0"/>
              <a:t>$100,000</a:t>
            </a:r>
            <a:r>
              <a:rPr lang="en-US" dirty="0"/>
              <a:t> today.</a:t>
            </a:r>
          </a:p>
          <a:p>
            <a:r>
              <a:rPr lang="en-US" dirty="0"/>
              <a:t>You expect to earn:</a:t>
            </a:r>
          </a:p>
          <a:p>
            <a:pPr lvl="1"/>
            <a:r>
              <a:rPr lang="en-US" dirty="0"/>
              <a:t>$40,000 next year</a:t>
            </a:r>
          </a:p>
          <a:p>
            <a:pPr lvl="1"/>
            <a:r>
              <a:rPr lang="en-US" dirty="0"/>
              <a:t>$50,000 the year after</a:t>
            </a:r>
          </a:p>
          <a:p>
            <a:pPr lvl="1"/>
            <a:r>
              <a:rPr lang="en-US" dirty="0"/>
              <a:t>$30,000 in the third year</a:t>
            </a:r>
          </a:p>
          <a:p>
            <a:r>
              <a:rPr lang="en-US" dirty="0"/>
              <a:t>NPV calculates how much those future earnings are worth </a:t>
            </a:r>
            <a:r>
              <a:rPr lang="en-US" b="1" dirty="0"/>
              <a:t>today</a:t>
            </a:r>
            <a:r>
              <a:rPr lang="en-US" dirty="0"/>
              <a:t>.</a:t>
            </a:r>
          </a:p>
          <a:p>
            <a:r>
              <a:rPr lang="en-US" dirty="0"/>
              <a:t>If NPV = </a:t>
            </a:r>
            <a:r>
              <a:rPr lang="en-US" b="1" dirty="0"/>
              <a:t>$20,000</a:t>
            </a:r>
            <a:r>
              <a:rPr lang="en-US" dirty="0"/>
              <a:t>, it </a:t>
            </a:r>
            <a:r>
              <a:rPr lang="en-US" dirty="0" err="1"/>
              <a:t>means:“After</a:t>
            </a:r>
            <a:r>
              <a:rPr lang="en-US" dirty="0"/>
              <a:t> all costs and time value of money, I’ll gain $20,000.”</a:t>
            </a:r>
          </a:p>
        </p:txBody>
      </p:sp>
    </p:spTree>
    <p:extLst>
      <p:ext uri="{BB962C8B-B14F-4D97-AF65-F5344CB8AC3E}">
        <p14:creationId xmlns:p14="http://schemas.microsoft.com/office/powerpoint/2010/main" val="19578619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FE415-D882-7D96-0B01-9EB0C343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ROI – Return on 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89360-AFCE-A760-FF89-A727BDD3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r>
              <a:rPr lang="en-US" sz="1900" b="1"/>
              <a:t>Return on Investment (ROI)</a:t>
            </a:r>
            <a:r>
              <a:rPr lang="en-US" sz="1900"/>
              <a:t> is a simple and widely used method to evaluate the </a:t>
            </a:r>
            <a:r>
              <a:rPr lang="en-US" sz="1900" b="1"/>
              <a:t>profitability</a:t>
            </a:r>
            <a:r>
              <a:rPr lang="en-US" sz="1900"/>
              <a:t> of a project. It shows how much </a:t>
            </a:r>
            <a:r>
              <a:rPr lang="en-US" sz="1900" b="1"/>
              <a:t>return</a:t>
            </a:r>
            <a:r>
              <a:rPr lang="en-US" sz="1900"/>
              <a:t> you get compared to what you </a:t>
            </a:r>
            <a:r>
              <a:rPr lang="en-US" sz="1900" b="1"/>
              <a:t>invest</a:t>
            </a:r>
            <a:r>
              <a:rPr lang="en-US" sz="1900"/>
              <a:t>.</a:t>
            </a:r>
          </a:p>
          <a:p>
            <a:pPr algn="ctr"/>
            <a:endParaRPr lang="en-US" sz="1900"/>
          </a:p>
        </p:txBody>
      </p:sp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5A6F6903-EB9F-20FA-F5F4-D4993347C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11" y="2405149"/>
            <a:ext cx="9748481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385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679C-AC0B-6A03-7FD8-70A95374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4CB4-CD67-B811-43C0-11C26AF95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 Example 1: Mobile App Development</a:t>
            </a:r>
          </a:p>
          <a:p>
            <a:r>
              <a:rPr lang="en-US" b="1" dirty="0"/>
              <a:t>Investment</a:t>
            </a:r>
            <a:r>
              <a:rPr lang="en-US" dirty="0"/>
              <a:t>: $100,000</a:t>
            </a:r>
          </a:p>
          <a:p>
            <a:r>
              <a:rPr lang="en-US" b="1" dirty="0"/>
              <a:t>Expected Revenue</a:t>
            </a:r>
            <a:r>
              <a:rPr lang="en-US" dirty="0"/>
              <a:t>: $160,000</a:t>
            </a:r>
          </a:p>
          <a:p>
            <a:r>
              <a:rPr lang="en-US" b="1" dirty="0"/>
              <a:t>Net Profit</a:t>
            </a:r>
            <a:r>
              <a:rPr lang="en-US" dirty="0"/>
              <a:t> = $160,000 – $100,000 = $60,000</a:t>
            </a:r>
          </a:p>
          <a:p>
            <a:r>
              <a:rPr lang="en-US" i="1" dirty="0"/>
              <a:t>ROI</a:t>
            </a:r>
            <a:r>
              <a:rPr lang="en-US" dirty="0"/>
              <a:t>=60%</a:t>
            </a:r>
          </a:p>
          <a:p>
            <a:r>
              <a:rPr lang="en-US" b="1" dirty="0"/>
              <a:t>Good ROI</a:t>
            </a:r>
            <a:r>
              <a:rPr lang="en-US" dirty="0"/>
              <a:t> – Project is profitable</a:t>
            </a:r>
          </a:p>
          <a:p>
            <a:r>
              <a:rPr lang="en-US" b="1" dirty="0"/>
              <a:t> Example 2: College Management System</a:t>
            </a:r>
          </a:p>
          <a:p>
            <a:r>
              <a:rPr lang="en-US" b="1" dirty="0"/>
              <a:t>Investment</a:t>
            </a:r>
            <a:r>
              <a:rPr lang="en-US" dirty="0"/>
              <a:t>: $120,000</a:t>
            </a:r>
          </a:p>
          <a:p>
            <a:r>
              <a:rPr lang="en-US" b="1" dirty="0"/>
              <a:t>Expected Revenue</a:t>
            </a:r>
            <a:r>
              <a:rPr lang="en-US" dirty="0"/>
              <a:t>: $150,000</a:t>
            </a:r>
          </a:p>
          <a:p>
            <a:r>
              <a:rPr lang="en-US" b="1" dirty="0"/>
              <a:t>Net Profit</a:t>
            </a:r>
            <a:r>
              <a:rPr lang="en-US" dirty="0"/>
              <a:t> = $30,000</a:t>
            </a:r>
          </a:p>
          <a:p>
            <a:r>
              <a:rPr lang="en-US" dirty="0"/>
              <a:t>ROI=25%</a:t>
            </a:r>
          </a:p>
          <a:p>
            <a:r>
              <a:rPr lang="en-US" b="1" dirty="0"/>
              <a:t>Moderate ROI</a:t>
            </a:r>
            <a:r>
              <a:rPr lang="en-US" dirty="0"/>
              <a:t> – May be acceptable depending on strategic value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6864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3099-C6A8-56B8-F0E2-E454C3C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DBE58-BCFB-43D9-9AAE-3FBEC400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 Example 3: Cloud Migration Project</a:t>
            </a:r>
          </a:p>
          <a:p>
            <a:r>
              <a:rPr lang="en-US" b="1" dirty="0"/>
              <a:t>Investment</a:t>
            </a:r>
            <a:r>
              <a:rPr lang="en-US" dirty="0"/>
              <a:t>: $80,000</a:t>
            </a:r>
          </a:p>
          <a:p>
            <a:r>
              <a:rPr lang="en-US" b="1" dirty="0"/>
              <a:t>Expected Revenue</a:t>
            </a:r>
            <a:r>
              <a:rPr lang="en-US" dirty="0"/>
              <a:t>: $100,000</a:t>
            </a:r>
          </a:p>
          <a:p>
            <a:r>
              <a:rPr lang="en-US" b="1" dirty="0"/>
              <a:t>Net Profit</a:t>
            </a:r>
            <a:r>
              <a:rPr lang="en-US" dirty="0"/>
              <a:t> = $20,000</a:t>
            </a:r>
          </a:p>
          <a:p>
            <a:r>
              <a:rPr lang="en-US" dirty="0"/>
              <a:t>ROI = 25%</a:t>
            </a:r>
          </a:p>
          <a:p>
            <a:r>
              <a:rPr lang="en-US" b="1" dirty="0"/>
              <a:t>Same ROI as Example 2</a:t>
            </a:r>
            <a:r>
              <a:rPr lang="en-US" dirty="0"/>
              <a:t>, but lower investment – might be preferred if budget is limited</a:t>
            </a:r>
          </a:p>
        </p:txBody>
      </p:sp>
    </p:spTree>
    <p:extLst>
      <p:ext uri="{BB962C8B-B14F-4D97-AF65-F5344CB8AC3E}">
        <p14:creationId xmlns:p14="http://schemas.microsoft.com/office/powerpoint/2010/main" val="27867975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CB36-797B-5C7C-67A7-90243FF8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Scoring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9EBBB-1F84-0A01-766E-19CC3AE3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Scoring models assign </a:t>
            </a:r>
            <a:r>
              <a:rPr lang="en-US" b="1" dirty="0"/>
              <a:t>weights and scores</a:t>
            </a:r>
            <a:r>
              <a:rPr lang="en-US" dirty="0"/>
              <a:t> to various criteria (e.g., strategic alignment, risk, ROI, customer impact) to rank projects.</a:t>
            </a:r>
          </a:p>
          <a:p>
            <a:r>
              <a:rPr lang="en-US" dirty="0"/>
              <a:t>A </a:t>
            </a:r>
            <a:r>
              <a:rPr lang="en-US" b="1" dirty="0"/>
              <a:t>Scoring Model</a:t>
            </a:r>
            <a:r>
              <a:rPr lang="en-US" dirty="0"/>
              <a:t> is a </a:t>
            </a:r>
            <a:r>
              <a:rPr lang="en-US" b="1" dirty="0"/>
              <a:t>quantitative decision-making tool</a:t>
            </a:r>
            <a:r>
              <a:rPr lang="en-US" dirty="0"/>
              <a:t> used to evaluate and compare multiple projects based on </a:t>
            </a:r>
            <a:r>
              <a:rPr lang="en-US" b="1" dirty="0"/>
              <a:t>predefined criteria</a:t>
            </a:r>
            <a:r>
              <a:rPr lang="en-US" dirty="0"/>
              <a:t>.</a:t>
            </a:r>
          </a:p>
          <a:p>
            <a:r>
              <a:rPr lang="en-US" dirty="0"/>
              <a:t>Each project is scored against these criteria, and the total score helps determine which project is the best fit.</a:t>
            </a:r>
          </a:p>
          <a:p>
            <a:r>
              <a:rPr lang="en-US" b="1" dirty="0"/>
              <a:t>Why Use Scoring Models?</a:t>
            </a:r>
          </a:p>
          <a:p>
            <a:r>
              <a:rPr lang="en-US" dirty="0"/>
              <a:t>Helps </a:t>
            </a:r>
            <a:r>
              <a:rPr lang="en-US" b="1" dirty="0"/>
              <a:t>objectively compare</a:t>
            </a:r>
            <a:r>
              <a:rPr lang="en-US" dirty="0"/>
              <a:t> projects</a:t>
            </a:r>
          </a:p>
          <a:p>
            <a:r>
              <a:rPr lang="en-US" dirty="0"/>
              <a:t>Considers </a:t>
            </a:r>
            <a:r>
              <a:rPr lang="en-US" b="1" dirty="0"/>
              <a:t>multiple factors</a:t>
            </a:r>
            <a:r>
              <a:rPr lang="en-US" dirty="0"/>
              <a:t>, not just financial</a:t>
            </a:r>
          </a:p>
          <a:p>
            <a:r>
              <a:rPr lang="en-US" dirty="0"/>
              <a:t>Useful when projects have </a:t>
            </a:r>
            <a:r>
              <a:rPr lang="en-US" b="1" dirty="0"/>
              <a:t>strategic, technical, or operational goals</a:t>
            </a:r>
            <a:endParaRPr lang="en-US" dirty="0"/>
          </a:p>
          <a:p>
            <a:r>
              <a:rPr lang="en-US" b="1" dirty="0"/>
              <a:t>Steps:</a:t>
            </a:r>
          </a:p>
          <a:p>
            <a:r>
              <a:rPr lang="en-US" dirty="0"/>
              <a:t>Define evaluation criteria</a:t>
            </a:r>
          </a:p>
          <a:p>
            <a:r>
              <a:rPr lang="en-US" dirty="0"/>
              <a:t>Assign weights to each criterion</a:t>
            </a:r>
          </a:p>
          <a:p>
            <a:r>
              <a:rPr lang="en-US" dirty="0"/>
              <a:t>Score each project against criteria</a:t>
            </a:r>
          </a:p>
          <a:p>
            <a:r>
              <a:rPr lang="en-US" dirty="0"/>
              <a:t>Calculate total weighted 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720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32E1-4D5B-DDED-ED6C-AC637A44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8B6E1-36A8-986A-646C-7B9388F9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Step-by-Step Process:</a:t>
            </a:r>
          </a:p>
          <a:p>
            <a:r>
              <a:rPr lang="en-US" b="1" dirty="0"/>
              <a:t>Define Evaluation Criteria</a:t>
            </a:r>
            <a:br>
              <a:rPr lang="en-US" dirty="0"/>
            </a:br>
            <a:r>
              <a:rPr lang="en-US" dirty="0"/>
              <a:t>Examples: ROI, strategic alignment, risk, resource availability, customer impact</a:t>
            </a:r>
          </a:p>
          <a:p>
            <a:r>
              <a:rPr lang="en-US" b="1" dirty="0"/>
              <a:t>Assign Weights to Each Criterion</a:t>
            </a:r>
            <a:br>
              <a:rPr lang="en-US" dirty="0"/>
            </a:br>
            <a:r>
              <a:rPr lang="en-US" dirty="0"/>
              <a:t>Based on importance (e.g., ROI = 40%, Risk = 20%)</a:t>
            </a:r>
          </a:p>
          <a:p>
            <a:r>
              <a:rPr lang="en-US" b="1" dirty="0"/>
              <a:t>Score Each Project Against Each Criterion</a:t>
            </a:r>
            <a:br>
              <a:rPr lang="en-US" dirty="0"/>
            </a:br>
            <a:r>
              <a:rPr lang="en-US" dirty="0"/>
              <a:t>Use a scale (e.g., 1 to 10)</a:t>
            </a:r>
          </a:p>
          <a:p>
            <a:r>
              <a:rPr lang="en-US" b="1" dirty="0"/>
              <a:t>Calculate Weighted Scores</a:t>
            </a:r>
            <a:br>
              <a:rPr lang="en-US" dirty="0"/>
            </a:br>
            <a:r>
              <a:rPr lang="en-US" dirty="0"/>
              <a:t>Multiply score × weight for each criterion</a:t>
            </a:r>
          </a:p>
          <a:p>
            <a:r>
              <a:rPr lang="en-US" b="1" dirty="0"/>
              <a:t>Sum Total Scores</a:t>
            </a:r>
            <a:br>
              <a:rPr lang="en-US" dirty="0"/>
            </a:br>
            <a:r>
              <a:rPr lang="en-US" dirty="0"/>
              <a:t>The project with the </a:t>
            </a:r>
            <a:r>
              <a:rPr lang="en-US" b="1" dirty="0"/>
              <a:t>highest total score</a:t>
            </a:r>
            <a:r>
              <a:rPr lang="en-US" dirty="0"/>
              <a:t> is preferred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751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B54E3-401D-FE24-5B70-D89E53D7C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Scoring Models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A93769-B794-CB25-7B0B-22FDF7FA6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+mn-lt"/>
              </a:rPr>
              <a:t>Example (IT Project: Mobile App vs. Web Portal)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784BC8-803F-D558-DF99-86E6AAAE61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34704"/>
              </p:ext>
            </p:extLst>
          </p:nvPr>
        </p:nvGraphicFramePr>
        <p:xfrm>
          <a:off x="5987738" y="1568532"/>
          <a:ext cx="5628019" cy="3488067"/>
        </p:xfrm>
        <a:graphic>
          <a:graphicData uri="http://schemas.openxmlformats.org/drawingml/2006/table">
            <a:tbl>
              <a:tblPr firstRow="1" bandRow="1"/>
              <a:tblGrid>
                <a:gridCol w="1424743">
                  <a:extLst>
                    <a:ext uri="{9D8B030D-6E8A-4147-A177-3AD203B41FA5}">
                      <a16:colId xmlns:a16="http://schemas.microsoft.com/office/drawing/2014/main" val="2688527962"/>
                    </a:ext>
                  </a:extLst>
                </a:gridCol>
                <a:gridCol w="1084167">
                  <a:extLst>
                    <a:ext uri="{9D8B030D-6E8A-4147-A177-3AD203B41FA5}">
                      <a16:colId xmlns:a16="http://schemas.microsoft.com/office/drawing/2014/main" val="2030379948"/>
                    </a:ext>
                  </a:extLst>
                </a:gridCol>
                <a:gridCol w="1566650">
                  <a:extLst>
                    <a:ext uri="{9D8B030D-6E8A-4147-A177-3AD203B41FA5}">
                      <a16:colId xmlns:a16="http://schemas.microsoft.com/office/drawing/2014/main" val="2804035138"/>
                    </a:ext>
                  </a:extLst>
                </a:gridCol>
                <a:gridCol w="1552459">
                  <a:extLst>
                    <a:ext uri="{9D8B030D-6E8A-4147-A177-3AD203B41FA5}">
                      <a16:colId xmlns:a16="http://schemas.microsoft.com/office/drawing/2014/main" val="4215739189"/>
                    </a:ext>
                  </a:extLst>
                </a:gridCol>
              </a:tblGrid>
              <a:tr h="7603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Criteria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Weight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Mobile App Score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>
                          <a:effectLst/>
                        </a:rPr>
                        <a:t>Web Portal Score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03673"/>
                  </a:ext>
                </a:extLst>
              </a:tr>
              <a:tr h="7603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Strategic Alignment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30%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8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443515"/>
                  </a:ext>
                </a:extLst>
              </a:tr>
              <a:tr h="45381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ROI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25%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58731"/>
                  </a:ext>
                </a:extLst>
              </a:tr>
              <a:tr h="7603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Customer Impact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25%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</a:p>
                  </a:txBody>
                  <a:tcPr marL="85144" marR="56763" marT="56763" marB="4966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272167"/>
                  </a:ext>
                </a:extLst>
              </a:tr>
              <a:tr h="7532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Technical Feasibility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20%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8</a:t>
                      </a:r>
                    </a:p>
                  </a:txBody>
                  <a:tcPr marL="85144" marR="56763" marT="56763" marB="4257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143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6368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92BA-5987-943F-84B0-A7DD71FA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D2D33-EC5F-000E-C69F-8C6C05A87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Mobile App Total Score</a:t>
            </a:r>
            <a:r>
              <a:rPr lang="en-US" dirty="0"/>
              <a:t> = (8×0.3)+(7×0.25)+(9×0.25)+(6×0.2) = </a:t>
            </a:r>
            <a:r>
              <a:rPr lang="en-US" b="1" dirty="0"/>
              <a:t>7.55</a:t>
            </a:r>
            <a:br>
              <a:rPr lang="en-US" dirty="0"/>
            </a:br>
            <a:r>
              <a:rPr lang="en-US" b="1" dirty="0"/>
              <a:t>Web Portal Total Score</a:t>
            </a:r>
            <a:r>
              <a:rPr lang="en-US" dirty="0"/>
              <a:t> = (6×0.3)+(9×0.25)+(7×0.25)+(8×0.2) = </a:t>
            </a:r>
            <a:r>
              <a:rPr lang="en-US" b="1" dirty="0"/>
              <a:t>7.55</a:t>
            </a:r>
          </a:p>
          <a:p>
            <a:r>
              <a:rPr lang="en-US" dirty="0"/>
              <a:t>In this case, both projects score equally, so other factors like urgency or resource availability may guide the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42009062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377E-6C5C-1E9C-3CF9-63BED5B6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Scope,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44582-73AD-E13F-0157-48EEC9784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➤ Definition:</a:t>
            </a:r>
          </a:p>
          <a:p>
            <a:r>
              <a:rPr lang="en-US" dirty="0"/>
              <a:t>The </a:t>
            </a:r>
            <a:r>
              <a:rPr lang="en-US" b="1" dirty="0"/>
              <a:t>project scope</a:t>
            </a:r>
            <a:r>
              <a:rPr lang="en-US" dirty="0"/>
              <a:t> outlines the </a:t>
            </a:r>
            <a:r>
              <a:rPr lang="en-US" b="1" dirty="0"/>
              <a:t>boundaries</a:t>
            </a:r>
            <a:r>
              <a:rPr lang="en-US" dirty="0"/>
              <a:t> of the project—what will be done and what will not be done. It includes the work required to deliver the product, service, or result.</a:t>
            </a:r>
          </a:p>
          <a:p>
            <a:r>
              <a:rPr lang="en-US" b="1" dirty="0"/>
              <a:t>➤ Key Elements:</a:t>
            </a:r>
          </a:p>
          <a:p>
            <a:r>
              <a:rPr lang="en-US" b="1" dirty="0"/>
              <a:t>Inclusions</a:t>
            </a:r>
            <a:r>
              <a:rPr lang="en-US" dirty="0"/>
              <a:t>: What is part of the project</a:t>
            </a:r>
          </a:p>
          <a:p>
            <a:r>
              <a:rPr lang="en-US" b="1" dirty="0"/>
              <a:t>Exclusions</a:t>
            </a:r>
            <a:r>
              <a:rPr lang="en-US" dirty="0"/>
              <a:t>: What is not part of the project</a:t>
            </a:r>
          </a:p>
          <a:p>
            <a:r>
              <a:rPr lang="en-US" b="1" dirty="0"/>
              <a:t>Constraints</a:t>
            </a:r>
            <a:r>
              <a:rPr lang="en-US" dirty="0"/>
              <a:t>: Time, budget, resources</a:t>
            </a:r>
          </a:p>
          <a:p>
            <a:r>
              <a:rPr lang="en-US" b="1" dirty="0"/>
              <a:t>Assumptions</a:t>
            </a:r>
            <a:r>
              <a:rPr lang="en-US" dirty="0"/>
              <a:t>: Conditions assumed to be true</a:t>
            </a:r>
          </a:p>
          <a:p>
            <a:r>
              <a:rPr lang="en-US" b="1" dirty="0"/>
              <a:t>➤ Example (IT Project: Online Learning Platform)</a:t>
            </a:r>
          </a:p>
          <a:p>
            <a:r>
              <a:rPr lang="en-US" b="1" dirty="0"/>
              <a:t>Inclusions</a:t>
            </a:r>
            <a:r>
              <a:rPr lang="en-US" dirty="0"/>
              <a:t>: Web-based platform, user registration, course catalog, video streaming</a:t>
            </a:r>
          </a:p>
          <a:p>
            <a:r>
              <a:rPr lang="en-US" b="1" dirty="0"/>
              <a:t>Exclusions</a:t>
            </a:r>
            <a:r>
              <a:rPr lang="en-US" dirty="0"/>
              <a:t>: Mobile app development, content creation</a:t>
            </a:r>
          </a:p>
          <a:p>
            <a:r>
              <a:rPr lang="en-US" b="1" dirty="0"/>
              <a:t>Constraints</a:t>
            </a:r>
            <a:r>
              <a:rPr lang="en-US" dirty="0"/>
              <a:t>: Must be delivered in 6 months with a $100,000 budget</a:t>
            </a:r>
          </a:p>
          <a:p>
            <a:r>
              <a:rPr lang="en-US" b="1" dirty="0"/>
              <a:t>Assumptions</a:t>
            </a:r>
            <a:r>
              <a:rPr lang="en-US" dirty="0"/>
              <a:t>: Instructors will upload their own content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7389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E536-FE5D-55D8-6079-337367535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8763C-F486-73CE-1536-389CCCE80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🔹 2. Project Objectives</a:t>
            </a:r>
          </a:p>
          <a:p>
            <a:r>
              <a:rPr lang="en-US" b="1" dirty="0"/>
              <a:t>➤ Definition:</a:t>
            </a:r>
          </a:p>
          <a:p>
            <a:r>
              <a:rPr lang="en-US" b="1" dirty="0"/>
              <a:t>Objectives</a:t>
            </a:r>
            <a:r>
              <a:rPr lang="en-US" dirty="0"/>
              <a:t> are </a:t>
            </a:r>
            <a:r>
              <a:rPr lang="en-US" b="1" dirty="0"/>
              <a:t>specific, measurable goals</a:t>
            </a:r>
            <a:r>
              <a:rPr lang="en-US" dirty="0"/>
              <a:t> that the project aims to achieve. They guide the project team and help evaluate success.</a:t>
            </a:r>
          </a:p>
          <a:p>
            <a:r>
              <a:rPr lang="en-US" b="1" dirty="0"/>
              <a:t>➤ Characteristics (SMART):</a:t>
            </a:r>
          </a:p>
          <a:p>
            <a:r>
              <a:rPr lang="en-US" b="1" dirty="0"/>
              <a:t>Specific</a:t>
            </a:r>
            <a:endParaRPr lang="en-US" dirty="0"/>
          </a:p>
          <a:p>
            <a:r>
              <a:rPr lang="en-US" b="1" dirty="0"/>
              <a:t>Measurable</a:t>
            </a:r>
            <a:endParaRPr lang="en-US" dirty="0"/>
          </a:p>
          <a:p>
            <a:r>
              <a:rPr lang="en-US" b="1" dirty="0"/>
              <a:t>Achievable</a:t>
            </a:r>
            <a:endParaRPr lang="en-US" dirty="0"/>
          </a:p>
          <a:p>
            <a:r>
              <a:rPr lang="en-US" b="1" dirty="0"/>
              <a:t>Relevant</a:t>
            </a:r>
            <a:endParaRPr lang="en-US" dirty="0"/>
          </a:p>
          <a:p>
            <a:r>
              <a:rPr lang="en-US" b="1" dirty="0"/>
              <a:t>Time-bound</a:t>
            </a:r>
            <a:endParaRPr lang="en-US" dirty="0"/>
          </a:p>
          <a:p>
            <a:r>
              <a:rPr lang="en-US" b="1" dirty="0"/>
              <a:t>➤ Example (IT Project: CRM System)</a:t>
            </a:r>
          </a:p>
          <a:p>
            <a:r>
              <a:rPr lang="en-US" dirty="0"/>
              <a:t>Implement a CRM system to manage customer interactions</a:t>
            </a:r>
          </a:p>
          <a:p>
            <a:r>
              <a:rPr lang="en-US" dirty="0"/>
              <a:t>Reduce customer response time by 30% within 3 months</a:t>
            </a:r>
          </a:p>
          <a:p>
            <a:r>
              <a:rPr lang="en-US" dirty="0"/>
              <a:t>Increase lead conversion rate by 20% in the first quarter after launch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5705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6449-0ED0-CA0E-057A-77933377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FDD0B-E93F-0FEB-8C7D-59B1DC295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🔹 3. Project Deliverables</a:t>
            </a:r>
          </a:p>
          <a:p>
            <a:r>
              <a:rPr lang="en-US" b="1" dirty="0"/>
              <a:t>➤ Definition:</a:t>
            </a:r>
          </a:p>
          <a:p>
            <a:r>
              <a:rPr lang="en-US" b="1" dirty="0"/>
              <a:t>Deliverables</a:t>
            </a:r>
            <a:r>
              <a:rPr lang="en-US" dirty="0"/>
              <a:t> are the </a:t>
            </a:r>
            <a:r>
              <a:rPr lang="en-US" b="1" dirty="0"/>
              <a:t>tangible or intangible outputs</a:t>
            </a:r>
            <a:r>
              <a:rPr lang="en-US" dirty="0"/>
              <a:t> produced as a result of the project. They are handed over to the client or stakeholders.</a:t>
            </a:r>
          </a:p>
          <a:p>
            <a:r>
              <a:rPr lang="en-US" b="1" dirty="0"/>
              <a:t>➤ Types:</a:t>
            </a:r>
          </a:p>
          <a:p>
            <a:r>
              <a:rPr lang="en-US" b="1" dirty="0"/>
              <a:t>Product Deliverables</a:t>
            </a:r>
            <a:r>
              <a:rPr lang="en-US" dirty="0"/>
              <a:t>: Software, hardware, documents</a:t>
            </a:r>
          </a:p>
          <a:p>
            <a:r>
              <a:rPr lang="en-US" b="1" dirty="0"/>
              <a:t>Process Deliverables</a:t>
            </a:r>
            <a:r>
              <a:rPr lang="en-US" dirty="0"/>
              <a:t>: Reports, plans, training materials</a:t>
            </a:r>
          </a:p>
          <a:p>
            <a:r>
              <a:rPr lang="en-US" b="1" dirty="0"/>
              <a:t>➤ Example (IT Project: Food Ordering App)</a:t>
            </a:r>
          </a:p>
          <a:p>
            <a:r>
              <a:rPr lang="en-US" dirty="0"/>
              <a:t>Mobile app (iOS and Android)</a:t>
            </a:r>
          </a:p>
          <a:p>
            <a:r>
              <a:rPr lang="en-US" dirty="0"/>
              <a:t>Admin dashboard for restaurants</a:t>
            </a:r>
          </a:p>
          <a:p>
            <a:r>
              <a:rPr lang="en-US" dirty="0"/>
              <a:t>API documentation</a:t>
            </a:r>
          </a:p>
          <a:p>
            <a:r>
              <a:rPr lang="en-US" dirty="0"/>
              <a:t>User manual and training guide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6787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79BEF-DFB6-2650-8BE3-9FC5EABD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F52FD24-181B-00B3-5845-8F1969A36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0909" y="552906"/>
            <a:ext cx="5159825" cy="167490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🔹 Difference Between Goals and Objectives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C2F079-AF8A-C9CB-0E51-DAB6FDC6A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969524"/>
              </p:ext>
            </p:extLst>
          </p:nvPr>
        </p:nvGraphicFramePr>
        <p:xfrm>
          <a:off x="835166" y="2651226"/>
          <a:ext cx="10515570" cy="340724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30034">
                  <a:extLst>
                    <a:ext uri="{9D8B030D-6E8A-4147-A177-3AD203B41FA5}">
                      <a16:colId xmlns:a16="http://schemas.microsoft.com/office/drawing/2014/main" val="2316928124"/>
                    </a:ext>
                  </a:extLst>
                </a:gridCol>
                <a:gridCol w="4336407">
                  <a:extLst>
                    <a:ext uri="{9D8B030D-6E8A-4147-A177-3AD203B41FA5}">
                      <a16:colId xmlns:a16="http://schemas.microsoft.com/office/drawing/2014/main" val="675233907"/>
                    </a:ext>
                  </a:extLst>
                </a:gridCol>
                <a:gridCol w="4349129">
                  <a:extLst>
                    <a:ext uri="{9D8B030D-6E8A-4147-A177-3AD203B41FA5}">
                      <a16:colId xmlns:a16="http://schemas.microsoft.com/office/drawing/2014/main" val="1443758628"/>
                    </a:ext>
                  </a:extLst>
                </a:gridCol>
              </a:tblGrid>
              <a:tr h="6021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600" b="1" cap="none" spc="3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0" marR="14657" marT="81425" marB="712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600" b="1" cap="none" spc="30">
                          <a:solidFill>
                            <a:schemeClr val="tx1"/>
                          </a:solidFill>
                          <a:effectLst/>
                        </a:rPr>
                        <a:t>Goals</a:t>
                      </a:r>
                    </a:p>
                  </a:txBody>
                  <a:tcPr marL="0" marR="14657" marT="81425" marB="712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600" b="1" cap="none" spc="30">
                          <a:solidFill>
                            <a:schemeClr val="tx1"/>
                          </a:solidFill>
                          <a:effectLst/>
                        </a:rPr>
                        <a:t>Objectives</a:t>
                      </a:r>
                    </a:p>
                  </a:txBody>
                  <a:tcPr marL="0" marR="14657" marT="81425" marB="712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028059"/>
                  </a:ext>
                </a:extLst>
              </a:tr>
              <a:tr h="7975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Definition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Broad, general intentions of what is to be achieved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Specific, measurable steps to achieve the goal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815580"/>
                  </a:ext>
                </a:extLst>
              </a:tr>
              <a:tr h="5044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Scope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High-level, strategic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Detailed, tactical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70139"/>
                  </a:ext>
                </a:extLst>
              </a:tr>
              <a:tr h="5044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Focus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Vision and direction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Action and results</a:t>
                      </a:r>
                    </a:p>
                  </a:txBody>
                  <a:tcPr marL="0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786672"/>
                  </a:ext>
                </a:extLst>
              </a:tr>
              <a:tr h="5044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Timeframe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Long-term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Short- to medium-term</a:t>
                      </a:r>
                    </a:p>
                  </a:txBody>
                  <a:tcPr marL="73283" marR="81425" marT="81425" marB="712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30483"/>
                  </a:ext>
                </a:extLst>
              </a:tr>
              <a:tr h="49425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Measurement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81425" marT="81425" marB="610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Often qualitative</a:t>
                      </a:r>
                    </a:p>
                  </a:txBody>
                  <a:tcPr marL="0" marR="81425" marT="81425" marB="610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Always measurable</a:t>
                      </a:r>
                    </a:p>
                  </a:txBody>
                  <a:tcPr marL="0" marR="81425" marT="81425" marB="610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312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806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C4B31-04E6-AAD4-9600-DAA286AA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1BEA-FBCA-60F9-4AC0-3A9A33A3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Example (IT Project: E-commerce Website)</a:t>
            </a:r>
          </a:p>
          <a:p>
            <a:r>
              <a:rPr lang="en-US" b="1" dirty="0"/>
              <a:t>Goal</a:t>
            </a:r>
            <a:r>
              <a:rPr lang="en-US" dirty="0"/>
              <a:t>: Improve online customer experience.</a:t>
            </a:r>
          </a:p>
          <a:p>
            <a:r>
              <a:rPr lang="en-US" b="1" dirty="0"/>
              <a:t>Objective</a:t>
            </a:r>
            <a:r>
              <a:rPr lang="en-US" dirty="0"/>
              <a:t>: Launch a responsive e-commerce website with secure payment integration by December 2025.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993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2782C-1FC1-2498-BD52-FE1BA12B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🔹 SMART Objectives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SMART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 is an acronym that ensures objectives are well-defined and achievable.</a:t>
            </a:r>
            <a:endParaRPr kumimoji="0" lang="en-US" altLang="en-US" sz="2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09DEC1-80F7-48AE-F3D0-D5898E2F3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F53FB88-B713-BDE4-1F73-76F885842C2D}"/>
              </a:ext>
            </a:extLst>
          </p:cNvPr>
          <p:cNvGraphicFramePr>
            <a:graphicFrameLocks/>
          </p:cNvGraphicFramePr>
          <p:nvPr/>
        </p:nvGraphicFramePr>
        <p:xfrm>
          <a:off x="1116571" y="2405149"/>
          <a:ext cx="9952761" cy="389940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757963">
                  <a:extLst>
                    <a:ext uri="{9D8B030D-6E8A-4147-A177-3AD203B41FA5}">
                      <a16:colId xmlns:a16="http://schemas.microsoft.com/office/drawing/2014/main" val="2451233026"/>
                    </a:ext>
                  </a:extLst>
                </a:gridCol>
                <a:gridCol w="2931530">
                  <a:extLst>
                    <a:ext uri="{9D8B030D-6E8A-4147-A177-3AD203B41FA5}">
                      <a16:colId xmlns:a16="http://schemas.microsoft.com/office/drawing/2014/main" val="2203854197"/>
                    </a:ext>
                  </a:extLst>
                </a:gridCol>
                <a:gridCol w="5263268">
                  <a:extLst>
                    <a:ext uri="{9D8B030D-6E8A-4147-A177-3AD203B41FA5}">
                      <a16:colId xmlns:a16="http://schemas.microsoft.com/office/drawing/2014/main" val="3737724465"/>
                    </a:ext>
                  </a:extLst>
                </a:gridCol>
              </a:tblGrid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  <a:effectLst/>
                        </a:rPr>
                        <a:t>Letter</a:t>
                      </a:r>
                    </a:p>
                  </a:txBody>
                  <a:tcPr marL="178493" marR="76279" marT="137303" marB="1373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178493" marR="76279" marT="137303" marB="1373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78493" marR="76279" marT="137303" marB="1373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12216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Specific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Clearly defines what is to be achieved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70207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Measurable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Quantifiable to track progress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439182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Achievable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Realistic given resources and constraints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713151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Relevant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Aligned with broader goals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301889"/>
                  </a:ext>
                </a:extLst>
              </a:tr>
              <a:tr h="6499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Time-bound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Has a clear deadline</a:t>
                      </a:r>
                    </a:p>
                  </a:txBody>
                  <a:tcPr marL="178493" marR="76279" marT="137303" marB="13730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209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1994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EBB63-B7D7-2DB0-5BEE-226490A4E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DB783F3-5FB2-37A4-26C2-86080AC13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22218" rIns="0" bIns="22218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 Non-SMART Objectives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These are vague, unmeasurable, or unrealistic, making them hard to track or achieve.</a:t>
            </a:r>
            <a:endParaRPr kumimoji="0" lang="en-US" altLang="en-US" sz="2200" b="1" i="0" u="none" strike="noStrike" cap="none" normalizeH="0" baseline="0">
              <a:ln>
                <a:noFill/>
              </a:ln>
              <a:effectLst/>
              <a:latin typeface="Segoe San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❌ Non-SMART Objective Example: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“Improve app performance soon.”</a:t>
            </a: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Why it’s not SMART:</a:t>
            </a:r>
            <a:endParaRPr kumimoji="0" lang="en-US" altLang="en-US" sz="2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Not specific (what aspect of performance?)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Not measurable (how much improvement?)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 timeline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Segoe Sans"/>
              </a:rPr>
              <a:t>No clear relevance or achievability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8858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E3C4-AB4A-670E-B20E-74095EF45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7D787-4E78-7002-A441-FD3F699B1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Stakeholders</a:t>
            </a:r>
            <a:r>
              <a:rPr lang="en-US" dirty="0"/>
              <a:t> are individuals, groups, or organizations that:</a:t>
            </a:r>
          </a:p>
          <a:p>
            <a:r>
              <a:rPr lang="en-US" b="1" dirty="0"/>
              <a:t>Affect</a:t>
            </a:r>
            <a:r>
              <a:rPr lang="en-US" dirty="0"/>
              <a:t> or are </a:t>
            </a:r>
            <a:r>
              <a:rPr lang="en-US" b="1" dirty="0"/>
              <a:t>affected by</a:t>
            </a:r>
            <a:r>
              <a:rPr lang="en-US" dirty="0"/>
              <a:t> the project</a:t>
            </a:r>
          </a:p>
          <a:p>
            <a:r>
              <a:rPr lang="en-US" dirty="0"/>
              <a:t>Have </a:t>
            </a:r>
            <a:r>
              <a:rPr lang="en-US" b="1" dirty="0"/>
              <a:t>interests</a:t>
            </a:r>
            <a:r>
              <a:rPr lang="en-US" dirty="0"/>
              <a:t>, </a:t>
            </a:r>
            <a:r>
              <a:rPr lang="en-US" b="1" dirty="0"/>
              <a:t>influence</a:t>
            </a:r>
            <a:r>
              <a:rPr lang="en-US" dirty="0"/>
              <a:t>, or </a:t>
            </a:r>
            <a:r>
              <a:rPr lang="en-US" b="1" dirty="0"/>
              <a:t>power</a:t>
            </a:r>
            <a:r>
              <a:rPr lang="en-US" dirty="0"/>
              <a:t> over project decisions and outcomes</a:t>
            </a:r>
          </a:p>
          <a:p>
            <a:r>
              <a:rPr lang="en-US" b="1" dirty="0"/>
              <a:t>🔹 Types of Stakeholders</a:t>
            </a:r>
          </a:p>
          <a:p>
            <a:r>
              <a:rPr lang="en-US" b="1" dirty="0"/>
              <a:t>➤ Internal Stakeholders</a:t>
            </a:r>
          </a:p>
          <a:p>
            <a:r>
              <a:rPr lang="en-US" b="1" dirty="0"/>
              <a:t>Project Sponsor</a:t>
            </a:r>
            <a:r>
              <a:rPr lang="en-US" dirty="0"/>
              <a:t>: Provides funding and support</a:t>
            </a:r>
          </a:p>
          <a:p>
            <a:r>
              <a:rPr lang="en-US" b="1" dirty="0"/>
              <a:t>Project Manager</a:t>
            </a:r>
            <a:r>
              <a:rPr lang="en-US" dirty="0"/>
              <a:t>: Leads the project</a:t>
            </a:r>
          </a:p>
          <a:p>
            <a:r>
              <a:rPr lang="en-US" b="1" dirty="0"/>
              <a:t>Project Team Members</a:t>
            </a:r>
            <a:r>
              <a:rPr lang="en-US" dirty="0"/>
              <a:t>: Execute tasks</a:t>
            </a:r>
          </a:p>
          <a:p>
            <a:r>
              <a:rPr lang="en-US" b="1" dirty="0"/>
              <a:t>Senior Management</a:t>
            </a:r>
            <a:r>
              <a:rPr lang="en-US" dirty="0"/>
              <a:t>: Oversees strategic alignment</a:t>
            </a:r>
          </a:p>
          <a:p>
            <a:r>
              <a:rPr lang="en-US" b="1" dirty="0"/>
              <a:t>Functional Managers</a:t>
            </a:r>
            <a:r>
              <a:rPr lang="en-US" dirty="0"/>
              <a:t>: Provide resources or expertise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1572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1D1F-04A3-6E09-8F52-9C78C8F4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7749-8472-FA9A-1E67-895F9226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FA41-3BE3-0489-3851-A1AB4E9F9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➤ External Stakeholders</a:t>
            </a:r>
          </a:p>
          <a:p>
            <a:r>
              <a:rPr lang="en-US" b="1" dirty="0"/>
              <a:t>Customers/Clients</a:t>
            </a:r>
            <a:r>
              <a:rPr lang="en-US" dirty="0"/>
              <a:t>: End users of the product/service</a:t>
            </a:r>
          </a:p>
          <a:p>
            <a:r>
              <a:rPr lang="en-US" b="1" dirty="0"/>
              <a:t>Suppliers/Vendors</a:t>
            </a:r>
            <a:r>
              <a:rPr lang="en-US" dirty="0"/>
              <a:t>: Provide goods or services</a:t>
            </a:r>
          </a:p>
          <a:p>
            <a:r>
              <a:rPr lang="en-US" b="1" dirty="0"/>
              <a:t>Regulatory Bodies</a:t>
            </a:r>
            <a:r>
              <a:rPr lang="en-US" dirty="0"/>
              <a:t>: Ensure compliance</a:t>
            </a:r>
          </a:p>
          <a:p>
            <a:r>
              <a:rPr lang="en-US" b="1" dirty="0"/>
              <a:t>Partners</a:t>
            </a:r>
            <a:r>
              <a:rPr lang="en-US" dirty="0"/>
              <a:t>: Collaborate on project delivery</a:t>
            </a:r>
          </a:p>
          <a:p>
            <a:r>
              <a:rPr lang="en-US" b="1" dirty="0"/>
              <a:t>Community/Public</a:t>
            </a:r>
            <a:r>
              <a:rPr lang="en-US" dirty="0"/>
              <a:t>: May be impacted by the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7882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6A01-9D15-05C7-1857-868DF83A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Identifying Stakeholders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CAB11-9FC3-C171-0ECD-C280368B7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is done during the </a:t>
            </a:r>
            <a:r>
              <a:rPr lang="en-US" b="1" dirty="0"/>
              <a:t>Initiation Phase</a:t>
            </a:r>
            <a:r>
              <a:rPr lang="en-US" dirty="0"/>
              <a:t> using the </a:t>
            </a:r>
            <a:r>
              <a:rPr lang="en-US" b="1" dirty="0"/>
              <a:t>Identify Stakeholders</a:t>
            </a:r>
            <a:r>
              <a:rPr lang="en-US" dirty="0"/>
              <a:t> process.</a:t>
            </a:r>
          </a:p>
          <a:p>
            <a:r>
              <a:rPr lang="en-US" b="1" dirty="0"/>
              <a:t>➤ Tools &amp; Techniques:</a:t>
            </a:r>
          </a:p>
          <a:p>
            <a:r>
              <a:rPr lang="en-US" dirty="0"/>
              <a:t>Stakeholder analysis</a:t>
            </a:r>
          </a:p>
          <a:p>
            <a:r>
              <a:rPr lang="en-US" dirty="0"/>
              <a:t>Interviews and surveys</a:t>
            </a:r>
          </a:p>
          <a:p>
            <a:r>
              <a:rPr lang="en-US" dirty="0"/>
              <a:t>Expert judgment</a:t>
            </a:r>
          </a:p>
          <a:p>
            <a:r>
              <a:rPr lang="en-US" dirty="0"/>
              <a:t>Document reviews</a:t>
            </a:r>
          </a:p>
          <a:p>
            <a:r>
              <a:rPr lang="en-US" b="1" dirty="0"/>
              <a:t>➤ Output:</a:t>
            </a:r>
          </a:p>
          <a:p>
            <a:r>
              <a:rPr lang="en-US" b="1" dirty="0"/>
              <a:t>Stakeholder Register</a:t>
            </a:r>
            <a:r>
              <a:rPr lang="en-US" dirty="0"/>
              <a:t>: Contains names, roles, interests, influence, and engagement strategies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975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651C5-B3E8-A46B-A5FF-41AD4DAF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🔹 Stakeholder Engagement Strategies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>
              <a:ln>
                <a:noFill/>
              </a:ln>
              <a:effectLst/>
              <a:latin typeface="Segoe Sans"/>
            </a:endParaRP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Segoe Sans"/>
              </a:rPr>
              <a:t>➤ Based on Power-Interest Grid: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B02EE6A-B527-DE3E-F504-805FC35A8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endParaRPr lang="en-US" sz="200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8F488EDC-1719-B127-D0E9-C2B9081BD662}"/>
              </a:ext>
            </a:extLst>
          </p:cNvPr>
          <p:cNvGraphicFramePr>
            <a:graphicFrameLocks/>
          </p:cNvGraphicFramePr>
          <p:nvPr/>
        </p:nvGraphicFramePr>
        <p:xfrm>
          <a:off x="835154" y="2516116"/>
          <a:ext cx="10515596" cy="3677460"/>
        </p:xfrm>
        <a:graphic>
          <a:graphicData uri="http://schemas.openxmlformats.org/drawingml/2006/table">
            <a:tbl>
              <a:tblPr/>
              <a:tblGrid>
                <a:gridCol w="5200121">
                  <a:extLst>
                    <a:ext uri="{9D8B030D-6E8A-4147-A177-3AD203B41FA5}">
                      <a16:colId xmlns:a16="http://schemas.microsoft.com/office/drawing/2014/main" val="2617684837"/>
                    </a:ext>
                  </a:extLst>
                </a:gridCol>
                <a:gridCol w="5315475">
                  <a:extLst>
                    <a:ext uri="{9D8B030D-6E8A-4147-A177-3AD203B41FA5}">
                      <a16:colId xmlns:a16="http://schemas.microsoft.com/office/drawing/2014/main" val="3805885039"/>
                    </a:ext>
                  </a:extLst>
                </a:gridCol>
              </a:tblGrid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Stakeholder Type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91362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High Power, High Interest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Manage closely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064764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High Power, Low Interest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Keep satisfied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6396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Low Power, High Interest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Keep informed</a:t>
                      </a:r>
                    </a:p>
                  </a:txBody>
                  <a:tcPr marL="138424" marR="92283" marT="92283" marB="80747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29801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Low Power, Low Interest</a:t>
                      </a:r>
                    </a:p>
                  </a:txBody>
                  <a:tcPr marL="138424" marR="92283" marT="92283" marB="6921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 i="0" u="none" strike="noStrike">
                          <a:effectLst/>
                          <a:latin typeface="Arial" panose="020B0604020202020204" pitchFamily="34" charset="0"/>
                        </a:rPr>
                        <a:t>Monitor with minimal effort</a:t>
                      </a:r>
                    </a:p>
                  </a:txBody>
                  <a:tcPr marL="138424" marR="92283" marT="92283" marB="69212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27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2981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FDEF-F907-78D1-B33A-D2FD864B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56F67-23B2-8A91-F3EC-31D88A06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 Engagement Techniques:</a:t>
            </a:r>
          </a:p>
          <a:p>
            <a:r>
              <a:rPr lang="en-US" dirty="0"/>
              <a:t>Regular communication (meetings, emails, dashboards)</a:t>
            </a:r>
          </a:p>
          <a:p>
            <a:r>
              <a:rPr lang="en-US" dirty="0"/>
              <a:t>Involvement in decision-making</a:t>
            </a:r>
          </a:p>
          <a:p>
            <a:r>
              <a:rPr lang="en-US" dirty="0"/>
              <a:t>Feedback loops</a:t>
            </a:r>
          </a:p>
          <a:p>
            <a:r>
              <a:rPr lang="en-US" dirty="0"/>
              <a:t>Conflict resolution</a:t>
            </a:r>
          </a:p>
          <a:p>
            <a:r>
              <a:rPr lang="en-US" dirty="0"/>
              <a:t>Transparency and trust-building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6555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7F98-49A9-FCA2-1199-77D66014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47C9-D29D-C0D4-BB07-13476A5EA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🔹 Examples</a:t>
            </a:r>
          </a:p>
          <a:p>
            <a:r>
              <a:rPr lang="en-US" b="1" dirty="0"/>
              <a:t>✅ Example 1: IT Project – CRM System</a:t>
            </a:r>
          </a:p>
          <a:p>
            <a:r>
              <a:rPr lang="en-US" b="1" dirty="0"/>
              <a:t>Internal Stakeholders</a:t>
            </a:r>
            <a:r>
              <a:rPr lang="en-US" dirty="0"/>
              <a:t>: Sales team, IT department, project sponsor</a:t>
            </a:r>
          </a:p>
          <a:p>
            <a:r>
              <a:rPr lang="en-US" b="1" dirty="0"/>
              <a:t>External Stakeholders</a:t>
            </a:r>
            <a:r>
              <a:rPr lang="en-US" dirty="0"/>
              <a:t>: CRM vendor, customers</a:t>
            </a:r>
          </a:p>
          <a:p>
            <a:r>
              <a:rPr lang="en-US" b="1" dirty="0"/>
              <a:t>Engagement Strategy</a:t>
            </a:r>
            <a:r>
              <a:rPr lang="en-US" dirty="0"/>
              <a:t>: Weekly demos for sales team, monthly updates to sponsor, vendor coordination meetings</a:t>
            </a:r>
          </a:p>
          <a:p>
            <a:r>
              <a:rPr lang="en-US" b="1" dirty="0"/>
              <a:t>✅ Example 2: Food Ordering App</a:t>
            </a:r>
          </a:p>
          <a:p>
            <a:r>
              <a:rPr lang="en-US" b="1" dirty="0"/>
              <a:t>Internal</a:t>
            </a:r>
            <a:r>
              <a:rPr lang="en-US" dirty="0"/>
              <a:t>: Developers, marketing team, product owner</a:t>
            </a:r>
          </a:p>
          <a:p>
            <a:r>
              <a:rPr lang="en-US" b="1" dirty="0"/>
              <a:t>External</a:t>
            </a:r>
            <a:r>
              <a:rPr lang="en-US" dirty="0"/>
              <a:t>: Restaurant partners, payment gateway providers, end users</a:t>
            </a:r>
          </a:p>
          <a:p>
            <a:r>
              <a:rPr lang="en-US" b="1" dirty="0"/>
              <a:t>Engagement Strategy</a:t>
            </a:r>
            <a:r>
              <a:rPr lang="en-US" dirty="0"/>
              <a:t>: Surveys for users, onboarding sessions for restaurants, sprint reviews for internal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9510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C730-C117-ACDD-78E4-85DEE8928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376B-F190-ADDF-1E6C-38E90D66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Stakeholder Register</a:t>
            </a:r>
            <a:r>
              <a:rPr lang="en-US" dirty="0"/>
              <a:t> is a formal document that lists all project stakeholders along with relevant information about their roles, interests, influence, and engagement strategies.</a:t>
            </a:r>
          </a:p>
          <a:p>
            <a:r>
              <a:rPr lang="en-US" b="1" dirty="0"/>
              <a:t> Why Is It Needed?</a:t>
            </a:r>
          </a:p>
          <a:p>
            <a:r>
              <a:rPr lang="en-US" dirty="0"/>
              <a:t>To ensure </a:t>
            </a:r>
            <a:r>
              <a:rPr lang="en-US" b="1" dirty="0"/>
              <a:t>effective communication</a:t>
            </a:r>
            <a:r>
              <a:rPr lang="en-US" dirty="0"/>
              <a:t> and engagement</a:t>
            </a:r>
          </a:p>
          <a:p>
            <a:r>
              <a:rPr lang="en-US" dirty="0"/>
              <a:t>To manage </a:t>
            </a:r>
            <a:r>
              <a:rPr lang="en-US" b="1" dirty="0"/>
              <a:t>expectations and influence</a:t>
            </a:r>
            <a:endParaRPr lang="en-US" dirty="0"/>
          </a:p>
          <a:p>
            <a:r>
              <a:rPr lang="en-US" dirty="0"/>
              <a:t>To identify potential </a:t>
            </a:r>
            <a:r>
              <a:rPr lang="en-US" b="1" dirty="0"/>
              <a:t>risks or support</a:t>
            </a:r>
            <a:endParaRPr lang="en-US" dirty="0"/>
          </a:p>
          <a:p>
            <a:r>
              <a:rPr lang="en-US" dirty="0"/>
              <a:t>To align stakeholders with </a:t>
            </a:r>
            <a:r>
              <a:rPr lang="en-US" b="1" dirty="0"/>
              <a:t>project goals</a:t>
            </a:r>
            <a:endParaRPr lang="en-US" dirty="0"/>
          </a:p>
          <a:p>
            <a:r>
              <a:rPr lang="en-US" dirty="0"/>
              <a:t>To serve as a reference for </a:t>
            </a:r>
            <a:r>
              <a:rPr lang="en-US" b="1" dirty="0"/>
              <a:t>planning and decision-making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9927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417BF-846F-BC1E-000F-1D0A2C99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F733B-F988-62EE-6E12-D569BC86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Stakeholder Register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7AB115E-A515-C040-A17A-02374D84A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+mn-lt"/>
              </a:rPr>
              <a:t>Components of a Stakeholder Register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+mn-lt"/>
              </a:rPr>
              <a:t>Here are the typical components with examples from an 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+mn-lt"/>
              </a:rPr>
              <a:t>IT project (e.g., CRM system implementation)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+mn-lt"/>
              </a:rPr>
              <a:t>: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119FC48-8D77-0E2F-A5A0-96B3A48AD6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427561"/>
              </p:ext>
            </p:extLst>
          </p:nvPr>
        </p:nvGraphicFramePr>
        <p:xfrm>
          <a:off x="835154" y="2707822"/>
          <a:ext cx="10515597" cy="329405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046545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573724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4831254"/>
                    </a:ext>
                  </a:extLst>
                </a:gridCol>
              </a:tblGrid>
              <a:tr h="33327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55239" marR="36826" marT="75743" marB="757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55239" marR="36826" marT="75743" marB="757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55239" marR="36826" marT="75743" marB="7574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420547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Stakeholder Name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Full name or group name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Priya Sharma (Sales Manager)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09526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Role/Position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Their role in or relation to the project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End user, sponsor, developer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033137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Contact Information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Email, phone, location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inherit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priya.sharma@company.com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66911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Interest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What they care about in the project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Wants better lead tracking and reporting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680349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Influence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Level of impact on project decisions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High (can approve/reject features)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474354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Power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Authority over resources or decisions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Medium (can allocate team members)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318734"/>
                  </a:ext>
                </a:extLst>
              </a:tr>
              <a:tr h="344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Engagement Level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Current and desired level of involvement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Current: Passive; Desired: Supportive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49577"/>
                  </a:ext>
                </a:extLst>
              </a:tr>
              <a:tr h="5468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Communication Needs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Preferred method and frequency of communication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Weekly email updates and monthly review meetings</a:t>
                      </a:r>
                    </a:p>
                  </a:txBody>
                  <a:tcPr marL="55239" marR="36826" marT="36826" marB="757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9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2982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0D46-373F-35A3-79CF-4541D997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Stakeholder Engagement Strategies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8384A-D430-182C-3331-FE92821E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 Identify Stakeholder Needs and Interests</a:t>
            </a:r>
          </a:p>
          <a:p>
            <a:r>
              <a:rPr lang="en-US" dirty="0"/>
              <a:t>Understand what each stakeholder cares about—whether it's cost, quality, timeline, or impact.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 a </a:t>
            </a:r>
            <a:r>
              <a:rPr lang="en-US" b="1" dirty="0"/>
              <a:t>mobile app development project</a:t>
            </a:r>
            <a:r>
              <a:rPr lang="en-US" dirty="0"/>
              <a:t>, the marketing team may be interested in user engagement features, while the finance team focuses on budget control.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9124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691FF-2703-4297-1707-9200653B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9EA31-4C04-A5CC-BD7F-BFE3512B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Stakeholder Engagement Strategies</a:t>
            </a:r>
            <a:b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9C8B7F-0CCA-A7BB-CA2E-3B9E9B3A2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2. Classify Stakeholders (Power-Interest Grid)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4B8AD2-3961-0F20-56CE-FFC761644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203992"/>
              </p:ext>
            </p:extLst>
          </p:nvPr>
        </p:nvGraphicFramePr>
        <p:xfrm>
          <a:off x="835154" y="2516116"/>
          <a:ext cx="10515596" cy="367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121">
                  <a:extLst>
                    <a:ext uri="{9D8B030D-6E8A-4147-A177-3AD203B41FA5}">
                      <a16:colId xmlns:a16="http://schemas.microsoft.com/office/drawing/2014/main" val="3810771165"/>
                    </a:ext>
                  </a:extLst>
                </a:gridCol>
                <a:gridCol w="5315475">
                  <a:extLst>
                    <a:ext uri="{9D8B030D-6E8A-4147-A177-3AD203B41FA5}">
                      <a16:colId xmlns:a16="http://schemas.microsoft.com/office/drawing/2014/main" val="1643718284"/>
                    </a:ext>
                  </a:extLst>
                </a:gridCol>
              </a:tblGrid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>
                          <a:effectLst/>
                        </a:rPr>
                        <a:t>Stakeholder Type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 b="0">
                          <a:effectLst/>
                        </a:rPr>
                        <a:t>Strategy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3177379231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High Power, High Interest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Manage closely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3098870456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High Power, Low Interest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Keep satisfied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713156280"/>
                  </a:ext>
                </a:extLst>
              </a:tr>
              <a:tr h="73779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Low Power, High Interest</a:t>
                      </a:r>
                    </a:p>
                  </a:txBody>
                  <a:tcPr marL="138424" marR="92283" marT="92283" marB="80747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Keep informed</a:t>
                      </a:r>
                    </a:p>
                  </a:txBody>
                  <a:tcPr marL="138424" marR="92283" marT="92283" marB="80747"/>
                </a:tc>
                <a:extLst>
                  <a:ext uri="{0D108BD9-81ED-4DB2-BD59-A6C34878D82A}">
                    <a16:rowId xmlns:a16="http://schemas.microsoft.com/office/drawing/2014/main" val="3942469064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Low Power, Low Interest</a:t>
                      </a:r>
                    </a:p>
                  </a:txBody>
                  <a:tcPr marL="138424" marR="92283" marT="92283" marB="69212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300">
                          <a:effectLst/>
                        </a:rPr>
                        <a:t>Monitor with minimal effort</a:t>
                      </a:r>
                    </a:p>
                  </a:txBody>
                  <a:tcPr marL="138424" marR="92283" marT="92283" marB="69212"/>
                </a:tc>
                <a:extLst>
                  <a:ext uri="{0D108BD9-81ED-4DB2-BD59-A6C34878D82A}">
                    <a16:rowId xmlns:a16="http://schemas.microsoft.com/office/drawing/2014/main" val="2907831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9138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4226-0894-EA92-409B-AD489A3C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7C66-161B-D352-15E0-82BDFA82B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3. Tailor Communication</a:t>
            </a:r>
          </a:p>
          <a:p>
            <a:r>
              <a:rPr lang="en-US" dirty="0"/>
              <a:t>Use the right channels, frequency, and tone based on stakeholder preferences.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b="1" dirty="0"/>
              <a:t>Executives</a:t>
            </a:r>
            <a:r>
              <a:rPr lang="en-US" dirty="0"/>
              <a:t>: Monthly dashboards and strategic updates</a:t>
            </a:r>
          </a:p>
          <a:p>
            <a:r>
              <a:rPr lang="en-US" b="1" dirty="0"/>
              <a:t>Team members</a:t>
            </a:r>
            <a:r>
              <a:rPr lang="en-US" dirty="0"/>
              <a:t>: Daily stand-ups and task boards</a:t>
            </a:r>
          </a:p>
          <a:p>
            <a:r>
              <a:rPr lang="en-US" b="1" dirty="0"/>
              <a:t>Clients</a:t>
            </a:r>
            <a:r>
              <a:rPr lang="en-US" dirty="0"/>
              <a:t>: Weekly progress emails and demos</a:t>
            </a:r>
          </a:p>
          <a:p>
            <a:r>
              <a:rPr lang="en-US" b="1" dirty="0"/>
              <a:t>4. Involve Stakeholders in Decision-Making</a:t>
            </a:r>
          </a:p>
          <a:p>
            <a:r>
              <a:rPr lang="en-US" dirty="0"/>
              <a:t>Engage stakeholders in planning, reviews, and feedback sessions to increase buy-in.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 a </a:t>
            </a:r>
            <a:r>
              <a:rPr lang="en-US" b="1" dirty="0"/>
              <a:t>food ordering system</a:t>
            </a:r>
            <a:r>
              <a:rPr lang="en-US" dirty="0"/>
              <a:t>, restaurant partners can be invited to test early prototypes and suggest UI improvements.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453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BF19-7081-78BC-489B-DA1E5DD3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044F9-B38A-39BA-CCE5-E8B209002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 Manage Expectations</a:t>
            </a:r>
          </a:p>
          <a:p>
            <a:r>
              <a:rPr lang="en-US" dirty="0"/>
              <a:t>Set realistic goals, clarify scope, and communicate changes proactively.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If a feature is delayed, inform stakeholders early and explain the impact and mitigation plan.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863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AACB9-023A-D541-2755-31003768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B67D906-D7B1-72E5-B7D2-06C32613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0909" y="552906"/>
            <a:ext cx="5159825" cy="167490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6. Monitor Engagement Levels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Use tools like the 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Stakeholder Engagement Assessment Matrix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to track current vs. desired engagement levels.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79258D-F24F-2CD7-2D23-0DBCC4894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754538"/>
              </p:ext>
            </p:extLst>
          </p:nvPr>
        </p:nvGraphicFramePr>
        <p:xfrm>
          <a:off x="835166" y="2685193"/>
          <a:ext cx="10515570" cy="3339309"/>
        </p:xfrm>
        <a:graphic>
          <a:graphicData uri="http://schemas.openxmlformats.org/drawingml/2006/table">
            <a:tbl>
              <a:tblPr/>
              <a:tblGrid>
                <a:gridCol w="2425708">
                  <a:extLst>
                    <a:ext uri="{9D8B030D-6E8A-4147-A177-3AD203B41FA5}">
                      <a16:colId xmlns:a16="http://schemas.microsoft.com/office/drawing/2014/main" val="1366731690"/>
                    </a:ext>
                  </a:extLst>
                </a:gridCol>
                <a:gridCol w="2675781">
                  <a:extLst>
                    <a:ext uri="{9D8B030D-6E8A-4147-A177-3AD203B41FA5}">
                      <a16:colId xmlns:a16="http://schemas.microsoft.com/office/drawing/2014/main" val="3413728956"/>
                    </a:ext>
                  </a:extLst>
                </a:gridCol>
                <a:gridCol w="2717460">
                  <a:extLst>
                    <a:ext uri="{9D8B030D-6E8A-4147-A177-3AD203B41FA5}">
                      <a16:colId xmlns:a16="http://schemas.microsoft.com/office/drawing/2014/main" val="1324887937"/>
                    </a:ext>
                  </a:extLst>
                </a:gridCol>
                <a:gridCol w="2696621">
                  <a:extLst>
                    <a:ext uri="{9D8B030D-6E8A-4147-A177-3AD203B41FA5}">
                      <a16:colId xmlns:a16="http://schemas.microsoft.com/office/drawing/2014/main" val="2300381794"/>
                    </a:ext>
                  </a:extLst>
                </a:gridCol>
              </a:tblGrid>
              <a:tr h="6664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Stakeholder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Current Level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Desired Level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61053"/>
                  </a:ext>
                </a:extLst>
              </a:tr>
              <a:tr h="11165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Sponsor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Supportive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Leading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Involve in key decisions</a:t>
                      </a:r>
                    </a:p>
                  </a:txBody>
                  <a:tcPr marL="125036" marR="83358" marT="83358" marB="7293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49675"/>
                  </a:ext>
                </a:extLst>
              </a:tr>
              <a:tr h="15562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Users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Unaware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Supportive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3000" b="0" i="0" u="none" strike="noStrike">
                          <a:effectLst/>
                          <a:latin typeface="Arial" panose="020B0604020202020204" pitchFamily="34" charset="0"/>
                        </a:rPr>
                        <a:t>Conduct training and demos</a:t>
                      </a:r>
                    </a:p>
                  </a:txBody>
                  <a:tcPr marL="125036" marR="83358" marT="83358" marB="62518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161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1517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4F94A-0BC9-4A99-4048-7CAA1E735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375" y="643466"/>
            <a:ext cx="1026925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437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4E6C-75E3-CF05-D0AB-378F1A2C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6DC1C-A5C5-A366-C021-7B78D0270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8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608FC1AF54D449872153F805ACE6EF" ma:contentTypeVersion="11" ma:contentTypeDescription="Create a new document." ma:contentTypeScope="" ma:versionID="d877b52c9f40aa90e97123a47eb58593">
  <xsd:schema xmlns:xsd="http://www.w3.org/2001/XMLSchema" xmlns:xs="http://www.w3.org/2001/XMLSchema" xmlns:p="http://schemas.microsoft.com/office/2006/metadata/properties" xmlns:ns2="d455814b-bc0f-46b4-9b45-b7042d3eb635" xmlns:ns3="3591e1ee-7812-4bc1-a200-9f1e494ef9b0" targetNamespace="http://schemas.microsoft.com/office/2006/metadata/properties" ma:root="true" ma:fieldsID="b2b74201e39b65d5e10ec3376f92449d" ns2:_="" ns3:_="">
    <xsd:import namespace="d455814b-bc0f-46b4-9b45-b7042d3eb635"/>
    <xsd:import namespace="3591e1ee-7812-4bc1-a200-9f1e494ef9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5814b-bc0f-46b4-9b45-b7042d3eb6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9d814c0-9b3f-4c78-9577-1f6435586d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91e1ee-7812-4bc1-a200-9f1e494ef9b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d0e2c59-f838-4528-9851-39e21eca7d68}" ma:internalName="TaxCatchAll" ma:showField="CatchAllData" ma:web="3591e1ee-7812-4bc1-a200-9f1e494ef9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91e1ee-7812-4bc1-a200-9f1e494ef9b0" xsi:nil="true"/>
    <lcf76f155ced4ddcb4097134ff3c332f xmlns="d455814b-bc0f-46b4-9b45-b7042d3eb6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9A775AE-67D4-416B-BE00-B3F8903F2E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5814b-bc0f-46b4-9b45-b7042d3eb635"/>
    <ds:schemaRef ds:uri="3591e1ee-7812-4bc1-a200-9f1e494ef9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02DF97-4176-4D7C-8B35-31754CC6E7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645173-2F34-463F-BB0A-7E51DABD0349}">
  <ds:schemaRefs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d455814b-bc0f-46b4-9b45-b7042d3eb635"/>
    <ds:schemaRef ds:uri="http://schemas.microsoft.com/office/infopath/2007/PartnerControls"/>
    <ds:schemaRef ds:uri="http://schemas.openxmlformats.org/package/2006/metadata/core-properties"/>
    <ds:schemaRef ds:uri="3591e1ee-7812-4bc1-a200-9f1e494ef9b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4911</Words>
  <Application>Microsoft Office PowerPoint</Application>
  <PresentationFormat>Widescreen</PresentationFormat>
  <Paragraphs>760</Paragraphs>
  <Slides>90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1" baseType="lpstr">
      <vt:lpstr>Office Theme</vt:lpstr>
      <vt:lpstr>Project Initiation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Develop Project Charter</vt:lpstr>
      <vt:lpstr>Importance of a Project Charter</vt:lpstr>
      <vt:lpstr>Typical Components of a Project Charter</vt:lpstr>
      <vt:lpstr>Project Charter: Mobile App Development</vt:lpstr>
      <vt:lpstr>Project Charter: Mobile App Development</vt:lpstr>
      <vt:lpstr>Project Charter: Mobile App Development</vt:lpstr>
      <vt:lpstr>Milestones </vt:lpstr>
      <vt:lpstr>Project Charter …</vt:lpstr>
      <vt:lpstr>Project Charter: College Management System </vt:lpstr>
      <vt:lpstr>Project Charter: College Management System </vt:lpstr>
      <vt:lpstr>Project Charter: College Management System </vt:lpstr>
      <vt:lpstr>Project Charter: College Management System </vt:lpstr>
      <vt:lpstr>Project Charter: College Management System</vt:lpstr>
      <vt:lpstr>Identify Stakeholders</vt:lpstr>
      <vt:lpstr>Enterprise Environmental Factors (EEFs)</vt:lpstr>
      <vt:lpstr>Enterprise Environmental Factors (EEFs)</vt:lpstr>
      <vt:lpstr>Example: EEF in an IT Project</vt:lpstr>
      <vt:lpstr>PowerPoint Presentation</vt:lpstr>
      <vt:lpstr>Organizational Process Assets (OPAs)</vt:lpstr>
      <vt:lpstr>Organizational Process Assets (OPAs)</vt:lpstr>
      <vt:lpstr>EEF vs OPA</vt:lpstr>
      <vt:lpstr>Developing a Business Case</vt:lpstr>
      <vt:lpstr>Key Components of a Business Case</vt:lpstr>
      <vt:lpstr>Business Case: Development of a Food Ordering System</vt:lpstr>
      <vt:lpstr>Business Case: Development of a Food Ordering System</vt:lpstr>
      <vt:lpstr>Business Case: Development of a Food Ordering System</vt:lpstr>
      <vt:lpstr>Define Project Goals</vt:lpstr>
      <vt:lpstr>Goals vs Objectives</vt:lpstr>
      <vt:lpstr>Goals are the "what" you want to achieve. Objectives are the "how" you will achieve it.</vt:lpstr>
      <vt:lpstr>SMART Goals</vt:lpstr>
      <vt:lpstr>SMART Goals</vt:lpstr>
      <vt:lpstr>SMART 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Defining project scope</vt:lpstr>
      <vt:lpstr>Example</vt:lpstr>
      <vt:lpstr>Project Selection</vt:lpstr>
      <vt:lpstr>Common Project Selection Methods</vt:lpstr>
      <vt:lpstr>Net Present Value</vt:lpstr>
      <vt:lpstr>NPV</vt:lpstr>
      <vt:lpstr>NPV</vt:lpstr>
      <vt:lpstr>NPV</vt:lpstr>
      <vt:lpstr>ROI – Return on Investment</vt:lpstr>
      <vt:lpstr>ROI</vt:lpstr>
      <vt:lpstr>ROI</vt:lpstr>
      <vt:lpstr> Scoring Models</vt:lpstr>
      <vt:lpstr>Scoring Models</vt:lpstr>
      <vt:lpstr> Scoring Models</vt:lpstr>
      <vt:lpstr>Scoring Models</vt:lpstr>
      <vt:lpstr>Project Scope, Objectives</vt:lpstr>
      <vt:lpstr>Project Objectives</vt:lpstr>
      <vt:lpstr>Project Deliverables</vt:lpstr>
      <vt:lpstr>PowerPoint Presentation</vt:lpstr>
      <vt:lpstr>PowerPoint Presentation</vt:lpstr>
      <vt:lpstr>🔹 SMART Objectives SMART is an acronym that ensures objectives are well-defined and achievable. </vt:lpstr>
      <vt:lpstr>PowerPoint Presentation</vt:lpstr>
      <vt:lpstr>Stakeholders</vt:lpstr>
      <vt:lpstr>Stakeholders</vt:lpstr>
      <vt:lpstr> Identifying Stakeholders </vt:lpstr>
      <vt:lpstr>🔹 Stakeholder Engagement Strategies  ➤ Based on Power-Interest Grid: </vt:lpstr>
      <vt:lpstr>PowerPoint Presentation</vt:lpstr>
      <vt:lpstr>PowerPoint Presentation</vt:lpstr>
      <vt:lpstr>Stakeholder Register</vt:lpstr>
      <vt:lpstr>Stakeholder Register</vt:lpstr>
      <vt:lpstr>Key Stakeholder Engagement Strategies </vt:lpstr>
      <vt:lpstr>Key Stakeholder Engagement Strategies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Surendra Kc</dc:creator>
  <cp:lastModifiedBy>Surendra Kc</cp:lastModifiedBy>
  <cp:revision>34</cp:revision>
  <dcterms:created xsi:type="dcterms:W3CDTF">2025-07-14T09:52:58Z</dcterms:created>
  <dcterms:modified xsi:type="dcterms:W3CDTF">2026-01-27T15:28:37Z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0x01010025608FC1AF54D449872153F805ACE6EF</vt:lpwstr>
  </property>
  <property fmtid="{D5CDD505-2E9C-101B-9397-08002B2CF9AE}" pid="3" name="MediaServiceImageTags">
    <vt:lpwstr/>
  </property>
</Properties>
</file>