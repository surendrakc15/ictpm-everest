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0" r:id="rId5"/>
    <p:sldId id="271" r:id="rId6"/>
    <p:sldId id="257" r:id="rId7"/>
    <p:sldId id="258" r:id="rId8"/>
    <p:sldId id="272" r:id="rId9"/>
    <p:sldId id="273" r:id="rId10"/>
    <p:sldId id="274" r:id="rId11"/>
    <p:sldId id="275" r:id="rId12"/>
    <p:sldId id="276" r:id="rId13"/>
    <p:sldId id="277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BC157-C21F-4DDD-AD09-FA0A9E7A4937}" v="6" dt="2026-02-09T15:56:35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7171-7262-06CE-1948-55A377E8B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34F87-B6C5-A662-D670-2A2BCE3B3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20FA0-D00B-EA89-21C0-D30DFD75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E4851-C545-0454-99C3-3A6E3C2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DD494-8D66-6066-ED3B-C5046AF3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77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5313-3CEB-53D1-B386-4127C47B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989D-30F1-0A00-0DBA-54E1854CC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1CC9B-D2EC-8884-FF8C-4BA27B24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112D6-B42F-E09A-EF47-850B5ECB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A9AF-2F7B-546B-E560-24FC6D3B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6625-BE5D-D47D-DD59-C297F89D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A12E7-9995-F575-C958-89B00C2F5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61D51-41AF-DF93-5760-41AAACA6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FB04-0577-5D17-E5D8-1DA0A9E3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67A9-16D5-0AF9-621F-1A980813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6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BB6C1-368F-31CF-7662-0396A4C6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9C11-14BE-FAC4-0AF6-9766A0B45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FF098-F5F3-3B7A-5E22-DD7BC7F48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E729B-6DB1-019F-893B-30778096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A9F9D-A5E3-106A-59C5-F76F3A51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76134-C261-9265-B5D3-59413F44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85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650E-79F3-8B97-233D-66CB732F7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FF67A-6E97-ACC5-295C-25B862DFE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4F520-8B14-197D-A3DC-E13208C37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74E9E-5DA9-4150-A0D1-9999D6CBF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E7530-3762-0705-120B-5FBD26DC6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FF938F-2FB1-F787-24AD-BA922653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410FF-8858-0D1E-F498-FB1D849DE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2AF52-3E09-74F7-35A6-32C24B5C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3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A78D-BC5E-C199-1F3C-C327C927D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BF2D4-4B74-AA24-1168-96A0BD4E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BFB71-B65E-712B-8FFE-FF34A5B1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689C1-66DC-21E2-C3A9-1643412E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1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16F2D-96CD-F6B9-D5F6-1F65F51D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C4DE4-5CDD-3044-C31C-A0A517DA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8CA80-907E-FFB9-8EDA-79A66B00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D2EF-830E-68B7-A6A8-EE2DED083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E5342-F2C7-87E9-BE72-38CDB3CE7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6E020-A68A-A59A-6E7B-9D6A71725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34AFB-BAE4-49F0-EA9D-670E0E4D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103E9-2A0E-E1CC-C634-C9119C01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AC7E2-2822-AE5A-99FE-EE1D5501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5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6B3F-8D9E-156D-A5DA-5648C1D0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2AADB-2E2D-9C5B-9491-0C28912DA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4F160-620C-0689-EC04-40B33175B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29FD5-8B45-BBD3-44E9-43774D1D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87CB3-1352-7081-1624-F0417251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7BB2E-E024-7307-E6D8-92DEDC1D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8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5DD2-A940-9EF6-36F1-F81C6984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AC8E5-0DBE-B840-4AFF-9DCFB6215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3173-12D3-2E50-8323-65376D50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2F755-75D0-977A-855C-AFFDE9F9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E9016-10CA-B218-2FBA-1C4CD27A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6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D3338-DFBF-6B9D-523B-10DDE120C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5C928-2FA3-D133-2283-76C4AD677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56E4A-EE04-2E72-C276-81377906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4037-43B9-4331-72AC-AC811276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F7C4E-3720-6A92-E543-CFF8A6C1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0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F75A9-2D46-1591-1575-9FD760D80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69289-888E-B938-B546-5CCF2C7AE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B7D15-68F4-5E66-FAB5-B3B113BB3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455C3-3F40-42F4-914A-B012B6FCAAE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F15D5-65EA-913A-45FE-88E6605F6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B0525-7C70-B7EF-4C8F-AAB125294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2CE9C-2EA9-4B63-A4C4-8633C8059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7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3572-2720-F42A-A8FA-8F208E53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Procurement </a:t>
            </a:r>
            <a:r>
              <a:rPr lang="en-US" dirty="0" err="1"/>
              <a:t>Managment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0C71-85FA-F72A-FBF1-AFDAD0950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Procurement</a:t>
            </a:r>
            <a:r>
              <a:rPr lang="en-US" dirty="0"/>
              <a:t> is the process of </a:t>
            </a:r>
            <a:r>
              <a:rPr lang="en-US" b="1" dirty="0"/>
              <a:t>planning, sourcing, purchasing, and managing goods and services</a:t>
            </a:r>
            <a:r>
              <a:rPr lang="en-US" dirty="0"/>
              <a:t> from external vendors to support business or project needs. It includes identifying requirements, selecting suppliers, negotiating contracts, managing vendor performance, and closing agreements.</a:t>
            </a:r>
          </a:p>
          <a:p>
            <a:r>
              <a:rPr lang="en-US" dirty="0"/>
              <a:t>In simple terms, procurement ensures an organization gets </a:t>
            </a:r>
            <a:r>
              <a:rPr lang="en-US" b="1" dirty="0"/>
              <a:t>the right product or service, at the right quality, cost, and time</a:t>
            </a:r>
            <a:r>
              <a:rPr lang="en-US" dirty="0"/>
              <a:t>, while managing risk and compliance.</a:t>
            </a:r>
          </a:p>
          <a:p>
            <a:r>
              <a:rPr lang="en-US" b="1" dirty="0"/>
              <a:t>Why Procurement Is Needed in an IT Company</a:t>
            </a:r>
          </a:p>
          <a:p>
            <a:pPr lvl="1"/>
            <a:r>
              <a:rPr lang="en-US" dirty="0"/>
              <a:t>In an IT company, not everything can or should be built internally. Procurement plays a critical role in enabling teams to deliver projects efficiently and at scale.</a:t>
            </a:r>
          </a:p>
          <a:p>
            <a:pPr marL="0" indent="0">
              <a:buNone/>
            </a:pPr>
            <a:r>
              <a:rPr lang="en-US" b="1" dirty="0"/>
              <a:t>Access to Specialized Skills and Services</a:t>
            </a:r>
          </a:p>
          <a:p>
            <a:pPr lvl="1"/>
            <a:r>
              <a:rPr lang="en-US" dirty="0"/>
              <a:t>IT projects often require niche expertise such as cloud architecture, cybersecurity, UI/UX design, or AI modeling. Procurement enables companies to source these skills quickly through vendors or consultants.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Hiring an external penetration testing firm for a security audit.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66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0BE18-6E3B-D7D7-4C7E-32155A9B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3FD7-F204-545B-B154-B78D81E5E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Procurement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A4BC1-56E8-35E1-418F-5E46ED221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Cost Control and Budget Management</a:t>
            </a:r>
          </a:p>
          <a:p>
            <a:r>
              <a:rPr lang="en-US" dirty="0"/>
              <a:t>Procurement ensures competitive pricing, clear contracts, and predictable costs, helping avoid overspending.</a:t>
            </a:r>
          </a:p>
          <a:p>
            <a:r>
              <a:rPr lang="en-US" i="1" dirty="0"/>
              <a:t>Example:</a:t>
            </a:r>
            <a:r>
              <a:rPr lang="en-US" dirty="0"/>
              <a:t> Negotiating enterprise licenses for cloud services or development tools.</a:t>
            </a:r>
          </a:p>
          <a:p>
            <a:pPr marL="0" indent="0">
              <a:buNone/>
            </a:pPr>
            <a:r>
              <a:rPr lang="en-US" b="1" dirty="0"/>
              <a:t>Faster Project Delivery</a:t>
            </a:r>
          </a:p>
          <a:p>
            <a:r>
              <a:rPr lang="en-US" dirty="0"/>
              <a:t>Rather than building everything from scratch, procurement allows teams to leverage ready-made tools, platforms, and services.</a:t>
            </a:r>
          </a:p>
          <a:p>
            <a:r>
              <a:rPr lang="en-US" i="1" dirty="0"/>
              <a:t>Example:</a:t>
            </a:r>
            <a:r>
              <a:rPr lang="en-US" dirty="0"/>
              <a:t> Purchasing a CI/CD tool instead of developing one internally.</a:t>
            </a:r>
          </a:p>
          <a:p>
            <a:r>
              <a:rPr lang="en-US" b="1" dirty="0"/>
              <a:t>Risk and Compliance Management</a:t>
            </a:r>
          </a:p>
          <a:p>
            <a:r>
              <a:rPr lang="en-US" dirty="0"/>
              <a:t>Well-defined procurement processes and contracts reduce legal, financial, and operational risks.</a:t>
            </a:r>
          </a:p>
          <a:p>
            <a:r>
              <a:rPr lang="en-US" i="1" dirty="0"/>
              <a:t>Example:</a:t>
            </a:r>
            <a:r>
              <a:rPr lang="en-US" dirty="0"/>
              <a:t> Including SLAs, data protection clauses, and penalties in vendor contracts.</a:t>
            </a:r>
          </a:p>
          <a:p>
            <a:pPr marL="0" indent="0">
              <a:buNone/>
            </a:pPr>
            <a:r>
              <a:rPr lang="en-US" b="1" dirty="0"/>
              <a:t>Scalability and Flexibility</a:t>
            </a:r>
          </a:p>
          <a:p>
            <a:r>
              <a:rPr lang="en-US" dirty="0"/>
              <a:t>IT workloads fluctuate. Procurement enables companies to scale resources up or down using vendors and cloud services.</a:t>
            </a:r>
          </a:p>
          <a:p>
            <a:r>
              <a:rPr lang="en-US" i="1" dirty="0"/>
              <a:t>Example:</a:t>
            </a:r>
            <a:r>
              <a:rPr lang="en-US" dirty="0"/>
              <a:t> Using time-and-material contracts for short-term QA or DevOps support.</a:t>
            </a:r>
          </a:p>
          <a:p>
            <a:pPr marL="0" indent="0">
              <a:buNone/>
            </a:pPr>
            <a:r>
              <a:rPr lang="en-US" b="1" dirty="0"/>
              <a:t>Focus on Core Business</a:t>
            </a:r>
          </a:p>
          <a:p>
            <a:r>
              <a:rPr lang="en-US" dirty="0"/>
              <a:t>By outsourcing non-core activities, internal teams can focus on innovation and high-value work.</a:t>
            </a:r>
          </a:p>
          <a:p>
            <a:r>
              <a:rPr lang="en-US" i="1" dirty="0"/>
              <a:t>Example:</a:t>
            </a:r>
            <a:r>
              <a:rPr lang="en-US" dirty="0"/>
              <a:t> Outsourcing infrastructure maintenance while focusing on product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03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19FC-75AB-3644-FC1D-0799A919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Procurement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049F5-4E65-765F-AA44-AD1595589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Procurement Management is the process of </a:t>
            </a:r>
            <a:r>
              <a:rPr lang="en-US" b="1" dirty="0"/>
              <a:t>planning, acquiring, managing, and closing contracts</a:t>
            </a:r>
            <a:r>
              <a:rPr lang="en-US" dirty="0"/>
              <a:t> for goods and services obtained from external vendors to meet project requirements.</a:t>
            </a:r>
          </a:p>
          <a:p>
            <a:pPr marL="0" indent="0">
              <a:buNone/>
            </a:pPr>
            <a:r>
              <a:rPr lang="en-US" b="1" dirty="0"/>
              <a:t>Project Procurement Management Process</a:t>
            </a:r>
          </a:p>
          <a:p>
            <a:r>
              <a:rPr lang="en-US" dirty="0"/>
              <a:t>Project Procurement Management typically includes the following key processes:</a:t>
            </a:r>
          </a:p>
          <a:p>
            <a:pPr lvl="1"/>
            <a:r>
              <a:rPr lang="en-US" b="1" dirty="0"/>
              <a:t>Plan Procurement Management</a:t>
            </a:r>
            <a:endParaRPr lang="en-US" dirty="0"/>
          </a:p>
          <a:p>
            <a:pPr lvl="1"/>
            <a:r>
              <a:rPr lang="en-US" b="1" dirty="0"/>
              <a:t>Conduct Procurements</a:t>
            </a:r>
            <a:endParaRPr lang="en-US" dirty="0"/>
          </a:p>
          <a:p>
            <a:pPr lvl="1"/>
            <a:r>
              <a:rPr lang="en-US" b="1" dirty="0"/>
              <a:t>Control Procurements</a:t>
            </a:r>
            <a:endParaRPr lang="en-US" dirty="0"/>
          </a:p>
          <a:p>
            <a:pPr lvl="1"/>
            <a:r>
              <a:rPr lang="en-US" b="1" dirty="0"/>
              <a:t>Close Procurements</a:t>
            </a:r>
            <a:endParaRPr lang="en-US" dirty="0"/>
          </a:p>
          <a:p>
            <a:r>
              <a:rPr lang="en-US" dirty="0"/>
              <a:t>Each process ensures that external resources are selected, managed, and completed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7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9B20-5E8F-627A-C565-766D7AFD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Procurement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4FBB3-2331-9C2C-6784-80C7D2609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process defines </a:t>
            </a:r>
            <a:r>
              <a:rPr lang="en-US" b="1" dirty="0"/>
              <a:t>what to procure, how to procure, when to procure, and from whom</a:t>
            </a:r>
            <a:r>
              <a:rPr lang="en-US" dirty="0"/>
              <a:t>.</a:t>
            </a:r>
          </a:p>
          <a:p>
            <a:r>
              <a:rPr lang="en-US" b="1" dirty="0"/>
              <a:t>Key Activities:</a:t>
            </a:r>
          </a:p>
          <a:p>
            <a:pPr lvl="1"/>
            <a:r>
              <a:rPr lang="en-US" dirty="0"/>
              <a:t>Identify goods/services to be procured externally</a:t>
            </a:r>
          </a:p>
          <a:p>
            <a:pPr lvl="1"/>
            <a:r>
              <a:rPr lang="en-US" dirty="0"/>
              <a:t>Decide contract type (fixed price, time &amp; material, etc.)</a:t>
            </a:r>
          </a:p>
          <a:p>
            <a:pPr lvl="1"/>
            <a:r>
              <a:rPr lang="en-US" dirty="0"/>
              <a:t>Define procurement strategy</a:t>
            </a:r>
          </a:p>
          <a:p>
            <a:pPr lvl="1"/>
            <a:r>
              <a:rPr lang="en-US" dirty="0"/>
              <a:t>Prepare procurement documents (RFP, RFQ, SOW)</a:t>
            </a:r>
          </a:p>
          <a:p>
            <a:pPr lvl="1"/>
            <a:r>
              <a:rPr lang="en-US" dirty="0"/>
              <a:t>Identify risks and constraints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94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B3C4-5948-EFEF-5332-602EF3AC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Procurement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CAC33-2017-3391-E03D-C7BB8D2AD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RFP (Request for Proposal)</a:t>
            </a:r>
            <a:br>
              <a:rPr lang="en-US" dirty="0"/>
            </a:br>
            <a:r>
              <a:rPr lang="en-US" dirty="0"/>
              <a:t>A document issued by a company to invite vendors to propose </a:t>
            </a:r>
            <a:r>
              <a:rPr lang="en-US" b="1" dirty="0"/>
              <a:t>solutions</a:t>
            </a:r>
            <a:r>
              <a:rPr lang="en-US" dirty="0"/>
              <a:t> to a business or technical problem.</a:t>
            </a:r>
          </a:p>
          <a:p>
            <a:r>
              <a:rPr lang="en-US" b="1" dirty="0"/>
              <a:t>When it’s used:</a:t>
            </a:r>
            <a:br>
              <a:rPr lang="en-US" dirty="0"/>
            </a:br>
            <a:r>
              <a:rPr lang="en-US" dirty="0"/>
              <a:t>When requirements are known at a high level, but the organization wants vendors to suggest </a:t>
            </a:r>
            <a:r>
              <a:rPr lang="en-US" b="1" dirty="0"/>
              <a:t>approaches, timelines, and pricing</a:t>
            </a:r>
            <a:r>
              <a:rPr lang="en-US" dirty="0"/>
              <a:t>.</a:t>
            </a:r>
          </a:p>
          <a:p>
            <a:r>
              <a:rPr lang="en-US" b="1" dirty="0"/>
              <a:t>What it includes:</a:t>
            </a:r>
            <a:endParaRPr lang="en-US" dirty="0"/>
          </a:p>
          <a:p>
            <a:pPr lvl="1"/>
            <a:r>
              <a:rPr lang="en-US" dirty="0"/>
              <a:t>Project background and objectives</a:t>
            </a:r>
          </a:p>
          <a:p>
            <a:pPr lvl="1"/>
            <a:r>
              <a:rPr lang="en-US" dirty="0"/>
              <a:t>High-level requirements</a:t>
            </a:r>
          </a:p>
          <a:p>
            <a:pPr lvl="1"/>
            <a:r>
              <a:rPr lang="en-US" dirty="0"/>
              <a:t>Evaluation criteria</a:t>
            </a:r>
          </a:p>
          <a:p>
            <a:pPr lvl="1"/>
            <a:r>
              <a:rPr lang="en-US" dirty="0"/>
              <a:t>Expected timeline and budget range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An IT company issues an RFP to develop a mobile application and asks vendors to propose the architecture, technology stack, delivery plan, and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75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C03A-90A4-4E5A-A303-249AA95F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2883-A173-32A0-4F61-41A6E8FD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Procurement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A008-BE9B-6EE2-BC72-E5C55D2B9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RFQ (Request for Quotation)</a:t>
            </a:r>
          </a:p>
          <a:p>
            <a:pPr marL="0" indent="0">
              <a:buNone/>
            </a:pPr>
            <a:r>
              <a:rPr lang="en-US" dirty="0"/>
              <a:t>A document used to request </a:t>
            </a:r>
            <a:r>
              <a:rPr lang="en-US" b="1" dirty="0"/>
              <a:t>price quotations</a:t>
            </a:r>
            <a:r>
              <a:rPr lang="en-US" dirty="0"/>
              <a:t> for clearly defined products or services.</a:t>
            </a:r>
          </a:p>
          <a:p>
            <a:r>
              <a:rPr lang="en-US" b="1" dirty="0"/>
              <a:t>When it’s used:</a:t>
            </a:r>
            <a:br>
              <a:rPr lang="en-US" dirty="0"/>
            </a:br>
            <a:r>
              <a:rPr lang="en-US" dirty="0"/>
              <a:t>When requirements and specifications are already fixed and the main decision factor is </a:t>
            </a:r>
            <a:r>
              <a:rPr lang="en-US" b="1" dirty="0"/>
              <a:t>cost</a:t>
            </a:r>
            <a:r>
              <a:rPr lang="en-US" dirty="0"/>
              <a:t>.</a:t>
            </a:r>
          </a:p>
          <a:p>
            <a:r>
              <a:rPr lang="en-US" b="1" dirty="0"/>
              <a:t>What it includes:</a:t>
            </a:r>
            <a:endParaRPr lang="en-US" dirty="0"/>
          </a:p>
          <a:p>
            <a:pPr lvl="1"/>
            <a:r>
              <a:rPr lang="en-US" dirty="0"/>
              <a:t>Detailed specifications</a:t>
            </a:r>
          </a:p>
          <a:p>
            <a:pPr lvl="1"/>
            <a:r>
              <a:rPr lang="en-US" dirty="0"/>
              <a:t>Quantity</a:t>
            </a:r>
          </a:p>
          <a:p>
            <a:pPr lvl="1"/>
            <a:r>
              <a:rPr lang="en-US" dirty="0"/>
              <a:t>Delivery timeline</a:t>
            </a:r>
          </a:p>
          <a:p>
            <a:pPr lvl="1"/>
            <a:r>
              <a:rPr lang="en-US" dirty="0"/>
              <a:t>Payment terms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Requesting quotes from cloud providers for hosting services with predefined storage, bandwidth, and uptime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0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CB866-B893-88B4-65E4-DF2B8EA2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0821-F49D-DBF5-1D42-5889A168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Procurement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CF9FA-EF81-D06D-E83D-5C560C65B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SOW (Statement of Work)</a:t>
            </a:r>
          </a:p>
          <a:p>
            <a:pPr marL="0" indent="0">
              <a:buNone/>
            </a:pPr>
            <a:r>
              <a:rPr lang="en-US" dirty="0"/>
              <a:t>A formal contract document that clearly defines </a:t>
            </a:r>
            <a:r>
              <a:rPr lang="en-US" b="1" dirty="0"/>
              <a:t>what work will be done and how</a:t>
            </a:r>
            <a:r>
              <a:rPr lang="en-US" dirty="0"/>
              <a:t>.</a:t>
            </a:r>
          </a:p>
          <a:p>
            <a:r>
              <a:rPr lang="en-US" b="1" dirty="0"/>
              <a:t>When it’s used:</a:t>
            </a:r>
            <a:br>
              <a:rPr lang="en-US" dirty="0"/>
            </a:br>
            <a:r>
              <a:rPr lang="en-US" dirty="0"/>
              <a:t>After vendor selection, as part of the contract.</a:t>
            </a:r>
          </a:p>
          <a:p>
            <a:r>
              <a:rPr lang="en-US" b="1" dirty="0"/>
              <a:t>What it includes:</a:t>
            </a:r>
            <a:endParaRPr lang="en-US" dirty="0"/>
          </a:p>
          <a:p>
            <a:pPr lvl="1"/>
            <a:r>
              <a:rPr lang="en-US" dirty="0"/>
              <a:t>Scope of work</a:t>
            </a:r>
          </a:p>
          <a:p>
            <a:pPr lvl="1"/>
            <a:r>
              <a:rPr lang="en-US" dirty="0"/>
              <a:t>Deliverables and milestones</a:t>
            </a:r>
          </a:p>
          <a:p>
            <a:pPr lvl="1"/>
            <a:r>
              <a:rPr lang="en-US" dirty="0"/>
              <a:t>Timelines</a:t>
            </a:r>
          </a:p>
          <a:p>
            <a:pPr lvl="1"/>
            <a:r>
              <a:rPr lang="en-US" dirty="0"/>
              <a:t>Acceptance criteria</a:t>
            </a:r>
          </a:p>
          <a:p>
            <a:pPr lvl="1"/>
            <a:r>
              <a:rPr lang="en-US" dirty="0"/>
              <a:t>Roles and responsibilities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An SOW for API development detailing endpoints, performance standards, testing requirements, and delivery milestones.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42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3AF1-0273-A4B3-83F6-47F79B00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IT Procurement Flow: RFP → RFQ → SOW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E2DE-6A85-5E1A-45AB-14A5C7ECF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/>
              <a:t>Scenario</a:t>
            </a:r>
          </a:p>
          <a:p>
            <a:r>
              <a:rPr lang="en-US" dirty="0"/>
              <a:t>An IT company wants to </a:t>
            </a:r>
            <a:r>
              <a:rPr lang="en-US" b="1" dirty="0"/>
              <a:t>build a customer-facing web application</a:t>
            </a:r>
            <a:r>
              <a:rPr lang="en-US" dirty="0"/>
              <a:t> but plans to outsource development to an external vendor.</a:t>
            </a:r>
          </a:p>
          <a:p>
            <a:pPr marL="0" indent="0">
              <a:buNone/>
            </a:pPr>
            <a:r>
              <a:rPr lang="en-US" b="1" dirty="0"/>
              <a:t>Step 1: RFP (Request for Proposal)</a:t>
            </a:r>
          </a:p>
          <a:p>
            <a:r>
              <a:rPr lang="en-US" b="1" dirty="0"/>
              <a:t>Goal:</a:t>
            </a:r>
            <a:r>
              <a:rPr lang="en-US" dirty="0"/>
              <a:t> Understand </a:t>
            </a:r>
            <a:r>
              <a:rPr lang="en-US" i="1" dirty="0"/>
              <a:t>how</a:t>
            </a:r>
            <a:r>
              <a:rPr lang="en-US" dirty="0"/>
              <a:t> vendors would solve the problem.</a:t>
            </a:r>
          </a:p>
          <a:p>
            <a:r>
              <a:rPr lang="en-US" b="1" dirty="0"/>
              <a:t>What the Company Does</a:t>
            </a:r>
          </a:p>
          <a:p>
            <a:pPr lvl="1"/>
            <a:r>
              <a:rPr lang="en-US" dirty="0"/>
              <a:t>Identifies business goals (build a scalable web app)</a:t>
            </a:r>
          </a:p>
          <a:p>
            <a:pPr lvl="1"/>
            <a:r>
              <a:rPr lang="en-US" dirty="0"/>
              <a:t>Defines high-level requirements</a:t>
            </a:r>
          </a:p>
          <a:p>
            <a:pPr lvl="1"/>
            <a:r>
              <a:rPr lang="en-US" dirty="0"/>
              <a:t>Issues an RFP to multiple vendors</a:t>
            </a:r>
          </a:p>
          <a:p>
            <a:r>
              <a:rPr lang="en-US" b="1" dirty="0"/>
              <a:t>What the RFP Includes</a:t>
            </a:r>
          </a:p>
          <a:p>
            <a:pPr lvl="1"/>
            <a:r>
              <a:rPr lang="en-US" dirty="0"/>
              <a:t>Project overview and objectives</a:t>
            </a:r>
          </a:p>
          <a:p>
            <a:pPr lvl="1"/>
            <a:r>
              <a:rPr lang="en-US" dirty="0"/>
              <a:t>Functional requirements (user login, dashboard, reports)</a:t>
            </a:r>
          </a:p>
          <a:p>
            <a:pPr lvl="1"/>
            <a:r>
              <a:rPr lang="en-US" dirty="0"/>
              <a:t>Non-functional requirements (security, scalability)</a:t>
            </a:r>
          </a:p>
          <a:p>
            <a:pPr lvl="1"/>
            <a:r>
              <a:rPr lang="en-US" dirty="0"/>
              <a:t>Expected timeline</a:t>
            </a:r>
          </a:p>
          <a:p>
            <a:pPr lvl="1"/>
            <a:r>
              <a:rPr lang="en-US" dirty="0"/>
              <a:t>Evaluation criteria (technical approach, experience, cost)</a:t>
            </a:r>
          </a:p>
          <a:p>
            <a:r>
              <a:rPr lang="en-US" b="1" dirty="0"/>
              <a:t>What Vendors Provide</a:t>
            </a:r>
          </a:p>
          <a:p>
            <a:pPr lvl="1"/>
            <a:r>
              <a:rPr lang="en-US" dirty="0"/>
              <a:t>Proposed technical solution and architecture</a:t>
            </a:r>
          </a:p>
          <a:p>
            <a:pPr lvl="1"/>
            <a:r>
              <a:rPr lang="en-US" dirty="0"/>
              <a:t>Technology stack (React, Node.js, AWS, etc.)</a:t>
            </a:r>
          </a:p>
          <a:p>
            <a:pPr lvl="1"/>
            <a:r>
              <a:rPr lang="en-US" dirty="0"/>
              <a:t>Project plan and timeline</a:t>
            </a:r>
          </a:p>
          <a:p>
            <a:pPr lvl="1"/>
            <a:r>
              <a:rPr lang="en-US" dirty="0"/>
              <a:t>Estimated cost and team structure</a:t>
            </a:r>
          </a:p>
          <a:p>
            <a:r>
              <a:rPr lang="en-US" b="1" dirty="0"/>
              <a:t>Outcome</a:t>
            </a:r>
          </a:p>
          <a:p>
            <a:pPr lvl="1"/>
            <a:r>
              <a:rPr lang="en-US" dirty="0"/>
              <a:t>Vendor A: Innovative solution, higher cost</a:t>
            </a:r>
          </a:p>
          <a:p>
            <a:pPr lvl="1"/>
            <a:r>
              <a:rPr lang="en-US" dirty="0"/>
              <a:t>Vendor B: Proven approach, balanced cost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Vendor B shortlisted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64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44D4-DD0F-A6E5-214C-CC65FF62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7908-239F-80A5-41A5-88A3B5EC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IT Procurement Flow: RFP → RFQ → SOW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D282D-748B-4CB4-F788-1DB5F923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RFQ (Request for Quotation)</a:t>
            </a:r>
          </a:p>
          <a:p>
            <a:r>
              <a:rPr lang="en-US" b="1" dirty="0"/>
              <a:t>Goal:</a:t>
            </a:r>
            <a:r>
              <a:rPr lang="en-US" dirty="0"/>
              <a:t> Finalize </a:t>
            </a:r>
            <a:r>
              <a:rPr lang="en-US" i="1" dirty="0"/>
              <a:t>pricing</a:t>
            </a:r>
            <a:r>
              <a:rPr lang="en-US" dirty="0"/>
              <a:t> for a clearly defined scope.</a:t>
            </a:r>
          </a:p>
          <a:p>
            <a:r>
              <a:rPr lang="en-US" b="1" dirty="0"/>
              <a:t>What the Company Does</a:t>
            </a:r>
          </a:p>
          <a:p>
            <a:pPr lvl="1"/>
            <a:r>
              <a:rPr lang="en-US" dirty="0"/>
              <a:t>Refines requirements based on RFP responses</a:t>
            </a:r>
          </a:p>
          <a:p>
            <a:pPr lvl="1"/>
            <a:r>
              <a:rPr lang="en-US" dirty="0"/>
              <a:t>Sends RFQ to shortlisted vendors (Vendor B and Vendor C)</a:t>
            </a:r>
          </a:p>
          <a:p>
            <a:r>
              <a:rPr lang="en-US" b="1" dirty="0"/>
              <a:t>What the RFQ Includes</a:t>
            </a:r>
          </a:p>
          <a:p>
            <a:pPr lvl="1"/>
            <a:r>
              <a:rPr lang="en-US" dirty="0"/>
              <a:t>Detailed scope of work</a:t>
            </a:r>
          </a:p>
          <a:p>
            <a:pPr lvl="1"/>
            <a:r>
              <a:rPr lang="en-US" dirty="0"/>
              <a:t>Defined deliverables and milestones</a:t>
            </a:r>
          </a:p>
          <a:p>
            <a:pPr lvl="1"/>
            <a:r>
              <a:rPr lang="en-US" dirty="0"/>
              <a:t>Fixed timeline</a:t>
            </a:r>
          </a:p>
          <a:p>
            <a:pPr lvl="1"/>
            <a:r>
              <a:rPr lang="en-US" dirty="0"/>
              <a:t>Pricing structure request (fixed price or T&amp;M)</a:t>
            </a:r>
          </a:p>
          <a:p>
            <a:r>
              <a:rPr lang="en-US" b="1" dirty="0"/>
              <a:t>What Vendors Provide</a:t>
            </a:r>
          </a:p>
          <a:p>
            <a:pPr lvl="1"/>
            <a:r>
              <a:rPr lang="en-US" dirty="0"/>
              <a:t>Final cost breakdown</a:t>
            </a:r>
          </a:p>
          <a:p>
            <a:pPr lvl="1"/>
            <a:r>
              <a:rPr lang="en-US" dirty="0"/>
              <a:t>Payment schedule</a:t>
            </a:r>
          </a:p>
          <a:p>
            <a:pPr lvl="1"/>
            <a:r>
              <a:rPr lang="en-US" dirty="0"/>
              <a:t>Assumptions and exclusions</a:t>
            </a:r>
          </a:p>
          <a:p>
            <a:r>
              <a:rPr lang="en-US" b="1" dirty="0"/>
              <a:t>Outcome</a:t>
            </a:r>
          </a:p>
          <a:p>
            <a:pPr lvl="1"/>
            <a:r>
              <a:rPr lang="en-US" dirty="0"/>
              <a:t>Vendor B offers a fixed price of $120,000</a:t>
            </a:r>
          </a:p>
          <a:p>
            <a:pPr lvl="1"/>
            <a:r>
              <a:rPr lang="en-US" dirty="0"/>
              <a:t>Vendor C offers $135,000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Vendor B selected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7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D2C8-EFB3-2300-DEF5-343DF722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A5CF-87AF-48BB-04C6-FE16D35E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IT Procurement Flow: RFP → RFQ → SOW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9A51E-C974-905E-72B0-86781510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SOW (Statement of Work)</a:t>
            </a:r>
          </a:p>
          <a:p>
            <a:r>
              <a:rPr lang="en-US" b="1" dirty="0"/>
              <a:t>Goal:</a:t>
            </a:r>
            <a:r>
              <a:rPr lang="en-US" dirty="0"/>
              <a:t> Clearly define </a:t>
            </a:r>
            <a:r>
              <a:rPr lang="en-US" i="1" dirty="0"/>
              <a:t>what will be delivered and how it will be managed</a:t>
            </a:r>
            <a:r>
              <a:rPr lang="en-US" dirty="0"/>
              <a:t>.</a:t>
            </a:r>
          </a:p>
          <a:p>
            <a:r>
              <a:rPr lang="en-US" b="1" dirty="0"/>
              <a:t>What the Company Does</a:t>
            </a:r>
          </a:p>
          <a:p>
            <a:pPr lvl="1"/>
            <a:r>
              <a:rPr lang="en-US" dirty="0"/>
              <a:t>Drafts SOW jointly with Vendor B</a:t>
            </a:r>
          </a:p>
          <a:p>
            <a:pPr lvl="1"/>
            <a:r>
              <a:rPr lang="en-US" dirty="0"/>
              <a:t>Finalizes contract terms</a:t>
            </a:r>
          </a:p>
          <a:p>
            <a:r>
              <a:rPr lang="en-US" b="1" dirty="0"/>
              <a:t>What the SOW Includes</a:t>
            </a:r>
          </a:p>
          <a:p>
            <a:pPr lvl="1"/>
            <a:r>
              <a:rPr lang="en-US" dirty="0"/>
              <a:t>Detailed scope of work</a:t>
            </a:r>
          </a:p>
          <a:p>
            <a:pPr lvl="1"/>
            <a:r>
              <a:rPr lang="en-US" dirty="0"/>
              <a:t>Deliverables and milestones</a:t>
            </a:r>
          </a:p>
          <a:p>
            <a:pPr lvl="1"/>
            <a:r>
              <a:rPr lang="en-US" dirty="0"/>
              <a:t>Timeline and payment terms</a:t>
            </a:r>
          </a:p>
          <a:p>
            <a:pPr lvl="1"/>
            <a:r>
              <a:rPr lang="en-US" dirty="0"/>
              <a:t>Acceptance criteria</a:t>
            </a:r>
          </a:p>
          <a:p>
            <a:pPr lvl="1"/>
            <a:r>
              <a:rPr lang="en-US" dirty="0"/>
              <a:t>Roles and responsibilities</a:t>
            </a:r>
          </a:p>
          <a:p>
            <a:pPr lvl="1"/>
            <a:r>
              <a:rPr lang="en-US" dirty="0"/>
              <a:t>Change management process</a:t>
            </a:r>
          </a:p>
          <a:p>
            <a:pPr lvl="1"/>
            <a:r>
              <a:rPr lang="en-US" dirty="0"/>
              <a:t>SLAs and quality standards</a:t>
            </a:r>
          </a:p>
          <a:p>
            <a:r>
              <a:rPr lang="en-US" b="1" dirty="0"/>
              <a:t>Example SOW Deliverables</a:t>
            </a:r>
          </a:p>
          <a:p>
            <a:pPr lvl="1"/>
            <a:r>
              <a:rPr lang="en-US" dirty="0"/>
              <a:t>Frontend module by Week 6</a:t>
            </a:r>
          </a:p>
          <a:p>
            <a:pPr lvl="1"/>
            <a:r>
              <a:rPr lang="en-US" dirty="0"/>
              <a:t>Backend APIs by Week 10</a:t>
            </a:r>
          </a:p>
          <a:p>
            <a:pPr lvl="1"/>
            <a:r>
              <a:rPr lang="en-US" dirty="0"/>
              <a:t>System testing by Week 12</a:t>
            </a:r>
          </a:p>
          <a:p>
            <a:pPr lvl="1"/>
            <a:r>
              <a:rPr lang="en-US" dirty="0"/>
              <a:t>Production deployment by Week 14</a:t>
            </a:r>
          </a:p>
          <a:p>
            <a:r>
              <a:rPr lang="en-US" b="1" dirty="0"/>
              <a:t>Outcome</a:t>
            </a:r>
          </a:p>
          <a:p>
            <a:pPr lvl="1"/>
            <a:r>
              <a:rPr lang="en-US" dirty="0"/>
              <a:t>SOW signed by both parties</a:t>
            </a:r>
          </a:p>
          <a:p>
            <a:pPr lvl="1"/>
            <a:r>
              <a:rPr lang="en-US" dirty="0"/>
              <a:t>Contract officially starts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8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EB43-FAD9-F596-E05F-C95955B9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CA5E-3307-CF0B-292D-B23A6AC8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Procurement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DB4C-92BB-9C5A-C6EE-FE0825315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Outputs:</a:t>
            </a:r>
          </a:p>
          <a:p>
            <a:pPr lvl="1"/>
            <a:r>
              <a:rPr lang="en-US" dirty="0"/>
              <a:t>Procurement Management Plan</a:t>
            </a:r>
          </a:p>
          <a:p>
            <a:pPr lvl="1"/>
            <a:r>
              <a:rPr lang="en-US" dirty="0"/>
              <a:t>Statement of Work (SOW)</a:t>
            </a:r>
          </a:p>
          <a:p>
            <a:pPr lvl="1"/>
            <a:r>
              <a:rPr lang="en-US" dirty="0"/>
              <a:t>Procurement documents</a:t>
            </a:r>
          </a:p>
          <a:p>
            <a:pPr lvl="1"/>
            <a:r>
              <a:rPr lang="en-US" dirty="0"/>
              <a:t>Source selection criteria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A software company decides to outsource </a:t>
            </a:r>
            <a:r>
              <a:rPr lang="en-US" b="1" dirty="0"/>
              <a:t>mobile app UI design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Internal team lacks design capacity</a:t>
            </a:r>
          </a:p>
          <a:p>
            <a:pPr lvl="2"/>
            <a:r>
              <a:rPr lang="en-US" dirty="0"/>
              <a:t>Fixed scope → Fixed Price contract selected</a:t>
            </a:r>
          </a:p>
          <a:p>
            <a:pPr lvl="2"/>
            <a:r>
              <a:rPr lang="en-US" dirty="0"/>
              <a:t>RFP issued to design agencies</a:t>
            </a:r>
          </a:p>
          <a:p>
            <a:pPr lvl="2"/>
            <a:r>
              <a:rPr lang="en-US" dirty="0"/>
              <a:t>SOW defines screens, branding guidelines, and delivery timeline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512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E168-8EF6-3953-D9EE-D570F2D7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 Procurements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E0813-1E3A-8D45-A340-F2B610103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process involves </a:t>
            </a:r>
            <a:r>
              <a:rPr lang="en-US" b="1" dirty="0"/>
              <a:t>selecting the seller and awarding the contract</a:t>
            </a:r>
            <a:r>
              <a:rPr lang="en-US" dirty="0"/>
              <a:t>.</a:t>
            </a:r>
          </a:p>
          <a:p>
            <a:r>
              <a:rPr lang="en-US" b="1" dirty="0"/>
              <a:t>Key Activities:</a:t>
            </a:r>
          </a:p>
          <a:p>
            <a:pPr lvl="1"/>
            <a:r>
              <a:rPr lang="en-US" dirty="0"/>
              <a:t>Publish procurement documents (RFP/RFQ)</a:t>
            </a:r>
          </a:p>
          <a:p>
            <a:pPr lvl="1"/>
            <a:r>
              <a:rPr lang="en-US" dirty="0"/>
              <a:t>Receive vendor proposals</a:t>
            </a:r>
          </a:p>
          <a:p>
            <a:pPr lvl="1"/>
            <a:r>
              <a:rPr lang="en-US" dirty="0"/>
              <a:t>Evaluate bids using selection criteria</a:t>
            </a:r>
          </a:p>
          <a:p>
            <a:pPr lvl="1"/>
            <a:r>
              <a:rPr lang="en-US" dirty="0"/>
              <a:t>Negotiate price, terms, and conditions</a:t>
            </a:r>
          </a:p>
          <a:p>
            <a:pPr lvl="1"/>
            <a:r>
              <a:rPr lang="en-US" dirty="0"/>
              <a:t>Award contract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620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AEBA-4F20-05C1-96BD-DE3B4602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FD9E4-E4B8-9568-3C87-BE9C7FBA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 Procurements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50D51-BAFD-B3CE-3BC5-49607829F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Selection Criteria:</a:t>
            </a:r>
          </a:p>
          <a:p>
            <a:pPr lvl="1"/>
            <a:r>
              <a:rPr lang="en-US" dirty="0"/>
              <a:t>Cost</a:t>
            </a:r>
          </a:p>
          <a:p>
            <a:pPr lvl="1"/>
            <a:r>
              <a:rPr lang="en-US" dirty="0"/>
              <a:t>Technical capability</a:t>
            </a:r>
          </a:p>
          <a:p>
            <a:pPr lvl="1"/>
            <a:r>
              <a:rPr lang="en-US" dirty="0"/>
              <a:t>Experience</a:t>
            </a:r>
          </a:p>
          <a:p>
            <a:pPr lvl="1"/>
            <a:r>
              <a:rPr lang="en-US" dirty="0"/>
              <a:t>Past performance</a:t>
            </a:r>
          </a:p>
          <a:p>
            <a:pPr lvl="1"/>
            <a:r>
              <a:rPr lang="en-US" dirty="0"/>
              <a:t>Delivery timeline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From 5 vendors responding to an RFP:</a:t>
            </a:r>
          </a:p>
          <a:p>
            <a:pPr lvl="2"/>
            <a:r>
              <a:rPr lang="en-US" dirty="0"/>
              <a:t>Vendor A: Low cost, limited experience</a:t>
            </a:r>
          </a:p>
          <a:p>
            <a:pPr lvl="2"/>
            <a:r>
              <a:rPr lang="en-US" dirty="0"/>
              <a:t>Vendor B: Moderate cost, strong portfolio</a:t>
            </a:r>
            <a:br>
              <a:rPr lang="en-US" dirty="0"/>
            </a:br>
            <a:r>
              <a:rPr lang="en-US" dirty="0"/>
              <a:t>Vendor B is selected due to better quality and reliability.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814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9123-AD61-6A76-E635-7E3354D70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Procurements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D87E4-CCFE-4C8D-B5AD-3286352C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process ensures that </a:t>
            </a:r>
            <a:r>
              <a:rPr lang="en-US" b="1" dirty="0"/>
              <a:t>both buyer and seller meet contractual obligations</a:t>
            </a:r>
            <a:r>
              <a:rPr lang="en-US" dirty="0"/>
              <a:t>.</a:t>
            </a:r>
          </a:p>
          <a:p>
            <a:r>
              <a:rPr lang="en-US" b="1" dirty="0"/>
              <a:t>Key Activities:</a:t>
            </a:r>
          </a:p>
          <a:p>
            <a:pPr lvl="1"/>
            <a:r>
              <a:rPr lang="en-US" dirty="0"/>
              <a:t>Monitor vendor performance</a:t>
            </a:r>
          </a:p>
          <a:p>
            <a:pPr lvl="1"/>
            <a:r>
              <a:rPr lang="en-US" dirty="0"/>
              <a:t>Review deliverables</a:t>
            </a:r>
          </a:p>
          <a:p>
            <a:pPr lvl="1"/>
            <a:r>
              <a:rPr lang="en-US" dirty="0"/>
              <a:t>Approve payments</a:t>
            </a:r>
          </a:p>
          <a:p>
            <a:pPr lvl="1"/>
            <a:r>
              <a:rPr lang="en-US" dirty="0"/>
              <a:t>Manage changes and disputes</a:t>
            </a:r>
          </a:p>
          <a:p>
            <a:pPr lvl="1"/>
            <a:r>
              <a:rPr lang="en-US" dirty="0"/>
              <a:t>Conduct performance audits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225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A891-0331-D830-95E9-78C8418F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BBB8-A9CD-CEE4-B91D-9ADCFE58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Procurements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2E187-2446-F8E4-BCDA-3315440C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Tools:</a:t>
            </a:r>
          </a:p>
          <a:p>
            <a:pPr lvl="1"/>
            <a:r>
              <a:rPr lang="en-US" dirty="0"/>
              <a:t>Contract change control system</a:t>
            </a:r>
          </a:p>
          <a:p>
            <a:pPr lvl="1"/>
            <a:r>
              <a:rPr lang="en-US" dirty="0"/>
              <a:t>Performance reviews</a:t>
            </a:r>
          </a:p>
          <a:p>
            <a:pPr lvl="1"/>
            <a:r>
              <a:rPr lang="en-US" dirty="0"/>
              <a:t>Inspections and audits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During development:</a:t>
            </a:r>
          </a:p>
          <a:p>
            <a:pPr lvl="1"/>
            <a:r>
              <a:rPr lang="en-US" dirty="0"/>
              <a:t>Vendor misses milestone deadlines</a:t>
            </a:r>
          </a:p>
          <a:p>
            <a:pPr lvl="1"/>
            <a:r>
              <a:rPr lang="en-US" dirty="0"/>
              <a:t>Project manager raises issue</a:t>
            </a:r>
          </a:p>
          <a:p>
            <a:pPr lvl="1"/>
            <a:r>
              <a:rPr lang="en-US" dirty="0"/>
              <a:t>Corrective action agreed (revised schedule)</a:t>
            </a:r>
          </a:p>
          <a:p>
            <a:pPr lvl="1"/>
            <a:r>
              <a:rPr lang="en-US" dirty="0"/>
              <a:t>Payment adjusted per contract terms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87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AB26-BF97-405D-62CE-FE7FB567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 Procurements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C16C-11E3-5219-057A-3E77A573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process finalizes and formally </a:t>
            </a:r>
            <a:r>
              <a:rPr lang="en-US" b="1" dirty="0"/>
              <a:t>closes all procurement activities</a:t>
            </a:r>
            <a:r>
              <a:rPr lang="en-US" dirty="0"/>
              <a:t>.</a:t>
            </a:r>
          </a:p>
          <a:p>
            <a:r>
              <a:rPr lang="en-US" b="1" dirty="0"/>
              <a:t>Key Activities:</a:t>
            </a:r>
          </a:p>
          <a:p>
            <a:pPr lvl="1"/>
            <a:r>
              <a:rPr lang="en-US" dirty="0"/>
              <a:t>Verify all deliverables are completed</a:t>
            </a:r>
          </a:p>
          <a:p>
            <a:pPr lvl="1"/>
            <a:r>
              <a:rPr lang="en-US" dirty="0"/>
              <a:t>Ensure final payments are made</a:t>
            </a:r>
          </a:p>
          <a:p>
            <a:pPr lvl="1"/>
            <a:r>
              <a:rPr lang="en-US" dirty="0"/>
              <a:t>Resolve pending claims</a:t>
            </a:r>
          </a:p>
          <a:p>
            <a:pPr lvl="1"/>
            <a:r>
              <a:rPr lang="en-US" dirty="0"/>
              <a:t>Archive procurement documents</a:t>
            </a:r>
          </a:p>
          <a:p>
            <a:pPr lvl="1"/>
            <a:r>
              <a:rPr lang="en-US" dirty="0"/>
              <a:t>Release vendor resources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After successful delivery of the UI design:</a:t>
            </a:r>
          </a:p>
          <a:p>
            <a:pPr lvl="1"/>
            <a:r>
              <a:rPr lang="en-US" dirty="0"/>
              <a:t>Final designs approved</a:t>
            </a:r>
          </a:p>
          <a:p>
            <a:pPr lvl="1"/>
            <a:r>
              <a:rPr lang="en-US" dirty="0"/>
              <a:t>Final invoice paid</a:t>
            </a:r>
          </a:p>
          <a:p>
            <a:pPr lvl="1"/>
            <a:r>
              <a:rPr lang="en-US" dirty="0"/>
              <a:t>Contract formally closed</a:t>
            </a:r>
          </a:p>
          <a:p>
            <a:pPr lvl="1"/>
            <a:r>
              <a:rPr lang="en-US" dirty="0"/>
              <a:t>Vendor performance documented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26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979C-D89B-A93D-269A-E964FD65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57A7-0F80-D481-E0BA-1CFAF1D45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Contracts define </a:t>
            </a:r>
            <a:r>
              <a:rPr lang="en-US" b="1" dirty="0"/>
              <a:t>how risk and payment responsibilities are shared</a:t>
            </a:r>
            <a:r>
              <a:rPr lang="en-US" dirty="0"/>
              <a:t> between buyer and seller.</a:t>
            </a:r>
          </a:p>
          <a:p>
            <a:r>
              <a:rPr lang="en-US" b="1" dirty="0"/>
              <a:t>Fixed Price Contract</a:t>
            </a:r>
          </a:p>
          <a:p>
            <a:r>
              <a:rPr lang="en-US" dirty="0"/>
              <a:t>A contract with a </a:t>
            </a:r>
            <a:r>
              <a:rPr lang="en-US" b="1" dirty="0"/>
              <a:t>predefined total price</a:t>
            </a:r>
            <a:r>
              <a:rPr lang="en-US" dirty="0"/>
              <a:t> for a clearly defined scope.</a:t>
            </a:r>
          </a:p>
          <a:p>
            <a:r>
              <a:rPr lang="en-US" b="1" dirty="0"/>
              <a:t>Characteristics:</a:t>
            </a:r>
          </a:p>
          <a:p>
            <a:pPr lvl="1"/>
            <a:r>
              <a:rPr lang="en-US" dirty="0"/>
              <a:t>Cost risk is on the seller</a:t>
            </a:r>
          </a:p>
          <a:p>
            <a:pPr lvl="1"/>
            <a:r>
              <a:rPr lang="en-US" dirty="0"/>
              <a:t>Best when requirements are stable</a:t>
            </a:r>
          </a:p>
          <a:p>
            <a:pPr lvl="1"/>
            <a:r>
              <a:rPr lang="en-US" dirty="0"/>
              <a:t>Easy to manage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A vendor agrees to build a website for </a:t>
            </a:r>
            <a:r>
              <a:rPr lang="en-US" b="1" dirty="0"/>
              <a:t>$15,000</a:t>
            </a:r>
            <a:r>
              <a:rPr lang="en-US" dirty="0"/>
              <a:t>, regardless of time spent.</a:t>
            </a:r>
          </a:p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Predictable cost</a:t>
            </a:r>
          </a:p>
          <a:p>
            <a:pPr lvl="1"/>
            <a:r>
              <a:rPr lang="en-US" dirty="0"/>
              <a:t>Simple administration</a:t>
            </a:r>
          </a:p>
          <a:p>
            <a:r>
              <a:rPr lang="en-US" b="1" dirty="0"/>
              <a:t>Disadvantages:</a:t>
            </a:r>
          </a:p>
          <a:p>
            <a:pPr lvl="1"/>
            <a:r>
              <a:rPr lang="en-US" dirty="0"/>
              <a:t>Less flexibility</a:t>
            </a:r>
          </a:p>
          <a:p>
            <a:pPr lvl="1"/>
            <a:r>
              <a:rPr lang="en-US" dirty="0"/>
              <a:t>Change requests can be expensive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21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88D8-B6AA-6E58-7E7C-2594886A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and Material (T&amp;M)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4426-70F6-9F5A-3F97-FB88F7B25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Payment is based on </a:t>
            </a:r>
            <a:r>
              <a:rPr lang="en-US" b="1" dirty="0"/>
              <a:t>time spent and materials used</a:t>
            </a:r>
            <a:r>
              <a:rPr lang="en-US" dirty="0"/>
              <a:t>.</a:t>
            </a:r>
          </a:p>
          <a:p>
            <a:r>
              <a:rPr lang="en-US" b="1" dirty="0"/>
              <a:t>Characteristics:</a:t>
            </a:r>
          </a:p>
          <a:p>
            <a:pPr lvl="1"/>
            <a:r>
              <a:rPr lang="en-US" dirty="0"/>
              <a:t>Cost risk is on the buyer</a:t>
            </a:r>
          </a:p>
          <a:p>
            <a:pPr lvl="1"/>
            <a:r>
              <a:rPr lang="en-US" dirty="0"/>
              <a:t>Flexible scope</a:t>
            </a:r>
          </a:p>
          <a:p>
            <a:pPr lvl="1"/>
            <a:r>
              <a:rPr lang="en-US" dirty="0"/>
              <a:t>Suitable for evolving requirements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QA testing services billed at </a:t>
            </a:r>
            <a:r>
              <a:rPr lang="en-US" b="1" dirty="0"/>
              <a:t>$40/hour</a:t>
            </a:r>
            <a:r>
              <a:rPr lang="en-US" dirty="0"/>
              <a:t> for 3 testers over 2 months.</a:t>
            </a:r>
          </a:p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Flexible</a:t>
            </a:r>
          </a:p>
          <a:p>
            <a:pPr lvl="1"/>
            <a:r>
              <a:rPr lang="en-US" dirty="0"/>
              <a:t>Suitable for agile projects</a:t>
            </a:r>
          </a:p>
          <a:p>
            <a:r>
              <a:rPr lang="en-US" b="1" dirty="0"/>
              <a:t>Disadvantages:</a:t>
            </a:r>
          </a:p>
          <a:p>
            <a:pPr lvl="1"/>
            <a:r>
              <a:rPr lang="en-US" dirty="0"/>
              <a:t>Final cost uncertain</a:t>
            </a:r>
          </a:p>
          <a:p>
            <a:pPr lvl="1"/>
            <a:r>
              <a:rPr lang="en-US" dirty="0"/>
              <a:t>Requires close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601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BE8D-A5BC-FD62-EFFF-375B4646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in Contract 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12A8-22E8-5135-E419-1F148C77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Contract placement follows a structured lifecycle:</a:t>
            </a:r>
          </a:p>
          <a:p>
            <a:pPr marL="0" indent="0">
              <a:buNone/>
            </a:pPr>
            <a:r>
              <a:rPr lang="en-US" b="1" dirty="0"/>
              <a:t>Requirement Identification</a:t>
            </a:r>
          </a:p>
          <a:p>
            <a:r>
              <a:rPr lang="en-US" dirty="0"/>
              <a:t>Define what is needed</a:t>
            </a:r>
          </a:p>
          <a:p>
            <a:pPr marL="0" indent="0">
              <a:buNone/>
            </a:pPr>
            <a:r>
              <a:rPr lang="en-US" b="1" dirty="0"/>
              <a:t>Contract Strategy Selection</a:t>
            </a:r>
          </a:p>
          <a:p>
            <a:r>
              <a:rPr lang="en-US" dirty="0"/>
              <a:t>Choose contract type and procurement method</a:t>
            </a:r>
          </a:p>
          <a:p>
            <a:pPr marL="0" indent="0">
              <a:buNone/>
            </a:pPr>
            <a:r>
              <a:rPr lang="en-US" b="1" dirty="0"/>
              <a:t>Tendering / Solicitation</a:t>
            </a:r>
          </a:p>
          <a:p>
            <a:r>
              <a:rPr lang="en-US" dirty="0"/>
              <a:t>Issue RFP/RFQ</a:t>
            </a:r>
          </a:p>
          <a:p>
            <a:r>
              <a:rPr lang="en-US" dirty="0"/>
              <a:t>Invite vendor bids</a:t>
            </a:r>
          </a:p>
          <a:p>
            <a:pPr marL="0" indent="0">
              <a:buNone/>
            </a:pPr>
            <a:r>
              <a:rPr lang="en-US" b="1" dirty="0"/>
              <a:t>Bid Evaluation</a:t>
            </a:r>
          </a:p>
          <a:p>
            <a:r>
              <a:rPr lang="en-US" dirty="0"/>
              <a:t>Compare proposals</a:t>
            </a:r>
          </a:p>
          <a:p>
            <a:r>
              <a:rPr lang="en-US" dirty="0"/>
              <a:t>Technical and commercial evaluation</a:t>
            </a:r>
          </a:p>
          <a:p>
            <a:pPr marL="0" indent="0">
              <a:buNone/>
            </a:pPr>
            <a:r>
              <a:rPr lang="en-US" b="1" dirty="0"/>
              <a:t>Negotiation</a:t>
            </a:r>
          </a:p>
          <a:p>
            <a:r>
              <a:rPr lang="en-US" dirty="0"/>
              <a:t>Finalize pricing, timelines, risks</a:t>
            </a:r>
          </a:p>
          <a:p>
            <a:pPr marL="0" indent="0">
              <a:buNone/>
            </a:pPr>
            <a:r>
              <a:rPr lang="en-US" b="1" dirty="0"/>
              <a:t>Contract Award</a:t>
            </a:r>
          </a:p>
          <a:p>
            <a:r>
              <a:rPr lang="en-US" dirty="0"/>
              <a:t>Select vendor</a:t>
            </a:r>
          </a:p>
          <a:p>
            <a:r>
              <a:rPr lang="en-US" dirty="0"/>
              <a:t>Sign agreement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457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A871-0AF3-A79C-04E2-9D6810F9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88FCE-F053-EEBC-5F36-1F01E7391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Contract Management ensures </a:t>
            </a:r>
            <a:r>
              <a:rPr lang="en-US" b="1" dirty="0"/>
              <a:t>effective execution of the contract after signing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Key Contract Management Activities</a:t>
            </a:r>
          </a:p>
          <a:p>
            <a:r>
              <a:rPr lang="en-US" b="1" dirty="0"/>
              <a:t>Performance Monitoring</a:t>
            </a:r>
          </a:p>
          <a:p>
            <a:pPr lvl="1"/>
            <a:r>
              <a:rPr lang="en-US" dirty="0"/>
              <a:t>Track KPIs, milestones, SLAs</a:t>
            </a:r>
          </a:p>
          <a:p>
            <a:r>
              <a:rPr lang="en-US" b="1" dirty="0"/>
              <a:t>Change Management</a:t>
            </a:r>
          </a:p>
          <a:p>
            <a:pPr lvl="1"/>
            <a:r>
              <a:rPr lang="en-US" dirty="0"/>
              <a:t>Handle scope, cost, or schedule changes</a:t>
            </a:r>
          </a:p>
          <a:p>
            <a:r>
              <a:rPr lang="en-US" b="1" dirty="0"/>
              <a:t>Risk Management</a:t>
            </a:r>
          </a:p>
          <a:p>
            <a:pPr lvl="1"/>
            <a:r>
              <a:rPr lang="en-US" dirty="0"/>
              <a:t>Identify delays, cost overruns, compliance risks</a:t>
            </a:r>
          </a:p>
          <a:p>
            <a:r>
              <a:rPr lang="en-US" b="1" dirty="0"/>
              <a:t>Communication</a:t>
            </a:r>
          </a:p>
          <a:p>
            <a:pPr lvl="1"/>
            <a:r>
              <a:rPr lang="en-US" dirty="0"/>
              <a:t>Regular status meetings and reporting</a:t>
            </a:r>
          </a:p>
          <a:p>
            <a:r>
              <a:rPr lang="en-US" b="1" dirty="0"/>
              <a:t>Dispute Resolution</a:t>
            </a:r>
          </a:p>
          <a:p>
            <a:pPr lvl="1"/>
            <a:r>
              <a:rPr lang="en-US" dirty="0"/>
              <a:t>Resolve conflicts via escalation or arbitration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106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5F7C3-03D1-84ED-254E-F245B013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137F-6618-98FA-D81F-8CF59E84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C1EAA-FA29-3E98-830C-38DA7E527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 of Contract Management</a:t>
            </a:r>
          </a:p>
          <a:p>
            <a:r>
              <a:rPr lang="en-US" dirty="0"/>
              <a:t>A vendor is responsible for API development:</a:t>
            </a:r>
          </a:p>
          <a:p>
            <a:r>
              <a:rPr lang="en-US" dirty="0"/>
              <a:t>Weekly progress reviews</a:t>
            </a:r>
          </a:p>
          <a:p>
            <a:r>
              <a:rPr lang="en-US" dirty="0"/>
              <a:t>Milestone-based payments</a:t>
            </a:r>
          </a:p>
          <a:p>
            <a:r>
              <a:rPr lang="en-US" dirty="0"/>
              <a:t>Change request raised for new API</a:t>
            </a:r>
          </a:p>
          <a:p>
            <a:r>
              <a:rPr lang="en-US" dirty="0"/>
              <a:t>Contract amended</a:t>
            </a:r>
          </a:p>
          <a:p>
            <a:r>
              <a:rPr lang="en-US" dirty="0"/>
              <a:t>Final acceptance after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231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7F543F2F210C42A1AB556EC2E2AD39" ma:contentTypeVersion="3" ma:contentTypeDescription="Create a new document." ma:contentTypeScope="" ma:versionID="e5606db6c3531daf026a8fd548c663ad">
  <xsd:schema xmlns:xsd="http://www.w3.org/2001/XMLSchema" xmlns:xs="http://www.w3.org/2001/XMLSchema" xmlns:p="http://schemas.microsoft.com/office/2006/metadata/properties" xmlns:ns2="a4f7e055-52ed-4413-8839-c7f22b2234f6" targetNamespace="http://schemas.microsoft.com/office/2006/metadata/properties" ma:root="true" ma:fieldsID="fc3079c0926d43e5991d1c902ac675e6" ns2:_="">
    <xsd:import namespace="a4f7e055-52ed-4413-8839-c7f22b2234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e055-52ed-4413-8839-c7f22b223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C2A3D9-2953-4823-BF24-8054CC0171C5}">
  <ds:schemaRefs>
    <ds:schemaRef ds:uri="http://schemas.openxmlformats.org/package/2006/metadata/core-properties"/>
    <ds:schemaRef ds:uri="http://schemas.microsoft.com/office/2006/documentManagement/types"/>
    <ds:schemaRef ds:uri="a4f7e055-52ed-4413-8839-c7f22b2234f6"/>
    <ds:schemaRef ds:uri="http://www.w3.org/XML/1998/namespace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38CF513-7327-49AA-8129-AE6EBB9521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AF83F7-D094-4F1F-919F-FE9680BEE5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7e055-52ed-4413-8839-c7f22b2234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1669</Words>
  <Application>Microsoft Office PowerPoint</Application>
  <PresentationFormat>Widescreen</PresentationFormat>
  <Paragraphs>266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Procurement Managment</vt:lpstr>
      <vt:lpstr>Procurement Management</vt:lpstr>
      <vt:lpstr>Procurement Management</vt:lpstr>
      <vt:lpstr>Plan Procurement Management</vt:lpstr>
      <vt:lpstr>Plan Procurement Management</vt:lpstr>
      <vt:lpstr>Plan Procurement Management</vt:lpstr>
      <vt:lpstr>Plan Procurement Management</vt:lpstr>
      <vt:lpstr>Real IT Procurement Flow: RFP → RFQ → SOW</vt:lpstr>
      <vt:lpstr>Real IT Procurement Flow: RFP → RFQ → SOW</vt:lpstr>
      <vt:lpstr>Real IT Procurement Flow: RFP → RFQ → SOW</vt:lpstr>
      <vt:lpstr>Plan Procurement Management</vt:lpstr>
      <vt:lpstr>Conduct Procurements</vt:lpstr>
      <vt:lpstr>Conduct Procurements</vt:lpstr>
      <vt:lpstr>Control Procurements</vt:lpstr>
      <vt:lpstr>Control Procurements</vt:lpstr>
      <vt:lpstr>Close Procurements</vt:lpstr>
      <vt:lpstr>Types of Contracts</vt:lpstr>
      <vt:lpstr>Time and Material (T&amp;M) Contract</vt:lpstr>
      <vt:lpstr>Stages in Contract Placement</vt:lpstr>
      <vt:lpstr>Contract Management</vt:lpstr>
      <vt:lpstr>Contract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Surendra Kc</dc:creator>
  <cp:lastModifiedBy>Surendra Kc</cp:lastModifiedBy>
  <cp:revision>2</cp:revision>
  <dcterms:created xsi:type="dcterms:W3CDTF">2026-02-09T15:42:28Z</dcterms:created>
  <dcterms:modified xsi:type="dcterms:W3CDTF">2026-02-09T16:00:15Z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0x0101007B7F543F2F210C42A1AB556EC2E2AD39</vt:lpwstr>
  </property>
</Properties>
</file>