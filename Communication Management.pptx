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59" r:id="rId11"/>
    <p:sldId id="260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85DB37-E4E8-895F-D637-AC1A00767B26}" v="371" dt="2025-11-20T12:59:38.2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Communication and Collaboration in IT Projects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B95C3-249F-1FE4-375A-7BC6FDECD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FD464-25FD-53FF-D4D3-106D4BBE2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Project Communication Management</a:t>
            </a:r>
            <a:r>
              <a:rPr lang="en-US" dirty="0">
                <a:ea typeface="+mn-lt"/>
                <a:cs typeface="+mn-lt"/>
              </a:rPr>
              <a:t> is one of the key knowledge areas in PMBOK. </a:t>
            </a:r>
          </a:p>
          <a:p>
            <a:r>
              <a:rPr lang="en-US" dirty="0">
                <a:ea typeface="+mn-lt"/>
                <a:cs typeface="+mn-lt"/>
              </a:rPr>
              <a:t>It focuses on ensuring that </a:t>
            </a:r>
            <a:r>
              <a:rPr lang="en-US" b="1" dirty="0">
                <a:ea typeface="+mn-lt"/>
                <a:cs typeface="+mn-lt"/>
              </a:rPr>
              <a:t>timely and appropriate planning, collection, creation, distribution, storage, retrieval, and disposition of project information</a:t>
            </a:r>
            <a:r>
              <a:rPr lang="en-US" dirty="0">
                <a:ea typeface="+mn-lt"/>
                <a:cs typeface="+mn-lt"/>
              </a:rPr>
              <a:t> happens throughout the project lifecycle.</a:t>
            </a:r>
          </a:p>
          <a:p>
            <a:pPr marL="0" indent="0">
              <a:buNone/>
            </a:pPr>
            <a:r>
              <a:rPr lang="en-US" b="1" dirty="0"/>
              <a:t>Purpose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To make sure </a:t>
            </a:r>
            <a:r>
              <a:rPr lang="en-US" b="1" dirty="0">
                <a:ea typeface="+mn-lt"/>
                <a:cs typeface="+mn-lt"/>
              </a:rPr>
              <a:t>the right information reaches the right people at the right time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Improves collaboration, decision-making, and stakeholder engagement.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863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11AAF-FFAD-1D8D-1B1B-6EB02AF15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Processes in Communication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0578E-B47E-8EE3-E2F9-D8EC2E4EF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 dirty="0">
                <a:ea typeface="+mn-lt"/>
                <a:cs typeface="+mn-lt"/>
              </a:rPr>
              <a:t>Plan Communications Management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i="1" dirty="0">
                <a:ea typeface="+mn-lt"/>
                <a:cs typeface="+mn-lt"/>
              </a:rPr>
              <a:t>(Planning Process Group)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Define </a:t>
            </a:r>
            <a:r>
              <a:rPr lang="en-US" b="1" dirty="0">
                <a:ea typeface="+mn-lt"/>
                <a:cs typeface="+mn-lt"/>
              </a:rPr>
              <a:t>how, when, and by whom</a:t>
            </a:r>
            <a:r>
              <a:rPr lang="en-US" dirty="0">
                <a:ea typeface="+mn-lt"/>
                <a:cs typeface="+mn-lt"/>
              </a:rPr>
              <a:t> information will be communicated.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Inputs: Project Charter, Stakeholder Register.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Outputs: </a:t>
            </a:r>
            <a:r>
              <a:rPr lang="en-US" b="1" dirty="0">
                <a:ea typeface="+mn-lt"/>
                <a:cs typeface="+mn-lt"/>
              </a:rPr>
              <a:t>Communications Management Plan</a:t>
            </a:r>
            <a:r>
              <a:rPr lang="en-US" dirty="0">
                <a:ea typeface="+mn-lt"/>
                <a:cs typeface="+mn-lt"/>
              </a:rPr>
              <a:t> (includes methods, frequency, formats).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Manage Communications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i="1" dirty="0">
                <a:ea typeface="+mn-lt"/>
                <a:cs typeface="+mn-lt"/>
              </a:rPr>
              <a:t>(Executing Process Group)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Implement the communication plan.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Ensure information is </a:t>
            </a:r>
            <a:r>
              <a:rPr lang="en-US" b="1" dirty="0">
                <a:ea typeface="+mn-lt"/>
                <a:cs typeface="+mn-lt"/>
              </a:rPr>
              <a:t>clear, timely, and accessible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Tools: Meetings, reports, collaboration tools.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Monitor Communications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i="1" dirty="0">
                <a:ea typeface="+mn-lt"/>
                <a:cs typeface="+mn-lt"/>
              </a:rPr>
              <a:t>(Monitoring &amp; Controlling Process Group)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Track and evaluate if communications meet stakeholder needs.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Adjust strategies if gaps exist.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708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 shot of a document&#10;&#10;AI-generated content may be incorrect.">
            <a:extLst>
              <a:ext uri="{FF2B5EF4-FFF2-40B4-BE49-F238E27FC236}">
                <a16:creationId xmlns:a16="http://schemas.microsoft.com/office/drawing/2014/main" id="{AF7B18EB-9517-9B8A-9E83-DB510A0BE7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925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4D50246-6D1B-2055-1BDE-E117FBB7E2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934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AD09FE-936F-CEE0-D9D7-8468DCCE13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677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74AF69-3E8A-AF98-6A78-8695C1A81D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90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093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9D03C84-C108-00B4-7ACF-223478B190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69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D8D26D-FC39-E90D-16B3-7B4DED5A4A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441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9A484-833F-E20B-E257-F06D7A49A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Key Elements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CD70D-246A-62EE-96A8-E96D2EC28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Communication Requirements Analysis</a:t>
            </a:r>
            <a:r>
              <a:rPr lang="en-US" dirty="0">
                <a:ea typeface="+mn-lt"/>
                <a:cs typeface="+mn-lt"/>
              </a:rPr>
              <a:t>: What info is needed by whom?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Communication Methods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Interactive</a:t>
            </a:r>
            <a:r>
              <a:rPr lang="en-US" dirty="0">
                <a:ea typeface="+mn-lt"/>
                <a:cs typeface="+mn-lt"/>
              </a:rPr>
              <a:t> (meetings, calls)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Push</a:t>
            </a:r>
            <a:r>
              <a:rPr lang="en-US" dirty="0">
                <a:ea typeface="+mn-lt"/>
                <a:cs typeface="+mn-lt"/>
              </a:rPr>
              <a:t> (emails, reports)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Pull</a:t>
            </a:r>
            <a:r>
              <a:rPr lang="en-US" dirty="0">
                <a:ea typeface="+mn-lt"/>
                <a:cs typeface="+mn-lt"/>
              </a:rPr>
              <a:t> (intranet, dashboards)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Channels</a:t>
            </a:r>
            <a:r>
              <a:rPr lang="en-US" dirty="0">
                <a:ea typeface="+mn-lt"/>
                <a:cs typeface="+mn-lt"/>
              </a:rPr>
              <a:t>: Formula for communication channels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Channels=n(n−1)/2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where </a:t>
            </a:r>
            <a:r>
              <a:rPr lang="en-US" i="1" dirty="0">
                <a:ea typeface="+mn-lt"/>
                <a:cs typeface="+mn-lt"/>
              </a:rPr>
              <a:t>n</a:t>
            </a:r>
            <a:r>
              <a:rPr lang="en-US" dirty="0">
                <a:ea typeface="+mn-lt"/>
                <a:cs typeface="+mn-lt"/>
              </a:rPr>
              <a:t> = number of stakeholders).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890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7C367-98CA-665C-060A-9B98571A3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95764-4261-6454-4915-63128811A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Who is Responsible?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Project Manager</a:t>
            </a:r>
            <a:r>
              <a:rPr lang="en-US" dirty="0">
                <a:ea typeface="+mn-lt"/>
                <a:cs typeface="+mn-lt"/>
              </a:rPr>
              <a:t>: Ensures effective communication.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Team Members &amp; Stakeholders</a:t>
            </a:r>
            <a:r>
              <a:rPr lang="en-US" dirty="0">
                <a:ea typeface="+mn-lt"/>
                <a:cs typeface="+mn-lt"/>
              </a:rPr>
              <a:t>: Follow the plan and provide feedback.</a:t>
            </a:r>
            <a:endParaRPr lang="en-US"/>
          </a:p>
          <a:p>
            <a:r>
              <a:rPr lang="en-US" b="1" dirty="0"/>
              <a:t>Example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 a software project: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Weekly status reports emailed to stakeholders (</a:t>
            </a:r>
            <a:r>
              <a:rPr lang="en-US" b="1" dirty="0">
                <a:ea typeface="+mn-lt"/>
                <a:cs typeface="+mn-lt"/>
              </a:rPr>
              <a:t>Push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Daily stand-up meetings with the team (</a:t>
            </a:r>
            <a:r>
              <a:rPr lang="en-US" b="1" dirty="0">
                <a:ea typeface="+mn-lt"/>
                <a:cs typeface="+mn-lt"/>
              </a:rPr>
              <a:t>Interactive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Project documents stored in SharePoint for access (</a:t>
            </a:r>
            <a:r>
              <a:rPr lang="en-US" b="1" dirty="0">
                <a:ea typeface="+mn-lt"/>
                <a:cs typeface="+mn-lt"/>
              </a:rPr>
              <a:t>Pull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695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529F1FD-1F29-F1D6-66E9-803B39B80D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6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report&#10;&#10;AI-generated content may be incorrect.">
            <a:extLst>
              <a:ext uri="{FF2B5EF4-FFF2-40B4-BE49-F238E27FC236}">
                <a16:creationId xmlns:a16="http://schemas.microsoft.com/office/drawing/2014/main" id="{E68C90A0-8181-F614-0F81-9D0C8E4A77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044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report&#10;&#10;AI-generated content may be incorrect.">
            <a:extLst>
              <a:ext uri="{FF2B5EF4-FFF2-40B4-BE49-F238E27FC236}">
                <a16:creationId xmlns:a16="http://schemas.microsoft.com/office/drawing/2014/main" id="{494BE5C0-8391-5311-C89E-2FE118F42B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5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A27636-2CDA-03A1-E371-5D8CF4431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3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919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44832-AFE2-499E-CDA3-BC7058F68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Effective Communication Strategies for IT Teams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A8EA6-1A1E-4FA2-6BA6-AF5E8A710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Plan Communications Management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Strategy</a:t>
            </a:r>
            <a:r>
              <a:rPr lang="en-US" dirty="0">
                <a:ea typeface="+mn-lt"/>
                <a:cs typeface="+mn-lt"/>
              </a:rPr>
              <a:t>: Define communication needs early.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Example</a:t>
            </a:r>
            <a:r>
              <a:rPr lang="en-US">
                <a:ea typeface="+mn-lt"/>
                <a:cs typeface="+mn-lt"/>
              </a:rPr>
              <a:t>: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Create a </a:t>
            </a:r>
            <a:r>
              <a:rPr lang="en-US" b="1">
                <a:ea typeface="+mn-lt"/>
                <a:cs typeface="+mn-lt"/>
              </a:rPr>
              <a:t>Communication Management Plan</a:t>
            </a:r>
            <a:r>
              <a:rPr lang="en-US">
                <a:ea typeface="+mn-lt"/>
                <a:cs typeface="+mn-lt"/>
              </a:rPr>
              <a:t> specifying: </a:t>
            </a:r>
            <a:endParaRPr lang="en-US"/>
          </a:p>
          <a:p>
            <a:pPr lvl="2"/>
            <a:r>
              <a:rPr lang="en-US">
                <a:ea typeface="+mn-lt"/>
                <a:cs typeface="+mn-lt"/>
              </a:rPr>
              <a:t>Weekly sprint updates via email.</a:t>
            </a:r>
            <a:endParaRPr lang="en-US"/>
          </a:p>
          <a:p>
            <a:pPr lvl="2"/>
            <a:r>
              <a:rPr lang="en-US">
                <a:ea typeface="+mn-lt"/>
                <a:cs typeface="+mn-lt"/>
              </a:rPr>
              <a:t>Daily stand-ups via Teams.</a:t>
            </a:r>
            <a:endParaRPr lang="en-US"/>
          </a:p>
          <a:p>
            <a:pPr lvl="2"/>
            <a:r>
              <a:rPr lang="en-US">
                <a:ea typeface="+mn-lt"/>
                <a:cs typeface="+mn-lt"/>
              </a:rPr>
              <a:t>Monthly stakeholder review meetings.</a:t>
            </a:r>
            <a:endParaRPr lang="en-US"/>
          </a:p>
          <a:p>
            <a:pPr marL="0" indent="0">
              <a:buNone/>
            </a:pPr>
            <a:r>
              <a:rPr lang="en-US" b="1" dirty="0"/>
              <a:t>Use Appropriate Communication Methods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Interactive</a:t>
            </a:r>
            <a:r>
              <a:rPr lang="en-US" dirty="0">
                <a:ea typeface="+mn-lt"/>
                <a:cs typeface="+mn-lt"/>
              </a:rPr>
              <a:t>: Real-time discussions for quick </a:t>
            </a:r>
            <a:r>
              <a:rPr lang="en-US">
                <a:ea typeface="+mn-lt"/>
                <a:cs typeface="+mn-lt"/>
              </a:rPr>
              <a:t>decisions.</a:t>
            </a:r>
          </a:p>
          <a:p>
            <a:pPr lvl="1"/>
            <a:r>
              <a:rPr lang="en-US" i="1" dirty="0">
                <a:ea typeface="+mn-lt"/>
                <a:cs typeface="+mn-lt"/>
              </a:rPr>
              <a:t>Example</a:t>
            </a:r>
            <a:r>
              <a:rPr lang="en-US" dirty="0">
                <a:ea typeface="+mn-lt"/>
                <a:cs typeface="+mn-lt"/>
              </a:rPr>
              <a:t>: Daily stand-up meetings for developers.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Push</a:t>
            </a:r>
            <a:r>
              <a:rPr lang="en-US" dirty="0">
                <a:ea typeface="+mn-lt"/>
                <a:cs typeface="+mn-lt"/>
              </a:rPr>
              <a:t>: Sending information </a:t>
            </a:r>
            <a:r>
              <a:rPr lang="en-US">
                <a:ea typeface="+mn-lt"/>
                <a:cs typeface="+mn-lt"/>
              </a:rPr>
              <a:t>proactively.</a:t>
            </a:r>
          </a:p>
          <a:p>
            <a:pPr lvl="1"/>
            <a:r>
              <a:rPr lang="en-US" i="1">
                <a:ea typeface="+mn-lt"/>
                <a:cs typeface="+mn-lt"/>
              </a:rPr>
              <a:t>Example</a:t>
            </a:r>
            <a:r>
              <a:rPr lang="en-US">
                <a:ea typeface="+mn-lt"/>
                <a:cs typeface="+mn-lt"/>
              </a:rPr>
              <a:t>: Emailing release notes to </a:t>
            </a:r>
            <a:r>
              <a:rPr lang="en-US" dirty="0">
                <a:ea typeface="+mn-lt"/>
                <a:cs typeface="+mn-lt"/>
              </a:rPr>
              <a:t>stakeholders.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Pull</a:t>
            </a:r>
            <a:r>
              <a:rPr lang="en-US" dirty="0">
                <a:ea typeface="+mn-lt"/>
                <a:cs typeface="+mn-lt"/>
              </a:rPr>
              <a:t>: Making info available for access.</a:t>
            </a:r>
            <a:endParaRPr lang="en-US" dirty="0"/>
          </a:p>
          <a:p>
            <a:pPr lvl="1"/>
            <a:r>
              <a:rPr lang="en-US" i="1" dirty="0">
                <a:ea typeface="+mn-lt"/>
                <a:cs typeface="+mn-lt"/>
              </a:rPr>
              <a:t>Example</a:t>
            </a:r>
            <a:r>
              <a:rPr lang="en-US" dirty="0">
                <a:ea typeface="+mn-lt"/>
                <a:cs typeface="+mn-lt"/>
              </a:rPr>
              <a:t>: Hosting project documents on SharePoint or Confluence.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1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A9797-04A6-6F2E-7A4A-3ED8A2D4D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1C11A-F6AA-9CBD-B6E1-029DE7093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Effective Communication Strategies for IT Teams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CACCF-E42F-9B1A-6239-7162C0C51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Tailor Communication to Stakeholders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Strategy</a:t>
            </a:r>
            <a:r>
              <a:rPr lang="en-US" dirty="0">
                <a:ea typeface="+mn-lt"/>
                <a:cs typeface="+mn-lt"/>
              </a:rPr>
              <a:t>: Different stakeholders need different details.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Example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Developers get technical details in Jira.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Executives receive high-level dashboards in Power BI.</a:t>
            </a:r>
            <a:endParaRPr lang="en-US"/>
          </a:p>
          <a:p>
            <a:pPr lvl="1" indent="0">
              <a:buNone/>
            </a:pPr>
            <a:endParaRPr lang="en-US"/>
          </a:p>
          <a:p>
            <a:pPr lvl="1">
              <a:buNone/>
            </a:pPr>
            <a:r>
              <a:rPr lang="en-US" b="1"/>
              <a:t>Use Collaboration Tools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Strategy</a:t>
            </a:r>
            <a:r>
              <a:rPr lang="en-US" dirty="0">
                <a:ea typeface="+mn-lt"/>
                <a:cs typeface="+mn-lt"/>
              </a:rPr>
              <a:t>: Centralize communication.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Example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 </a:t>
            </a:r>
            <a:r>
              <a:rPr lang="en-US" b="1" dirty="0">
                <a:ea typeface="+mn-lt"/>
                <a:cs typeface="+mn-lt"/>
              </a:rPr>
              <a:t>Microsoft Teams</a:t>
            </a:r>
            <a:r>
              <a:rPr lang="en-US" dirty="0">
                <a:ea typeface="+mn-lt"/>
                <a:cs typeface="+mn-lt"/>
              </a:rPr>
              <a:t> for chat and meetings.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 </a:t>
            </a:r>
            <a:r>
              <a:rPr lang="en-US" b="1" dirty="0">
                <a:ea typeface="+mn-lt"/>
                <a:cs typeface="+mn-lt"/>
              </a:rPr>
              <a:t>Jira</a:t>
            </a:r>
            <a:r>
              <a:rPr lang="en-US" dirty="0">
                <a:ea typeface="+mn-lt"/>
                <a:cs typeface="+mn-lt"/>
              </a:rPr>
              <a:t> for task tracking and updates.</a:t>
            </a: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25001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94DBC-C61A-9FCB-4FBB-C5B0E6743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97AE-9344-491B-E245-90EACC85D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Effective Communication Strategies for IT Teams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32EBA-4F65-7338-291B-D74AECED9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pPr>
              <a:buNone/>
            </a:pPr>
            <a:r>
              <a:rPr lang="en-US" b="1" dirty="0"/>
              <a:t>Monitor and Adjust Communication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Strategy</a:t>
            </a:r>
            <a:r>
              <a:rPr lang="en-US" dirty="0">
                <a:ea typeface="+mn-lt"/>
                <a:cs typeface="+mn-lt"/>
              </a:rPr>
              <a:t>: Regularly check if communication meets needs.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Example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Conduct feedback surveys after sprint reviews.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Adjust frequency of updates if stakeholders feel overloaded.</a:t>
            </a:r>
            <a:endParaRPr lang="en-US" dirty="0"/>
          </a:p>
          <a:p>
            <a:pPr lvl="1" indent="0">
              <a:buNone/>
            </a:pPr>
            <a:endParaRPr lang="en-US"/>
          </a:p>
          <a:p>
            <a:pPr lvl="1">
              <a:buNone/>
            </a:pPr>
            <a:r>
              <a:rPr lang="en-US" b="1" dirty="0"/>
              <a:t>Manage Communication Channels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Strategy</a:t>
            </a:r>
            <a:r>
              <a:rPr lang="en-US" dirty="0">
                <a:ea typeface="+mn-lt"/>
                <a:cs typeface="+mn-lt"/>
              </a:rPr>
              <a:t>: Reduce complexity.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Example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For 10 team members, channels =</a:t>
            </a:r>
            <a:endParaRPr lang="en-US" dirty="0"/>
          </a:p>
          <a:p>
            <a:pPr lvl="1" indent="0">
              <a:buNone/>
            </a:pPr>
            <a:r>
              <a:rPr lang="en-US" dirty="0">
                <a:ea typeface="+mn-lt"/>
                <a:cs typeface="+mn-lt"/>
              </a:rPr>
              <a:t> 10(10−1)2=45\frac{10(10-1)}{2} = 45210(10−1) =45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 structured tools to avoid chaos.</a:t>
            </a:r>
            <a:endParaRPr lang="en-US" dirty="0"/>
          </a:p>
          <a:p>
            <a:pPr lvl="1" indent="0">
              <a:buNone/>
            </a:pPr>
            <a:endParaRPr lang="en-US"/>
          </a:p>
          <a:p>
            <a:pPr lvl="1">
              <a:buNone/>
            </a:pPr>
            <a:r>
              <a:rPr lang="en-US" b="1" dirty="0"/>
              <a:t>Ensure Clarity and Transparency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Strategy</a:t>
            </a:r>
            <a:r>
              <a:rPr lang="en-US" dirty="0">
                <a:ea typeface="+mn-lt"/>
                <a:cs typeface="+mn-lt"/>
              </a:rPr>
              <a:t>: Avoid jargon for non-technical stakeholders.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Example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Instead of “API latency issue,” say “System response is slower than expected.”</a:t>
            </a:r>
            <a:endParaRPr lang="en-US" dirty="0"/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56910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14CC6-FDE5-1995-D7B7-5AC0AAC25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Collaboration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A23AC-DEC3-0827-E3E7-9FFFAB1A4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Microsoft Teams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Purpose</a:t>
            </a:r>
            <a:r>
              <a:rPr lang="en-US">
                <a:ea typeface="+mn-lt"/>
                <a:cs typeface="+mn-lt"/>
              </a:rPr>
              <a:t>: Video meetings, chat, and file sharing.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PMBOK Alignment</a:t>
            </a:r>
            <a:r>
              <a:rPr lang="en-US">
                <a:ea typeface="+mn-lt"/>
                <a:cs typeface="+mn-lt"/>
              </a:rPr>
              <a:t>: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Facilitates </a:t>
            </a:r>
            <a:r>
              <a:rPr lang="en-US" b="1">
                <a:ea typeface="+mn-lt"/>
                <a:cs typeface="+mn-lt"/>
              </a:rPr>
              <a:t>Interactive Communication</a:t>
            </a:r>
            <a:r>
              <a:rPr lang="en-US">
                <a:ea typeface="+mn-lt"/>
                <a:cs typeface="+mn-lt"/>
              </a:rPr>
              <a:t> (meetings, calls).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Supports </a:t>
            </a:r>
            <a:r>
              <a:rPr lang="en-US" b="1">
                <a:ea typeface="+mn-lt"/>
                <a:cs typeface="+mn-lt"/>
              </a:rPr>
              <a:t>Push Communication</a:t>
            </a:r>
            <a:r>
              <a:rPr lang="en-US">
                <a:ea typeface="+mn-lt"/>
                <a:cs typeface="+mn-lt"/>
              </a:rPr>
              <a:t> (sending updates via Teams posts).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Example</a:t>
            </a:r>
            <a:r>
              <a:rPr lang="en-US">
                <a:ea typeface="+mn-lt"/>
                <a:cs typeface="+mn-lt"/>
              </a:rPr>
              <a:t>: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Daily stand-up meetings via Teams.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Share sprint reports in Teams channels.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Integrate with SharePoint for document storage.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524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AEC4A-D295-A42A-3B61-09B408CE5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9149D-2C47-2CFF-26E3-BC60D1620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Collaboration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55BC2-1B00-FE75-93D9-53B8F26ED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/>
              <a:t>Confluence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Purpose</a:t>
            </a:r>
            <a:r>
              <a:rPr lang="en-US" dirty="0">
                <a:ea typeface="+mn-lt"/>
                <a:cs typeface="+mn-lt"/>
              </a:rPr>
              <a:t>: Documentation and knowledge management.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PMBOK Alignment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Enables </a:t>
            </a:r>
            <a:r>
              <a:rPr lang="en-US" b="1" dirty="0">
                <a:ea typeface="+mn-lt"/>
                <a:cs typeface="+mn-lt"/>
              </a:rPr>
              <a:t>Pull Communication</a:t>
            </a:r>
            <a:r>
              <a:rPr lang="en-US" dirty="0">
                <a:ea typeface="+mn-lt"/>
                <a:cs typeface="+mn-lt"/>
              </a:rPr>
              <a:t> (stakeholders access info when needed).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Supports </a:t>
            </a:r>
            <a:r>
              <a:rPr lang="en-US" b="1" dirty="0">
                <a:ea typeface="+mn-lt"/>
                <a:cs typeface="+mn-lt"/>
              </a:rPr>
              <a:t>Plan Communications Management</a:t>
            </a:r>
            <a:r>
              <a:rPr lang="en-US" dirty="0">
                <a:ea typeface="+mn-lt"/>
                <a:cs typeface="+mn-lt"/>
              </a:rPr>
              <a:t> by storing the Communication Plan.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Example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Host project documentation, meeting notes, and decision logs.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Maintain a centralized knowledge base for IT teams.</a:t>
            </a: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15603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D0F0C-7E6E-CC22-D725-55E44D490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F1820-C8CB-0B3B-F029-3844B8052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Collaboration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39D5C-BD6A-57E7-A25A-A9DBBDD63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/>
              <a:t>Slack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Purpose</a:t>
            </a:r>
            <a:r>
              <a:rPr lang="en-US" dirty="0">
                <a:ea typeface="+mn-lt"/>
                <a:cs typeface="+mn-lt"/>
              </a:rPr>
              <a:t>: Real-time messaging and quick updates.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PMBOK Alignment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Supports </a:t>
            </a:r>
            <a:r>
              <a:rPr lang="en-US" b="1" dirty="0">
                <a:ea typeface="+mn-lt"/>
                <a:cs typeface="+mn-lt"/>
              </a:rPr>
              <a:t>Interactive Communication</a:t>
            </a:r>
            <a:r>
              <a:rPr lang="en-US" dirty="0">
                <a:ea typeface="+mn-lt"/>
                <a:cs typeface="+mn-lt"/>
              </a:rPr>
              <a:t> (instant chat, channels for teams).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Helps in </a:t>
            </a:r>
            <a:r>
              <a:rPr lang="en-US" b="1" dirty="0">
                <a:ea typeface="+mn-lt"/>
                <a:cs typeface="+mn-lt"/>
              </a:rPr>
              <a:t>Manage Communications</a:t>
            </a:r>
            <a:r>
              <a:rPr lang="en-US" dirty="0">
                <a:ea typeface="+mn-lt"/>
                <a:cs typeface="+mn-lt"/>
              </a:rPr>
              <a:t> by organizing discussions by topic.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Example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Create channels like </a:t>
            </a:r>
            <a:r>
              <a:rPr lang="en-US" dirty="0">
                <a:latin typeface="Consolas"/>
              </a:rPr>
              <a:t>#dev-team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latin typeface="Consolas"/>
              </a:rPr>
              <a:t>#qa-team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dirty="0">
                <a:latin typeface="Consolas"/>
              </a:rPr>
              <a:t>#project-updates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 Slack integrations with Jira for task notifications.</a:t>
            </a:r>
            <a:endParaRPr lang="en-US" dirty="0"/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38256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10CB-B941-0207-FA32-29BFBBF59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Reporting and Documentation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8BAF1-8920-BD45-07D5-8192E17EF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PMBOK emphasizes </a:t>
            </a:r>
            <a:r>
              <a:rPr lang="en-US" b="1" dirty="0">
                <a:ea typeface="+mn-lt"/>
                <a:cs typeface="+mn-lt"/>
              </a:rPr>
              <a:t>clear, timely, and accurate reporting and documentation</a:t>
            </a:r>
            <a:r>
              <a:rPr lang="en-US" dirty="0">
                <a:ea typeface="+mn-lt"/>
                <a:cs typeface="+mn-lt"/>
              </a:rPr>
              <a:t> to ensure transparency, accountability, and informed decision-making throughout the project lifecycle.</a:t>
            </a:r>
          </a:p>
          <a:p>
            <a:pPr marL="0" indent="0">
              <a:buNone/>
            </a:pPr>
            <a:r>
              <a:rPr lang="en-US" b="1"/>
              <a:t>Purpose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Communicate </a:t>
            </a:r>
            <a:r>
              <a:rPr lang="en-US" b="1" dirty="0">
                <a:ea typeface="+mn-lt"/>
                <a:cs typeface="+mn-lt"/>
              </a:rPr>
              <a:t>project status</a:t>
            </a:r>
            <a:r>
              <a:rPr lang="en-US" dirty="0">
                <a:ea typeface="+mn-lt"/>
                <a:cs typeface="+mn-lt"/>
              </a:rPr>
              <a:t>, risks, and progress.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Maintain </a:t>
            </a:r>
            <a:r>
              <a:rPr lang="en-US" b="1" dirty="0">
                <a:ea typeface="+mn-lt"/>
                <a:cs typeface="+mn-lt"/>
              </a:rPr>
              <a:t>historical records</a:t>
            </a:r>
            <a:r>
              <a:rPr lang="en-US" dirty="0">
                <a:ea typeface="+mn-lt"/>
                <a:cs typeface="+mn-lt"/>
              </a:rPr>
              <a:t> for audits and lessons learned.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Support </a:t>
            </a:r>
            <a:r>
              <a:rPr lang="en-US" b="1" dirty="0">
                <a:ea typeface="+mn-lt"/>
                <a:cs typeface="+mn-lt"/>
              </a:rPr>
              <a:t>stakeholder engagement</a:t>
            </a:r>
            <a:r>
              <a:rPr lang="en-US" dirty="0">
                <a:ea typeface="+mn-lt"/>
                <a:cs typeface="+mn-lt"/>
              </a:rPr>
              <a:t> and compliance.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4559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8B3BA-FE4B-EC09-E869-5E5372D41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Best Practices for Reporting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FB8AC-CE51-EEA1-8E7B-30EA158F2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Define Reporting Requirements Early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Include in </a:t>
            </a:r>
            <a:r>
              <a:rPr lang="en-US" b="1" dirty="0">
                <a:ea typeface="+mn-lt"/>
                <a:cs typeface="+mn-lt"/>
              </a:rPr>
              <a:t>Communications Management Plan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Example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Weekly progress reports for stakeholders.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Monthly financial reports for sponsors.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Use Standardized Formats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PMBOK recommends templates for consistency.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Example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Status Report Template: </a:t>
            </a:r>
            <a:endParaRPr lang="en-US" dirty="0"/>
          </a:p>
          <a:p>
            <a:pPr lvl="2"/>
            <a:r>
              <a:rPr lang="en-US" dirty="0">
                <a:ea typeface="+mn-lt"/>
                <a:cs typeface="+mn-lt"/>
              </a:rPr>
              <a:t>Project Health (Green/Yellow/Red)</a:t>
            </a:r>
            <a:endParaRPr lang="en-US" dirty="0"/>
          </a:p>
          <a:p>
            <a:pPr lvl="2"/>
            <a:r>
              <a:rPr lang="en-US" dirty="0">
                <a:ea typeface="+mn-lt"/>
                <a:cs typeface="+mn-lt"/>
              </a:rPr>
              <a:t>Key Milestones</a:t>
            </a:r>
            <a:endParaRPr lang="en-US" dirty="0"/>
          </a:p>
          <a:p>
            <a:pPr lvl="2"/>
            <a:r>
              <a:rPr lang="en-US" dirty="0">
                <a:ea typeface="+mn-lt"/>
                <a:cs typeface="+mn-lt"/>
              </a:rPr>
              <a:t>Risks &amp; Issues</a:t>
            </a:r>
            <a:endParaRPr lang="en-US" dirty="0"/>
          </a:p>
          <a:p>
            <a:pPr lvl="2"/>
            <a:r>
              <a:rPr lang="en-US" dirty="0">
                <a:ea typeface="+mn-lt"/>
                <a:cs typeface="+mn-lt"/>
              </a:rPr>
              <a:t>Budget Summary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4536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C9B7-7553-3217-DD7E-644FF4C6C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for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E2D25-70B2-B6F7-53EA-3B2DE641D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Ensure Accuracy and Timeliness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Reports should reflect </a:t>
            </a:r>
            <a:r>
              <a:rPr lang="en-US" b="1" dirty="0">
                <a:ea typeface="+mn-lt"/>
                <a:cs typeface="+mn-lt"/>
              </a:rPr>
              <a:t>current data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Example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Use real-time dashboards from tools like Power BI or Jira.</a:t>
            </a:r>
            <a:endParaRPr lang="en-US" dirty="0"/>
          </a:p>
          <a:p>
            <a:pPr lvl="1"/>
            <a:endParaRPr lang="en-US"/>
          </a:p>
          <a:p>
            <a:pPr marL="457200" lvl="1" indent="0">
              <a:buNone/>
            </a:pPr>
            <a:r>
              <a:rPr lang="en-US" b="1" dirty="0"/>
              <a:t>Tailor Reports to Audience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Different stakeholders need different details.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Example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Executives: High-level summary.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Technical Team: Detailed task progress.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492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5EFE8-E4B4-A261-EF31-61E666F42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30846-B3D3-6C81-6FB1-0E96429AA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for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0EB4C-A3CC-C859-6F74-C6B77CBB0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Visualize Data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 charts, graphs, and dashboards for clarity.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Example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Burndown chart for Agile sprints.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Gantt chart for schedule tracking.</a:t>
            </a:r>
            <a:endParaRPr lang="en-US" dirty="0"/>
          </a:p>
          <a:p>
            <a:pPr>
              <a:buNone/>
            </a:pPr>
            <a:r>
              <a:rPr lang="en-US" b="1" dirty="0"/>
              <a:t>Include Key Metrics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PMBOK suggests reporting on: 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Scope</a:t>
            </a:r>
            <a:r>
              <a:rPr lang="en-US" dirty="0">
                <a:ea typeface="+mn-lt"/>
                <a:cs typeface="+mn-lt"/>
              </a:rPr>
              <a:t> (deliverables completed)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Schedule</a:t>
            </a:r>
            <a:r>
              <a:rPr lang="en-US" dirty="0">
                <a:ea typeface="+mn-lt"/>
                <a:cs typeface="+mn-lt"/>
              </a:rPr>
              <a:t> (planned vs actual)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Cost</a:t>
            </a:r>
            <a:r>
              <a:rPr lang="en-US" dirty="0">
                <a:ea typeface="+mn-lt"/>
                <a:cs typeface="+mn-lt"/>
              </a:rPr>
              <a:t> (budget status)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Quality</a:t>
            </a:r>
            <a:r>
              <a:rPr lang="en-US" dirty="0">
                <a:ea typeface="+mn-lt"/>
                <a:cs typeface="+mn-lt"/>
              </a:rPr>
              <a:t> (defect rates)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Example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“Project is 80% complete, 2 weeks behind schedule, $5,000 under budget.”</a:t>
            </a: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68564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AD619-AE62-D32B-43EF-9EB5808AC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Best Practices for Documentation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2FE3D-DE8F-4966-38C6-498E61BF5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Maintain Central Repository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Store all documents in one place.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Example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Use Confluence or SharePoint for project artifacts.</a:t>
            </a:r>
            <a:endParaRPr lang="en-US" dirty="0"/>
          </a:p>
          <a:p>
            <a:pPr lvl="1"/>
            <a:endParaRPr lang="en-US"/>
          </a:p>
          <a:p>
            <a:pPr lvl="1"/>
            <a:r>
              <a:rPr lang="en-US" b="1" dirty="0"/>
              <a:t>Version Control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Track changes to avoid confusion.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Example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Document naming: </a:t>
            </a:r>
            <a:r>
              <a:rPr lang="en-US" dirty="0">
                <a:latin typeface="Consolas"/>
              </a:rPr>
              <a:t>ProjectPlan_v2.1.docx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855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354FF-7B10-91B4-419C-F8CBD5B3A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0CE9-0F8A-43D9-4307-CFC2606F8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Best Practices for Documentation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E7E57-2888-8BA9-66E2-EBA236164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b="1" dirty="0"/>
              <a:t>Document Key Decisions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PMBOK recommends recording decisions for accountability.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Example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Meeting minutes noting approval of scope change.</a:t>
            </a:r>
            <a:endParaRPr lang="en-US" dirty="0"/>
          </a:p>
          <a:p>
            <a:pPr lvl="1" indent="0">
              <a:buNone/>
            </a:pPr>
            <a:endParaRPr lang="en-US"/>
          </a:p>
          <a:p>
            <a:pPr lvl="1">
              <a:buNone/>
            </a:pPr>
            <a:endParaRPr lang="en-US"/>
          </a:p>
          <a:p>
            <a:pPr lvl="1">
              <a:buNone/>
            </a:pPr>
            <a:r>
              <a:rPr lang="en-US" b="1" dirty="0"/>
              <a:t>Capture Lessons Learned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Document successes and failures for future projects.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Example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“Automated testing reduced defects by 30%.”</a:t>
            </a: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10447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D7354-9059-CC68-14AB-6B99CC2BC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DCFFB-F46D-ED83-077A-041ABFFFB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Best Practices for Documentation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78CCB-BAB1-987F-B44A-B2E9BA718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/>
              <a:t>Compliance and Audit Readiness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Ensure documents meet regulatory and organizational standards.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Example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Store signed contracts and change requests for audits.</a:t>
            </a:r>
            <a:endParaRPr lang="en-US" dirty="0"/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360623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2F3E4-F358-27ED-8ADE-6392D1BF4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Examples of Common PMBOK Reports &amp; Documents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08C58-D15D-AFDE-3962-D46EDE079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Status Reports</a:t>
            </a:r>
            <a:r>
              <a:rPr lang="en-US">
                <a:ea typeface="+mn-lt"/>
                <a:cs typeface="+mn-lt"/>
              </a:rPr>
              <a:t> (weekly/monthly)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Risk Register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Issue Log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Change Request Forms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Meeting Minutes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Project Management Plan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Lessons Learned Register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127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6B901-3690-0B56-4106-E688D008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project management is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B08AE-2EE0-DD8A-D5AC-A879E2566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/>
              <a:t>Provides Clarity and </a:t>
            </a:r>
            <a:r>
              <a:rPr lang="en-US" b="1" dirty="0"/>
              <a:t>Alignment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Documentation ensures </a:t>
            </a:r>
            <a:r>
              <a:rPr lang="en-US" b="1" dirty="0">
                <a:ea typeface="+mn-lt"/>
                <a:cs typeface="+mn-lt"/>
              </a:rPr>
              <a:t>everyone understands the scope, objectives, and deliverables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Prevents misunderstandings among stakeholders and team members.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Example:</a:t>
            </a:r>
            <a:r>
              <a:rPr lang="en-US" dirty="0">
                <a:ea typeface="+mn-lt"/>
                <a:cs typeface="+mn-lt"/>
              </a:rPr>
              <a:t> A well-defined Project Charter clarifies goals and roles from the start.</a:t>
            </a:r>
            <a:endParaRPr lang="en-US"/>
          </a:p>
          <a:p>
            <a:pPr marL="0" indent="0">
              <a:buNone/>
            </a:pPr>
            <a:r>
              <a:rPr lang="en-US" b="1"/>
              <a:t>Serves as a Reference </a:t>
            </a:r>
            <a:r>
              <a:rPr lang="en-US" b="1" dirty="0"/>
              <a:t>Point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Acts as an </a:t>
            </a:r>
            <a:r>
              <a:rPr lang="en-US" b="1" dirty="0">
                <a:ea typeface="+mn-lt"/>
                <a:cs typeface="+mn-lt"/>
              </a:rPr>
              <a:t>official record</a:t>
            </a:r>
            <a:r>
              <a:rPr lang="en-US" dirty="0">
                <a:ea typeface="+mn-lt"/>
                <a:cs typeface="+mn-lt"/>
              </a:rPr>
              <a:t> for decisions, plans, and changes.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Helps resolve disputes or confusion later.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Example:</a:t>
            </a:r>
            <a:r>
              <a:rPr lang="en-US" dirty="0">
                <a:ea typeface="+mn-lt"/>
                <a:cs typeface="+mn-lt"/>
              </a:rPr>
              <a:t> Meeting minutes document why a scope change was approved.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4581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DB996-5888-EB1F-7880-1EE7A60D0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2058E-F03E-28F6-33C8-7674E603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project management is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F92D4-CA27-62D8-3976-0E74E3607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Supports Accountability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Tracks </a:t>
            </a:r>
            <a:r>
              <a:rPr lang="en-US" b="1" dirty="0">
                <a:ea typeface="+mn-lt"/>
                <a:cs typeface="+mn-lt"/>
              </a:rPr>
              <a:t>who approved what and when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Ensures compliance with organizational and regulatory standards.</a:t>
            </a:r>
            <a:endParaRPr lang="en-US" dirty="0"/>
          </a:p>
          <a:p>
            <a:pPr indent="0">
              <a:buNone/>
            </a:pPr>
            <a:r>
              <a:rPr lang="en-US" b="1" dirty="0">
                <a:ea typeface="+mn-lt"/>
                <a:cs typeface="+mn-lt"/>
              </a:rPr>
              <a:t>Example:</a:t>
            </a:r>
            <a:r>
              <a:rPr lang="en-US" dirty="0">
                <a:ea typeface="+mn-lt"/>
                <a:cs typeface="+mn-lt"/>
              </a:rPr>
              <a:t> Signed Change Request forms show stakeholder consent.</a:t>
            </a:r>
            <a:endParaRPr lang="en-US" dirty="0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b="1" dirty="0"/>
              <a:t>Facilitates Communication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PMBOK emphasizes documentation as part of </a:t>
            </a:r>
            <a:r>
              <a:rPr lang="en-US" b="1" dirty="0">
                <a:ea typeface="+mn-lt"/>
                <a:cs typeface="+mn-lt"/>
              </a:rPr>
              <a:t>Plan Communications Management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Keeps stakeholders informed through reports and logs.</a:t>
            </a:r>
            <a:endParaRPr lang="en-US" dirty="0"/>
          </a:p>
          <a:p>
            <a:pPr indent="0">
              <a:buNone/>
            </a:pPr>
            <a:r>
              <a:rPr lang="en-US" b="1" dirty="0">
                <a:ea typeface="+mn-lt"/>
                <a:cs typeface="+mn-lt"/>
              </a:rPr>
              <a:t>Example:</a:t>
            </a:r>
            <a:r>
              <a:rPr lang="en-US" dirty="0">
                <a:ea typeface="+mn-lt"/>
                <a:cs typeface="+mn-lt"/>
              </a:rPr>
              <a:t> Weekly status reports help sponsors monitor progress.</a:t>
            </a: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405168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73C3E-943C-B550-C431-97AE74FB3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45D44-E282-6026-8A94-34F50EFAD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project management is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1E5E4-2EE4-6ADC-7EB8-BF58A492F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Enables Risk and Issue Management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Risk registers and issue logs help </a:t>
            </a:r>
            <a:r>
              <a:rPr lang="en-US" b="1" dirty="0">
                <a:ea typeface="+mn-lt"/>
                <a:cs typeface="+mn-lt"/>
              </a:rPr>
              <a:t>identify, track, and mitigate problems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indent="0">
              <a:buNone/>
            </a:pPr>
            <a:r>
              <a:rPr lang="en-US" b="1" dirty="0">
                <a:ea typeface="+mn-lt"/>
                <a:cs typeface="+mn-lt"/>
              </a:rPr>
              <a:t>Example:</a:t>
            </a:r>
            <a:r>
              <a:rPr lang="en-US" dirty="0">
                <a:ea typeface="+mn-lt"/>
                <a:cs typeface="+mn-lt"/>
              </a:rPr>
              <a:t> Documenting risks early allows proactive planning.</a:t>
            </a:r>
            <a:endParaRPr lang="en-US" dirty="0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b="1" dirty="0"/>
              <a:t>Helps in Monitoring and Controlling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Documentation provides </a:t>
            </a:r>
            <a:r>
              <a:rPr lang="en-US" b="1" dirty="0">
                <a:ea typeface="+mn-lt"/>
                <a:cs typeface="+mn-lt"/>
              </a:rPr>
              <a:t>baselines</a:t>
            </a:r>
            <a:r>
              <a:rPr lang="en-US" dirty="0">
                <a:ea typeface="+mn-lt"/>
                <a:cs typeface="+mn-lt"/>
              </a:rPr>
              <a:t> for scope, schedule, and cost.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Enables performance tracking against the plan.</a:t>
            </a:r>
            <a:endParaRPr lang="en-US" dirty="0"/>
          </a:p>
          <a:p>
            <a:pPr indent="0">
              <a:buNone/>
            </a:pPr>
            <a:r>
              <a:rPr lang="en-US" b="1" dirty="0">
                <a:ea typeface="+mn-lt"/>
                <a:cs typeface="+mn-lt"/>
              </a:rPr>
              <a:t>Example:</a:t>
            </a:r>
            <a:r>
              <a:rPr lang="en-US" dirty="0">
                <a:ea typeface="+mn-lt"/>
                <a:cs typeface="+mn-lt"/>
              </a:rPr>
              <a:t> Comparing actual progress to the documented schedule baseline.</a:t>
            </a:r>
            <a:endParaRPr lang="en-US" dirty="0"/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808104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12776-2037-3F41-9515-17311BE88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960B8-A213-01FF-0CC2-EF994E7E5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project management is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DBEE6-C872-CD10-2280-B90F26578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Knowledge Transfer and Lessons Learned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Preserves knowledge for </a:t>
            </a:r>
            <a:r>
              <a:rPr lang="en-US" b="1" dirty="0">
                <a:ea typeface="+mn-lt"/>
                <a:cs typeface="+mn-lt"/>
              </a:rPr>
              <a:t>future projects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Improves organizational maturity in project management.</a:t>
            </a:r>
            <a:endParaRPr lang="en-US" dirty="0"/>
          </a:p>
          <a:p>
            <a:pPr indent="0">
              <a:buNone/>
            </a:pPr>
            <a:r>
              <a:rPr lang="en-US" b="1" dirty="0">
                <a:ea typeface="+mn-lt"/>
                <a:cs typeface="+mn-lt"/>
              </a:rPr>
              <a:t>Example:</a:t>
            </a:r>
            <a:r>
              <a:rPr lang="en-US" dirty="0">
                <a:ea typeface="+mn-lt"/>
                <a:cs typeface="+mn-lt"/>
              </a:rPr>
              <a:t> Lessons Learned Register helps avoid repeating mistakes.</a:t>
            </a:r>
            <a:endParaRPr lang="en-US" dirty="0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b="1" dirty="0"/>
              <a:t>Audit and Compliance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Required for </a:t>
            </a:r>
            <a:r>
              <a:rPr lang="en-US" b="1" dirty="0">
                <a:ea typeface="+mn-lt"/>
                <a:cs typeface="+mn-lt"/>
              </a:rPr>
              <a:t>legal, financial, and regulatory audits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Demonstrates adherence to standards like PMBOK or ISO.</a:t>
            </a:r>
            <a:endParaRPr lang="en-US" dirty="0"/>
          </a:p>
          <a:p>
            <a:pPr indent="0">
              <a:buNone/>
            </a:pPr>
            <a:r>
              <a:rPr lang="en-US" b="1" dirty="0">
                <a:ea typeface="+mn-lt"/>
                <a:cs typeface="+mn-lt"/>
              </a:rPr>
              <a:t>Example:</a:t>
            </a:r>
            <a:r>
              <a:rPr lang="en-US" dirty="0">
                <a:ea typeface="+mn-lt"/>
                <a:cs typeface="+mn-lt"/>
              </a:rPr>
              <a:t> Maintaining procurement documents for compliance checks.</a:t>
            </a:r>
            <a:endParaRPr lang="en-US" dirty="0"/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36181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Communication and Collaboration in IT Projects</vt:lpstr>
      <vt:lpstr>Communication Management</vt:lpstr>
      <vt:lpstr>Processes in Communication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Elements</vt:lpstr>
      <vt:lpstr>Communication Management</vt:lpstr>
      <vt:lpstr>PowerPoint Presentation</vt:lpstr>
      <vt:lpstr>PowerPoint Presentation</vt:lpstr>
      <vt:lpstr>PowerPoint Presentation</vt:lpstr>
      <vt:lpstr>PowerPoint Presentation</vt:lpstr>
      <vt:lpstr>Effective Communication Strategies for IT Teams</vt:lpstr>
      <vt:lpstr>Effective Communication Strategies for IT Teams</vt:lpstr>
      <vt:lpstr>Effective Communication Strategies for IT Teams</vt:lpstr>
      <vt:lpstr>Tools for Collaboration</vt:lpstr>
      <vt:lpstr>Tools for Collaboration</vt:lpstr>
      <vt:lpstr>Tools for Collaboration</vt:lpstr>
      <vt:lpstr>Reporting and Documentation</vt:lpstr>
      <vt:lpstr>Best Practices for Reporting</vt:lpstr>
      <vt:lpstr>Best Practices for Reporting</vt:lpstr>
      <vt:lpstr>Best Practices for Reporting</vt:lpstr>
      <vt:lpstr>Best Practices for Documentation</vt:lpstr>
      <vt:lpstr>Best Practices for Documentation</vt:lpstr>
      <vt:lpstr>Best Practices for Documentation</vt:lpstr>
      <vt:lpstr>Examples of Common PMBOK Reports &amp; Documents</vt:lpstr>
      <vt:lpstr>Why project management is important?</vt:lpstr>
      <vt:lpstr>Why project management is important?</vt:lpstr>
      <vt:lpstr>Why project management is important?</vt:lpstr>
      <vt:lpstr>Why project management is important?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138</cp:revision>
  <dcterms:created xsi:type="dcterms:W3CDTF">2025-11-20T12:26:46Z</dcterms:created>
  <dcterms:modified xsi:type="dcterms:W3CDTF">2026-01-27T15:28:02Z</dcterms:modified>
</cp:coreProperties>
</file>