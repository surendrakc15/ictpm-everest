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81" r:id="rId6"/>
    <p:sldId id="291" r:id="rId7"/>
    <p:sldId id="282" r:id="rId8"/>
    <p:sldId id="283" r:id="rId9"/>
    <p:sldId id="284" r:id="rId10"/>
    <p:sldId id="285" r:id="rId11"/>
    <p:sldId id="286" r:id="rId12"/>
    <p:sldId id="258" r:id="rId13"/>
    <p:sldId id="259" r:id="rId14"/>
    <p:sldId id="260" r:id="rId15"/>
    <p:sldId id="261" r:id="rId16"/>
    <p:sldId id="262" r:id="rId17"/>
    <p:sldId id="292" r:id="rId18"/>
    <p:sldId id="293" r:id="rId19"/>
    <p:sldId id="294" r:id="rId20"/>
    <p:sldId id="295" r:id="rId21"/>
    <p:sldId id="296" r:id="rId22"/>
    <p:sldId id="297" r:id="rId23"/>
    <p:sldId id="298" r:id="rId24"/>
    <p:sldId id="299" r:id="rId25"/>
    <p:sldId id="303" r:id="rId26"/>
    <p:sldId id="304" r:id="rId27"/>
    <p:sldId id="305" r:id="rId28"/>
    <p:sldId id="306" r:id="rId29"/>
    <p:sldId id="307" r:id="rId30"/>
    <p:sldId id="300" r:id="rId31"/>
    <p:sldId id="302" r:id="rId32"/>
    <p:sldId id="301" r:id="rId33"/>
    <p:sldId id="308" r:id="rId34"/>
    <p:sldId id="309" r:id="rId35"/>
    <p:sldId id="310" r:id="rId36"/>
    <p:sldId id="311" r:id="rId37"/>
    <p:sldId id="312" r:id="rId38"/>
    <p:sldId id="313" r:id="rId39"/>
    <p:sldId id="314" r:id="rId40"/>
    <p:sldId id="315" r:id="rId41"/>
    <p:sldId id="316" r:id="rId42"/>
    <p:sldId id="317" r:id="rId43"/>
    <p:sldId id="318" r:id="rId44"/>
    <p:sldId id="319" r:id="rId45"/>
    <p:sldId id="320" r:id="rId46"/>
    <p:sldId id="263" r:id="rId47"/>
    <p:sldId id="264" r:id="rId48"/>
    <p:sldId id="265" r:id="rId49"/>
    <p:sldId id="266" r:id="rId50"/>
    <p:sldId id="267" r:id="rId51"/>
    <p:sldId id="268" r:id="rId52"/>
    <p:sldId id="269" r:id="rId53"/>
    <p:sldId id="321" r:id="rId54"/>
    <p:sldId id="322" r:id="rId55"/>
    <p:sldId id="323" r:id="rId56"/>
    <p:sldId id="324" r:id="rId57"/>
    <p:sldId id="325" r:id="rId5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8C91BA-AA4D-4445-A026-2E3A237B93A1}" v="94" dt="2026-01-19T12:03:18.8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5" Type="http://schemas.openxmlformats.org/officeDocument/2006/relationships/slide" Target="slides/slide1.xml"/><Relationship Id="rId61" Type="http://schemas.openxmlformats.org/officeDocument/2006/relationships/theme" Target="theme/them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D11EF-B4FD-D65F-07A6-A2DB3F60ED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2F2638-EB59-EC69-D23E-6CFF211CC1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A36EE-D764-9210-7D7E-7B168289F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DE1F4-CE9F-4A94-A604-790DB8AEBA25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69849B-A72D-C76F-73F8-FF493492A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F13D4-7ED5-6CA1-0F1C-E54DEBEA8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F3D71-D9DA-4B11-85F7-E9FA961FA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649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44AF6-4C48-04D7-25EE-A00FA3DB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3EAD8-6A64-4D46-B283-25B099A9E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EFBFCE-2988-EEC9-82CD-CE00AC741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DE1F4-CE9F-4A94-A604-790DB8AEBA25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57A7A-0A34-F397-88C2-6600E3F44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4B8F81-A801-E723-9E32-265181CF4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F3D71-D9DA-4B11-85F7-E9FA961FA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728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30B3D-BA5E-EC78-1977-B1D3A3944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566375-50D9-04BC-F509-073456E12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47D7E9-E065-43B6-1106-4CE6E24EE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DE1F4-CE9F-4A94-A604-790DB8AEBA25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4E9C0F-3775-E572-2F1B-FBAF10EB8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0D247-AE55-C373-6E6A-0F74B26BB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F3D71-D9DA-4B11-85F7-E9FA961FA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859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F7151-9325-5919-72EB-F24200D27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3F6A3-9EA5-FBE3-FC47-BF0F61E20E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F38310-F70E-8AFC-4D2D-A68ED8867C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357755-31AC-0971-DFAA-104CF3D22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DE1F4-CE9F-4A94-A604-790DB8AEBA25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7C3A88-7495-658E-E3A1-ED2A43B67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99DC4B-ABE6-EDC0-40C0-EC0AF8B33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F3D71-D9DA-4B11-85F7-E9FA961FA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137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7979E-348A-4F4D-E284-6BB4ED34E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2376D0-007C-C52B-8A01-40028E7324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A799ED-5CA7-5C58-3DC9-F4139B57A5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6B4E34-BD1B-A33A-BBE6-21BACDB908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8239C1-4FBC-058F-8AEA-BB3BEDDB14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43C40A-9AB6-D532-D9CE-240B41C95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DE1F4-CE9F-4A94-A604-790DB8AEBA25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0330C9-EA46-7AD6-EFBF-5F75ED3D9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FDC7C3-571A-DC78-31C3-3BBB47471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F3D71-D9DA-4B11-85F7-E9FA961FA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776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81A3F-D807-3848-F24E-E19EAC3E6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48D5D4-9178-0154-6C5C-FC76EE5ED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DE1F4-CE9F-4A94-A604-790DB8AEBA25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34B9C6-5B33-C5A3-B70D-822B55DC7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8E50A2-C79B-F11B-AB8F-B32FBC5A4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F3D71-D9DA-4B11-85F7-E9FA961FA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975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56E60F-EBD7-49A7-8C5B-C0BC49B4F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DE1F4-CE9F-4A94-A604-790DB8AEBA25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CF1D51-7128-4AC3-FDED-20F9F9C7E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EF8EF2-0931-4948-C9F9-E934CA37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F3D71-D9DA-4B11-85F7-E9FA961FA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074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B126F-8D3C-8C88-0453-0A10CFC88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8E385-2DF9-4138-E52C-38550E843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041A2A-F581-2789-7202-C4761F9483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5947B0-D7E4-74AC-8745-E900D535E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DE1F4-CE9F-4A94-A604-790DB8AEBA25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9D6CED-C9E1-F0DC-4D50-2B6BFAD28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241AB8-CD32-A387-7B86-BFF663DA6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F3D71-D9DA-4B11-85F7-E9FA961FA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176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DE4DC-F1E2-C6CD-440F-A7ACDBFD9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756079-1F47-A259-06DD-BD9576F85E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715F27-B9C8-751F-97D2-D49A170F2A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0EC2FB-0303-7560-634D-2D552AEB8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DE1F4-CE9F-4A94-A604-790DB8AEBA25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746FF-2626-4BD1-3021-A2DD92736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9FBFD9-26D1-AA30-C8FA-768BB0170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F3D71-D9DA-4B11-85F7-E9FA961FA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686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4289D-6C27-BFAD-66F3-5C00E82F6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E1D35A-929D-467F-D880-08B63EB2D9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2794A-717D-6224-B769-397F300F9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DE1F4-CE9F-4A94-A604-790DB8AEBA25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A11B0-DBB6-49DF-BAB1-9692A94A2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09DCB0-4D9D-6E25-FE59-C42FFCA4F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F3D71-D9DA-4B11-85F7-E9FA961FA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61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2A3D6B-0AF2-D44B-4C14-B960C5254C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16ECED-8BFA-4EAD-4A65-83F04D8FC1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D3E42-3411-E2F7-7F1E-A697AA6CC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DE1F4-CE9F-4A94-A604-790DB8AEBA25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C7BD07-E464-E54C-C15F-24EE2AC13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37091-C505-F70F-2352-6F4F292B3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F3D71-D9DA-4B11-85F7-E9FA961FA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469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06E78B-03DB-57C4-CF30-081F9175E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7330EB-76B2-810D-6D81-F40B46CEA4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C8633F-1F0B-5108-E9A6-35DFC1939B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7DE1F4-CE9F-4A94-A604-790DB8AEBA25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FD3AA-7720-10A1-0990-13E2E0798A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353DA-51CB-91A4-4D5D-63239D845A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9F3D71-D9DA-4B11-85F7-E9FA961FA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092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B7683-33B7-06D0-BF15-23F995702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CD914-2968-C787-BB7B-EC0498D42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/>
              <a:t>project risk</a:t>
            </a:r>
            <a:r>
              <a:rPr lang="en-US" dirty="0"/>
              <a:t> is an </a:t>
            </a:r>
            <a:r>
              <a:rPr lang="en-US" b="1" dirty="0"/>
              <a:t>uncertain event or condition</a:t>
            </a:r>
            <a:r>
              <a:rPr lang="en-US" dirty="0"/>
              <a:t> that, if it occurs, has a </a:t>
            </a:r>
            <a:r>
              <a:rPr lang="en-US" b="1" dirty="0"/>
              <a:t>positive or negative effect</a:t>
            </a:r>
            <a:r>
              <a:rPr lang="en-US" dirty="0"/>
              <a:t> on one or more project objectives such as:</a:t>
            </a:r>
          </a:p>
          <a:p>
            <a:pPr lvl="1"/>
            <a:r>
              <a:rPr lang="en-US" dirty="0"/>
              <a:t>Scope</a:t>
            </a:r>
          </a:p>
          <a:p>
            <a:pPr lvl="1"/>
            <a:r>
              <a:rPr lang="en-US" dirty="0"/>
              <a:t>Schedule</a:t>
            </a:r>
          </a:p>
          <a:p>
            <a:pPr lvl="1"/>
            <a:r>
              <a:rPr lang="en-US" dirty="0"/>
              <a:t>Cost</a:t>
            </a:r>
          </a:p>
          <a:p>
            <a:pPr lvl="1"/>
            <a:r>
              <a:rPr lang="en-US" dirty="0"/>
              <a:t>Quality</a:t>
            </a:r>
          </a:p>
          <a:p>
            <a:r>
              <a:rPr lang="en-US" dirty="0"/>
              <a:t>📌 Risk ≠ Problem</a:t>
            </a:r>
          </a:p>
          <a:p>
            <a:r>
              <a:rPr lang="en-US" b="1" dirty="0"/>
              <a:t>Risk</a:t>
            </a:r>
            <a:r>
              <a:rPr lang="en-US" dirty="0"/>
              <a:t>: May happen</a:t>
            </a:r>
          </a:p>
          <a:p>
            <a:r>
              <a:rPr lang="en-US" b="1" dirty="0"/>
              <a:t>Issue/Problem</a:t>
            </a:r>
            <a:r>
              <a:rPr lang="en-US" dirty="0"/>
              <a:t>: Has already happened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651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BF4DD-DA4A-D0DA-F0D4-484241748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8E818-68BD-DAD1-316C-6EB093DD3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Risk is an uncertain event or condition that, if it occurs, has a positive or negative effect on one or more project objectives such as scope, schedule, cost, quality, or performance.</a:t>
            </a:r>
          </a:p>
          <a:p>
            <a:r>
              <a:rPr lang="en-US" dirty="0"/>
              <a:t>Key points:</a:t>
            </a:r>
          </a:p>
          <a:p>
            <a:pPr lvl="1"/>
            <a:r>
              <a:rPr lang="en-US" dirty="0"/>
              <a:t>Risk is about </a:t>
            </a:r>
            <a:r>
              <a:rPr lang="en-US" b="1" dirty="0"/>
              <a:t>uncertainty</a:t>
            </a:r>
            <a:endParaRPr lang="en-US" dirty="0"/>
          </a:p>
          <a:p>
            <a:pPr lvl="1"/>
            <a:r>
              <a:rPr lang="en-US" dirty="0"/>
              <a:t>It may have </a:t>
            </a:r>
            <a:r>
              <a:rPr lang="en-US" b="1" dirty="0"/>
              <a:t>negative effects (threats)</a:t>
            </a:r>
            <a:r>
              <a:rPr lang="en-US" dirty="0"/>
              <a:t> or </a:t>
            </a:r>
            <a:r>
              <a:rPr lang="en-US" b="1" dirty="0"/>
              <a:t>positive effects (opportunities)</a:t>
            </a:r>
            <a:endParaRPr lang="en-US" dirty="0"/>
          </a:p>
          <a:p>
            <a:pPr lvl="1"/>
            <a:r>
              <a:rPr lang="en-US" dirty="0"/>
              <a:t>Risks exist in </a:t>
            </a:r>
            <a:r>
              <a:rPr lang="en-US" b="1" dirty="0"/>
              <a:t>all projects</a:t>
            </a:r>
            <a:r>
              <a:rPr lang="en-US" dirty="0"/>
              <a:t>, especially IT projects</a:t>
            </a:r>
          </a:p>
          <a:p>
            <a:pPr marL="0" indent="0">
              <a:buNone/>
            </a:pPr>
            <a:r>
              <a:rPr lang="en-US" b="1" dirty="0"/>
              <a:t>Characteristics of Risk</a:t>
            </a:r>
          </a:p>
          <a:p>
            <a:pPr lvl="1"/>
            <a:r>
              <a:rPr lang="en-US" dirty="0"/>
              <a:t>Future-oriented</a:t>
            </a:r>
          </a:p>
          <a:p>
            <a:pPr lvl="1"/>
            <a:r>
              <a:rPr lang="en-US" dirty="0"/>
              <a:t>Uncertain in nature</a:t>
            </a:r>
          </a:p>
          <a:p>
            <a:pPr lvl="1"/>
            <a:r>
              <a:rPr lang="en-US" dirty="0"/>
              <a:t>Has a cause and an effect</a:t>
            </a:r>
          </a:p>
          <a:p>
            <a:pPr lvl="1"/>
            <a:r>
              <a:rPr lang="en-US" dirty="0"/>
              <a:t>Can impact cost, time, quality, scope, or reputation</a:t>
            </a:r>
          </a:p>
          <a:p>
            <a:pPr lvl="1"/>
            <a:r>
              <a:rPr lang="en-US" dirty="0"/>
              <a:t>Can be managed but not completely eliminated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026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438151-8CD1-AE13-C4DE-78A0A0F1C5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76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329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9276C-609F-D57A-0520-83C006840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</a:t>
            </a:r>
            <a:r>
              <a:rPr lang="en-US" dirty="0" err="1"/>
              <a:t>Managment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7DAC0-5ED6-A6A8-2C89-45E02217DD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Types of Risk</a:t>
            </a:r>
          </a:p>
          <a:p>
            <a:pPr marL="0" indent="0">
              <a:buNone/>
            </a:pPr>
            <a:r>
              <a:rPr lang="en-US" b="1" dirty="0"/>
              <a:t>Based on Impact</a:t>
            </a:r>
          </a:p>
          <a:p>
            <a:r>
              <a:rPr lang="en-US" b="1" dirty="0"/>
              <a:t>Negative Risk (Threat)</a:t>
            </a:r>
          </a:p>
          <a:p>
            <a:pPr lvl="1"/>
            <a:r>
              <a:rPr lang="en-US" dirty="0"/>
              <a:t>Events that can harm the project.</a:t>
            </a:r>
          </a:p>
          <a:p>
            <a:pPr lvl="1"/>
            <a:r>
              <a:rPr lang="en-US" b="1" dirty="0"/>
              <a:t>Example (IT Company):</a:t>
            </a:r>
            <a:endParaRPr lang="en-US" dirty="0"/>
          </a:p>
          <a:p>
            <a:pPr lvl="1"/>
            <a:r>
              <a:rPr lang="en-US" dirty="0"/>
              <a:t>Cybersecurity breach delaying software release</a:t>
            </a:r>
          </a:p>
          <a:p>
            <a:pPr lvl="1"/>
            <a:r>
              <a:rPr lang="en-US" dirty="0"/>
              <a:t>Key developer resigns during critical phase</a:t>
            </a:r>
          </a:p>
          <a:p>
            <a:r>
              <a:rPr lang="en-US" b="1" dirty="0"/>
              <a:t>Positive Risk (Opportunity)</a:t>
            </a:r>
          </a:p>
          <a:p>
            <a:pPr lvl="1"/>
            <a:r>
              <a:rPr lang="en-US" dirty="0"/>
              <a:t>Events that can benefit the project.</a:t>
            </a:r>
          </a:p>
          <a:p>
            <a:pPr lvl="1"/>
            <a:r>
              <a:rPr lang="en-US" b="1" dirty="0"/>
              <a:t>Example:</a:t>
            </a:r>
            <a:endParaRPr lang="en-US" dirty="0"/>
          </a:p>
          <a:p>
            <a:pPr lvl="1"/>
            <a:r>
              <a:rPr lang="en-US" dirty="0"/>
              <a:t>Use of a new automation tool reduces development time</a:t>
            </a:r>
          </a:p>
          <a:p>
            <a:pPr lvl="1"/>
            <a:r>
              <a:rPr lang="en-US" dirty="0"/>
              <a:t>Client requests additional features with extra payment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9757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EDE35-4A49-9751-AAB5-C05F3A39F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Risk in IT 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31E1E-3F97-98DA-118F-24ABE9245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Technical Risk</a:t>
            </a:r>
          </a:p>
          <a:p>
            <a:pPr lvl="1"/>
            <a:r>
              <a:rPr lang="en-US" dirty="0"/>
              <a:t>Risks related to technology, tools, or systems.</a:t>
            </a:r>
          </a:p>
          <a:p>
            <a:r>
              <a:rPr lang="en-US" b="1" dirty="0"/>
              <a:t>Examples:</a:t>
            </a:r>
            <a:endParaRPr lang="en-US" dirty="0"/>
          </a:p>
          <a:p>
            <a:pPr lvl="1"/>
            <a:r>
              <a:rPr lang="en-US" dirty="0"/>
              <a:t>New programming framework is unstable</a:t>
            </a:r>
          </a:p>
          <a:p>
            <a:pPr lvl="1"/>
            <a:r>
              <a:rPr lang="en-US" dirty="0"/>
              <a:t>Integration failure between legacy system and new software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Project Management Risk</a:t>
            </a:r>
          </a:p>
          <a:p>
            <a:pPr lvl="1"/>
            <a:r>
              <a:rPr lang="en-US" dirty="0"/>
              <a:t>Risks related to planning, scheduling, and control.</a:t>
            </a:r>
          </a:p>
          <a:p>
            <a:r>
              <a:rPr lang="en-US" b="1" dirty="0"/>
              <a:t>Examples:</a:t>
            </a:r>
            <a:endParaRPr lang="en-US" dirty="0"/>
          </a:p>
          <a:p>
            <a:pPr lvl="1"/>
            <a:r>
              <a:rPr lang="en-US" dirty="0"/>
              <a:t>Poor effort estimation</a:t>
            </a:r>
          </a:p>
          <a:p>
            <a:pPr lvl="1"/>
            <a:r>
              <a:rPr lang="en-US" dirty="0"/>
              <a:t>Inadequate communication among teams</a:t>
            </a:r>
          </a:p>
          <a:p>
            <a:pPr lvl="1"/>
            <a:r>
              <a:rPr lang="en-US" dirty="0"/>
              <a:t>Unrealistic deadlines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6158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313F5-9064-AC79-ACB0-963B11F34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Risks in IT 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BBFA2-6EF9-65FF-689E-B16DA4399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Business / Organizational Risk</a:t>
            </a:r>
          </a:p>
          <a:p>
            <a:pPr lvl="1"/>
            <a:r>
              <a:rPr lang="en-US" dirty="0"/>
              <a:t>Risks related to organizational environment.</a:t>
            </a:r>
          </a:p>
          <a:p>
            <a:r>
              <a:rPr lang="en-US" b="1" dirty="0"/>
              <a:t>Examples:</a:t>
            </a:r>
            <a:endParaRPr lang="en-US" dirty="0"/>
          </a:p>
          <a:p>
            <a:pPr lvl="1"/>
            <a:r>
              <a:rPr lang="en-US" dirty="0"/>
              <a:t>Change in company strategy</a:t>
            </a:r>
          </a:p>
          <a:p>
            <a:pPr lvl="1"/>
            <a:r>
              <a:rPr lang="en-US" dirty="0"/>
              <a:t>Budget cuts from management</a:t>
            </a:r>
          </a:p>
          <a:p>
            <a:pPr lvl="1"/>
            <a:r>
              <a:rPr lang="en-US" dirty="0"/>
              <a:t>Client organization restructuring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External Risk</a:t>
            </a:r>
          </a:p>
          <a:p>
            <a:pPr lvl="1"/>
            <a:r>
              <a:rPr lang="en-US" dirty="0"/>
              <a:t>Risks outside the organization’s control.</a:t>
            </a:r>
          </a:p>
          <a:p>
            <a:r>
              <a:rPr lang="en-US" b="1" dirty="0"/>
              <a:t>Examples:</a:t>
            </a:r>
            <a:endParaRPr lang="en-US" dirty="0"/>
          </a:p>
          <a:p>
            <a:pPr lvl="1"/>
            <a:r>
              <a:rPr lang="en-US" dirty="0"/>
              <a:t>Changes in government IT regulations</a:t>
            </a:r>
          </a:p>
          <a:p>
            <a:pPr lvl="1"/>
            <a:r>
              <a:rPr lang="en-US" dirty="0"/>
              <a:t>New data privacy laws (GDPR)</a:t>
            </a:r>
          </a:p>
          <a:p>
            <a:pPr lvl="1"/>
            <a:r>
              <a:rPr lang="en-US" dirty="0"/>
              <a:t>Vendor failure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279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9641C-1D74-A228-5B5F-E62082697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Risks in IT 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1392C-04F9-1F46-D581-850C679A6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Resource Risk</a:t>
            </a:r>
          </a:p>
          <a:p>
            <a:pPr lvl="1"/>
            <a:r>
              <a:rPr lang="en-US" dirty="0"/>
              <a:t>Risks related to human or material resources.</a:t>
            </a:r>
          </a:p>
          <a:p>
            <a:r>
              <a:rPr lang="en-US" b="1" dirty="0"/>
              <a:t>Examples:</a:t>
            </a:r>
            <a:endParaRPr lang="en-US" dirty="0"/>
          </a:p>
          <a:p>
            <a:pPr lvl="1"/>
            <a:r>
              <a:rPr lang="en-US" dirty="0"/>
              <a:t>Skilled developers not available</a:t>
            </a:r>
          </a:p>
          <a:p>
            <a:pPr lvl="1"/>
            <a:r>
              <a:rPr lang="en-US" dirty="0"/>
              <a:t>High employee attrition rate</a:t>
            </a:r>
          </a:p>
          <a:p>
            <a:pPr lvl="1"/>
            <a:r>
              <a:rPr lang="en-US" dirty="0"/>
              <a:t>Dependency on a single expert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Security Risk</a:t>
            </a:r>
          </a:p>
          <a:p>
            <a:pPr lvl="1"/>
            <a:r>
              <a:rPr lang="en-US" dirty="0"/>
              <a:t>Very critical in IT projects.</a:t>
            </a:r>
          </a:p>
          <a:p>
            <a:r>
              <a:rPr lang="en-US" b="1" dirty="0"/>
              <a:t>Examples:</a:t>
            </a:r>
            <a:endParaRPr lang="en-US" dirty="0"/>
          </a:p>
          <a:p>
            <a:pPr lvl="1"/>
            <a:r>
              <a:rPr lang="en-US" dirty="0"/>
              <a:t>Data theft</a:t>
            </a:r>
          </a:p>
          <a:p>
            <a:pPr lvl="1"/>
            <a:r>
              <a:rPr lang="en-US" dirty="0"/>
              <a:t>Malware attacks</a:t>
            </a:r>
          </a:p>
          <a:p>
            <a:pPr lvl="1"/>
            <a:r>
              <a:rPr lang="en-US" dirty="0"/>
              <a:t>Unauthorized access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9794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6156F-CD1C-E2F1-95DD-1DE7CA9F5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Risk Needs to Be Managed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A511E-C9C1-065D-48CB-FA94ED953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Risk management is essential because:</a:t>
            </a:r>
          </a:p>
          <a:p>
            <a:pPr lvl="1"/>
            <a:r>
              <a:rPr lang="en-US" b="1" dirty="0"/>
              <a:t>Prevents project failure</a:t>
            </a:r>
            <a:endParaRPr lang="en-US" dirty="0"/>
          </a:p>
          <a:p>
            <a:pPr lvl="1"/>
            <a:r>
              <a:rPr lang="en-US" b="1" dirty="0"/>
              <a:t>Reduces cost overruns</a:t>
            </a:r>
            <a:endParaRPr lang="en-US" dirty="0"/>
          </a:p>
          <a:p>
            <a:pPr lvl="1"/>
            <a:r>
              <a:rPr lang="en-US" b="1" dirty="0"/>
              <a:t>Avoids schedule delays</a:t>
            </a:r>
            <a:endParaRPr lang="en-US" dirty="0"/>
          </a:p>
          <a:p>
            <a:pPr lvl="1"/>
            <a:r>
              <a:rPr lang="en-US" b="1" dirty="0"/>
              <a:t>Improves decision-making</a:t>
            </a:r>
            <a:endParaRPr lang="en-US" dirty="0"/>
          </a:p>
          <a:p>
            <a:pPr lvl="1"/>
            <a:r>
              <a:rPr lang="en-US" b="1" dirty="0"/>
              <a:t>Increases chances of project success</a:t>
            </a:r>
            <a:endParaRPr lang="en-US" dirty="0"/>
          </a:p>
          <a:p>
            <a:pPr lvl="1"/>
            <a:r>
              <a:rPr lang="en-US" b="1" dirty="0"/>
              <a:t>Improves stakeholder confidence</a:t>
            </a:r>
            <a:endParaRPr lang="en-US" dirty="0"/>
          </a:p>
          <a:p>
            <a:pPr lvl="1"/>
            <a:r>
              <a:rPr lang="en-US" b="1" dirty="0"/>
              <a:t>Helps identify opportunities</a:t>
            </a:r>
            <a:endParaRPr lang="en-US" dirty="0"/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	Early identification of performance risk in a cloud application helps allocate better infrastructure, avoiding customer complaints later.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2000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E8147-FA1F-3B34-124A-315242BB6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Importance of Risk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02C46-4325-8BF3-0121-CC74FB233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Risk Management helps to:</a:t>
            </a:r>
          </a:p>
          <a:p>
            <a:pPr lvl="1"/>
            <a:r>
              <a:rPr lang="en-US" dirty="0"/>
              <a:t>Reduce project failures</a:t>
            </a:r>
          </a:p>
          <a:p>
            <a:pPr lvl="1"/>
            <a:r>
              <a:rPr lang="en-US" dirty="0"/>
              <a:t>Improve decision-making</a:t>
            </a:r>
          </a:p>
          <a:p>
            <a:pPr lvl="1"/>
            <a:r>
              <a:rPr lang="en-US" dirty="0"/>
              <a:t>Increase probability of project success</a:t>
            </a:r>
          </a:p>
          <a:p>
            <a:pPr lvl="1"/>
            <a:r>
              <a:rPr lang="en-US" dirty="0"/>
              <a:t>Protect project objectives</a:t>
            </a:r>
          </a:p>
          <a:p>
            <a:pPr lvl="1"/>
            <a:r>
              <a:rPr lang="en-US" dirty="0"/>
              <a:t>Identify opportunities (positive risks)</a:t>
            </a:r>
          </a:p>
          <a:p>
            <a:r>
              <a:rPr lang="en-US" b="1" dirty="0"/>
              <a:t>Example</a:t>
            </a:r>
          </a:p>
          <a:p>
            <a:r>
              <a:rPr lang="en-US" dirty="0"/>
              <a:t>If a software project ignores the risk of </a:t>
            </a:r>
            <a:r>
              <a:rPr lang="en-US" b="1" dirty="0"/>
              <a:t>changing requirements</a:t>
            </a:r>
            <a:r>
              <a:rPr lang="en-US" dirty="0"/>
              <a:t>, it may lead to:</a:t>
            </a:r>
          </a:p>
          <a:p>
            <a:pPr lvl="1"/>
            <a:r>
              <a:rPr lang="en-US" dirty="0"/>
              <a:t>Cost overrun</a:t>
            </a:r>
          </a:p>
          <a:p>
            <a:pPr lvl="1"/>
            <a:r>
              <a:rPr lang="en-US" dirty="0"/>
              <a:t>Schedule delay</a:t>
            </a:r>
          </a:p>
          <a:p>
            <a:pPr lvl="1"/>
            <a:r>
              <a:rPr lang="en-US" dirty="0"/>
              <a:t>Poor quality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146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C11AFB-AFA5-CC85-574E-D495D11D1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3400"/>
              <a:t>PMBOK Risk Management Processes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4D440-A85C-E847-A102-59C4C015B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2000"/>
              <a:t>According to PMBOK, </a:t>
            </a:r>
            <a:r>
              <a:rPr lang="en-US" sz="2000" b="1"/>
              <a:t>Project Risk Management</a:t>
            </a:r>
            <a:r>
              <a:rPr lang="en-US" sz="2000"/>
              <a:t> consists of </a:t>
            </a:r>
            <a:r>
              <a:rPr lang="en-US" sz="2000" b="1"/>
              <a:t>7 processes</a:t>
            </a:r>
            <a:r>
              <a:rPr lang="en-US" sz="2000"/>
              <a:t>:</a:t>
            </a:r>
          </a:p>
          <a:p>
            <a:pPr lvl="1"/>
            <a:r>
              <a:rPr lang="en-US" sz="2000"/>
              <a:t>Plan Risk Management</a:t>
            </a:r>
          </a:p>
          <a:p>
            <a:pPr lvl="1"/>
            <a:r>
              <a:rPr lang="en-US" sz="2000"/>
              <a:t>Identify Risks</a:t>
            </a:r>
          </a:p>
          <a:p>
            <a:pPr lvl="1"/>
            <a:r>
              <a:rPr lang="en-US" sz="2000"/>
              <a:t>Perform Qualitative Risk Analysis</a:t>
            </a:r>
          </a:p>
          <a:p>
            <a:pPr lvl="1"/>
            <a:r>
              <a:rPr lang="en-US" sz="2000"/>
              <a:t>Perform Quantitative Risk Analysis</a:t>
            </a:r>
          </a:p>
          <a:p>
            <a:pPr lvl="1"/>
            <a:r>
              <a:rPr lang="en-US" sz="2000"/>
              <a:t>Plan Risk Responses</a:t>
            </a:r>
          </a:p>
          <a:p>
            <a:pPr lvl="1"/>
            <a:r>
              <a:rPr lang="en-US" sz="2000"/>
              <a:t>Implement Risk Responses</a:t>
            </a:r>
          </a:p>
          <a:p>
            <a:pPr lvl="1"/>
            <a:r>
              <a:rPr lang="en-US" sz="2000"/>
              <a:t>Monitor Risks</a:t>
            </a:r>
          </a:p>
          <a:p>
            <a:endParaRPr lang="en-US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D6F71B-745F-B9DF-26CC-95F9E804D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815519"/>
            <a:ext cx="5458968" cy="5226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384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9AA5B-9367-30CC-FA83-04E78CF2C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Risk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F3EE3-AFA8-C978-0615-83D7AF9E6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The process of </a:t>
            </a:r>
            <a:r>
              <a:rPr lang="en-US" b="1" dirty="0"/>
              <a:t>defining how to conduct risk management activities</a:t>
            </a:r>
            <a:r>
              <a:rPr lang="en-US" dirty="0"/>
              <a:t> for the project.</a:t>
            </a:r>
          </a:p>
          <a:p>
            <a:r>
              <a:rPr lang="en-US" b="1" dirty="0"/>
              <a:t>Outputs</a:t>
            </a:r>
          </a:p>
          <a:p>
            <a:pPr lvl="1"/>
            <a:r>
              <a:rPr lang="en-US" dirty="0"/>
              <a:t>Risk Management Plan</a:t>
            </a:r>
          </a:p>
          <a:p>
            <a:r>
              <a:rPr lang="en-US" b="1" dirty="0"/>
              <a:t>Contents of Risk Management Plan</a:t>
            </a:r>
          </a:p>
          <a:p>
            <a:pPr lvl="1"/>
            <a:r>
              <a:rPr lang="en-US" dirty="0"/>
              <a:t>Risk methodology</a:t>
            </a:r>
          </a:p>
          <a:p>
            <a:pPr lvl="1"/>
            <a:r>
              <a:rPr lang="en-US" dirty="0"/>
              <a:t>Roles and responsibilities</a:t>
            </a:r>
          </a:p>
          <a:p>
            <a:pPr lvl="1"/>
            <a:r>
              <a:rPr lang="en-US" dirty="0"/>
              <a:t>Risk categories</a:t>
            </a:r>
          </a:p>
          <a:p>
            <a:pPr lvl="1"/>
            <a:r>
              <a:rPr lang="en-US" dirty="0"/>
              <a:t>Probability and impact definitions</a:t>
            </a:r>
          </a:p>
          <a:p>
            <a:pPr lvl="1"/>
            <a:r>
              <a:rPr lang="en-US" dirty="0"/>
              <a:t>Risk thresholds</a:t>
            </a:r>
          </a:p>
          <a:p>
            <a:pPr lvl="1"/>
            <a:r>
              <a:rPr lang="en-US" dirty="0"/>
              <a:t>Reporting formats</a:t>
            </a:r>
          </a:p>
          <a:p>
            <a:r>
              <a:rPr lang="en-US" b="1" dirty="0"/>
              <a:t>Example</a:t>
            </a:r>
          </a:p>
          <a:p>
            <a:r>
              <a:rPr lang="en-US" dirty="0"/>
              <a:t>A construction project decides:</a:t>
            </a:r>
          </a:p>
          <a:p>
            <a:pPr lvl="1"/>
            <a:r>
              <a:rPr lang="en-US" dirty="0"/>
              <a:t>High risk = delay &gt; 30 days</a:t>
            </a:r>
          </a:p>
          <a:p>
            <a:pPr lvl="1"/>
            <a:r>
              <a:rPr lang="en-US" dirty="0"/>
              <a:t>Risk review every 2 weeks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524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5F0B8-73EA-36D2-A25C-52767320F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 Risks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A077B-2E54-8DE9-26D2-B30D4B8475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The process of </a:t>
            </a:r>
            <a:r>
              <a:rPr lang="en-US" b="1" dirty="0"/>
              <a:t>identifying individual project risks</a:t>
            </a:r>
            <a:r>
              <a:rPr lang="en-US" dirty="0"/>
              <a:t> and documenting their characteristics.</a:t>
            </a:r>
          </a:p>
          <a:p>
            <a:r>
              <a:rPr lang="en-US" b="1" dirty="0"/>
              <a:t>Techniques</a:t>
            </a:r>
          </a:p>
          <a:p>
            <a:pPr lvl="1"/>
            <a:r>
              <a:rPr lang="en-US" dirty="0"/>
              <a:t>Brainstorming</a:t>
            </a:r>
          </a:p>
          <a:p>
            <a:pPr lvl="1"/>
            <a:r>
              <a:rPr lang="en-US" dirty="0"/>
              <a:t>Expert judgment</a:t>
            </a:r>
          </a:p>
          <a:p>
            <a:pPr lvl="1"/>
            <a:r>
              <a:rPr lang="en-US" dirty="0"/>
              <a:t>Checklists</a:t>
            </a:r>
          </a:p>
          <a:p>
            <a:pPr lvl="1"/>
            <a:r>
              <a:rPr lang="en-US" dirty="0"/>
              <a:t>SWOT analysis</a:t>
            </a:r>
          </a:p>
          <a:p>
            <a:pPr lvl="1"/>
            <a:r>
              <a:rPr lang="en-US" dirty="0"/>
              <a:t>Document review</a:t>
            </a:r>
          </a:p>
          <a:p>
            <a:pPr lvl="1"/>
            <a:r>
              <a:rPr lang="en-US" dirty="0"/>
              <a:t>Interviews</a:t>
            </a:r>
          </a:p>
          <a:p>
            <a:r>
              <a:rPr lang="en-US" b="1" dirty="0"/>
              <a:t>Output</a:t>
            </a:r>
          </a:p>
          <a:p>
            <a:pPr lvl="1"/>
            <a:r>
              <a:rPr lang="en-US" dirty="0"/>
              <a:t>Risk Register</a:t>
            </a:r>
          </a:p>
          <a:p>
            <a:r>
              <a:rPr lang="en-US" b="1" dirty="0"/>
              <a:t>Risk Register Contains</a:t>
            </a:r>
          </a:p>
          <a:p>
            <a:pPr lvl="1"/>
            <a:r>
              <a:rPr lang="en-US" dirty="0"/>
              <a:t>Risk description</a:t>
            </a:r>
          </a:p>
          <a:p>
            <a:pPr lvl="1"/>
            <a:r>
              <a:rPr lang="en-US" dirty="0"/>
              <a:t>Risk cause</a:t>
            </a:r>
          </a:p>
          <a:p>
            <a:pPr lvl="1"/>
            <a:r>
              <a:rPr lang="en-US" dirty="0"/>
              <a:t>Risk impact</a:t>
            </a:r>
          </a:p>
          <a:p>
            <a:pPr lvl="1"/>
            <a:r>
              <a:rPr lang="en-US" dirty="0"/>
              <a:t>Risk owner</a:t>
            </a:r>
          </a:p>
          <a:p>
            <a:r>
              <a:rPr lang="en-US" b="1" dirty="0"/>
              <a:t>Example</a:t>
            </a:r>
          </a:p>
          <a:p>
            <a:r>
              <a:rPr lang="en-US" dirty="0"/>
              <a:t>Risk:</a:t>
            </a:r>
          </a:p>
          <a:p>
            <a:pPr lvl="1"/>
            <a:r>
              <a:rPr lang="en-US" dirty="0"/>
              <a:t>“Key developer may leave the project.”</a:t>
            </a:r>
          </a:p>
          <a:p>
            <a:r>
              <a:rPr lang="en-US" dirty="0"/>
              <a:t>Cause: Better job offer</a:t>
            </a:r>
            <a:br>
              <a:rPr lang="en-US" dirty="0"/>
            </a:br>
            <a:r>
              <a:rPr lang="en-US" dirty="0"/>
              <a:t>Impact: Schedule delay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618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2E374D-1E66-0018-4F60-37E60F72C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4600" dirty="0"/>
              <a:t>Perform Qualitative Risk Analysis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CA76E-BAA6-C8D1-D9D1-8B56B53318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2000"/>
              <a:t>The process of </a:t>
            </a:r>
            <a:r>
              <a:rPr lang="en-US" sz="2000" b="1"/>
              <a:t>prioritizing risks</a:t>
            </a:r>
            <a:r>
              <a:rPr lang="en-US" sz="2000"/>
              <a:t> based on:</a:t>
            </a:r>
          </a:p>
          <a:p>
            <a:pPr lvl="1"/>
            <a:r>
              <a:rPr lang="en-US" sz="2000"/>
              <a:t>Probability of occurrence</a:t>
            </a:r>
          </a:p>
          <a:p>
            <a:pPr lvl="1"/>
            <a:r>
              <a:rPr lang="en-US" sz="2000"/>
              <a:t>Impact on project objectives</a:t>
            </a:r>
          </a:p>
          <a:p>
            <a:r>
              <a:rPr lang="en-US" sz="2000" b="1"/>
              <a:t>Tools</a:t>
            </a:r>
          </a:p>
          <a:p>
            <a:pPr lvl="1"/>
            <a:r>
              <a:rPr lang="en-US" sz="2000"/>
              <a:t>Probability–Impact Matrix</a:t>
            </a:r>
          </a:p>
          <a:p>
            <a:pPr lvl="1"/>
            <a:r>
              <a:rPr lang="en-US" sz="2000"/>
              <a:t>Risk categorization</a:t>
            </a:r>
          </a:p>
          <a:p>
            <a:pPr lvl="1"/>
            <a:r>
              <a:rPr lang="en-US" sz="2000"/>
              <a:t>Expert judgment</a:t>
            </a:r>
          </a:p>
          <a:p>
            <a:r>
              <a:rPr lang="en-US" sz="2000" b="1"/>
              <a:t>Risk Rating Formula</a:t>
            </a:r>
          </a:p>
          <a:p>
            <a:pPr lvl="1"/>
            <a:r>
              <a:rPr lang="en-US" sz="2000"/>
              <a:t>Risk Score = Probability × Impact</a:t>
            </a:r>
          </a:p>
          <a:p>
            <a:endParaRPr lang="en-US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5C3467-0804-75B7-BB0D-9FFC79C3B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2541918"/>
            <a:ext cx="5458968" cy="1774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630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D965B-2EE3-88D0-3CD2-2A6A83812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of Qualitative Risk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499D6-205B-863C-C6B4-7FD323AEDF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Rank risks based on importance</a:t>
            </a:r>
          </a:p>
          <a:p>
            <a:r>
              <a:rPr lang="en-US" dirty="0"/>
              <a:t>Identify critical risks requiring immediate response</a:t>
            </a:r>
          </a:p>
          <a:p>
            <a:r>
              <a:rPr lang="en-US" dirty="0"/>
              <a:t>Reduce the number of risks for quantitative analysis</a:t>
            </a:r>
          </a:p>
          <a:p>
            <a:r>
              <a:rPr lang="en-US" dirty="0"/>
              <a:t>Support better decision-making</a:t>
            </a:r>
          </a:p>
          <a:p>
            <a:r>
              <a:rPr lang="en-US" dirty="0"/>
              <a:t>Optimize use of time and resources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37109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E79CF6-4B9A-ABF8-3168-B9407AE8B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3800" dirty="0"/>
              <a:t>Steps to perform qualitative risk analysis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67F36-11DA-10BD-D1DC-4AD735E861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2200" b="1"/>
              <a:t>Step 1: Review Identified Risks</a:t>
            </a:r>
          </a:p>
          <a:p>
            <a:r>
              <a:rPr lang="en-US" sz="2200"/>
              <a:t>Use the </a:t>
            </a:r>
            <a:r>
              <a:rPr lang="en-US" sz="2200" b="1"/>
              <a:t>Risk Register</a:t>
            </a:r>
            <a:endParaRPr lang="en-US" sz="2200"/>
          </a:p>
          <a:p>
            <a:r>
              <a:rPr lang="en-US" sz="2200"/>
              <a:t>Ensure risk statements are clear and complete</a:t>
            </a:r>
          </a:p>
          <a:p>
            <a:r>
              <a:rPr lang="en-US" sz="2200"/>
              <a:t>📌 </a:t>
            </a:r>
            <a:r>
              <a:rPr lang="en-US" sz="2200" i="1"/>
              <a:t>Example:</a:t>
            </a:r>
            <a:br>
              <a:rPr lang="en-US" sz="2200"/>
            </a:br>
            <a:r>
              <a:rPr lang="en-US" sz="2200"/>
              <a:t>Risk: “Delay in delivery of hardware due to supplier issues.”</a:t>
            </a:r>
          </a:p>
          <a:p>
            <a:endParaRPr lang="en-US" sz="22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E7F947-CAD3-E49C-AD65-8D89761E8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791310"/>
            <a:ext cx="5458968" cy="327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2382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9978F5-AAE4-D790-A6C7-4B0074714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100" dirty="0"/>
              <a:t>Steps to perform qualitative risk analysis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22369E-41CD-ADD2-5B7A-F3DE84A97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648" y="2642616"/>
            <a:ext cx="5283200" cy="3605784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393C68E-8401-2BE4-ACFD-36EC8B760C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54496" y="3245427"/>
            <a:ext cx="5614416" cy="2400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9182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18237-3057-15DC-9C6A-327662B6A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to perform qualitative risk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800BF-8402-DDD2-1EC8-F0EE95FDE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Step 5: Risk Prioritization</a:t>
            </a:r>
          </a:p>
          <a:p>
            <a:r>
              <a:rPr lang="en-US" dirty="0"/>
              <a:t>Assign risk ratings (High / Medium / Low)</a:t>
            </a:r>
          </a:p>
          <a:p>
            <a:r>
              <a:rPr lang="en-US" dirty="0"/>
              <a:t>Sort risks based on priority</a:t>
            </a:r>
          </a:p>
          <a:p>
            <a:r>
              <a:rPr lang="en-US" dirty="0"/>
              <a:t>Focus on </a:t>
            </a:r>
            <a:r>
              <a:rPr lang="en-US" b="1" dirty="0"/>
              <a:t>top-ranked risks</a:t>
            </a:r>
            <a:endParaRPr lang="en-US" dirty="0"/>
          </a:p>
          <a:p>
            <a:r>
              <a:rPr lang="en-US" dirty="0"/>
              <a:t>📌 </a:t>
            </a:r>
            <a:r>
              <a:rPr lang="en-US" i="1" dirty="0"/>
              <a:t>Example:</a:t>
            </a:r>
            <a:br>
              <a:rPr lang="en-US" dirty="0"/>
            </a:br>
            <a:r>
              <a:rPr lang="en-US" dirty="0"/>
              <a:t>Critical risks → Immediate response</a:t>
            </a:r>
            <a:br>
              <a:rPr lang="en-US" dirty="0"/>
            </a:br>
            <a:r>
              <a:rPr lang="en-US" dirty="0"/>
              <a:t>Low risks → Watch list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Step 6: Assign Risk Owners</a:t>
            </a:r>
          </a:p>
          <a:p>
            <a:r>
              <a:rPr lang="en-US" dirty="0"/>
              <a:t>Each risk is assigned to a responsible person</a:t>
            </a:r>
          </a:p>
          <a:p>
            <a:r>
              <a:rPr lang="en-US" dirty="0"/>
              <a:t>Ensures accountability</a:t>
            </a:r>
          </a:p>
          <a:p>
            <a:r>
              <a:rPr lang="en-US" dirty="0"/>
              <a:t>📌 </a:t>
            </a:r>
            <a:r>
              <a:rPr lang="en-US" i="1" dirty="0"/>
              <a:t>Example:</a:t>
            </a:r>
            <a:br>
              <a:rPr lang="en-US" dirty="0"/>
            </a:br>
            <a:r>
              <a:rPr lang="en-US" dirty="0"/>
              <a:t>Vendor delay risk → Procurement Manager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5163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6B64C-EEA4-2D81-AC9C-3518FFB42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to perform qualitative risk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CE4F0-CDD6-6F7E-12CD-F58A4403E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7: Update Risk Register</a:t>
            </a:r>
          </a:p>
          <a:p>
            <a:r>
              <a:rPr lang="en-US" dirty="0"/>
              <a:t>The risk register is updated with:</a:t>
            </a:r>
          </a:p>
          <a:p>
            <a:r>
              <a:rPr lang="en-US" dirty="0"/>
              <a:t>Probability</a:t>
            </a:r>
          </a:p>
          <a:p>
            <a:r>
              <a:rPr lang="en-US" dirty="0"/>
              <a:t>Impact</a:t>
            </a:r>
          </a:p>
          <a:p>
            <a:r>
              <a:rPr lang="en-US" dirty="0"/>
              <a:t>Risk rating</a:t>
            </a:r>
          </a:p>
          <a:p>
            <a:r>
              <a:rPr lang="en-US" dirty="0"/>
              <a:t>Risk owner</a:t>
            </a:r>
          </a:p>
          <a:p>
            <a:r>
              <a:rPr lang="en-US" dirty="0"/>
              <a:t>Response strategy (optional)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67278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FA5B7-3C23-6A29-4B98-2F0A232C3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Qualitative Risk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CCAC1-5060-1AF6-DED0-E9E7B8FD0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1. Probability-Based Analysis</a:t>
            </a:r>
          </a:p>
          <a:p>
            <a:r>
              <a:rPr lang="en-US" dirty="0"/>
              <a:t>Focuses only on likelihood</a:t>
            </a:r>
          </a:p>
          <a:p>
            <a:r>
              <a:rPr lang="en-US" dirty="0"/>
              <a:t>Used in early project stages</a:t>
            </a:r>
          </a:p>
          <a:p>
            <a:r>
              <a:rPr lang="en-US" dirty="0"/>
              <a:t>📌 Example:</a:t>
            </a:r>
            <a:br>
              <a:rPr lang="en-US" dirty="0"/>
            </a:br>
            <a:r>
              <a:rPr lang="en-US" dirty="0"/>
              <a:t>Risk of requirement change is </a:t>
            </a:r>
            <a:r>
              <a:rPr lang="en-US" b="1" dirty="0"/>
              <a:t>high</a:t>
            </a:r>
            <a:endParaRPr lang="en-US" dirty="0"/>
          </a:p>
          <a:p>
            <a:r>
              <a:rPr lang="en-US" b="1" dirty="0"/>
              <a:t>2. Impact-Based Analysis</a:t>
            </a:r>
          </a:p>
          <a:p>
            <a:r>
              <a:rPr lang="en-US" dirty="0"/>
              <a:t>Focuses on severity of consequences</a:t>
            </a:r>
          </a:p>
          <a:p>
            <a:r>
              <a:rPr lang="en-US" dirty="0"/>
              <a:t>📌 Example:</a:t>
            </a:r>
            <a:br>
              <a:rPr lang="en-US" dirty="0"/>
            </a:br>
            <a:r>
              <a:rPr lang="en-US" dirty="0"/>
              <a:t>Data loss has </a:t>
            </a:r>
            <a:r>
              <a:rPr lang="en-US" b="1" dirty="0"/>
              <a:t>very high impact</a:t>
            </a:r>
            <a:endParaRPr lang="en-US" dirty="0"/>
          </a:p>
          <a:p>
            <a:r>
              <a:rPr lang="en-US" b="1" dirty="0"/>
              <a:t>3. Probability–Impact Analysis</a:t>
            </a:r>
          </a:p>
          <a:p>
            <a:r>
              <a:rPr lang="en-US" dirty="0"/>
              <a:t>Most common method</a:t>
            </a:r>
          </a:p>
          <a:p>
            <a:r>
              <a:rPr lang="en-US" dirty="0"/>
              <a:t>Combines probability and impact</a:t>
            </a:r>
          </a:p>
          <a:p>
            <a:r>
              <a:rPr lang="en-US" dirty="0"/>
              <a:t>📌 Example:</a:t>
            </a:r>
            <a:br>
              <a:rPr lang="en-US" dirty="0"/>
            </a:br>
            <a:r>
              <a:rPr lang="en-US" dirty="0"/>
              <a:t>High probability + Medium impact = High risk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33854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E0A9F8-1B7A-1E6F-51CF-30B614C75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B043E6-052E-BEA0-9D4A-4A29D69DC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4600"/>
              <a:t>Types of Qualitative Risk Analysis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21F41-03B4-73F6-5351-A0A64B901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2200" b="1"/>
              <a:t>4. Risk Urgency Assessment</a:t>
            </a:r>
          </a:p>
          <a:p>
            <a:r>
              <a:rPr lang="en-US" sz="2200"/>
              <a:t>Evaluates how soon the risk may occur</a:t>
            </a:r>
          </a:p>
          <a:p>
            <a:r>
              <a:rPr lang="en-US" sz="2200"/>
              <a:t>📌 Example:</a:t>
            </a:r>
            <a:br>
              <a:rPr lang="en-US" sz="2200"/>
            </a:br>
            <a:r>
              <a:rPr lang="en-US" sz="2200"/>
              <a:t>Risk happening next week → High urgency</a:t>
            </a:r>
          </a:p>
          <a:p>
            <a:endParaRPr lang="en-US" sz="2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F91D60-08EF-7C59-BA7B-08E645EF1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2314270"/>
            <a:ext cx="5458968" cy="2229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2776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B87FA-7125-1EC3-4856-70AC65BBB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used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BBBF5-BB67-134F-0DAE-B84ABF2D0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Expert judgment</a:t>
            </a:r>
          </a:p>
          <a:p>
            <a:r>
              <a:rPr lang="en-US" dirty="0"/>
              <a:t>Brainstorming</a:t>
            </a:r>
          </a:p>
          <a:p>
            <a:r>
              <a:rPr lang="en-US" dirty="0"/>
              <a:t>Probability–Impact Matrix</a:t>
            </a:r>
          </a:p>
          <a:p>
            <a:r>
              <a:rPr lang="en-US" dirty="0"/>
              <a:t>Risk categorization</a:t>
            </a:r>
          </a:p>
          <a:p>
            <a:r>
              <a:rPr lang="en-US" dirty="0"/>
              <a:t>SWOT analysis</a:t>
            </a:r>
          </a:p>
          <a:p>
            <a:r>
              <a:rPr lang="en-US" dirty="0"/>
              <a:t>Risk data quality assessment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6736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10100-2E0C-EEE3-0B2D-45A04A11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Expert Judgment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95226-F9D3-4598-CD45-0004419BED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b="1" dirty="0"/>
              <a:t>Expert judgment</a:t>
            </a:r>
            <a:r>
              <a:rPr lang="en-US" dirty="0"/>
              <a:t> involves using the knowledge and experience of </a:t>
            </a:r>
            <a:r>
              <a:rPr lang="en-US" b="1" dirty="0"/>
              <a:t>subject matter experts (SMEs)</a:t>
            </a:r>
            <a:r>
              <a:rPr lang="en-US" dirty="0"/>
              <a:t>, such as:</a:t>
            </a:r>
          </a:p>
          <a:p>
            <a:r>
              <a:rPr lang="en-US" dirty="0"/>
              <a:t>Senior project managers</a:t>
            </a:r>
          </a:p>
          <a:p>
            <a:r>
              <a:rPr lang="en-US" dirty="0"/>
              <a:t>Technical experts</a:t>
            </a:r>
          </a:p>
          <a:p>
            <a:r>
              <a:rPr lang="en-US" dirty="0"/>
              <a:t>Industry specialists</a:t>
            </a:r>
          </a:p>
          <a:p>
            <a:r>
              <a:rPr lang="en-US" dirty="0"/>
              <a:t>Consultants</a:t>
            </a:r>
          </a:p>
          <a:p>
            <a:r>
              <a:rPr lang="en-US" dirty="0"/>
              <a:t>Experts help in:</a:t>
            </a:r>
          </a:p>
          <a:p>
            <a:r>
              <a:rPr lang="en-US" dirty="0"/>
              <a:t>Identifying risks</a:t>
            </a:r>
          </a:p>
          <a:p>
            <a:r>
              <a:rPr lang="en-US" dirty="0"/>
              <a:t>Assessing probability and impact</a:t>
            </a:r>
          </a:p>
          <a:p>
            <a:r>
              <a:rPr lang="en-US" dirty="0"/>
              <a:t>Prioritizing risks</a:t>
            </a:r>
          </a:p>
          <a:p>
            <a:r>
              <a:rPr lang="en-US" dirty="0"/>
              <a:t>Suggesting response strategies</a:t>
            </a:r>
          </a:p>
          <a:p>
            <a:r>
              <a:rPr lang="en-US" b="1" dirty="0"/>
              <a:t>Example</a:t>
            </a:r>
          </a:p>
          <a:p>
            <a:r>
              <a:rPr lang="en-US" dirty="0"/>
              <a:t>In a </a:t>
            </a:r>
            <a:r>
              <a:rPr lang="en-US" b="1" dirty="0"/>
              <a:t>software development project</a:t>
            </a:r>
            <a:r>
              <a:rPr lang="en-US" dirty="0"/>
              <a:t>, an experienced architect states:</a:t>
            </a:r>
          </a:p>
          <a:p>
            <a:r>
              <a:rPr lang="en-US" dirty="0"/>
              <a:t>“Using a new framework has a high risk of integration failure.”</a:t>
            </a:r>
          </a:p>
          <a:p>
            <a:r>
              <a:rPr lang="en-US" dirty="0"/>
              <a:t>Based on this expert input:</a:t>
            </a:r>
          </a:p>
          <a:p>
            <a:r>
              <a:rPr lang="en-US" dirty="0"/>
              <a:t>Probability → High</a:t>
            </a:r>
          </a:p>
          <a:p>
            <a:r>
              <a:rPr lang="en-US" dirty="0"/>
              <a:t>Impact → High</a:t>
            </a:r>
          </a:p>
          <a:p>
            <a:r>
              <a:rPr lang="en-US" dirty="0"/>
              <a:t>Risk Priority → Critical</a:t>
            </a:r>
          </a:p>
          <a:p>
            <a:r>
              <a:rPr lang="en-US" dirty="0"/>
              <a:t>📌 Expert judgment is especially useful when </a:t>
            </a:r>
            <a:r>
              <a:rPr lang="en-US" b="1" dirty="0"/>
              <a:t>historical data is limited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9115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177AF-7D80-E174-C42D-BF8B25763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Brainstorming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1DDFB-F11D-3D4D-F42C-20E66A56C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Brainstorming</a:t>
            </a:r>
            <a:r>
              <a:rPr lang="en-US" dirty="0"/>
              <a:t> is a group creativity technique where project team members and stakeholders:</a:t>
            </a:r>
          </a:p>
          <a:p>
            <a:r>
              <a:rPr lang="en-US" dirty="0"/>
              <a:t>Freely suggest potential risks</a:t>
            </a:r>
          </a:p>
          <a:p>
            <a:r>
              <a:rPr lang="en-US" dirty="0"/>
              <a:t>Avoid criticism during idea generation</a:t>
            </a:r>
          </a:p>
          <a:p>
            <a:r>
              <a:rPr lang="en-US" dirty="0"/>
              <a:t>Aim to identify as many risks as possible</a:t>
            </a:r>
          </a:p>
          <a:p>
            <a:r>
              <a:rPr lang="en-US" dirty="0"/>
              <a:t>It encourages </a:t>
            </a:r>
            <a:r>
              <a:rPr lang="en-US" b="1" dirty="0"/>
              <a:t>open discussion</a:t>
            </a:r>
            <a:r>
              <a:rPr lang="en-US" dirty="0"/>
              <a:t> and </a:t>
            </a:r>
            <a:r>
              <a:rPr lang="en-US" b="1" dirty="0"/>
              <a:t>collective thinking</a:t>
            </a:r>
            <a:r>
              <a:rPr lang="en-US" dirty="0"/>
              <a:t>.</a:t>
            </a:r>
          </a:p>
          <a:p>
            <a:r>
              <a:rPr lang="en-US" b="1" dirty="0"/>
              <a:t>Example</a:t>
            </a:r>
          </a:p>
          <a:p>
            <a:r>
              <a:rPr lang="en-US" dirty="0"/>
              <a:t>In a </a:t>
            </a:r>
            <a:r>
              <a:rPr lang="en-US" b="1" dirty="0"/>
              <a:t>construction project</a:t>
            </a:r>
            <a:r>
              <a:rPr lang="en-US" dirty="0"/>
              <a:t>, a brainstorming session identifies risks such as:</a:t>
            </a:r>
          </a:p>
          <a:p>
            <a:r>
              <a:rPr lang="en-US" dirty="0"/>
              <a:t>Labor strike</a:t>
            </a:r>
          </a:p>
          <a:p>
            <a:r>
              <a:rPr lang="en-US" dirty="0"/>
              <a:t>Delay in material delivery</a:t>
            </a:r>
          </a:p>
          <a:p>
            <a:r>
              <a:rPr lang="en-US" dirty="0"/>
              <a:t>Bad weather</a:t>
            </a:r>
          </a:p>
          <a:p>
            <a:r>
              <a:rPr lang="en-US" dirty="0"/>
              <a:t>Equipment breakdown</a:t>
            </a:r>
          </a:p>
          <a:p>
            <a:r>
              <a:rPr lang="en-US" dirty="0"/>
              <a:t>These risks are then documented in the </a:t>
            </a:r>
            <a:r>
              <a:rPr lang="en-US" b="1" dirty="0"/>
              <a:t>risk register</a:t>
            </a:r>
            <a:r>
              <a:rPr lang="en-US" dirty="0"/>
              <a:t>.</a:t>
            </a:r>
          </a:p>
          <a:p>
            <a:r>
              <a:rPr lang="en-US" dirty="0"/>
              <a:t>📌 Brainstorming is commonly used during the </a:t>
            </a:r>
            <a:r>
              <a:rPr lang="en-US" b="1" dirty="0"/>
              <a:t>risk identification phase</a:t>
            </a:r>
            <a:r>
              <a:rPr lang="en-US" dirty="0"/>
              <a:t>, but also supports qualitative analysis.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4169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757BB0-3A41-F7C7-9833-CBFBE4E4C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US" dirty="0"/>
              <a:t>Probability–Impact Matrix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11FD9-EA0D-A125-D0B8-8E6EE9BF65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r>
              <a:rPr lang="en-US" sz="1200"/>
              <a:t>A </a:t>
            </a:r>
            <a:r>
              <a:rPr lang="en-US" sz="1200" b="1"/>
              <a:t>Probability–Impact (P–I) Matrix</a:t>
            </a:r>
            <a:r>
              <a:rPr lang="en-US" sz="1200"/>
              <a:t> is a visual tool used to:</a:t>
            </a:r>
          </a:p>
          <a:p>
            <a:r>
              <a:rPr lang="en-US" sz="1200"/>
              <a:t>Combine probability and impact</a:t>
            </a:r>
          </a:p>
          <a:p>
            <a:r>
              <a:rPr lang="en-US" sz="1200"/>
              <a:t>Rank risks as High, Medium, or Low</a:t>
            </a:r>
          </a:p>
          <a:p>
            <a:r>
              <a:rPr lang="en-US" sz="1200"/>
              <a:t>Identify which risks need immediate action</a:t>
            </a:r>
          </a:p>
          <a:p>
            <a:r>
              <a:rPr lang="en-US" sz="1200"/>
              <a:t>Risk Score = Probability × Impact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BAF323-4E64-E927-CFA6-97EB9DEA7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426" y="2290936"/>
            <a:ext cx="9656956" cy="395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3617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32C610-A0F1-4F1C-8407-13C2CD74F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4200"/>
              <a:t>Risk Categorization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E22BE-53D0-7FD3-525C-A4C314281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1000" b="1"/>
              <a:t>Risk categorization</a:t>
            </a:r>
            <a:r>
              <a:rPr lang="en-US" sz="1000"/>
              <a:t> involves grouping risks based on their </a:t>
            </a:r>
            <a:r>
              <a:rPr lang="en-US" sz="1000" b="1"/>
              <a:t>source or nature</a:t>
            </a:r>
            <a:r>
              <a:rPr lang="en-US" sz="1000"/>
              <a:t>, making it easier to:</a:t>
            </a:r>
          </a:p>
          <a:p>
            <a:r>
              <a:rPr lang="en-US" sz="1000"/>
              <a:t>Identify common problem areas</a:t>
            </a:r>
          </a:p>
          <a:p>
            <a:r>
              <a:rPr lang="en-US" sz="1000"/>
              <a:t>Assign responsibility</a:t>
            </a:r>
          </a:p>
          <a:p>
            <a:r>
              <a:rPr lang="en-US" sz="1000"/>
              <a:t>Plan category-specific responses</a:t>
            </a:r>
          </a:p>
          <a:p>
            <a:r>
              <a:rPr lang="en-US" sz="1000"/>
              <a:t>Often organized using a </a:t>
            </a:r>
            <a:r>
              <a:rPr lang="en-US" sz="1000" b="1"/>
              <a:t>Risk Breakdown Structure (RBS)</a:t>
            </a:r>
            <a:r>
              <a:rPr lang="en-US" sz="1000"/>
              <a:t>.</a:t>
            </a:r>
          </a:p>
          <a:p>
            <a:r>
              <a:rPr lang="en-US" sz="1000" b="1"/>
              <a:t>Common Risk Categories</a:t>
            </a:r>
          </a:p>
          <a:p>
            <a:r>
              <a:rPr lang="en-US" sz="1000"/>
              <a:t>Technical</a:t>
            </a:r>
          </a:p>
          <a:p>
            <a:r>
              <a:rPr lang="en-US" sz="1000"/>
              <a:t>Schedule</a:t>
            </a:r>
          </a:p>
          <a:p>
            <a:r>
              <a:rPr lang="en-US" sz="1000"/>
              <a:t>Cost</a:t>
            </a:r>
          </a:p>
          <a:p>
            <a:r>
              <a:rPr lang="en-US" sz="1000"/>
              <a:t>Resource</a:t>
            </a:r>
          </a:p>
          <a:p>
            <a:r>
              <a:rPr lang="en-US" sz="1000"/>
              <a:t>External</a:t>
            </a:r>
          </a:p>
          <a:p>
            <a:r>
              <a:rPr lang="en-US" sz="1000"/>
              <a:t>Organizational</a:t>
            </a:r>
          </a:p>
          <a:p>
            <a:endParaRPr lang="en-US" sz="1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F2EC01-4E59-E14F-8BE7-E5BB2FA9D3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2203590"/>
            <a:ext cx="6903720" cy="2450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0874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6EF6E7-47B3-2E3E-2D11-58A3C62B4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/>
              <a:t>SWOT Analysis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EA166-78AC-F04C-3666-9C9DA0B3FF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000" b="1"/>
              <a:t>SWOT Analysis</a:t>
            </a:r>
            <a:r>
              <a:rPr lang="en-US" sz="2000"/>
              <a:t> evaluates:</a:t>
            </a:r>
          </a:p>
          <a:p>
            <a:r>
              <a:rPr lang="en-US" sz="2000" b="1"/>
              <a:t>Strengths</a:t>
            </a:r>
            <a:endParaRPr lang="en-US" sz="2000"/>
          </a:p>
          <a:p>
            <a:r>
              <a:rPr lang="en-US" sz="2000" b="1"/>
              <a:t>Weaknesses</a:t>
            </a:r>
            <a:endParaRPr lang="en-US" sz="2000"/>
          </a:p>
          <a:p>
            <a:r>
              <a:rPr lang="en-US" sz="2000" b="1"/>
              <a:t>Opportunities</a:t>
            </a:r>
            <a:endParaRPr lang="en-US" sz="2000"/>
          </a:p>
          <a:p>
            <a:r>
              <a:rPr lang="en-US" sz="2000" b="1"/>
              <a:t>Threats</a:t>
            </a:r>
            <a:endParaRPr lang="en-US" sz="2000"/>
          </a:p>
          <a:p>
            <a:r>
              <a:rPr lang="en-US" sz="2000"/>
              <a:t>It helps identify both </a:t>
            </a:r>
            <a:r>
              <a:rPr lang="en-US" sz="2000" b="1"/>
              <a:t>positive and negative risks</a:t>
            </a:r>
            <a:r>
              <a:rPr lang="en-US" sz="2000"/>
              <a:t>.</a:t>
            </a:r>
          </a:p>
          <a:p>
            <a:endParaRPr lang="en-US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7F920D-2751-A3E6-6EC2-F559FCA3C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478700"/>
            <a:ext cx="6903720" cy="39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2998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ABD3F1-3C9B-34CF-4A98-02D1A96D0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Example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6DF61D-CC54-D9CB-2D6B-959F495FA1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4296" y="1413228"/>
            <a:ext cx="7214616" cy="4004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0465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330E6-1CFC-78A4-0163-78E36421F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 Cons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51F3B-0883-A7CA-DD10-01AFE52D5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8. Advantages of Qualitative Risk Analysis</a:t>
            </a:r>
          </a:p>
          <a:p>
            <a:r>
              <a:rPr lang="en-US" dirty="0"/>
              <a:t>Simple and fast</a:t>
            </a:r>
          </a:p>
          <a:p>
            <a:r>
              <a:rPr lang="en-US" dirty="0"/>
              <a:t>Easy to understand</a:t>
            </a:r>
          </a:p>
          <a:p>
            <a:r>
              <a:rPr lang="en-US" dirty="0"/>
              <a:t>Useful when data is limited</a:t>
            </a:r>
          </a:p>
          <a:p>
            <a:r>
              <a:rPr lang="en-US" dirty="0"/>
              <a:t>Helps focus on major risks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9. Limitations of Qualitative Risk Analysis</a:t>
            </a:r>
          </a:p>
          <a:p>
            <a:r>
              <a:rPr lang="en-US" dirty="0"/>
              <a:t>Subjective</a:t>
            </a:r>
          </a:p>
          <a:p>
            <a:r>
              <a:rPr lang="en-US" dirty="0"/>
              <a:t>Depends on expert judgment</a:t>
            </a:r>
          </a:p>
          <a:p>
            <a:r>
              <a:rPr lang="en-US" dirty="0"/>
              <a:t>Not suitable for cost estimation</a:t>
            </a:r>
          </a:p>
          <a:p>
            <a:r>
              <a:rPr lang="en-US" dirty="0"/>
              <a:t>Less accurate for complex projects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2707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A0CF1-7ADD-61C8-AD02-AF0AC7C45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 quantitative Risk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6FD2B-F19F-9ABE-CC55-0619C78FB0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Quantitative Risk Analysis</a:t>
            </a:r>
            <a:r>
              <a:rPr lang="en-US" dirty="0"/>
              <a:t> is the process of </a:t>
            </a:r>
            <a:r>
              <a:rPr lang="en-US" b="1" dirty="0"/>
              <a:t>numerically analyzing</a:t>
            </a:r>
            <a:r>
              <a:rPr lang="en-US" dirty="0"/>
              <a:t> the effect of identified risks on project objectives, such as:</a:t>
            </a:r>
          </a:p>
          <a:p>
            <a:r>
              <a:rPr lang="en-US" b="1" dirty="0"/>
              <a:t>Schedule</a:t>
            </a:r>
            <a:endParaRPr lang="en-US" dirty="0"/>
          </a:p>
          <a:p>
            <a:r>
              <a:rPr lang="en-US" b="1" dirty="0"/>
              <a:t>Cost</a:t>
            </a:r>
            <a:endParaRPr lang="en-US" dirty="0"/>
          </a:p>
          <a:p>
            <a:r>
              <a:rPr lang="en-US" b="1" dirty="0"/>
              <a:t>Scope</a:t>
            </a:r>
            <a:endParaRPr lang="en-US" dirty="0"/>
          </a:p>
          <a:p>
            <a:r>
              <a:rPr lang="en-US" b="1" dirty="0"/>
              <a:t>Quality</a:t>
            </a:r>
            <a:endParaRPr lang="en-US" dirty="0"/>
          </a:p>
          <a:p>
            <a:r>
              <a:rPr lang="en-US" dirty="0"/>
              <a:t>Unlike </a:t>
            </a:r>
            <a:r>
              <a:rPr lang="en-US" b="1" dirty="0"/>
              <a:t>qualitative risk analysis</a:t>
            </a:r>
            <a:r>
              <a:rPr lang="en-US" dirty="0"/>
              <a:t>, which focuses on ranking risks as High, Medium, or Low, </a:t>
            </a:r>
            <a:r>
              <a:rPr lang="en-US" b="1" dirty="0"/>
              <a:t>quantitative analysis</a:t>
            </a:r>
            <a:r>
              <a:rPr lang="en-US" dirty="0"/>
              <a:t> uses </a:t>
            </a:r>
            <a:r>
              <a:rPr lang="en-US" b="1" dirty="0"/>
              <a:t>mathematical models and data</a:t>
            </a:r>
            <a:r>
              <a:rPr lang="en-US" dirty="0"/>
              <a:t> to </a:t>
            </a:r>
            <a:r>
              <a:rPr lang="en-US" b="1" dirty="0"/>
              <a:t>estimate</a:t>
            </a:r>
            <a:r>
              <a:rPr lang="en-US" dirty="0"/>
              <a:t> the </a:t>
            </a:r>
            <a:r>
              <a:rPr lang="en-US" b="1" dirty="0"/>
              <a:t>magnitude</a:t>
            </a:r>
            <a:r>
              <a:rPr lang="en-US" dirty="0"/>
              <a:t> and </a:t>
            </a:r>
            <a:r>
              <a:rPr lang="en-US" b="1" dirty="0"/>
              <a:t>probability</a:t>
            </a:r>
            <a:r>
              <a:rPr lang="en-US" dirty="0"/>
              <a:t> of the impact.</a:t>
            </a:r>
          </a:p>
          <a:p>
            <a:r>
              <a:rPr lang="en-US" dirty="0"/>
              <a:t>The aim is to provide a </a:t>
            </a:r>
            <a:r>
              <a:rPr lang="en-US" b="1" dirty="0"/>
              <a:t>numeric estimate</a:t>
            </a:r>
            <a:r>
              <a:rPr lang="en-US" dirty="0"/>
              <a:t> of the potential </a:t>
            </a:r>
            <a:r>
              <a:rPr lang="en-US" b="1" dirty="0"/>
              <a:t>impact</a:t>
            </a:r>
            <a:r>
              <a:rPr lang="en-US" dirty="0"/>
              <a:t> of risks, helping project managers make informed decisions regarding risk responses.</a:t>
            </a:r>
          </a:p>
          <a:p>
            <a:r>
              <a:rPr lang="en-US" b="1" dirty="0"/>
              <a:t>When to Use QRA?</a:t>
            </a:r>
          </a:p>
          <a:p>
            <a:r>
              <a:rPr lang="en-US" dirty="0"/>
              <a:t>Large, complex projects</a:t>
            </a:r>
          </a:p>
          <a:p>
            <a:r>
              <a:rPr lang="en-US" dirty="0"/>
              <a:t>When decision-makers require precise information on risk impact</a:t>
            </a:r>
          </a:p>
          <a:p>
            <a:r>
              <a:rPr lang="en-US" dirty="0"/>
              <a:t>When accurate cost and schedule predictions are crucial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04798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F2DD6-B6C6-3313-EE81-4CB01B6D7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in Quantitative Risk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BF22B-9C1E-6232-6F1E-CF3C5664AE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Step 1: Define the Risk Parameters</a:t>
            </a:r>
          </a:p>
          <a:p>
            <a:r>
              <a:rPr lang="en-US" dirty="0"/>
              <a:t>Before any quantitative analysis can begin, the following must be </a:t>
            </a:r>
            <a:r>
              <a:rPr lang="en-US" b="1" dirty="0"/>
              <a:t>clearly defined</a:t>
            </a:r>
            <a:r>
              <a:rPr lang="en-US" dirty="0"/>
              <a:t>:</a:t>
            </a:r>
          </a:p>
          <a:p>
            <a:r>
              <a:rPr lang="en-US" b="1" dirty="0"/>
              <a:t>Risk events</a:t>
            </a:r>
            <a:endParaRPr lang="en-US" dirty="0"/>
          </a:p>
          <a:p>
            <a:r>
              <a:rPr lang="en-US" b="1" dirty="0"/>
              <a:t>Impacts</a:t>
            </a:r>
            <a:endParaRPr lang="en-US" dirty="0"/>
          </a:p>
          <a:p>
            <a:r>
              <a:rPr lang="en-US" b="1" dirty="0"/>
              <a:t>Risk responses</a:t>
            </a:r>
            <a:endParaRPr lang="en-US" dirty="0"/>
          </a:p>
          <a:p>
            <a:r>
              <a:rPr lang="en-US" b="1" dirty="0"/>
              <a:t>Example</a:t>
            </a:r>
          </a:p>
          <a:p>
            <a:r>
              <a:rPr lang="en-US" dirty="0"/>
              <a:t>Risk: </a:t>
            </a:r>
            <a:r>
              <a:rPr lang="en-US" b="1" dirty="0"/>
              <a:t>Delay in hardware delivery</a:t>
            </a:r>
            <a:endParaRPr lang="en-US" dirty="0"/>
          </a:p>
          <a:p>
            <a:r>
              <a:rPr lang="en-US" b="1" dirty="0"/>
              <a:t>Probability</a:t>
            </a:r>
            <a:r>
              <a:rPr lang="en-US" dirty="0"/>
              <a:t>: 30%</a:t>
            </a:r>
          </a:p>
          <a:p>
            <a:r>
              <a:rPr lang="en-US" b="1" dirty="0"/>
              <a:t>Impact</a:t>
            </a:r>
            <a:r>
              <a:rPr lang="en-US" dirty="0"/>
              <a:t>: 2 weeks of delay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85181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04DD2-D15B-5093-D0B3-3ACF07DFD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DE523-0C8C-63B4-8307-3C95C0011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in Quantitative Risk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18A49-45FD-DDF7-1E53-D51B8A452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Step 2: Gather Data and Information</a:t>
            </a:r>
          </a:p>
          <a:p>
            <a:r>
              <a:rPr lang="en-US" dirty="0"/>
              <a:t>This involves collecting data to understand the </a:t>
            </a:r>
            <a:r>
              <a:rPr lang="en-US" b="1" dirty="0"/>
              <a:t>probabilities</a:t>
            </a:r>
            <a:r>
              <a:rPr lang="en-US" dirty="0"/>
              <a:t> and </a:t>
            </a:r>
            <a:r>
              <a:rPr lang="en-US" b="1" dirty="0"/>
              <a:t>impacts</a:t>
            </a:r>
            <a:r>
              <a:rPr lang="en-US" dirty="0"/>
              <a:t> of risks. Data sources may include:</a:t>
            </a:r>
          </a:p>
          <a:p>
            <a:r>
              <a:rPr lang="en-US" dirty="0"/>
              <a:t>Historical data</a:t>
            </a:r>
          </a:p>
          <a:p>
            <a:r>
              <a:rPr lang="en-US" dirty="0"/>
              <a:t>Expert judgment</a:t>
            </a:r>
          </a:p>
          <a:p>
            <a:r>
              <a:rPr lang="en-US" dirty="0"/>
              <a:t>Monte Carlo simulations</a:t>
            </a:r>
          </a:p>
          <a:p>
            <a:r>
              <a:rPr lang="en-US" b="1" dirty="0"/>
              <a:t>Example</a:t>
            </a:r>
          </a:p>
          <a:p>
            <a:r>
              <a:rPr lang="en-US" dirty="0"/>
              <a:t>Historical data suggests that hardware delays have occurred </a:t>
            </a:r>
            <a:r>
              <a:rPr lang="en-US" b="1" dirty="0"/>
              <a:t>25%</a:t>
            </a:r>
            <a:r>
              <a:rPr lang="en-US" dirty="0"/>
              <a:t> of the time, with an average impact of </a:t>
            </a:r>
            <a:r>
              <a:rPr lang="en-US" b="1" dirty="0"/>
              <a:t>2 weeks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9349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080C7-BEEA-CAA8-8F6B-088A0E4E2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6CA42-35B0-82A3-9E70-C43C02460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in Quantitative Risk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F3530-737A-14F4-63E5-08B89BBA8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/>
              <a:t>Step 3: Perform Quantitative Risk Modeling</a:t>
            </a:r>
          </a:p>
          <a:p>
            <a:r>
              <a:rPr lang="en-US" dirty="0"/>
              <a:t>Use mathematical models to calculate the </a:t>
            </a:r>
            <a:r>
              <a:rPr lang="en-US" b="1" dirty="0"/>
              <a:t>expected value</a:t>
            </a:r>
            <a:r>
              <a:rPr lang="en-US" dirty="0"/>
              <a:t> of each risk. Common models include:</a:t>
            </a:r>
          </a:p>
          <a:p>
            <a:r>
              <a:rPr lang="en-US" b="1" dirty="0"/>
              <a:t>Expected Monetary Value (EMV)</a:t>
            </a:r>
            <a:endParaRPr lang="en-US" dirty="0"/>
          </a:p>
          <a:p>
            <a:r>
              <a:rPr lang="en-US" b="1" dirty="0"/>
              <a:t>Monte Carlo Simulation</a:t>
            </a:r>
            <a:endParaRPr lang="en-US" dirty="0"/>
          </a:p>
          <a:p>
            <a:r>
              <a:rPr lang="en-US" b="1" dirty="0"/>
              <a:t>Decision Tree Analysis</a:t>
            </a:r>
            <a:endParaRPr lang="en-US" dirty="0"/>
          </a:p>
          <a:p>
            <a:r>
              <a:rPr lang="en-US" b="1" dirty="0"/>
              <a:t>Step 4: Analyze and Interpret Results</a:t>
            </a:r>
          </a:p>
          <a:p>
            <a:r>
              <a:rPr lang="en-US" dirty="0"/>
              <a:t>Once the modeling is complete, </a:t>
            </a:r>
            <a:r>
              <a:rPr lang="en-US" b="1" dirty="0"/>
              <a:t>interpret the results</a:t>
            </a:r>
            <a:r>
              <a:rPr lang="en-US" dirty="0"/>
              <a:t>:</a:t>
            </a:r>
          </a:p>
          <a:p>
            <a:r>
              <a:rPr lang="en-US" b="1" dirty="0"/>
              <a:t>Risk exposure</a:t>
            </a:r>
            <a:r>
              <a:rPr lang="en-US" dirty="0"/>
              <a:t>: the total value of risk</a:t>
            </a:r>
          </a:p>
          <a:p>
            <a:r>
              <a:rPr lang="en-US" b="1" dirty="0"/>
              <a:t>Range of possible outcomes</a:t>
            </a:r>
            <a:r>
              <a:rPr lang="en-US" dirty="0"/>
              <a:t>: high vs low-risk impact</a:t>
            </a:r>
          </a:p>
          <a:p>
            <a:r>
              <a:rPr lang="en-US" b="1" dirty="0"/>
              <a:t>Most likely scenario</a:t>
            </a:r>
            <a:r>
              <a:rPr lang="en-US" dirty="0"/>
              <a:t>: based on probability distributions</a:t>
            </a:r>
          </a:p>
          <a:p>
            <a:r>
              <a:rPr lang="en-US" b="1" dirty="0"/>
              <a:t>Step 5: Update Risk Register</a:t>
            </a:r>
          </a:p>
          <a:p>
            <a:r>
              <a:rPr lang="en-US" dirty="0"/>
              <a:t>After the analysis, update the </a:t>
            </a:r>
            <a:r>
              <a:rPr lang="en-US" b="1" dirty="0"/>
              <a:t>Risk Register</a:t>
            </a:r>
            <a:r>
              <a:rPr lang="en-US" dirty="0"/>
              <a:t> to:</a:t>
            </a:r>
          </a:p>
          <a:p>
            <a:r>
              <a:rPr lang="en-US" dirty="0"/>
              <a:t>Reflect </a:t>
            </a:r>
            <a:r>
              <a:rPr lang="en-US" b="1" dirty="0"/>
              <a:t>numerical risk values</a:t>
            </a:r>
            <a:endParaRPr lang="en-US" dirty="0"/>
          </a:p>
          <a:p>
            <a:r>
              <a:rPr lang="en-US" dirty="0"/>
              <a:t>Include appropriate </a:t>
            </a:r>
            <a:r>
              <a:rPr lang="en-US" b="1" dirty="0"/>
              <a:t>risk responses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478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5D217-9CBA-588B-D254-D6448A493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Quantitative Risk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59C40-7174-8AAE-50F0-F325EB9AFD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1. Expected Monetary Value (EMV)</a:t>
            </a:r>
          </a:p>
          <a:p>
            <a:r>
              <a:rPr lang="en-US" b="1" dirty="0"/>
              <a:t>EMV</a:t>
            </a:r>
            <a:r>
              <a:rPr lang="en-US" dirty="0"/>
              <a:t> is used to calculate the </a:t>
            </a:r>
            <a:r>
              <a:rPr lang="en-US" b="1" dirty="0"/>
              <a:t>average outcome</a:t>
            </a:r>
            <a:r>
              <a:rPr lang="en-US" dirty="0"/>
              <a:t> of a risk event by multiplying its probability by its potential impact.</a:t>
            </a:r>
          </a:p>
          <a:p>
            <a:r>
              <a:rPr lang="en-US" b="1" dirty="0"/>
              <a:t>Formula:</a:t>
            </a:r>
          </a:p>
          <a:p>
            <a:r>
              <a:rPr lang="en-US" dirty="0"/>
              <a:t>EMV = Probability × Impact</a:t>
            </a:r>
          </a:p>
          <a:p>
            <a:r>
              <a:rPr lang="en-US" b="1" dirty="0"/>
              <a:t>Example</a:t>
            </a:r>
          </a:p>
          <a:p>
            <a:r>
              <a:rPr lang="en-US" dirty="0"/>
              <a:t>Risk: </a:t>
            </a:r>
            <a:r>
              <a:rPr lang="en-US" b="1" dirty="0"/>
              <a:t>Vendor delay</a:t>
            </a:r>
            <a:endParaRPr lang="en-US" dirty="0"/>
          </a:p>
          <a:p>
            <a:r>
              <a:rPr lang="en-US" dirty="0"/>
              <a:t>Probability: 20% (0.2)</a:t>
            </a:r>
          </a:p>
          <a:p>
            <a:r>
              <a:rPr lang="en-US" dirty="0"/>
              <a:t>Impact: $50,000</a:t>
            </a:r>
          </a:p>
          <a:p>
            <a:r>
              <a:rPr lang="en-US" dirty="0"/>
              <a:t>EMV = 0.2 × 50,000 = $10,000</a:t>
            </a:r>
          </a:p>
          <a:p>
            <a:r>
              <a:rPr lang="en-US" b="1" dirty="0"/>
              <a:t>Interpretation</a:t>
            </a:r>
            <a:r>
              <a:rPr lang="en-US" dirty="0"/>
              <a:t>: The expected cost of the vendor delay is </a:t>
            </a:r>
            <a:r>
              <a:rPr lang="en-US" b="1" dirty="0"/>
              <a:t>$10,000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50049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33632-21CB-14B1-36A5-B956CD04E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9DF7C-878C-EFA1-488E-4136C6349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Quantitative Risk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16EF1-596B-934F-942C-058179FF9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2. Monte Carlo Simulation</a:t>
            </a:r>
          </a:p>
          <a:p>
            <a:r>
              <a:rPr lang="en-US" b="1" dirty="0"/>
              <a:t>Monte Carlo Simulation</a:t>
            </a:r>
            <a:r>
              <a:rPr lang="en-US" dirty="0"/>
              <a:t> is a </a:t>
            </a:r>
            <a:r>
              <a:rPr lang="en-US" b="1" dirty="0"/>
              <a:t>probabilistic model</a:t>
            </a:r>
            <a:r>
              <a:rPr lang="en-US" dirty="0"/>
              <a:t> that uses random sampling to simulate a wide range of possible outcomes, based on the probability distributions of input variables. This results in a </a:t>
            </a:r>
            <a:r>
              <a:rPr lang="en-US" b="1" dirty="0"/>
              <a:t>range of possible outcomes</a:t>
            </a:r>
            <a:r>
              <a:rPr lang="en-US" dirty="0"/>
              <a:t> with associated probabilities.</a:t>
            </a:r>
          </a:p>
          <a:p>
            <a:r>
              <a:rPr lang="en-US" b="1" dirty="0"/>
              <a:t>How it works:</a:t>
            </a:r>
          </a:p>
          <a:p>
            <a:r>
              <a:rPr lang="en-US" dirty="0"/>
              <a:t>Define the input variables (risks).</a:t>
            </a:r>
          </a:p>
          <a:p>
            <a:r>
              <a:rPr lang="en-US" dirty="0"/>
              <a:t>Define their probability distributions.</a:t>
            </a:r>
          </a:p>
          <a:p>
            <a:r>
              <a:rPr lang="en-US" dirty="0"/>
              <a:t>Run multiple simulations to generate a range of outcomes.</a:t>
            </a:r>
          </a:p>
          <a:p>
            <a:r>
              <a:rPr lang="en-US" b="1" dirty="0"/>
              <a:t>Example</a:t>
            </a:r>
          </a:p>
          <a:p>
            <a:r>
              <a:rPr lang="en-US" dirty="0"/>
              <a:t>For a </a:t>
            </a:r>
            <a:r>
              <a:rPr lang="en-US" b="1" dirty="0"/>
              <a:t>construction project</a:t>
            </a:r>
            <a:r>
              <a:rPr lang="en-US" dirty="0"/>
              <a:t>, the project manager might simulate the completion time with uncertainties in resource availability, weather, and labor efficiency. After running 10,000 simulations, they find the probability distribution of completion times.</a:t>
            </a:r>
          </a:p>
          <a:p>
            <a:r>
              <a:rPr lang="en-US" dirty="0"/>
              <a:t>📌 </a:t>
            </a:r>
            <a:r>
              <a:rPr lang="en-US" i="1" dirty="0"/>
              <a:t>Result</a:t>
            </a:r>
            <a:r>
              <a:rPr lang="en-US" dirty="0"/>
              <a:t>: There is a </a:t>
            </a:r>
            <a:r>
              <a:rPr lang="en-US" b="1" dirty="0"/>
              <a:t>70% chance</a:t>
            </a:r>
            <a:r>
              <a:rPr lang="en-US" dirty="0"/>
              <a:t> the project will finish in </a:t>
            </a:r>
            <a:r>
              <a:rPr lang="en-US" b="1" dirty="0"/>
              <a:t>12–14 months</a:t>
            </a:r>
            <a:r>
              <a:rPr lang="en-US" dirty="0"/>
              <a:t> and a </a:t>
            </a:r>
            <a:r>
              <a:rPr lang="en-US" b="1" dirty="0"/>
              <a:t>30% chance</a:t>
            </a:r>
            <a:r>
              <a:rPr lang="en-US" dirty="0"/>
              <a:t> it will take </a:t>
            </a:r>
            <a:r>
              <a:rPr lang="en-US" b="1" dirty="0"/>
              <a:t>15–18 months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3834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5D8EA-3B1B-BD4D-AB6D-56EF2B0ED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092E-872A-8E9C-8CD2-D8D542234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Quantitative Risk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707EF-69CE-9BB6-DA62-3D7361167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Decision Tree Analysis</a:t>
            </a:r>
            <a:r>
              <a:rPr lang="en-US" dirty="0"/>
              <a:t> is a graphical tool used to evaluate decisions under uncertainty. It helps in:</a:t>
            </a:r>
          </a:p>
          <a:p>
            <a:r>
              <a:rPr lang="en-US" dirty="0"/>
              <a:t>Evaluating different decision paths</a:t>
            </a:r>
          </a:p>
          <a:p>
            <a:r>
              <a:rPr lang="en-US" dirty="0"/>
              <a:t>Analyzing risks based on different choices</a:t>
            </a:r>
          </a:p>
          <a:p>
            <a:r>
              <a:rPr lang="en-US" b="1" dirty="0"/>
              <a:t>Steps:</a:t>
            </a:r>
          </a:p>
          <a:p>
            <a:r>
              <a:rPr lang="en-US" b="1" dirty="0"/>
              <a:t>Draw decision tree nodes</a:t>
            </a:r>
            <a:r>
              <a:rPr lang="en-US" dirty="0"/>
              <a:t>: Decision points and possible outcomes.</a:t>
            </a:r>
          </a:p>
          <a:p>
            <a:r>
              <a:rPr lang="en-US" b="1" dirty="0"/>
              <a:t>Calculate expected values</a:t>
            </a:r>
            <a:r>
              <a:rPr lang="en-US" dirty="0"/>
              <a:t> for each branch.</a:t>
            </a:r>
          </a:p>
          <a:p>
            <a:r>
              <a:rPr lang="en-US" b="1" dirty="0"/>
              <a:t>Example:</a:t>
            </a:r>
          </a:p>
          <a:p>
            <a:r>
              <a:rPr lang="en-US" dirty="0"/>
              <a:t>A project faces the decision of </a:t>
            </a:r>
            <a:r>
              <a:rPr lang="en-US" b="1" dirty="0"/>
              <a:t>using a new supplier</a:t>
            </a:r>
            <a:r>
              <a:rPr lang="en-US" dirty="0"/>
              <a:t>.</a:t>
            </a:r>
          </a:p>
          <a:p>
            <a:r>
              <a:rPr lang="en-US" b="1" dirty="0"/>
              <a:t>Option A (new supplier)</a:t>
            </a:r>
            <a:r>
              <a:rPr lang="en-US" dirty="0"/>
              <a:t>: 80% chance of timely delivery (impact: $100,000), 20% chance of delay (impact: $200,000).</a:t>
            </a:r>
          </a:p>
          <a:p>
            <a:r>
              <a:rPr lang="en-US" b="1" dirty="0"/>
              <a:t>Option B (current supplier)</a:t>
            </a:r>
            <a:r>
              <a:rPr lang="en-US" dirty="0"/>
              <a:t>: Guaranteed timely delivery (impact: $0).</a:t>
            </a:r>
          </a:p>
          <a:p>
            <a:r>
              <a:rPr lang="en-US" dirty="0"/>
              <a:t>The decision tree for </a:t>
            </a:r>
            <a:r>
              <a:rPr lang="en-US" b="1" dirty="0"/>
              <a:t>Option A</a:t>
            </a:r>
            <a:r>
              <a:rPr lang="en-US" dirty="0"/>
              <a:t> is: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6002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268F5-8530-2C01-9739-99F86EA4B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4270D-0A64-84AA-73A0-0FD420F91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Types of Quantitative Risk Analysis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56CD914-B9A9-8E4B-31D1-5F83FC4CB7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4296" y="2224873"/>
            <a:ext cx="7214616" cy="2380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2632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F3A9D-B7D7-DD2B-D2EF-BB632D8C1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Advantages of Quantitative Risk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A8869-8CD1-87F7-B88E-1ABA01B99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6. Key Advantages of Quantitative Risk Analysis</a:t>
            </a:r>
          </a:p>
          <a:p>
            <a:r>
              <a:rPr lang="en-US" dirty="0"/>
              <a:t>Provides </a:t>
            </a:r>
            <a:r>
              <a:rPr lang="en-US" b="1" dirty="0"/>
              <a:t>numerical estimates</a:t>
            </a:r>
            <a:r>
              <a:rPr lang="en-US" dirty="0"/>
              <a:t> of risk impact</a:t>
            </a:r>
          </a:p>
          <a:p>
            <a:r>
              <a:rPr lang="en-US" dirty="0"/>
              <a:t>Helps prioritize risks based on </a:t>
            </a:r>
            <a:r>
              <a:rPr lang="en-US" b="1" dirty="0"/>
              <a:t>financial</a:t>
            </a:r>
            <a:r>
              <a:rPr lang="en-US" dirty="0"/>
              <a:t> and </a:t>
            </a:r>
            <a:r>
              <a:rPr lang="en-US" b="1" dirty="0"/>
              <a:t>schedule</a:t>
            </a:r>
            <a:r>
              <a:rPr lang="en-US" dirty="0"/>
              <a:t> outcomes</a:t>
            </a:r>
          </a:p>
          <a:p>
            <a:r>
              <a:rPr lang="en-US" dirty="0"/>
              <a:t>Facilitates </a:t>
            </a:r>
            <a:r>
              <a:rPr lang="en-US" b="1" dirty="0"/>
              <a:t>better decision-making</a:t>
            </a:r>
            <a:r>
              <a:rPr lang="en-US" dirty="0"/>
              <a:t> by providing clear projections</a:t>
            </a:r>
          </a:p>
          <a:p>
            <a:r>
              <a:rPr lang="en-US" dirty="0"/>
              <a:t>Supports </a:t>
            </a:r>
            <a:r>
              <a:rPr lang="en-US" b="1" dirty="0"/>
              <a:t>cost-benefit analysis</a:t>
            </a:r>
            <a:r>
              <a:rPr lang="en-US" dirty="0"/>
              <a:t> and </a:t>
            </a:r>
            <a:r>
              <a:rPr lang="en-US" b="1" dirty="0"/>
              <a:t>optimal risk responses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7284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87E3E-EF26-B90D-CEE0-DC7C83FB7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Quantitative Risk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BD54D-F128-EAA7-C492-0619CAB28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7. Limitations of Quantitative Risk Analysis</a:t>
            </a:r>
          </a:p>
          <a:p>
            <a:r>
              <a:rPr lang="en-US" b="1" dirty="0"/>
              <a:t>Requires good data</a:t>
            </a:r>
            <a:r>
              <a:rPr lang="en-US" dirty="0"/>
              <a:t>: Accurate risk models depend on </a:t>
            </a:r>
            <a:r>
              <a:rPr lang="en-US" b="1" dirty="0"/>
              <a:t>reliable historical data</a:t>
            </a:r>
            <a:r>
              <a:rPr lang="en-US" dirty="0"/>
              <a:t>.</a:t>
            </a:r>
          </a:p>
          <a:p>
            <a:r>
              <a:rPr lang="en-US" b="1" dirty="0"/>
              <a:t>Time-consuming</a:t>
            </a:r>
            <a:r>
              <a:rPr lang="en-US" dirty="0"/>
              <a:t>: Requires significant effort to gather data and perform modeling.</a:t>
            </a:r>
          </a:p>
          <a:p>
            <a:r>
              <a:rPr lang="en-US" b="1" dirty="0"/>
              <a:t>Complexity</a:t>
            </a:r>
            <a:r>
              <a:rPr lang="en-US" dirty="0"/>
              <a:t>: Advanced models (e.g., Monte Carlo) require specialized tools and knowledge.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67784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3341E-6634-C81C-2AC2-F9A8C70C8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4BA29-202D-740C-6B73-E9E7D389F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. Overview</a:t>
            </a:r>
          </a:p>
          <a:p>
            <a:r>
              <a:rPr lang="en-US" b="1" dirty="0"/>
              <a:t>Qualitative Risk Analysis</a:t>
            </a:r>
          </a:p>
          <a:p>
            <a:r>
              <a:rPr lang="en-US" b="1" dirty="0"/>
              <a:t>Definition</a:t>
            </a:r>
            <a:r>
              <a:rPr lang="en-US" dirty="0"/>
              <a:t>: The process of assessing the impact and probability of risks using </a:t>
            </a:r>
            <a:r>
              <a:rPr lang="en-US" b="1" dirty="0"/>
              <a:t>non-numeric</a:t>
            </a:r>
            <a:r>
              <a:rPr lang="en-US" dirty="0"/>
              <a:t> methods, often through expert judgment, brainstorming, and prioritization.</a:t>
            </a:r>
          </a:p>
          <a:p>
            <a:r>
              <a:rPr lang="en-US" b="1" dirty="0"/>
              <a:t>Focus</a:t>
            </a:r>
            <a:r>
              <a:rPr lang="en-US" dirty="0"/>
              <a:t>: </a:t>
            </a:r>
            <a:r>
              <a:rPr lang="en-US" b="1" dirty="0"/>
              <a:t>Relative ranking</a:t>
            </a:r>
            <a:r>
              <a:rPr lang="en-US" dirty="0"/>
              <a:t> of risks (High, Medium, Low) based on their likelihood and impact.</a:t>
            </a:r>
          </a:p>
          <a:p>
            <a:r>
              <a:rPr lang="en-US" b="1" dirty="0"/>
              <a:t>Output</a:t>
            </a:r>
            <a:r>
              <a:rPr lang="en-US" dirty="0"/>
              <a:t>: </a:t>
            </a:r>
            <a:r>
              <a:rPr lang="en-US" b="1" dirty="0"/>
              <a:t>Risk Register</a:t>
            </a:r>
            <a:r>
              <a:rPr lang="en-US" dirty="0"/>
              <a:t> with risk ratings (e.g., high, medium, low).</a:t>
            </a:r>
          </a:p>
          <a:p>
            <a:r>
              <a:rPr lang="en-US" b="1" dirty="0"/>
              <a:t>When Used</a:t>
            </a:r>
            <a:r>
              <a:rPr lang="en-US" dirty="0"/>
              <a:t>: Early in the project when data is limited or time is constrained, or when precise data is unavailable.</a:t>
            </a:r>
          </a:p>
          <a:p>
            <a:r>
              <a:rPr lang="en-US" b="1" dirty="0"/>
              <a:t>Quantitative Risk Analysis</a:t>
            </a:r>
          </a:p>
          <a:p>
            <a:r>
              <a:rPr lang="en-US" b="1" dirty="0"/>
              <a:t>Definition</a:t>
            </a:r>
            <a:r>
              <a:rPr lang="en-US" dirty="0"/>
              <a:t>: The process of assessing risks using </a:t>
            </a:r>
            <a:r>
              <a:rPr lang="en-US" b="1" dirty="0"/>
              <a:t>numeric models</a:t>
            </a:r>
            <a:r>
              <a:rPr lang="en-US" dirty="0"/>
              <a:t> and statistical methods to determine the </a:t>
            </a:r>
            <a:r>
              <a:rPr lang="en-US" b="1" dirty="0"/>
              <a:t>magnitude and probability</a:t>
            </a:r>
            <a:r>
              <a:rPr lang="en-US" dirty="0"/>
              <a:t> of their impact on project objectives.</a:t>
            </a:r>
          </a:p>
          <a:p>
            <a:r>
              <a:rPr lang="en-US" b="1" dirty="0"/>
              <a:t>Focus</a:t>
            </a:r>
            <a:r>
              <a:rPr lang="en-US" dirty="0"/>
              <a:t>: Numerical analysis of risk impact on </a:t>
            </a:r>
            <a:r>
              <a:rPr lang="en-US" b="1" dirty="0"/>
              <a:t>schedule</a:t>
            </a:r>
            <a:r>
              <a:rPr lang="en-US" dirty="0"/>
              <a:t>, </a:t>
            </a:r>
            <a:r>
              <a:rPr lang="en-US" b="1" dirty="0"/>
              <a:t>cost</a:t>
            </a:r>
            <a:r>
              <a:rPr lang="en-US" dirty="0"/>
              <a:t>, and </a:t>
            </a:r>
            <a:r>
              <a:rPr lang="en-US" b="1" dirty="0"/>
              <a:t>other project objectives</a:t>
            </a:r>
            <a:r>
              <a:rPr lang="en-US" dirty="0"/>
              <a:t>.</a:t>
            </a:r>
          </a:p>
          <a:p>
            <a:r>
              <a:rPr lang="en-US" b="1" dirty="0"/>
              <a:t>Output</a:t>
            </a:r>
            <a:r>
              <a:rPr lang="en-US" dirty="0"/>
              <a:t>: </a:t>
            </a:r>
            <a:r>
              <a:rPr lang="en-US" b="1" dirty="0"/>
              <a:t>Quantified risk values</a:t>
            </a:r>
            <a:r>
              <a:rPr lang="en-US" dirty="0"/>
              <a:t> (e.g., expected monetary value, Monte Carlo simulations).</a:t>
            </a:r>
          </a:p>
          <a:p>
            <a:r>
              <a:rPr lang="en-US" b="1" dirty="0"/>
              <a:t>When Used</a:t>
            </a:r>
            <a:r>
              <a:rPr lang="en-US" dirty="0"/>
              <a:t>: For large, complex, or high-stakes projects where precise data and detailed analysis are crucial.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6714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BE307E-FE45-FB51-E792-650476A05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Difference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7AD252-7236-CE36-AFCC-5D875557E7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4296" y="1169735"/>
            <a:ext cx="7214616" cy="4491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2376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D1924-968D-9513-5C92-C81257C7D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FF858-BAB3-2764-31EE-4C4E8D07B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Scenario: Software Development Project</a:t>
            </a:r>
          </a:p>
          <a:p>
            <a:r>
              <a:rPr lang="en-US" b="1" dirty="0"/>
              <a:t>Risk</a:t>
            </a:r>
            <a:r>
              <a:rPr lang="en-US" dirty="0"/>
              <a:t>: </a:t>
            </a:r>
            <a:r>
              <a:rPr lang="en-US" b="1" dirty="0"/>
              <a:t>Delay in delivery of key software components</a:t>
            </a:r>
            <a:endParaRPr lang="en-US" dirty="0"/>
          </a:p>
          <a:p>
            <a:r>
              <a:rPr lang="en-US" b="1" dirty="0"/>
              <a:t>Qualitative Risk Analysis Example</a:t>
            </a:r>
          </a:p>
          <a:p>
            <a:r>
              <a:rPr lang="en-US" b="1" dirty="0"/>
              <a:t>Probability</a:t>
            </a:r>
            <a:r>
              <a:rPr lang="en-US" dirty="0"/>
              <a:t>: 40% chance of delay</a:t>
            </a:r>
          </a:p>
          <a:p>
            <a:r>
              <a:rPr lang="en-US" b="1" dirty="0"/>
              <a:t>Impact</a:t>
            </a:r>
            <a:r>
              <a:rPr lang="en-US" dirty="0"/>
              <a:t>: Delay in project delivery by 2 weeks, costing $20,000</a:t>
            </a:r>
          </a:p>
          <a:p>
            <a:r>
              <a:rPr lang="en-US" dirty="0"/>
              <a:t>After applying </a:t>
            </a:r>
            <a:r>
              <a:rPr lang="en-US" b="1" dirty="0"/>
              <a:t>Probability-Impact Matrix</a:t>
            </a:r>
            <a:r>
              <a:rPr lang="en-US" dirty="0"/>
              <a:t>, this risk is assessed as </a:t>
            </a:r>
            <a:r>
              <a:rPr lang="en-US" b="1" dirty="0"/>
              <a:t>High</a:t>
            </a:r>
            <a:r>
              <a:rPr lang="en-US" dirty="0"/>
              <a:t>.</a:t>
            </a:r>
          </a:p>
          <a:p>
            <a:r>
              <a:rPr lang="en-US" b="1" dirty="0"/>
              <a:t>Risk Rating</a:t>
            </a:r>
            <a:r>
              <a:rPr lang="en-US" dirty="0"/>
              <a:t>: </a:t>
            </a:r>
            <a:r>
              <a:rPr lang="en-US" b="1" dirty="0"/>
              <a:t>High Priority</a:t>
            </a:r>
            <a:r>
              <a:rPr lang="en-US" dirty="0"/>
              <a:t> (Needs immediate attention)</a:t>
            </a:r>
          </a:p>
          <a:p>
            <a:r>
              <a:rPr lang="en-US" b="1" dirty="0"/>
              <a:t>Output:</a:t>
            </a:r>
          </a:p>
          <a:p>
            <a:r>
              <a:rPr lang="en-US" dirty="0"/>
              <a:t>Risk Register would note:</a:t>
            </a:r>
            <a:br>
              <a:rPr lang="en-US" dirty="0"/>
            </a:br>
            <a:r>
              <a:rPr lang="en-US" b="1" dirty="0"/>
              <a:t>Risk</a:t>
            </a:r>
            <a:r>
              <a:rPr lang="en-US" dirty="0"/>
              <a:t>: Delay in key component delivery</a:t>
            </a:r>
            <a:br>
              <a:rPr lang="en-US" dirty="0"/>
            </a:br>
            <a:r>
              <a:rPr lang="en-US" b="1" dirty="0"/>
              <a:t>Probability</a:t>
            </a:r>
            <a:r>
              <a:rPr lang="en-US" dirty="0"/>
              <a:t>: 40%</a:t>
            </a:r>
            <a:br>
              <a:rPr lang="en-US" dirty="0"/>
            </a:br>
            <a:r>
              <a:rPr lang="en-US" b="1" dirty="0"/>
              <a:t>Impact</a:t>
            </a:r>
            <a:r>
              <a:rPr lang="en-US" dirty="0"/>
              <a:t>: 2 weeks delay, $20,000 cost</a:t>
            </a:r>
            <a:br>
              <a:rPr lang="en-US" dirty="0"/>
            </a:br>
            <a:r>
              <a:rPr lang="en-US" b="1" dirty="0"/>
              <a:t>Priority</a:t>
            </a:r>
            <a:r>
              <a:rPr lang="en-US" dirty="0"/>
              <a:t>: High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1468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33B8B-4D7E-D9CA-9B69-59812DF4D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C5A30-18EC-A5F0-E3A4-E0013A733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8DC59-0B6B-5B95-E610-57D2DF45B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Quantitative Risk Analysis Example</a:t>
            </a:r>
          </a:p>
          <a:p>
            <a:r>
              <a:rPr lang="en-US" b="1" dirty="0"/>
              <a:t>Expected Monetary Value (EMV)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Probability</a:t>
            </a:r>
            <a:r>
              <a:rPr lang="en-US" dirty="0"/>
              <a:t>: 40% (0.4)</a:t>
            </a:r>
          </a:p>
          <a:p>
            <a:pPr lvl="1"/>
            <a:r>
              <a:rPr lang="en-US" b="1" dirty="0"/>
              <a:t>Impact (Cost)</a:t>
            </a:r>
            <a:r>
              <a:rPr lang="en-US" dirty="0"/>
              <a:t>: $20,000</a:t>
            </a:r>
          </a:p>
          <a:p>
            <a:r>
              <a:rPr lang="en-US" dirty="0"/>
              <a:t>EMV = Probability × Impact = 0.4 × 20,000 = $8,000</a:t>
            </a:r>
          </a:p>
          <a:p>
            <a:r>
              <a:rPr lang="en-US" b="1" dirty="0"/>
              <a:t>Monte Carlo Simulation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The project manager runs a </a:t>
            </a:r>
            <a:r>
              <a:rPr lang="en-US" b="1" dirty="0"/>
              <a:t>Monte Carlo simulation</a:t>
            </a:r>
            <a:r>
              <a:rPr lang="en-US" dirty="0"/>
              <a:t> to model the effect of potential delays from multiple risks (e.g., key components, resource issues, testing delays) on the </a:t>
            </a:r>
            <a:r>
              <a:rPr lang="en-US" b="1" dirty="0"/>
              <a:t>project's total cost</a:t>
            </a:r>
            <a:r>
              <a:rPr lang="en-US" dirty="0"/>
              <a:t>.</a:t>
            </a:r>
          </a:p>
          <a:p>
            <a:r>
              <a:rPr lang="en-US" dirty="0"/>
              <a:t>After running 10,000 simulations, the model predicts a </a:t>
            </a:r>
            <a:r>
              <a:rPr lang="en-US" b="1" dirty="0"/>
              <a:t>90% probability</a:t>
            </a:r>
            <a:r>
              <a:rPr lang="en-US" dirty="0"/>
              <a:t> that the project will exceed the budget by </a:t>
            </a:r>
            <a:r>
              <a:rPr lang="en-US" b="1" dirty="0"/>
              <a:t>$15,000</a:t>
            </a:r>
            <a:r>
              <a:rPr lang="en-US" dirty="0"/>
              <a:t>.</a:t>
            </a:r>
          </a:p>
          <a:p>
            <a:r>
              <a:rPr lang="en-US" b="1" dirty="0"/>
              <a:t>Output:</a:t>
            </a:r>
          </a:p>
          <a:p>
            <a:r>
              <a:rPr lang="en-US" dirty="0"/>
              <a:t>The </a:t>
            </a:r>
            <a:r>
              <a:rPr lang="en-US" b="1" dirty="0"/>
              <a:t>EMV</a:t>
            </a:r>
            <a:r>
              <a:rPr lang="en-US" dirty="0"/>
              <a:t> for this risk (delay) is </a:t>
            </a:r>
            <a:r>
              <a:rPr lang="en-US" b="1" dirty="0"/>
              <a:t>$8,000</a:t>
            </a:r>
            <a:r>
              <a:rPr lang="en-US" dirty="0"/>
              <a:t>.</a:t>
            </a:r>
          </a:p>
          <a:p>
            <a:r>
              <a:rPr lang="en-US"/>
              <a:t>Monte Carlo simulation predicts </a:t>
            </a:r>
            <a:r>
              <a:rPr lang="en-US" b="1"/>
              <a:t>$15,000</a:t>
            </a:r>
            <a:r>
              <a:rPr lang="en-US"/>
              <a:t> additional cost due to risks.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39065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BF6C9-256C-6CF1-2D2A-7E3E9429A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 Quantitative Risk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5872D-C472-5E65-E6B3-54AC1C9A0F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The process of </a:t>
            </a:r>
            <a:r>
              <a:rPr lang="en-US" b="1" dirty="0"/>
              <a:t>numerically analyzing</a:t>
            </a:r>
            <a:r>
              <a:rPr lang="en-US" dirty="0"/>
              <a:t> the effect of identified risks on project objectives.</a:t>
            </a:r>
          </a:p>
          <a:p>
            <a:r>
              <a:rPr lang="en-US" b="1" dirty="0"/>
              <a:t>Used When</a:t>
            </a:r>
          </a:p>
          <a:p>
            <a:pPr lvl="1"/>
            <a:r>
              <a:rPr lang="en-US" dirty="0"/>
              <a:t>Large, complex, high-risk projects</a:t>
            </a:r>
          </a:p>
          <a:p>
            <a:pPr lvl="1"/>
            <a:r>
              <a:rPr lang="en-US" dirty="0"/>
              <a:t>Budget and schedule accuracy is critical</a:t>
            </a:r>
          </a:p>
          <a:p>
            <a:r>
              <a:rPr lang="en-US" b="1" dirty="0"/>
              <a:t>Techniques</a:t>
            </a:r>
          </a:p>
          <a:p>
            <a:pPr lvl="1"/>
            <a:r>
              <a:rPr lang="en-US" dirty="0"/>
              <a:t>Monte Carlo Simulation</a:t>
            </a:r>
          </a:p>
          <a:p>
            <a:pPr lvl="1"/>
            <a:r>
              <a:rPr lang="en-US" dirty="0"/>
              <a:t>Decision Tree Analysis</a:t>
            </a:r>
          </a:p>
          <a:p>
            <a:pPr lvl="1"/>
            <a:r>
              <a:rPr lang="en-US" dirty="0"/>
              <a:t>Expected Monetary Value (EMV)</a:t>
            </a:r>
          </a:p>
          <a:p>
            <a:pPr lvl="1"/>
            <a:r>
              <a:rPr lang="en-US" dirty="0"/>
              <a:t>Sensitivity Analysis</a:t>
            </a:r>
          </a:p>
          <a:p>
            <a:r>
              <a:rPr lang="en-US" b="1" dirty="0"/>
              <a:t>EMV Example</a:t>
            </a:r>
          </a:p>
          <a:p>
            <a:pPr lvl="1"/>
            <a:r>
              <a:rPr lang="en-US" dirty="0"/>
              <a:t>Risk: Server crash</a:t>
            </a:r>
          </a:p>
          <a:p>
            <a:pPr lvl="1"/>
            <a:r>
              <a:rPr lang="en-US" dirty="0"/>
              <a:t>Probability = 20%</a:t>
            </a:r>
          </a:p>
          <a:p>
            <a:pPr lvl="1"/>
            <a:r>
              <a:rPr lang="en-US" dirty="0"/>
              <a:t>Cost impact = ₹1,00,000</a:t>
            </a:r>
          </a:p>
          <a:p>
            <a:pPr lvl="1"/>
            <a:r>
              <a:rPr lang="en-US" dirty="0"/>
              <a:t>EMV = 0.2 × 1,00,000 = ₹20,000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5393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51215-7534-0D77-4A56-ECFAB649A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Risk Responses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1554A-0864-C3C5-3340-F6FB1231EA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The process of </a:t>
            </a:r>
            <a:r>
              <a:rPr lang="en-US" b="1" dirty="0"/>
              <a:t>developing options and actions</a:t>
            </a:r>
            <a:r>
              <a:rPr lang="en-US" dirty="0"/>
              <a:t> to address risks.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Strategies for Negative Risks (Threats)</a:t>
            </a:r>
          </a:p>
          <a:p>
            <a:r>
              <a:rPr lang="en-US" b="1" dirty="0"/>
              <a:t>Avoid</a:t>
            </a:r>
            <a:endParaRPr lang="en-US" dirty="0"/>
          </a:p>
          <a:p>
            <a:pPr lvl="1"/>
            <a:r>
              <a:rPr lang="en-US" dirty="0"/>
              <a:t>Eliminate the risk</a:t>
            </a:r>
          </a:p>
          <a:p>
            <a:pPr lvl="1"/>
            <a:r>
              <a:rPr lang="en-US" dirty="0"/>
              <a:t>Example: Use proven technology instead of new one</a:t>
            </a:r>
          </a:p>
          <a:p>
            <a:r>
              <a:rPr lang="en-US" b="1" dirty="0"/>
              <a:t>Mitigate</a:t>
            </a:r>
            <a:endParaRPr lang="en-US" dirty="0"/>
          </a:p>
          <a:p>
            <a:pPr lvl="1"/>
            <a:r>
              <a:rPr lang="en-US" dirty="0"/>
              <a:t>Reduce probability or impact</a:t>
            </a:r>
          </a:p>
          <a:p>
            <a:pPr lvl="1"/>
            <a:r>
              <a:rPr lang="en-US" dirty="0"/>
              <a:t>Example: Add extra testing to reduce defects</a:t>
            </a:r>
          </a:p>
          <a:p>
            <a:r>
              <a:rPr lang="en-US" b="1" dirty="0"/>
              <a:t>Transfer</a:t>
            </a:r>
            <a:endParaRPr lang="en-US" dirty="0"/>
          </a:p>
          <a:p>
            <a:pPr lvl="1"/>
            <a:r>
              <a:rPr lang="en-US" dirty="0"/>
              <a:t>Shift risk to third party</a:t>
            </a:r>
          </a:p>
          <a:p>
            <a:pPr lvl="1"/>
            <a:r>
              <a:rPr lang="en-US" dirty="0"/>
              <a:t>Example: Insurance, outsourcing</a:t>
            </a:r>
          </a:p>
          <a:p>
            <a:r>
              <a:rPr lang="en-US" b="1" dirty="0"/>
              <a:t>Accept</a:t>
            </a:r>
            <a:endParaRPr lang="en-US" dirty="0"/>
          </a:p>
          <a:p>
            <a:pPr lvl="1"/>
            <a:r>
              <a:rPr lang="en-US" dirty="0"/>
              <a:t>Take no action</a:t>
            </a:r>
          </a:p>
          <a:p>
            <a:pPr lvl="1"/>
            <a:r>
              <a:rPr lang="en-US" dirty="0"/>
              <a:t>Example: Small delay risk accepted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27082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3D6D0-C6F3-9BAB-0064-3A7B447D9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65BAC-71AF-965D-58D8-7789EFE7E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Risk Responses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1EC99-0CAB-D369-0CC9-20D69D406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Strategies for Positive Risks (Opportunities)</a:t>
            </a:r>
          </a:p>
          <a:p>
            <a:r>
              <a:rPr lang="en-US" b="1" dirty="0"/>
              <a:t>Exploit</a:t>
            </a:r>
            <a:endParaRPr lang="en-US" dirty="0"/>
          </a:p>
          <a:p>
            <a:pPr lvl="1"/>
            <a:r>
              <a:rPr lang="en-US" dirty="0"/>
              <a:t>Ensure opportunity happens</a:t>
            </a:r>
          </a:p>
          <a:p>
            <a:pPr lvl="1"/>
            <a:r>
              <a:rPr lang="en-US" dirty="0"/>
              <a:t>Example: Assign best resources to finish early</a:t>
            </a:r>
          </a:p>
          <a:p>
            <a:r>
              <a:rPr lang="en-US" b="1" dirty="0"/>
              <a:t>Enhance</a:t>
            </a:r>
            <a:endParaRPr lang="en-US" dirty="0"/>
          </a:p>
          <a:p>
            <a:pPr lvl="1"/>
            <a:r>
              <a:rPr lang="en-US" dirty="0"/>
              <a:t>Increase probability or benefit</a:t>
            </a:r>
          </a:p>
          <a:p>
            <a:pPr lvl="1"/>
            <a:r>
              <a:rPr lang="en-US" dirty="0"/>
              <a:t>Example: Add skilled staff to improve performance</a:t>
            </a:r>
          </a:p>
          <a:p>
            <a:r>
              <a:rPr lang="en-US" b="1" dirty="0"/>
              <a:t>Share</a:t>
            </a:r>
            <a:endParaRPr lang="en-US" dirty="0"/>
          </a:p>
          <a:p>
            <a:pPr lvl="1"/>
            <a:r>
              <a:rPr lang="en-US" dirty="0"/>
              <a:t>Partner with others</a:t>
            </a:r>
          </a:p>
          <a:p>
            <a:pPr lvl="1"/>
            <a:r>
              <a:rPr lang="en-US" dirty="0"/>
              <a:t>Example: Joint venture</a:t>
            </a:r>
          </a:p>
          <a:p>
            <a:r>
              <a:rPr lang="en-US" b="1" dirty="0"/>
              <a:t>Accept</a:t>
            </a:r>
            <a:endParaRPr lang="en-US" dirty="0"/>
          </a:p>
          <a:p>
            <a:pPr lvl="1"/>
            <a:r>
              <a:rPr lang="en-US" dirty="0"/>
              <a:t>Take advantage if it occurs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23410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239A3-4257-9B3F-5049-ED199E6F1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 Risk Responses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A01E6-F50C-9BE6-0904-6FE4CDE2BC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process of </a:t>
            </a:r>
            <a:r>
              <a:rPr lang="en-US" b="1" dirty="0"/>
              <a:t>executing the planned risk response actions</a:t>
            </a:r>
            <a:r>
              <a:rPr lang="en-US" dirty="0"/>
              <a:t>.</a:t>
            </a:r>
          </a:p>
          <a:p>
            <a:r>
              <a:rPr lang="en-US" b="1" dirty="0"/>
              <a:t>Key Points</a:t>
            </a:r>
          </a:p>
          <a:p>
            <a:pPr lvl="1"/>
            <a:r>
              <a:rPr lang="en-US" dirty="0"/>
              <a:t>Risk owners implement responses</a:t>
            </a:r>
          </a:p>
          <a:p>
            <a:pPr lvl="1"/>
            <a:r>
              <a:rPr lang="en-US" dirty="0"/>
              <a:t>Actions are added to project schedule</a:t>
            </a:r>
          </a:p>
          <a:p>
            <a:pPr lvl="1"/>
            <a:r>
              <a:rPr lang="en-US" dirty="0"/>
              <a:t>Requires coordination and tracking</a:t>
            </a:r>
          </a:p>
          <a:p>
            <a:r>
              <a:rPr lang="en-US" b="1" dirty="0"/>
              <a:t>Example</a:t>
            </a:r>
          </a:p>
          <a:p>
            <a:r>
              <a:rPr lang="en-US" dirty="0"/>
              <a:t>Risk: Data loss</a:t>
            </a:r>
            <a:br>
              <a:rPr lang="en-US" dirty="0"/>
            </a:br>
            <a:r>
              <a:rPr lang="en-US" dirty="0"/>
              <a:t>Response: Daily automated backups</a:t>
            </a:r>
            <a:br>
              <a:rPr lang="en-US" dirty="0"/>
            </a:br>
            <a:r>
              <a:rPr lang="en-US" dirty="0"/>
              <a:t>Implementation: Backup system installed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90810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2769E-B110-0A17-09ED-ECAC48D21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Monitor Risks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D5564-3F76-B480-B750-88C953746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process of </a:t>
            </a:r>
            <a:r>
              <a:rPr lang="en-US" b="1" dirty="0"/>
              <a:t>tracking identified risks</a:t>
            </a:r>
            <a:r>
              <a:rPr lang="en-US" dirty="0"/>
              <a:t>, monitoring residual risks, and identifying new risks.</a:t>
            </a:r>
          </a:p>
          <a:p>
            <a:r>
              <a:rPr lang="en-US" b="1" dirty="0"/>
              <a:t>Activities</a:t>
            </a:r>
          </a:p>
          <a:p>
            <a:pPr lvl="1"/>
            <a:r>
              <a:rPr lang="en-US" dirty="0"/>
              <a:t>Risk audits</a:t>
            </a:r>
          </a:p>
          <a:p>
            <a:pPr lvl="1"/>
            <a:r>
              <a:rPr lang="en-US" dirty="0"/>
              <a:t>Risk reviews</a:t>
            </a:r>
          </a:p>
          <a:p>
            <a:pPr lvl="1"/>
            <a:r>
              <a:rPr lang="en-US" dirty="0"/>
              <a:t>Status meetings</a:t>
            </a:r>
          </a:p>
          <a:p>
            <a:pPr lvl="1"/>
            <a:r>
              <a:rPr lang="en-US" dirty="0"/>
              <a:t>Update risk register</a:t>
            </a:r>
          </a:p>
          <a:p>
            <a:pPr lvl="1"/>
            <a:r>
              <a:rPr lang="en-US" dirty="0"/>
              <a:t>Check effectiveness of responses</a:t>
            </a:r>
          </a:p>
          <a:p>
            <a:r>
              <a:rPr lang="en-US" b="1" dirty="0"/>
              <a:t>Example</a:t>
            </a:r>
          </a:p>
          <a:p>
            <a:pPr lvl="1"/>
            <a:r>
              <a:rPr lang="en-US" dirty="0"/>
              <a:t>A previously low-risk vendor delay becomes high-risk due to supply chain issues.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97028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83114-9624-69C6-182A-9CDE63146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Categories (RBS – Risk Breakdown Structure)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12231-0B63-9899-BC27-A364C322E0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Common categories:</a:t>
            </a:r>
          </a:p>
          <a:p>
            <a:pPr lvl="1"/>
            <a:r>
              <a:rPr lang="en-US" dirty="0"/>
              <a:t>Technical risks</a:t>
            </a:r>
          </a:p>
          <a:p>
            <a:pPr lvl="1"/>
            <a:r>
              <a:rPr lang="en-US" dirty="0"/>
              <a:t>Schedule risks</a:t>
            </a:r>
          </a:p>
          <a:p>
            <a:pPr lvl="1"/>
            <a:r>
              <a:rPr lang="en-US" dirty="0"/>
              <a:t>Cost risks</a:t>
            </a:r>
          </a:p>
          <a:p>
            <a:pPr lvl="1"/>
            <a:r>
              <a:rPr lang="en-US" dirty="0"/>
              <a:t>Resource risks</a:t>
            </a:r>
          </a:p>
          <a:p>
            <a:pPr lvl="1"/>
            <a:r>
              <a:rPr lang="en-US" dirty="0"/>
              <a:t>External risks</a:t>
            </a:r>
          </a:p>
          <a:p>
            <a:pPr lvl="1"/>
            <a:r>
              <a:rPr lang="en-US" dirty="0"/>
              <a:t>Organizational risks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5359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8A95B-E313-6E73-99C4-E176EDCFD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Benefits of Risk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9C5CA-257F-0384-0052-B57200E19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Reduced uncertainty</a:t>
            </a:r>
          </a:p>
          <a:p>
            <a:r>
              <a:rPr lang="en-US" dirty="0"/>
              <a:t>Better planning</a:t>
            </a:r>
          </a:p>
          <a:p>
            <a:r>
              <a:rPr lang="en-US" dirty="0"/>
              <a:t>Higher success rate</a:t>
            </a:r>
          </a:p>
          <a:p>
            <a:r>
              <a:rPr lang="en-US" dirty="0"/>
              <a:t>Improved stakeholder confidence</a:t>
            </a:r>
          </a:p>
          <a:p>
            <a:r>
              <a:rPr lang="en-US" dirty="0"/>
              <a:t>Better cost and schedule control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9202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9950B-7782-3A8A-21B7-FE4BE03D4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PERT and Risk Management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3E954C-9B50-2FA1-95FC-47395DD76B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55000" lnSpcReduction="20000"/>
              </a:bodyPr>
              <a:lstStyle/>
              <a:p>
                <a:r>
                  <a:rPr lang="en-US" b="1" dirty="0"/>
                  <a:t>PERT</a:t>
                </a:r>
                <a:r>
                  <a:rPr lang="en-US" dirty="0"/>
                  <a:t> (Program Evaluation and Review Technique) is a project management tool that helps evaluate the uncertainty in project timelines, particularly when estimating task durations. It is particularly useful in </a:t>
                </a:r>
                <a:r>
                  <a:rPr lang="en-US" b="1" dirty="0"/>
                  <a:t>risk management</a:t>
                </a:r>
                <a:r>
                  <a:rPr lang="en-US" dirty="0"/>
                  <a:t> because it accounts for uncertainty by considering multiple possible outcomes for the duration of project activities.</a:t>
                </a:r>
              </a:p>
              <a:p>
                <a:r>
                  <a:rPr lang="en-US" dirty="0"/>
                  <a:t>In the </a:t>
                </a:r>
                <a:r>
                  <a:rPr lang="en-US" b="1" dirty="0"/>
                  <a:t>PMBOK (Project Management Body of Knowledge)</a:t>
                </a:r>
                <a:r>
                  <a:rPr lang="en-US" dirty="0"/>
                  <a:t>, risk management is emphasized as a key process to ensure the project stays within scope, time, and cost constraints. </a:t>
                </a:r>
                <a:r>
                  <a:rPr lang="en-US" b="1" dirty="0"/>
                  <a:t>PERT</a:t>
                </a:r>
                <a:r>
                  <a:rPr lang="en-US" dirty="0"/>
                  <a:t> can be an effective tool for managing project </a:t>
                </a:r>
                <a:r>
                  <a:rPr lang="en-US" b="1" dirty="0"/>
                  <a:t>time uncertainty</a:t>
                </a:r>
                <a:r>
                  <a:rPr lang="en-US" dirty="0"/>
                  <a:t> and assessing the impacts of risks on the schedule.</a:t>
                </a:r>
              </a:p>
              <a:p>
                <a:r>
                  <a:rPr lang="en-US" b="1" dirty="0"/>
                  <a:t>PERT Overview</a:t>
                </a:r>
              </a:p>
              <a:p>
                <a:r>
                  <a:rPr lang="en-US" dirty="0"/>
                  <a:t>In PERT, you estimate the duration of a task by considering three possible values:</a:t>
                </a:r>
              </a:p>
              <a:p>
                <a:r>
                  <a:rPr lang="en-US" b="1" dirty="0"/>
                  <a:t>Optimistic (O)</a:t>
                </a:r>
                <a:r>
                  <a:rPr lang="en-US" dirty="0"/>
                  <a:t>: The best-case scenario (the shortest time to complete the task, assuming everything goes perfectly).</a:t>
                </a:r>
              </a:p>
              <a:p>
                <a:r>
                  <a:rPr lang="en-US" b="1" dirty="0"/>
                  <a:t>Pessimistic (P)</a:t>
                </a:r>
                <a:r>
                  <a:rPr lang="en-US" dirty="0"/>
                  <a:t>: The worst-case scenario (the longest time to complete the task, assuming all risks and issues occur).</a:t>
                </a:r>
              </a:p>
              <a:p>
                <a:r>
                  <a:rPr lang="en-US" b="1" dirty="0"/>
                  <a:t>Most Likely (M)</a:t>
                </a:r>
                <a:r>
                  <a:rPr lang="en-US" dirty="0"/>
                  <a:t>: The most realistic scenario based on the current conditions.</a:t>
                </a:r>
              </a:p>
              <a:p>
                <a:r>
                  <a:rPr lang="en-US" dirty="0"/>
                  <a:t>These values are used to calculate an </a:t>
                </a:r>
                <a:r>
                  <a:rPr lang="en-US" b="1" dirty="0"/>
                  <a:t>expected duration</a:t>
                </a:r>
                <a:r>
                  <a:rPr lang="en-US" dirty="0"/>
                  <a:t> for the task, often referred to as the </a:t>
                </a:r>
                <a:r>
                  <a:rPr lang="en-US" b="1" dirty="0"/>
                  <a:t>Expected Time (TE)</a:t>
                </a:r>
                <a:r>
                  <a:rPr lang="en-US" dirty="0"/>
                  <a:t>, using the following formula: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𝑇𝐸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1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ar-AE" dirty="0"/>
              </a:p>
              <a:p>
                <a:r>
                  <a:rPr lang="en-US" dirty="0"/>
                  <a:t>This formula gives more weight to the </a:t>
                </a:r>
                <a:r>
                  <a:rPr lang="en-US" b="1" dirty="0"/>
                  <a:t>Most Likely</a:t>
                </a:r>
                <a:r>
                  <a:rPr lang="en-US" dirty="0"/>
                  <a:t> duration, but also incorporates the potential variability of the task's duration, allowing project managers to account for uncertainty.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3E954C-9B50-2FA1-95FC-47395DD76B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4" t="-1401" r="-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867206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25E22-E28C-B760-40F5-901D11A40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Step-by-Step: Using PERT to Manage Uncertainty in a Project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D8F1BC-DB6E-ED28-7940-E56C8B54F0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55000" lnSpcReduction="20000"/>
              </a:bodyPr>
              <a:lstStyle/>
              <a:p>
                <a:r>
                  <a:rPr lang="en-US" b="1" dirty="0"/>
                  <a:t>Identify Risk Events and Tasks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Break down the project into individual tasks and identify areas where uncertainty may exist (e.g., technical challenges, resource availability, or external factors like weather).</a:t>
                </a:r>
              </a:p>
              <a:p>
                <a:pPr lvl="1"/>
                <a:r>
                  <a:rPr lang="en-US" dirty="0"/>
                  <a:t>For example, if you’re developing software, certain tasks may involve uncertainty around third-party integrations or data migrations.</a:t>
                </a:r>
              </a:p>
              <a:p>
                <a:r>
                  <a:rPr lang="en-US" b="1" dirty="0"/>
                  <a:t>Estimate Task Durations Using PERT</a:t>
                </a:r>
                <a:r>
                  <a:rPr lang="en-US" dirty="0"/>
                  <a:t>:</a:t>
                </a:r>
                <a:br>
                  <a:rPr lang="en-US" dirty="0"/>
                </a:br>
                <a:r>
                  <a:rPr lang="en-US" dirty="0"/>
                  <a:t>For each identified task, gather input from your team or subject matter experts to estimate the three values:</a:t>
                </a:r>
              </a:p>
              <a:p>
                <a:pPr lvl="1"/>
                <a:r>
                  <a:rPr lang="en-US" b="1" dirty="0"/>
                  <a:t>Optimistic (O)</a:t>
                </a:r>
                <a:r>
                  <a:rPr lang="en-US" dirty="0"/>
                  <a:t>: If everything goes as planned (e.g., no issues with integration, everything works smoothly).</a:t>
                </a:r>
              </a:p>
              <a:p>
                <a:pPr lvl="1"/>
                <a:r>
                  <a:rPr lang="en-US" b="1" dirty="0"/>
                  <a:t>Pessimistic (P)</a:t>
                </a:r>
                <a:r>
                  <a:rPr lang="en-US" dirty="0"/>
                  <a:t>: If the worst happens (e.g., significant delays in integration, technical difficulties).</a:t>
                </a:r>
              </a:p>
              <a:p>
                <a:pPr lvl="1"/>
                <a:r>
                  <a:rPr lang="en-US" b="1" dirty="0"/>
                  <a:t>Most Likely (M)</a:t>
                </a:r>
                <a:r>
                  <a:rPr lang="en-US" dirty="0"/>
                  <a:t>: The most probable duration based on available information.</a:t>
                </a:r>
              </a:p>
              <a:p>
                <a:r>
                  <a:rPr lang="en-US" dirty="0"/>
                  <a:t>For instance:</a:t>
                </a:r>
              </a:p>
              <a:p>
                <a:pPr lvl="1"/>
                <a:r>
                  <a:rPr lang="en-US" dirty="0"/>
                  <a:t>Task: </a:t>
                </a:r>
                <a:r>
                  <a:rPr lang="en-US" b="1" dirty="0"/>
                  <a:t>Develop Login Feature</a:t>
                </a:r>
                <a:endParaRPr lang="en-US" dirty="0"/>
              </a:p>
              <a:p>
                <a:pPr lvl="2"/>
                <a:r>
                  <a:rPr lang="en-US" dirty="0"/>
                  <a:t>Optimistic (O) = 3 days</a:t>
                </a:r>
              </a:p>
              <a:p>
                <a:pPr lvl="2"/>
                <a:r>
                  <a:rPr lang="en-US" dirty="0"/>
                  <a:t>Most Likely (M) = 5 days</a:t>
                </a:r>
              </a:p>
              <a:p>
                <a:pPr lvl="2"/>
                <a:r>
                  <a:rPr lang="en-US" dirty="0"/>
                  <a:t>Pessimistic (P) = 8 days</a:t>
                </a:r>
              </a:p>
              <a:p>
                <a:r>
                  <a:rPr lang="en-US" dirty="0"/>
                  <a:t>Using the </a:t>
                </a:r>
                <a:r>
                  <a:rPr lang="en-US" b="1" dirty="0"/>
                  <a:t>PERT formula</a:t>
                </a:r>
                <a:r>
                  <a:rPr lang="en-US" dirty="0"/>
                  <a:t>, you calculate the </a:t>
                </a:r>
                <a:r>
                  <a:rPr lang="en-US" b="1" dirty="0"/>
                  <a:t>Expected Duration (TE)</a:t>
                </a:r>
                <a:r>
                  <a:rPr lang="en-US" dirty="0"/>
                  <a:t>: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𝑇𝐸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4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d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>
                        <a:latin typeface="Cambria Math" panose="02040503050406030204" pitchFamily="18" charset="0"/>
                      </a:rPr>
                      <m:t>5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nor/>
                      </m:rPr>
                      <a:rPr lang="ar-AE" i="1"/>
                      <m:t> </m:t>
                    </m:r>
                    <m:r>
                      <m:rPr>
                        <m:nor/>
                      </m:rPr>
                      <a:rPr lang="en-US" i="1"/>
                      <m:t>days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D8F1BC-DB6E-ED28-7940-E56C8B54F0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4" t="-1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334799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EAAF2-D70A-F76D-1BCE-84448151B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F3ED4-6308-96C0-F477-F7537C8A0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Step-by-Step: Using PERT to Manage Uncertainty in a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4C11C-3CCF-A952-90BB-C653FDE7E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Construct the PERT Network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Create a </a:t>
            </a:r>
            <a:r>
              <a:rPr lang="en-US" b="1" dirty="0"/>
              <a:t>PERT chart</a:t>
            </a:r>
            <a:r>
              <a:rPr lang="en-US" dirty="0"/>
              <a:t> (a flowchart of tasks, their dependencies, and estimated durations).</a:t>
            </a:r>
          </a:p>
          <a:p>
            <a:pPr lvl="1"/>
            <a:r>
              <a:rPr lang="en-US" dirty="0"/>
              <a:t>The chart allows you to visualize the sequence of tasks, identify critical paths, and understand where uncertainty might affect the overall project schedule.</a:t>
            </a:r>
          </a:p>
          <a:p>
            <a:r>
              <a:rPr lang="en-US" b="1" dirty="0"/>
              <a:t>Assess the Project Schedule Risk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Calculate the </a:t>
            </a:r>
            <a:r>
              <a:rPr lang="en-US" b="1" dirty="0"/>
              <a:t>Expected Project Duration</a:t>
            </a:r>
            <a:r>
              <a:rPr lang="en-US" dirty="0"/>
              <a:t> by applying PERT estimates across all tasks.</a:t>
            </a:r>
          </a:p>
          <a:p>
            <a:pPr lvl="1"/>
            <a:r>
              <a:rPr lang="en-US" b="1" dirty="0"/>
              <a:t>Critical Path Method (CPM)</a:t>
            </a:r>
            <a:r>
              <a:rPr lang="en-US" dirty="0"/>
              <a:t> can be combined with PERT to identify the </a:t>
            </a:r>
            <a:r>
              <a:rPr lang="en-US" b="1" dirty="0"/>
              <a:t>critical path</a:t>
            </a:r>
            <a:r>
              <a:rPr lang="en-US" dirty="0"/>
              <a:t>, which is the longest path in the project. Delays in tasks on the critical path will directly impact the project’s completion date.</a:t>
            </a:r>
          </a:p>
          <a:p>
            <a:pPr lvl="1"/>
            <a:r>
              <a:rPr lang="en-US" b="1" dirty="0"/>
              <a:t>Risk Identification</a:t>
            </a:r>
            <a:r>
              <a:rPr lang="en-US" dirty="0"/>
              <a:t>: If a task has high uncertainty (e.g., a large difference between optimistic and pessimistic estimates), it should be flagged for potential risks.</a:t>
            </a:r>
          </a:p>
          <a:p>
            <a:r>
              <a:rPr lang="en-US" b="1" dirty="0"/>
              <a:t>Risk Analysis (Quantitative)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You can </a:t>
            </a:r>
            <a:r>
              <a:rPr lang="en-US" b="1" dirty="0"/>
              <a:t>simulate</a:t>
            </a:r>
            <a:r>
              <a:rPr lang="en-US" dirty="0"/>
              <a:t> the effects of different risks on the schedule using </a:t>
            </a:r>
            <a:r>
              <a:rPr lang="en-US" b="1" dirty="0"/>
              <a:t>Monte Carlo simulations</a:t>
            </a:r>
            <a:r>
              <a:rPr lang="en-US" dirty="0"/>
              <a:t> to model different scenarios based on the PERT estimates.</a:t>
            </a:r>
          </a:p>
          <a:p>
            <a:pPr lvl="1"/>
            <a:r>
              <a:rPr lang="en-US" dirty="0"/>
              <a:t>By generating multiple possible scenarios with varying task durations, you can estimate the likelihood of completing the project within a given timeframe, considering all uncertainties.</a:t>
            </a:r>
          </a:p>
          <a:p>
            <a:r>
              <a:rPr lang="en-US" b="1" dirty="0"/>
              <a:t>Monitor and Adjust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During project execution, continually track task progress. If tasks are slipping into the pessimistic range (P), reevaluate and adjust the project schedule, resources, or scope to mitigate risk.</a:t>
            </a:r>
          </a:p>
          <a:p>
            <a:pPr lvl="1"/>
            <a:r>
              <a:rPr lang="en-US" dirty="0"/>
              <a:t>You can also update your PERT estimates if new risks emerge or if the project's scope changes.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90297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226D8-4EFF-0C55-2AB2-2E197C11E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EC6A4-EEDA-F838-4269-98F147413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Step-by-Step: Using PERT to Manage Uncertainty in a Project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38F1AA-6A4C-0CE9-1475-943F956D91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55000" lnSpcReduction="20000"/>
              </a:bodyPr>
              <a:lstStyle/>
              <a:p>
                <a:r>
                  <a:rPr lang="en-US" b="1" dirty="0"/>
                  <a:t>Example: Managing Uncertainty in an IT Project Using PERT</a:t>
                </a:r>
              </a:p>
              <a:p>
                <a:r>
                  <a:rPr lang="en-US" dirty="0"/>
                  <a:t>Let’s consider an </a:t>
                </a:r>
                <a:r>
                  <a:rPr lang="en-US" b="1" dirty="0"/>
                  <a:t>IT project</a:t>
                </a:r>
                <a:r>
                  <a:rPr lang="en-US" dirty="0"/>
                  <a:t>: building a </a:t>
                </a:r>
                <a:r>
                  <a:rPr lang="en-US" b="1" dirty="0"/>
                  <a:t>new customer relationship management (CRM) system</a:t>
                </a:r>
                <a:r>
                  <a:rPr lang="en-US" dirty="0"/>
                  <a:t> for a client.</a:t>
                </a:r>
              </a:p>
              <a:p>
                <a:r>
                  <a:rPr lang="en-US" b="1" dirty="0"/>
                  <a:t>Task: Database Migration</a:t>
                </a:r>
              </a:p>
              <a:p>
                <a:pPr lvl="1"/>
                <a:r>
                  <a:rPr lang="en-US" b="1" dirty="0"/>
                  <a:t>Optimistic (O)</a:t>
                </a:r>
                <a:r>
                  <a:rPr lang="en-US" dirty="0"/>
                  <a:t> = 4 days (Assume no technical issues with migration and data integrity).</a:t>
                </a:r>
              </a:p>
              <a:p>
                <a:pPr lvl="1"/>
                <a:r>
                  <a:rPr lang="en-US" b="1" dirty="0"/>
                  <a:t>Most Likely (M)</a:t>
                </a:r>
                <a:r>
                  <a:rPr lang="en-US" dirty="0"/>
                  <a:t> = 6 days (Normal migration with typical challenges, but no major roadblocks).</a:t>
                </a:r>
              </a:p>
              <a:p>
                <a:pPr lvl="1"/>
                <a:r>
                  <a:rPr lang="en-US" b="1" dirty="0"/>
                  <a:t>Pessimistic (P)</a:t>
                </a:r>
                <a:r>
                  <a:rPr lang="en-US" dirty="0"/>
                  <a:t> = 10 days (Assume significant issues with data quality, integration errors, and additional debugging).</a:t>
                </a:r>
              </a:p>
              <a:p>
                <a:r>
                  <a:rPr lang="en-US" b="1" dirty="0"/>
                  <a:t>Step 1: Calculate Expected Duration (TE) for Database Migration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𝑇𝐸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1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4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d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38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>
                        <a:latin typeface="Cambria Math" panose="02040503050406030204" pitchFamily="18" charset="0"/>
                      </a:rPr>
                      <m:t>6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33</m:t>
                    </m:r>
                    <m:r>
                      <m:rPr>
                        <m:nor/>
                      </m:rPr>
                      <a:rPr lang="ar-AE" i="1"/>
                      <m:t> </m:t>
                    </m:r>
                    <m:r>
                      <m:rPr>
                        <m:nor/>
                      </m:rPr>
                      <a:rPr lang="en-US" i="1"/>
                      <m:t>days</m:t>
                    </m:r>
                  </m:oMath>
                </a14:m>
                <a:endParaRPr lang="en-US" b="0" dirty="0"/>
              </a:p>
              <a:p>
                <a:r>
                  <a:rPr lang="en-US" b="1" dirty="0"/>
                  <a:t>Step 2: Estimate Project Duration</a:t>
                </a:r>
              </a:p>
              <a:p>
                <a:r>
                  <a:rPr lang="en-US" dirty="0"/>
                  <a:t>Let's say the project has 5 main tasks, and you’ve calculated the expected duration for each using PERT. The tasks are:</a:t>
                </a:r>
              </a:p>
              <a:p>
                <a:pPr lvl="1"/>
                <a:r>
                  <a:rPr lang="en-US" b="1" dirty="0"/>
                  <a:t>Design Database Schema</a:t>
                </a:r>
                <a:r>
                  <a:rPr lang="en-US" dirty="0"/>
                  <a:t>: 4 days (most likely)</a:t>
                </a:r>
              </a:p>
              <a:p>
                <a:pPr lvl="1"/>
                <a:r>
                  <a:rPr lang="en-US" b="1" dirty="0"/>
                  <a:t>Database Migration</a:t>
                </a:r>
                <a:r>
                  <a:rPr lang="en-US" dirty="0"/>
                  <a:t>: 6.33 days (expected duration from above)</a:t>
                </a:r>
              </a:p>
              <a:p>
                <a:pPr lvl="1"/>
                <a:r>
                  <a:rPr lang="en-US" b="1" dirty="0"/>
                  <a:t>API Integration</a:t>
                </a:r>
                <a:r>
                  <a:rPr lang="en-US" dirty="0"/>
                  <a:t>: 5 days</a:t>
                </a:r>
              </a:p>
              <a:p>
                <a:pPr lvl="1"/>
                <a:r>
                  <a:rPr lang="en-US" b="1" dirty="0"/>
                  <a:t>User Interface Development</a:t>
                </a:r>
                <a:r>
                  <a:rPr lang="en-US" dirty="0"/>
                  <a:t>: 7 days</a:t>
                </a:r>
              </a:p>
              <a:p>
                <a:pPr lvl="1"/>
                <a:r>
                  <a:rPr lang="en-US" b="1" dirty="0"/>
                  <a:t>Testing</a:t>
                </a:r>
                <a:r>
                  <a:rPr lang="en-US" dirty="0"/>
                  <a:t>: 4 days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38F1AA-6A4C-0CE9-1475-943F956D91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4" t="-1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253940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5E528-3848-2D17-0B9A-D04EDA5B2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Step-by-Step: Using PERT to Manage Uncertainty in a Project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3B4FAB-56F5-7BB7-DA77-435643C034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47500" lnSpcReduction="20000"/>
              </a:bodyPr>
              <a:lstStyle/>
              <a:p>
                <a:r>
                  <a:rPr lang="en-US" dirty="0"/>
                  <a:t>You can now construct a </a:t>
                </a:r>
                <a:r>
                  <a:rPr lang="en-US" b="1" dirty="0"/>
                  <a:t>PERT network diagram</a:t>
                </a:r>
                <a:r>
                  <a:rPr lang="en-US" dirty="0"/>
                  <a:t> to represent the tasks and their dependencies.</a:t>
                </a:r>
              </a:p>
              <a:p>
                <a:r>
                  <a:rPr lang="en-US" b="1" dirty="0"/>
                  <a:t>Step 3: Identify the Critical Path</a:t>
                </a:r>
              </a:p>
              <a:p>
                <a:r>
                  <a:rPr lang="en-US" dirty="0"/>
                  <a:t>Using the </a:t>
                </a:r>
                <a:r>
                  <a:rPr lang="en-US" b="1" dirty="0"/>
                  <a:t>Critical Path Method (CPM)</a:t>
                </a:r>
                <a:r>
                  <a:rPr lang="en-US" dirty="0"/>
                  <a:t>, you can calculate the longest path and identify which tasks are critical to finishing the project on time.</a:t>
                </a:r>
              </a:p>
              <a:p>
                <a:r>
                  <a:rPr lang="en-US" dirty="0"/>
                  <a:t>Let’s assume the critical path involves </a:t>
                </a:r>
                <a:r>
                  <a:rPr lang="en-US" b="1" dirty="0"/>
                  <a:t>Database Migration, API Integration, and Testing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The total expected duration is the sum of the durations of tasks on the critical path: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Total</m:t>
                    </m:r>
                    <m:r>
                      <m:rPr>
                        <m:nor/>
                      </m:rPr>
                      <a:rPr lang="en-US" b="0" i="1"/>
                      <m:t> </m:t>
                    </m:r>
                    <m:r>
                      <m:rPr>
                        <m:nor/>
                      </m:rPr>
                      <a:rPr lang="en-US" b="0" i="1"/>
                      <m:t>Duration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=6.33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m:rPr>
                        <m:nor/>
                      </m:rPr>
                      <a:rPr lang="en-US" i="1"/>
                      <m:t>days</m:t>
                    </m:r>
                    <m:r>
                      <a:rPr lang="en-US">
                        <a:latin typeface="Cambria Math" panose="02040503050406030204" pitchFamily="18" charset="0"/>
                      </a:rPr>
                      <m:t>+5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m:rPr>
                        <m:nor/>
                      </m:rPr>
                      <a:rPr lang="en-US" i="1"/>
                      <m:t>days</m:t>
                    </m:r>
                    <m:r>
                      <a:rPr lang="en-US">
                        <a:latin typeface="Cambria Math" panose="02040503050406030204" pitchFamily="18" charset="0"/>
                      </a:rPr>
                      <m:t>+4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m:rPr>
                        <m:nor/>
                      </m:rPr>
                      <a:rPr lang="en-US" i="1"/>
                      <m:t>days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=15.33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m:rPr>
                        <m:nor/>
                      </m:rPr>
                      <a:rPr lang="en-US" i="1"/>
                      <m:t>days</m:t>
                    </m:r>
                  </m:oMath>
                </a14:m>
                <a:endParaRPr lang="en-US" b="0" dirty="0"/>
              </a:p>
              <a:p>
                <a:r>
                  <a:rPr lang="en-US" b="1" dirty="0"/>
                  <a:t>Step 4: Risk Analysis and Mitigation</a:t>
                </a:r>
              </a:p>
              <a:p>
                <a:pPr lvl="1"/>
                <a:r>
                  <a:rPr lang="en-US" dirty="0"/>
                  <a:t>If the </a:t>
                </a:r>
                <a:r>
                  <a:rPr lang="en-US" b="1" dirty="0"/>
                  <a:t>Database Migration</a:t>
                </a:r>
                <a:r>
                  <a:rPr lang="en-US" dirty="0"/>
                  <a:t> task were to take longer than expected (e.g., the pessimistic estimate of 10 days), this would push the overall project timeline significantly, especially if it’s on the critical path.</a:t>
                </a:r>
              </a:p>
              <a:p>
                <a:pPr lvl="1"/>
                <a:r>
                  <a:rPr lang="en-US" b="1" dirty="0"/>
                  <a:t>Risk mitigation</a:t>
                </a:r>
                <a:r>
                  <a:rPr lang="en-US" dirty="0"/>
                  <a:t>: You can buffer this task by allocating extra resources or planning for alternative strategies (like using a more efficient migration tool).</a:t>
                </a:r>
              </a:p>
              <a:p>
                <a:r>
                  <a:rPr lang="en-US" b="1" dirty="0"/>
                  <a:t>Conclusion: Using PERT in Risk Management</a:t>
                </a:r>
              </a:p>
              <a:p>
                <a:pPr lvl="1"/>
                <a:r>
                  <a:rPr lang="en-US" dirty="0"/>
                  <a:t>By using </a:t>
                </a:r>
                <a:r>
                  <a:rPr lang="en-US" b="1" dirty="0"/>
                  <a:t>PERT</a:t>
                </a:r>
                <a:r>
                  <a:rPr lang="en-US" dirty="0"/>
                  <a:t> to model uncertainty, you can assess how variations in task durations due to risks will affect the overall project. In </a:t>
                </a:r>
                <a:r>
                  <a:rPr lang="en-US" b="1" dirty="0"/>
                  <a:t>risk management</a:t>
                </a:r>
                <a:r>
                  <a:rPr lang="en-US" dirty="0"/>
                  <a:t>, this is important because it allows you to:</a:t>
                </a:r>
              </a:p>
              <a:p>
                <a:pPr lvl="1"/>
                <a:r>
                  <a:rPr lang="en-US" b="1" dirty="0"/>
                  <a:t>Quantify uncertainty</a:t>
                </a:r>
                <a:r>
                  <a:rPr lang="en-US" dirty="0"/>
                  <a:t>: By estimating the range of possible outcomes for each task, you can assess the likelihood of completing the project on time.</a:t>
                </a:r>
              </a:p>
              <a:p>
                <a:pPr lvl="1"/>
                <a:r>
                  <a:rPr lang="en-US" b="1" dirty="0"/>
                  <a:t>Prioritize risks</a:t>
                </a:r>
                <a:r>
                  <a:rPr lang="en-US" dirty="0"/>
                  <a:t>: Tasks with large variability (a significant difference between O, M, and P) may require closer monitoring or more proactive risk management strategies.</a:t>
                </a:r>
              </a:p>
              <a:p>
                <a:pPr lvl="1"/>
                <a:r>
                  <a:rPr lang="en-US" b="1" dirty="0"/>
                  <a:t>Make data-driven decisions</a:t>
                </a:r>
                <a:r>
                  <a:rPr lang="en-US" dirty="0"/>
                  <a:t>: With the PERT formula and potentially Monte Carlo simulations, you can predict more realistic project timelines and prepare contingency plans for delays.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3B4FAB-56F5-7BB7-DA77-435643C034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8" t="-1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0397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B7F543F2F210C42A1AB556EC2E2AD39" ma:contentTypeVersion="3" ma:contentTypeDescription="Create a new document." ma:contentTypeScope="" ma:versionID="e5606db6c3531daf026a8fd548c663ad">
  <xsd:schema xmlns:xsd="http://www.w3.org/2001/XMLSchema" xmlns:xs="http://www.w3.org/2001/XMLSchema" xmlns:p="http://schemas.microsoft.com/office/2006/metadata/properties" xmlns:ns2="a4f7e055-52ed-4413-8839-c7f22b2234f6" targetNamespace="http://schemas.microsoft.com/office/2006/metadata/properties" ma:root="true" ma:fieldsID="fc3079c0926d43e5991d1c902ac675e6" ns2:_="">
    <xsd:import namespace="a4f7e055-52ed-4413-8839-c7f22b2234f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7e055-52ed-4413-8839-c7f22b2234f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F192FF8-9E6B-463E-A789-41F704D3B0EB}">
  <ds:schemaRefs>
    <ds:schemaRef ds:uri="http://schemas.microsoft.com/office/2006/documentManagement/types"/>
    <ds:schemaRef ds:uri="a4f7e055-52ed-4413-8839-c7f22b2234f6"/>
    <ds:schemaRef ds:uri="http://purl.org/dc/elements/1.1/"/>
    <ds:schemaRef ds:uri="http://www.w3.org/XML/1998/namespace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4C7743C0-F28F-49E9-8B3A-B7CE50896FD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7e055-52ed-4413-8839-c7f22b2234f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E81B236-CD7E-41A1-BE69-F8F79687DDC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4037</Words>
  <Application>Microsoft Office PowerPoint</Application>
  <PresentationFormat>Widescreen</PresentationFormat>
  <Paragraphs>543</Paragraphs>
  <Slides>54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5" baseType="lpstr">
      <vt:lpstr>Office Theme</vt:lpstr>
      <vt:lpstr>Risk</vt:lpstr>
      <vt:lpstr>Risk Management</vt:lpstr>
      <vt:lpstr>PowerPoint Presentation</vt:lpstr>
      <vt:lpstr>Risk Managment</vt:lpstr>
      <vt:lpstr>Types of Risk in IT Projects</vt:lpstr>
      <vt:lpstr>Types of Risks in IT Projects</vt:lpstr>
      <vt:lpstr>Types of Risks in IT Projects</vt:lpstr>
      <vt:lpstr>Why Risk Needs to Be Managed</vt:lpstr>
      <vt:lpstr>Importance of Risk Management</vt:lpstr>
      <vt:lpstr>PMBOK Risk Management Processes</vt:lpstr>
      <vt:lpstr>Plan Risk Management</vt:lpstr>
      <vt:lpstr>Identify Risks</vt:lpstr>
      <vt:lpstr>Perform Qualitative Risk Analysis</vt:lpstr>
      <vt:lpstr>Objectives of Qualitative Risk Analysis</vt:lpstr>
      <vt:lpstr>Steps to perform qualitative risk analysis</vt:lpstr>
      <vt:lpstr>Steps to perform qualitative risk analysis</vt:lpstr>
      <vt:lpstr>Steps to perform qualitative risk analysis</vt:lpstr>
      <vt:lpstr>Steps to perform qualitative risk analysis</vt:lpstr>
      <vt:lpstr>Types of Qualitative Risk Analysis</vt:lpstr>
      <vt:lpstr>Types of Qualitative Risk Analysis</vt:lpstr>
      <vt:lpstr>Tools used </vt:lpstr>
      <vt:lpstr>Expert Judgment</vt:lpstr>
      <vt:lpstr>Brainstorming</vt:lpstr>
      <vt:lpstr>Probability–Impact Matrix</vt:lpstr>
      <vt:lpstr>Risk Categorization</vt:lpstr>
      <vt:lpstr>SWOT Analysis</vt:lpstr>
      <vt:lpstr>Example</vt:lpstr>
      <vt:lpstr>Pros Cons</vt:lpstr>
      <vt:lpstr>Perform quantitative Risk Analysis</vt:lpstr>
      <vt:lpstr>Steps in Quantitative Risk Analysis</vt:lpstr>
      <vt:lpstr>Steps in Quantitative Risk Analysis</vt:lpstr>
      <vt:lpstr>Steps in Quantitative Risk Analysis</vt:lpstr>
      <vt:lpstr>Types of Quantitative Risk Analysis</vt:lpstr>
      <vt:lpstr>Types of Quantitative Risk Analysis</vt:lpstr>
      <vt:lpstr>Types of Quantitative Risk Analysis</vt:lpstr>
      <vt:lpstr>Types of Quantitative Risk Analysis</vt:lpstr>
      <vt:lpstr>Key Advantages of Quantitative Risk Analysis</vt:lpstr>
      <vt:lpstr>Limitations of Quantitative Risk Analysis</vt:lpstr>
      <vt:lpstr>Comparison</vt:lpstr>
      <vt:lpstr>Difference</vt:lpstr>
      <vt:lpstr>Example Comparison</vt:lpstr>
      <vt:lpstr>Example Comparison</vt:lpstr>
      <vt:lpstr>Perform Quantitative Risk Analysis</vt:lpstr>
      <vt:lpstr>Plan Risk Responses</vt:lpstr>
      <vt:lpstr>Plan Risk Responses</vt:lpstr>
      <vt:lpstr>Implement Risk Responses</vt:lpstr>
      <vt:lpstr>Monitor Risks</vt:lpstr>
      <vt:lpstr>Risk Categories (RBS – Risk Breakdown Structure)</vt:lpstr>
      <vt:lpstr>Key Benefits of Risk Management</vt:lpstr>
      <vt:lpstr>PERT and Risk Management</vt:lpstr>
      <vt:lpstr>Step-by-Step: Using PERT to Manage Uncertainty in a Project</vt:lpstr>
      <vt:lpstr>Step-by-Step: Using PERT to Manage Uncertainty in a Project</vt:lpstr>
      <vt:lpstr>Step-by-Step: Using PERT to Manage Uncertainty in a Project</vt:lpstr>
      <vt:lpstr>Step-by-Step: Using PERT to Manage Uncertainty in a Project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Surendra Kc</dc:creator>
  <cp:lastModifiedBy>Surendra Kc</cp:lastModifiedBy>
  <cp:revision>2</cp:revision>
  <dcterms:created xsi:type="dcterms:W3CDTF">2026-01-19T09:46:12Z</dcterms:created>
  <dcterms:modified xsi:type="dcterms:W3CDTF">2026-01-27T15:26:27Z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0x0101007B7F543F2F210C42A1AB556EC2E2AD39</vt:lpwstr>
  </property>
</Properties>
</file>