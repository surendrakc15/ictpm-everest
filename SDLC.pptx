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sldIdLst>
    <p:sldId id="257" r:id="rId5"/>
    <p:sldId id="258" r:id="rId6"/>
    <p:sldId id="259" r:id="rId7"/>
    <p:sldId id="260" r:id="rId8"/>
    <p:sldId id="263" r:id="rId9"/>
    <p:sldId id="261" r:id="rId10"/>
    <p:sldId id="287" r:id="rId11"/>
    <p:sldId id="288" r:id="rId12"/>
    <p:sldId id="264" r:id="rId13"/>
    <p:sldId id="262" r:id="rId14"/>
    <p:sldId id="298" r:id="rId15"/>
    <p:sldId id="265" r:id="rId16"/>
    <p:sldId id="289" r:id="rId17"/>
    <p:sldId id="290" r:id="rId18"/>
    <p:sldId id="266" r:id="rId19"/>
    <p:sldId id="267" r:id="rId20"/>
    <p:sldId id="268" r:id="rId21"/>
    <p:sldId id="292" r:id="rId22"/>
    <p:sldId id="269" r:id="rId23"/>
    <p:sldId id="279" r:id="rId24"/>
    <p:sldId id="270" r:id="rId25"/>
    <p:sldId id="271" r:id="rId26"/>
    <p:sldId id="272" r:id="rId27"/>
    <p:sldId id="273" r:id="rId28"/>
    <p:sldId id="274" r:id="rId29"/>
    <p:sldId id="293" r:id="rId30"/>
    <p:sldId id="294" r:id="rId31"/>
    <p:sldId id="275" r:id="rId32"/>
    <p:sldId id="284" r:id="rId33"/>
    <p:sldId id="277" r:id="rId34"/>
    <p:sldId id="295" r:id="rId35"/>
    <p:sldId id="296" r:id="rId36"/>
    <p:sldId id="280" r:id="rId37"/>
    <p:sldId id="297" r:id="rId38"/>
    <p:sldId id="281" r:id="rId39"/>
    <p:sldId id="282" r:id="rId40"/>
    <p:sldId id="299" r:id="rId41"/>
    <p:sldId id="291" r:id="rId42"/>
    <p:sldId id="283" r:id="rId43"/>
    <p:sldId id="285" r:id="rId44"/>
    <p:sldId id="286" r:id="rId45"/>
    <p:sldId id="276" r:id="rId4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8582718-F2B7-4548-9C9E-E9166865AB6E}" v="48" dt="2026-01-19T09:44:34.17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0" d="100"/>
          <a:sy n="70" d="100"/>
        </p:scale>
        <p:origin x="536" y="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viewProps" Target="viewProps.xml"/><Relationship Id="rId8" Type="http://schemas.openxmlformats.org/officeDocument/2006/relationships/slide" Target="slides/slide4.xml"/><Relationship Id="rId51" Type="http://schemas.microsoft.com/office/2015/10/relationships/revisionInfo" Target="revisionInfo.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20" Type="http://schemas.openxmlformats.org/officeDocument/2006/relationships/slide" Target="slides/slide16.xml"/><Relationship Id="rId41" Type="http://schemas.openxmlformats.org/officeDocument/2006/relationships/slide" Target="slides/slide37.xml"/><Relationship Id="rId1" Type="http://schemas.openxmlformats.org/officeDocument/2006/relationships/customXml" Target="../customXml/item1.xml"/><Relationship Id="rId6"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56CFB7-3EA4-982F-0A79-6B799F1DFB3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134DCC2-13E6-3913-D1F8-76771C8FEB3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865E8FDA-EB8F-168C-F522-43BD9A7FD42C}"/>
              </a:ext>
            </a:extLst>
          </p:cNvPr>
          <p:cNvSpPr>
            <a:spLocks noGrp="1"/>
          </p:cNvSpPr>
          <p:nvPr>
            <p:ph type="dt" sz="half" idx="10"/>
          </p:nvPr>
        </p:nvSpPr>
        <p:spPr/>
        <p:txBody>
          <a:bodyPr/>
          <a:lstStyle/>
          <a:p>
            <a:fld id="{89CC542E-C7FA-4500-895D-DF43758B8802}" type="datetimeFigureOut">
              <a:rPr lang="en-US" smtClean="0"/>
              <a:t>1/27/2026</a:t>
            </a:fld>
            <a:endParaRPr lang="en-US"/>
          </a:p>
        </p:txBody>
      </p:sp>
      <p:sp>
        <p:nvSpPr>
          <p:cNvPr id="5" name="Footer Placeholder 4">
            <a:extLst>
              <a:ext uri="{FF2B5EF4-FFF2-40B4-BE49-F238E27FC236}">
                <a16:creationId xmlns:a16="http://schemas.microsoft.com/office/drawing/2014/main" id="{9BC0037B-C934-C5E9-0E6A-602A116AC12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C5B2751-EA32-A721-8683-BAFA036DD20B}"/>
              </a:ext>
            </a:extLst>
          </p:cNvPr>
          <p:cNvSpPr>
            <a:spLocks noGrp="1"/>
          </p:cNvSpPr>
          <p:nvPr>
            <p:ph type="sldNum" sz="quarter" idx="12"/>
          </p:nvPr>
        </p:nvSpPr>
        <p:spPr/>
        <p:txBody>
          <a:bodyPr/>
          <a:lstStyle/>
          <a:p>
            <a:fld id="{1EF713D3-F54C-4B32-9128-BC9E74E764ED}" type="slidenum">
              <a:rPr lang="en-US" smtClean="0"/>
              <a:t>‹#›</a:t>
            </a:fld>
            <a:endParaRPr lang="en-US"/>
          </a:p>
        </p:txBody>
      </p:sp>
    </p:spTree>
    <p:extLst>
      <p:ext uri="{BB962C8B-B14F-4D97-AF65-F5344CB8AC3E}">
        <p14:creationId xmlns:p14="http://schemas.microsoft.com/office/powerpoint/2010/main" val="369256937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F8796B-C2D2-782F-3CA7-272D1B48BA4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851EC1D-3CA1-C118-D9DF-D2220CBA12B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C4EF4DA-EDB2-FD20-BACE-F4378130FF9F}"/>
              </a:ext>
            </a:extLst>
          </p:cNvPr>
          <p:cNvSpPr>
            <a:spLocks noGrp="1"/>
          </p:cNvSpPr>
          <p:nvPr>
            <p:ph type="dt" sz="half" idx="10"/>
          </p:nvPr>
        </p:nvSpPr>
        <p:spPr/>
        <p:txBody>
          <a:bodyPr/>
          <a:lstStyle/>
          <a:p>
            <a:fld id="{89CC542E-C7FA-4500-895D-DF43758B8802}" type="datetimeFigureOut">
              <a:rPr lang="en-US" smtClean="0"/>
              <a:t>1/27/2026</a:t>
            </a:fld>
            <a:endParaRPr lang="en-US"/>
          </a:p>
        </p:txBody>
      </p:sp>
      <p:sp>
        <p:nvSpPr>
          <p:cNvPr id="5" name="Footer Placeholder 4">
            <a:extLst>
              <a:ext uri="{FF2B5EF4-FFF2-40B4-BE49-F238E27FC236}">
                <a16:creationId xmlns:a16="http://schemas.microsoft.com/office/drawing/2014/main" id="{61B29F33-8DB1-4439-A248-2BBC39CCE3C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B8DDC7C-3BDB-FD4B-E84E-1E49037621B1}"/>
              </a:ext>
            </a:extLst>
          </p:cNvPr>
          <p:cNvSpPr>
            <a:spLocks noGrp="1"/>
          </p:cNvSpPr>
          <p:nvPr>
            <p:ph type="sldNum" sz="quarter" idx="12"/>
          </p:nvPr>
        </p:nvSpPr>
        <p:spPr/>
        <p:txBody>
          <a:bodyPr/>
          <a:lstStyle/>
          <a:p>
            <a:fld id="{1EF713D3-F54C-4B32-9128-BC9E74E764ED}" type="slidenum">
              <a:rPr lang="en-US" smtClean="0"/>
              <a:t>‹#›</a:t>
            </a:fld>
            <a:endParaRPr lang="en-US"/>
          </a:p>
        </p:txBody>
      </p:sp>
    </p:spTree>
    <p:extLst>
      <p:ext uri="{BB962C8B-B14F-4D97-AF65-F5344CB8AC3E}">
        <p14:creationId xmlns:p14="http://schemas.microsoft.com/office/powerpoint/2010/main" val="3096778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86B5B6-E4E4-F1CC-331B-EEC2DE398CF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FB81D359-DB05-A0E1-1F9E-7AF2489DC2D0}"/>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FAD0BE7-C655-B989-D2A9-5C8AF6D9466E}"/>
              </a:ext>
            </a:extLst>
          </p:cNvPr>
          <p:cNvSpPr>
            <a:spLocks noGrp="1"/>
          </p:cNvSpPr>
          <p:nvPr>
            <p:ph type="dt" sz="half" idx="10"/>
          </p:nvPr>
        </p:nvSpPr>
        <p:spPr/>
        <p:txBody>
          <a:bodyPr/>
          <a:lstStyle/>
          <a:p>
            <a:fld id="{89CC542E-C7FA-4500-895D-DF43758B8802}" type="datetimeFigureOut">
              <a:rPr lang="en-US" smtClean="0"/>
              <a:t>1/27/2026</a:t>
            </a:fld>
            <a:endParaRPr lang="en-US"/>
          </a:p>
        </p:txBody>
      </p:sp>
      <p:sp>
        <p:nvSpPr>
          <p:cNvPr id="5" name="Footer Placeholder 4">
            <a:extLst>
              <a:ext uri="{FF2B5EF4-FFF2-40B4-BE49-F238E27FC236}">
                <a16:creationId xmlns:a16="http://schemas.microsoft.com/office/drawing/2014/main" id="{9C532C98-5530-E5BF-BAB7-C3F06864E3A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F58CA01-A267-5C5F-2E1F-244DCD78D5A4}"/>
              </a:ext>
            </a:extLst>
          </p:cNvPr>
          <p:cNvSpPr>
            <a:spLocks noGrp="1"/>
          </p:cNvSpPr>
          <p:nvPr>
            <p:ph type="sldNum" sz="quarter" idx="12"/>
          </p:nvPr>
        </p:nvSpPr>
        <p:spPr/>
        <p:txBody>
          <a:bodyPr/>
          <a:lstStyle/>
          <a:p>
            <a:fld id="{1EF713D3-F54C-4B32-9128-BC9E74E764ED}" type="slidenum">
              <a:rPr lang="en-US" smtClean="0"/>
              <a:t>‹#›</a:t>
            </a:fld>
            <a:endParaRPr lang="en-US"/>
          </a:p>
        </p:txBody>
      </p:sp>
    </p:spTree>
    <p:extLst>
      <p:ext uri="{BB962C8B-B14F-4D97-AF65-F5344CB8AC3E}">
        <p14:creationId xmlns:p14="http://schemas.microsoft.com/office/powerpoint/2010/main" val="14364941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CFBBA3-CBDE-165C-CFF2-44D7C13F684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A0AD523-6D78-876B-4FBB-FA56F6F244E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54A9B57-FA25-5768-6305-2667CE3872F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BBEB4580-F3F0-CAF2-6113-7B11CE6DD3E3}"/>
              </a:ext>
            </a:extLst>
          </p:cNvPr>
          <p:cNvSpPr>
            <a:spLocks noGrp="1"/>
          </p:cNvSpPr>
          <p:nvPr>
            <p:ph type="dt" sz="half" idx="10"/>
          </p:nvPr>
        </p:nvSpPr>
        <p:spPr/>
        <p:txBody>
          <a:bodyPr/>
          <a:lstStyle/>
          <a:p>
            <a:fld id="{89CC542E-C7FA-4500-895D-DF43758B8802}" type="datetimeFigureOut">
              <a:rPr lang="en-US" smtClean="0"/>
              <a:t>1/27/2026</a:t>
            </a:fld>
            <a:endParaRPr lang="en-US"/>
          </a:p>
        </p:txBody>
      </p:sp>
      <p:sp>
        <p:nvSpPr>
          <p:cNvPr id="6" name="Footer Placeholder 5">
            <a:extLst>
              <a:ext uri="{FF2B5EF4-FFF2-40B4-BE49-F238E27FC236}">
                <a16:creationId xmlns:a16="http://schemas.microsoft.com/office/drawing/2014/main" id="{FEB8A577-9F2E-C749-CEF1-99C09A185B9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50FBE2B-33E5-C053-FABA-D33ED7984E5D}"/>
              </a:ext>
            </a:extLst>
          </p:cNvPr>
          <p:cNvSpPr>
            <a:spLocks noGrp="1"/>
          </p:cNvSpPr>
          <p:nvPr>
            <p:ph type="sldNum" sz="quarter" idx="12"/>
          </p:nvPr>
        </p:nvSpPr>
        <p:spPr/>
        <p:txBody>
          <a:bodyPr/>
          <a:lstStyle/>
          <a:p>
            <a:fld id="{1EF713D3-F54C-4B32-9128-BC9E74E764ED}" type="slidenum">
              <a:rPr lang="en-US" smtClean="0"/>
              <a:t>‹#›</a:t>
            </a:fld>
            <a:endParaRPr lang="en-US"/>
          </a:p>
        </p:txBody>
      </p:sp>
    </p:spTree>
    <p:extLst>
      <p:ext uri="{BB962C8B-B14F-4D97-AF65-F5344CB8AC3E}">
        <p14:creationId xmlns:p14="http://schemas.microsoft.com/office/powerpoint/2010/main" val="45921195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1D96BB-8521-9A02-1BF1-F583A9D1B03C}"/>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C3F1A3B7-09EF-CA8E-2453-91AF6199CF8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BD9CD22-F958-F47C-BCCB-DB5ED3A3B71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6B478D4-DE84-98B7-AA03-2E290D717FE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A16F35D-02E5-BD5B-C22A-43B61144E77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3DE2C9FB-EBA1-A365-EE40-BDB3584F35DC}"/>
              </a:ext>
            </a:extLst>
          </p:cNvPr>
          <p:cNvSpPr>
            <a:spLocks noGrp="1"/>
          </p:cNvSpPr>
          <p:nvPr>
            <p:ph type="dt" sz="half" idx="10"/>
          </p:nvPr>
        </p:nvSpPr>
        <p:spPr/>
        <p:txBody>
          <a:bodyPr/>
          <a:lstStyle/>
          <a:p>
            <a:fld id="{89CC542E-C7FA-4500-895D-DF43758B8802}" type="datetimeFigureOut">
              <a:rPr lang="en-US" smtClean="0"/>
              <a:t>1/27/2026</a:t>
            </a:fld>
            <a:endParaRPr lang="en-US"/>
          </a:p>
        </p:txBody>
      </p:sp>
      <p:sp>
        <p:nvSpPr>
          <p:cNvPr id="8" name="Footer Placeholder 7">
            <a:extLst>
              <a:ext uri="{FF2B5EF4-FFF2-40B4-BE49-F238E27FC236}">
                <a16:creationId xmlns:a16="http://schemas.microsoft.com/office/drawing/2014/main" id="{5B3FE7CE-9E62-620E-7D56-3A1415780E4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3BCB3150-783F-F0F9-035C-4980C8DB946B}"/>
              </a:ext>
            </a:extLst>
          </p:cNvPr>
          <p:cNvSpPr>
            <a:spLocks noGrp="1"/>
          </p:cNvSpPr>
          <p:nvPr>
            <p:ph type="sldNum" sz="quarter" idx="12"/>
          </p:nvPr>
        </p:nvSpPr>
        <p:spPr/>
        <p:txBody>
          <a:bodyPr/>
          <a:lstStyle/>
          <a:p>
            <a:fld id="{1EF713D3-F54C-4B32-9128-BC9E74E764ED}" type="slidenum">
              <a:rPr lang="en-US" smtClean="0"/>
              <a:t>‹#›</a:t>
            </a:fld>
            <a:endParaRPr lang="en-US"/>
          </a:p>
        </p:txBody>
      </p:sp>
    </p:spTree>
    <p:extLst>
      <p:ext uri="{BB962C8B-B14F-4D97-AF65-F5344CB8AC3E}">
        <p14:creationId xmlns:p14="http://schemas.microsoft.com/office/powerpoint/2010/main" val="253138497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638B2A-27AB-CF15-78D6-44EDF6CA7BC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D0FBE89D-98BE-3041-64A4-1CAF37BA6FFC}"/>
              </a:ext>
            </a:extLst>
          </p:cNvPr>
          <p:cNvSpPr>
            <a:spLocks noGrp="1"/>
          </p:cNvSpPr>
          <p:nvPr>
            <p:ph type="dt" sz="half" idx="10"/>
          </p:nvPr>
        </p:nvSpPr>
        <p:spPr/>
        <p:txBody>
          <a:bodyPr/>
          <a:lstStyle/>
          <a:p>
            <a:fld id="{89CC542E-C7FA-4500-895D-DF43758B8802}" type="datetimeFigureOut">
              <a:rPr lang="en-US" smtClean="0"/>
              <a:t>1/27/2026</a:t>
            </a:fld>
            <a:endParaRPr lang="en-US"/>
          </a:p>
        </p:txBody>
      </p:sp>
      <p:sp>
        <p:nvSpPr>
          <p:cNvPr id="4" name="Footer Placeholder 3">
            <a:extLst>
              <a:ext uri="{FF2B5EF4-FFF2-40B4-BE49-F238E27FC236}">
                <a16:creationId xmlns:a16="http://schemas.microsoft.com/office/drawing/2014/main" id="{8E014700-2EFD-F20E-0C23-ACC4F20AE0A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5B919E0-8D20-E3BC-9358-9527C1977A35}"/>
              </a:ext>
            </a:extLst>
          </p:cNvPr>
          <p:cNvSpPr>
            <a:spLocks noGrp="1"/>
          </p:cNvSpPr>
          <p:nvPr>
            <p:ph type="sldNum" sz="quarter" idx="12"/>
          </p:nvPr>
        </p:nvSpPr>
        <p:spPr/>
        <p:txBody>
          <a:bodyPr/>
          <a:lstStyle/>
          <a:p>
            <a:fld id="{1EF713D3-F54C-4B32-9128-BC9E74E764ED}" type="slidenum">
              <a:rPr lang="en-US" smtClean="0"/>
              <a:t>‹#›</a:t>
            </a:fld>
            <a:endParaRPr lang="en-US"/>
          </a:p>
        </p:txBody>
      </p:sp>
    </p:spTree>
    <p:extLst>
      <p:ext uri="{BB962C8B-B14F-4D97-AF65-F5344CB8AC3E}">
        <p14:creationId xmlns:p14="http://schemas.microsoft.com/office/powerpoint/2010/main" val="175554839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E867DAC-0D04-AC83-0385-40AA6966C74D}"/>
              </a:ext>
            </a:extLst>
          </p:cNvPr>
          <p:cNvSpPr>
            <a:spLocks noGrp="1"/>
          </p:cNvSpPr>
          <p:nvPr>
            <p:ph type="dt" sz="half" idx="10"/>
          </p:nvPr>
        </p:nvSpPr>
        <p:spPr/>
        <p:txBody>
          <a:bodyPr/>
          <a:lstStyle/>
          <a:p>
            <a:fld id="{89CC542E-C7FA-4500-895D-DF43758B8802}" type="datetimeFigureOut">
              <a:rPr lang="en-US" smtClean="0"/>
              <a:t>1/27/2026</a:t>
            </a:fld>
            <a:endParaRPr lang="en-US"/>
          </a:p>
        </p:txBody>
      </p:sp>
      <p:sp>
        <p:nvSpPr>
          <p:cNvPr id="3" name="Footer Placeholder 2">
            <a:extLst>
              <a:ext uri="{FF2B5EF4-FFF2-40B4-BE49-F238E27FC236}">
                <a16:creationId xmlns:a16="http://schemas.microsoft.com/office/drawing/2014/main" id="{8FB42161-7ED6-172D-626F-65C27D7DC1E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D6C7AFEB-30BE-2BDD-792E-85AB02243CB1}"/>
              </a:ext>
            </a:extLst>
          </p:cNvPr>
          <p:cNvSpPr>
            <a:spLocks noGrp="1"/>
          </p:cNvSpPr>
          <p:nvPr>
            <p:ph type="sldNum" sz="quarter" idx="12"/>
          </p:nvPr>
        </p:nvSpPr>
        <p:spPr/>
        <p:txBody>
          <a:bodyPr/>
          <a:lstStyle/>
          <a:p>
            <a:fld id="{1EF713D3-F54C-4B32-9128-BC9E74E764ED}" type="slidenum">
              <a:rPr lang="en-US" smtClean="0"/>
              <a:t>‹#›</a:t>
            </a:fld>
            <a:endParaRPr lang="en-US"/>
          </a:p>
        </p:txBody>
      </p:sp>
    </p:spTree>
    <p:extLst>
      <p:ext uri="{BB962C8B-B14F-4D97-AF65-F5344CB8AC3E}">
        <p14:creationId xmlns:p14="http://schemas.microsoft.com/office/powerpoint/2010/main" val="41810997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27FF84-CF9F-6C7A-AAAC-DD90C5C6EE3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339A8715-605E-48AE-0821-82F068A1225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D56F27FD-100C-606D-AD3C-51FC0EA82DA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F6E8419-8C26-611B-7983-00ED1F8A860A}"/>
              </a:ext>
            </a:extLst>
          </p:cNvPr>
          <p:cNvSpPr>
            <a:spLocks noGrp="1"/>
          </p:cNvSpPr>
          <p:nvPr>
            <p:ph type="dt" sz="half" idx="10"/>
          </p:nvPr>
        </p:nvSpPr>
        <p:spPr/>
        <p:txBody>
          <a:bodyPr/>
          <a:lstStyle/>
          <a:p>
            <a:fld id="{89CC542E-C7FA-4500-895D-DF43758B8802}" type="datetimeFigureOut">
              <a:rPr lang="en-US" smtClean="0"/>
              <a:t>1/27/2026</a:t>
            </a:fld>
            <a:endParaRPr lang="en-US"/>
          </a:p>
        </p:txBody>
      </p:sp>
      <p:sp>
        <p:nvSpPr>
          <p:cNvPr id="6" name="Footer Placeholder 5">
            <a:extLst>
              <a:ext uri="{FF2B5EF4-FFF2-40B4-BE49-F238E27FC236}">
                <a16:creationId xmlns:a16="http://schemas.microsoft.com/office/drawing/2014/main" id="{F0BE8833-50FA-08B1-3D3C-B475E3E566F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18798A4-48AB-DE5D-70A4-56D2851C3B8D}"/>
              </a:ext>
            </a:extLst>
          </p:cNvPr>
          <p:cNvSpPr>
            <a:spLocks noGrp="1"/>
          </p:cNvSpPr>
          <p:nvPr>
            <p:ph type="sldNum" sz="quarter" idx="12"/>
          </p:nvPr>
        </p:nvSpPr>
        <p:spPr/>
        <p:txBody>
          <a:bodyPr/>
          <a:lstStyle/>
          <a:p>
            <a:fld id="{1EF713D3-F54C-4B32-9128-BC9E74E764ED}" type="slidenum">
              <a:rPr lang="en-US" smtClean="0"/>
              <a:t>‹#›</a:t>
            </a:fld>
            <a:endParaRPr lang="en-US"/>
          </a:p>
        </p:txBody>
      </p:sp>
    </p:spTree>
    <p:extLst>
      <p:ext uri="{BB962C8B-B14F-4D97-AF65-F5344CB8AC3E}">
        <p14:creationId xmlns:p14="http://schemas.microsoft.com/office/powerpoint/2010/main" val="50364106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32AE58-E101-18D7-5666-94E5AA7C408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00AE7DCC-659B-A9A7-182F-227ADFBA689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EBF5500E-FA83-D04C-C75C-F12AD6461A6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76829D2-38F3-A8E0-D67D-98D33A6799EC}"/>
              </a:ext>
            </a:extLst>
          </p:cNvPr>
          <p:cNvSpPr>
            <a:spLocks noGrp="1"/>
          </p:cNvSpPr>
          <p:nvPr>
            <p:ph type="dt" sz="half" idx="10"/>
          </p:nvPr>
        </p:nvSpPr>
        <p:spPr/>
        <p:txBody>
          <a:bodyPr/>
          <a:lstStyle/>
          <a:p>
            <a:fld id="{89CC542E-C7FA-4500-895D-DF43758B8802}" type="datetimeFigureOut">
              <a:rPr lang="en-US" smtClean="0"/>
              <a:t>1/27/2026</a:t>
            </a:fld>
            <a:endParaRPr lang="en-US"/>
          </a:p>
        </p:txBody>
      </p:sp>
      <p:sp>
        <p:nvSpPr>
          <p:cNvPr id="6" name="Footer Placeholder 5">
            <a:extLst>
              <a:ext uri="{FF2B5EF4-FFF2-40B4-BE49-F238E27FC236}">
                <a16:creationId xmlns:a16="http://schemas.microsoft.com/office/drawing/2014/main" id="{5254432F-F481-B588-F27D-021891F7C6B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3C0A6A1-07A3-21E0-877A-0FACF03DA9E4}"/>
              </a:ext>
            </a:extLst>
          </p:cNvPr>
          <p:cNvSpPr>
            <a:spLocks noGrp="1"/>
          </p:cNvSpPr>
          <p:nvPr>
            <p:ph type="sldNum" sz="quarter" idx="12"/>
          </p:nvPr>
        </p:nvSpPr>
        <p:spPr/>
        <p:txBody>
          <a:bodyPr/>
          <a:lstStyle/>
          <a:p>
            <a:fld id="{1EF713D3-F54C-4B32-9128-BC9E74E764ED}" type="slidenum">
              <a:rPr lang="en-US" smtClean="0"/>
              <a:t>‹#›</a:t>
            </a:fld>
            <a:endParaRPr lang="en-US"/>
          </a:p>
        </p:txBody>
      </p:sp>
    </p:spTree>
    <p:extLst>
      <p:ext uri="{BB962C8B-B14F-4D97-AF65-F5344CB8AC3E}">
        <p14:creationId xmlns:p14="http://schemas.microsoft.com/office/powerpoint/2010/main" val="296159665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5A94F1-8696-FE2C-0440-F297C04FD8C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0A2A2F5-0179-2C53-9458-DBFE5DE50E6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B76ADB7-F61B-7398-3D16-F671DD3346DD}"/>
              </a:ext>
            </a:extLst>
          </p:cNvPr>
          <p:cNvSpPr>
            <a:spLocks noGrp="1"/>
          </p:cNvSpPr>
          <p:nvPr>
            <p:ph type="dt" sz="half" idx="10"/>
          </p:nvPr>
        </p:nvSpPr>
        <p:spPr/>
        <p:txBody>
          <a:bodyPr/>
          <a:lstStyle/>
          <a:p>
            <a:fld id="{89CC542E-C7FA-4500-895D-DF43758B8802}" type="datetimeFigureOut">
              <a:rPr lang="en-US" smtClean="0"/>
              <a:t>1/27/2026</a:t>
            </a:fld>
            <a:endParaRPr lang="en-US"/>
          </a:p>
        </p:txBody>
      </p:sp>
      <p:sp>
        <p:nvSpPr>
          <p:cNvPr id="5" name="Footer Placeholder 4">
            <a:extLst>
              <a:ext uri="{FF2B5EF4-FFF2-40B4-BE49-F238E27FC236}">
                <a16:creationId xmlns:a16="http://schemas.microsoft.com/office/drawing/2014/main" id="{D9BB2F0A-558A-5570-4635-CBC6D53C39F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27C8504-53FB-99DB-24D1-63B60A64F7AD}"/>
              </a:ext>
            </a:extLst>
          </p:cNvPr>
          <p:cNvSpPr>
            <a:spLocks noGrp="1"/>
          </p:cNvSpPr>
          <p:nvPr>
            <p:ph type="sldNum" sz="quarter" idx="12"/>
          </p:nvPr>
        </p:nvSpPr>
        <p:spPr/>
        <p:txBody>
          <a:bodyPr/>
          <a:lstStyle/>
          <a:p>
            <a:fld id="{1EF713D3-F54C-4B32-9128-BC9E74E764ED}" type="slidenum">
              <a:rPr lang="en-US" smtClean="0"/>
              <a:t>‹#›</a:t>
            </a:fld>
            <a:endParaRPr lang="en-US"/>
          </a:p>
        </p:txBody>
      </p:sp>
    </p:spTree>
    <p:extLst>
      <p:ext uri="{BB962C8B-B14F-4D97-AF65-F5344CB8AC3E}">
        <p14:creationId xmlns:p14="http://schemas.microsoft.com/office/powerpoint/2010/main" val="93751100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43F44DF-4AD6-812A-D4E8-974365BFEEE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1A66765-F6B0-5B12-9F6A-6BEFB92323A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1ED8F86-86E2-4495-0F2B-81BC91C44BE5}"/>
              </a:ext>
            </a:extLst>
          </p:cNvPr>
          <p:cNvSpPr>
            <a:spLocks noGrp="1"/>
          </p:cNvSpPr>
          <p:nvPr>
            <p:ph type="dt" sz="half" idx="10"/>
          </p:nvPr>
        </p:nvSpPr>
        <p:spPr/>
        <p:txBody>
          <a:bodyPr/>
          <a:lstStyle/>
          <a:p>
            <a:fld id="{89CC542E-C7FA-4500-895D-DF43758B8802}" type="datetimeFigureOut">
              <a:rPr lang="en-US" smtClean="0"/>
              <a:t>1/27/2026</a:t>
            </a:fld>
            <a:endParaRPr lang="en-US"/>
          </a:p>
        </p:txBody>
      </p:sp>
      <p:sp>
        <p:nvSpPr>
          <p:cNvPr id="5" name="Footer Placeholder 4">
            <a:extLst>
              <a:ext uri="{FF2B5EF4-FFF2-40B4-BE49-F238E27FC236}">
                <a16:creationId xmlns:a16="http://schemas.microsoft.com/office/drawing/2014/main" id="{DE3F2E97-EE8A-4321-2FB3-E1A651D33EA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E3C28B3-8839-F211-D204-18510D4B67C7}"/>
              </a:ext>
            </a:extLst>
          </p:cNvPr>
          <p:cNvSpPr>
            <a:spLocks noGrp="1"/>
          </p:cNvSpPr>
          <p:nvPr>
            <p:ph type="sldNum" sz="quarter" idx="12"/>
          </p:nvPr>
        </p:nvSpPr>
        <p:spPr/>
        <p:txBody>
          <a:bodyPr/>
          <a:lstStyle/>
          <a:p>
            <a:fld id="{1EF713D3-F54C-4B32-9128-BC9E74E764ED}" type="slidenum">
              <a:rPr lang="en-US" smtClean="0"/>
              <a:t>‹#›</a:t>
            </a:fld>
            <a:endParaRPr lang="en-US"/>
          </a:p>
        </p:txBody>
      </p:sp>
    </p:spTree>
    <p:extLst>
      <p:ext uri="{BB962C8B-B14F-4D97-AF65-F5344CB8AC3E}">
        <p14:creationId xmlns:p14="http://schemas.microsoft.com/office/powerpoint/2010/main" val="299674846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455E0B3-406D-AE76-27EC-C9286C5A049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160255C2-3987-3D84-B5F8-2E654CD0573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D1BDF99-5EDE-9BAE-A64B-3A638CAB8C5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9CC542E-C7FA-4500-895D-DF43758B8802}" type="datetimeFigureOut">
              <a:rPr lang="en-US" smtClean="0"/>
              <a:t>1/27/2026</a:t>
            </a:fld>
            <a:endParaRPr lang="en-US"/>
          </a:p>
        </p:txBody>
      </p:sp>
      <p:sp>
        <p:nvSpPr>
          <p:cNvPr id="5" name="Footer Placeholder 4">
            <a:extLst>
              <a:ext uri="{FF2B5EF4-FFF2-40B4-BE49-F238E27FC236}">
                <a16:creationId xmlns:a16="http://schemas.microsoft.com/office/drawing/2014/main" id="{61865724-545E-0789-9B64-EE5D378F1B1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0D450806-15C1-BC1A-C8F6-88F44D58C14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1EF713D3-F54C-4B32-9128-BC9E74E764ED}" type="slidenum">
              <a:rPr lang="en-US" smtClean="0"/>
              <a:t>‹#›</a:t>
            </a:fld>
            <a:endParaRPr lang="en-US"/>
          </a:p>
        </p:txBody>
      </p:sp>
    </p:spTree>
    <p:extLst>
      <p:ext uri="{BB962C8B-B14F-4D97-AF65-F5344CB8AC3E}">
        <p14:creationId xmlns:p14="http://schemas.microsoft.com/office/powerpoint/2010/main" val="215260769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8.gif"/><Relationship Id="rId2" Type="http://schemas.openxmlformats.org/officeDocument/2006/relationships/image" Target="../media/image7.gif"/><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1" name="Rectangle 1030">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3" name="Rectangle 1032">
            <a:extLst>
              <a:ext uri="{FF2B5EF4-FFF2-40B4-BE49-F238E27FC236}">
                <a16:creationId xmlns:a16="http://schemas.microsoft.com/office/drawing/2014/main" id="{91E5A9A7-95C6-4F4F-B00E-C82E07FE62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7539" y="1417538"/>
            <a:ext cx="6875818" cy="4040744"/>
          </a:xfrm>
          <a:prstGeom prst="rect">
            <a:avLst/>
          </a:prstGeom>
          <a:gradFill>
            <a:gsLst>
              <a:gs pos="0">
                <a:srgbClr val="000000"/>
              </a:gs>
              <a:gs pos="100000">
                <a:schemeClr val="accent1">
                  <a:lumMod val="75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40" name="Rectangle 1039">
            <a:extLst>
              <a:ext uri="{FF2B5EF4-FFF2-40B4-BE49-F238E27FC236}">
                <a16:creationId xmlns:a16="http://schemas.microsoft.com/office/drawing/2014/main" id="{D07DD2DE-F619-49DD-B5E7-03A290FF4E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58495" y="2660473"/>
            <a:ext cx="4355594" cy="4038603"/>
          </a:xfrm>
          <a:prstGeom prst="rect">
            <a:avLst/>
          </a:prstGeom>
          <a:gradFill>
            <a:gsLst>
              <a:gs pos="0">
                <a:schemeClr val="accent1">
                  <a:alpha val="50000"/>
                </a:schemeClr>
              </a:gs>
              <a:gs pos="100000">
                <a:schemeClr val="accent1">
                  <a:lumMod val="50000"/>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1" name="Rectangle 1040">
            <a:extLst>
              <a:ext uri="{FF2B5EF4-FFF2-40B4-BE49-F238E27FC236}">
                <a16:creationId xmlns:a16="http://schemas.microsoft.com/office/drawing/2014/main" id="{85149191-5F60-4A28-AAFF-039F96B0F3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1180882" y="1638085"/>
            <a:ext cx="6857572" cy="3581401"/>
          </a:xfrm>
          <a:prstGeom prst="rect">
            <a:avLst/>
          </a:prstGeom>
          <a:gradFill>
            <a:gsLst>
              <a:gs pos="0">
                <a:srgbClr val="000000">
                  <a:alpha val="59000"/>
                </a:srgbClr>
              </a:gs>
              <a:gs pos="69000">
                <a:schemeClr val="accent1">
                  <a:alpha val="0"/>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39" name="Freeform: Shape 1038">
            <a:extLst>
              <a:ext uri="{FF2B5EF4-FFF2-40B4-BE49-F238E27FC236}">
                <a16:creationId xmlns:a16="http://schemas.microsoft.com/office/drawing/2014/main" id="{F8260ED5-17F7-4158-B241-D51DD4CF1B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747355" y="1201312"/>
            <a:ext cx="4808302" cy="4088666"/>
          </a:xfrm>
          <a:custGeom>
            <a:avLst/>
            <a:gdLst>
              <a:gd name="connsiteX0" fmla="*/ 48844 w 4808302"/>
              <a:gd name="connsiteY0" fmla="*/ 2888671 h 4088666"/>
              <a:gd name="connsiteX1" fmla="*/ 0 w 4808302"/>
              <a:gd name="connsiteY1" fmla="*/ 2404151 h 4088666"/>
              <a:gd name="connsiteX2" fmla="*/ 2404151 w 4808302"/>
              <a:gd name="connsiteY2" fmla="*/ 0 h 4088666"/>
              <a:gd name="connsiteX3" fmla="*/ 4808302 w 4808302"/>
              <a:gd name="connsiteY3" fmla="*/ 2404151 h 4088666"/>
              <a:gd name="connsiteX4" fmla="*/ 4700216 w 4808302"/>
              <a:gd name="connsiteY4" fmla="*/ 3119072 h 4088666"/>
              <a:gd name="connsiteX5" fmla="*/ 4643143 w 4808302"/>
              <a:gd name="connsiteY5" fmla="*/ 3275009 h 4088666"/>
              <a:gd name="connsiteX6" fmla="*/ 690093 w 4808302"/>
              <a:gd name="connsiteY6" fmla="*/ 4088666 h 4088666"/>
              <a:gd name="connsiteX7" fmla="*/ 548991 w 4808302"/>
              <a:gd name="connsiteY7" fmla="*/ 3933414 h 4088666"/>
              <a:gd name="connsiteX8" fmla="*/ 48844 w 4808302"/>
              <a:gd name="connsiteY8" fmla="*/ 2888671 h 4088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08302" h="4088666">
                <a:moveTo>
                  <a:pt x="48844" y="2888671"/>
                </a:moveTo>
                <a:cubicBezTo>
                  <a:pt x="16818" y="2732167"/>
                  <a:pt x="0" y="2570123"/>
                  <a:pt x="0" y="2404151"/>
                </a:cubicBezTo>
                <a:cubicBezTo>
                  <a:pt x="0" y="1076375"/>
                  <a:pt x="1076375" y="0"/>
                  <a:pt x="2404151" y="0"/>
                </a:cubicBezTo>
                <a:cubicBezTo>
                  <a:pt x="3731927" y="0"/>
                  <a:pt x="4808302" y="1076375"/>
                  <a:pt x="4808302" y="2404151"/>
                </a:cubicBezTo>
                <a:cubicBezTo>
                  <a:pt x="4808302" y="2653109"/>
                  <a:pt x="4770461" y="2893229"/>
                  <a:pt x="4700216" y="3119072"/>
                </a:cubicBezTo>
                <a:lnTo>
                  <a:pt x="4643143" y="3275009"/>
                </a:lnTo>
                <a:lnTo>
                  <a:pt x="690093" y="4088666"/>
                </a:lnTo>
                <a:lnTo>
                  <a:pt x="548991" y="3933414"/>
                </a:lnTo>
                <a:cubicBezTo>
                  <a:pt x="304015" y="3636572"/>
                  <a:pt x="128908" y="3279932"/>
                  <a:pt x="48844" y="2888671"/>
                </a:cubicBezTo>
                <a:close/>
              </a:path>
            </a:pathLst>
          </a:custGeom>
          <a:gradFill>
            <a:gsLst>
              <a:gs pos="39000">
                <a:schemeClr val="accent1">
                  <a:lumMod val="60000"/>
                  <a:lumOff val="40000"/>
                  <a:alpha val="0"/>
                </a:schemeClr>
              </a:gs>
              <a:gs pos="100000">
                <a:schemeClr val="accent1">
                  <a:lumMod val="75000"/>
                  <a:alpha val="26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4DB2AE0D-2E20-06CF-FAFE-A6771049362B}"/>
              </a:ext>
            </a:extLst>
          </p:cNvPr>
          <p:cNvSpPr>
            <a:spLocks noGrp="1"/>
          </p:cNvSpPr>
          <p:nvPr>
            <p:ph type="title"/>
          </p:nvPr>
        </p:nvSpPr>
        <p:spPr>
          <a:xfrm>
            <a:off x="660041" y="2767106"/>
            <a:ext cx="2880828" cy="3071906"/>
          </a:xfrm>
        </p:spPr>
        <p:txBody>
          <a:bodyPr vert="horz" lIns="91440" tIns="45720" rIns="91440" bIns="45720" rtlCol="0" anchor="t">
            <a:normAutofit/>
          </a:bodyPr>
          <a:lstStyle/>
          <a:p>
            <a:r>
              <a:rPr lang="en-US" sz="4000" kern="1200">
                <a:solidFill>
                  <a:srgbClr val="FFFFFF"/>
                </a:solidFill>
                <a:latin typeface="+mj-lt"/>
                <a:ea typeface="+mj-ea"/>
                <a:cs typeface="+mj-cs"/>
              </a:rPr>
              <a:t>SDLC</a:t>
            </a:r>
          </a:p>
        </p:txBody>
      </p:sp>
      <p:pic>
        <p:nvPicPr>
          <p:cNvPr id="1026" name="Picture 2" descr="SDLC Models | Software Development Models">
            <a:extLst>
              <a:ext uri="{FF2B5EF4-FFF2-40B4-BE49-F238E27FC236}">
                <a16:creationId xmlns:a16="http://schemas.microsoft.com/office/drawing/2014/main" id="{8822099E-7363-537D-57FF-BAABA38CE8DA}"/>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tretch>
            <a:fillRect/>
          </a:stretch>
        </p:blipFill>
        <p:spPr bwMode="auto">
          <a:xfrm>
            <a:off x="4502428" y="1622563"/>
            <a:ext cx="7225748" cy="361287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2242032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E4CBFE-CBF7-B469-CC12-3FB134F170F9}"/>
              </a:ext>
            </a:extLst>
          </p:cNvPr>
          <p:cNvSpPr>
            <a:spLocks noGrp="1"/>
          </p:cNvSpPr>
          <p:nvPr>
            <p:ph type="title"/>
          </p:nvPr>
        </p:nvSpPr>
        <p:spPr/>
        <p:txBody>
          <a:bodyPr/>
          <a:lstStyle/>
          <a:p>
            <a:r>
              <a:rPr lang="en-US" dirty="0"/>
              <a:t>SDLC</a:t>
            </a:r>
          </a:p>
        </p:txBody>
      </p:sp>
      <p:sp>
        <p:nvSpPr>
          <p:cNvPr id="3" name="Content Placeholder 2">
            <a:extLst>
              <a:ext uri="{FF2B5EF4-FFF2-40B4-BE49-F238E27FC236}">
                <a16:creationId xmlns:a16="http://schemas.microsoft.com/office/drawing/2014/main" id="{972883BF-3F94-8507-9AAD-152A83FD6443}"/>
              </a:ext>
            </a:extLst>
          </p:cNvPr>
          <p:cNvSpPr>
            <a:spLocks noGrp="1"/>
          </p:cNvSpPr>
          <p:nvPr>
            <p:ph idx="1"/>
          </p:nvPr>
        </p:nvSpPr>
        <p:spPr/>
        <p:txBody>
          <a:bodyPr>
            <a:normAutofit fontScale="92500" lnSpcReduction="10000"/>
          </a:bodyPr>
          <a:lstStyle/>
          <a:p>
            <a:r>
              <a:rPr lang="en-US" dirty="0"/>
              <a:t>The </a:t>
            </a:r>
            <a:r>
              <a:rPr lang="en-US" b="1" dirty="0"/>
              <a:t>Software Development Life Cycle (SDLC)</a:t>
            </a:r>
            <a:r>
              <a:rPr lang="en-US" dirty="0"/>
              <a:t> is a framework that defines the process of software development in stages. It helps ensure that the software is developed systematically, with proper planning, execution, testing, and maintenance.</a:t>
            </a:r>
          </a:p>
          <a:p>
            <a:r>
              <a:rPr lang="en-US" b="1" dirty="0"/>
              <a:t>SDLC Phases</a:t>
            </a:r>
            <a:r>
              <a:rPr lang="en-US" dirty="0"/>
              <a:t> generally include:</a:t>
            </a:r>
          </a:p>
          <a:p>
            <a:pPr lvl="1"/>
            <a:r>
              <a:rPr lang="en-US" b="1" dirty="0"/>
              <a:t>Requirement Gathering &amp; Analysis</a:t>
            </a:r>
            <a:r>
              <a:rPr lang="en-US" dirty="0"/>
              <a:t>: Understanding and documenting the client’s needs.</a:t>
            </a:r>
          </a:p>
          <a:p>
            <a:pPr lvl="1"/>
            <a:r>
              <a:rPr lang="en-US" b="1" dirty="0"/>
              <a:t>System Design</a:t>
            </a:r>
            <a:r>
              <a:rPr lang="en-US" dirty="0"/>
              <a:t>: Architecting the software based on requirements.</a:t>
            </a:r>
          </a:p>
          <a:p>
            <a:pPr lvl="1"/>
            <a:r>
              <a:rPr lang="en-US" b="1" dirty="0"/>
              <a:t>Implementation</a:t>
            </a:r>
            <a:r>
              <a:rPr lang="en-US" dirty="0"/>
              <a:t>: Writing the actual code for the system.</a:t>
            </a:r>
          </a:p>
          <a:p>
            <a:pPr lvl="1"/>
            <a:r>
              <a:rPr lang="en-US" b="1" dirty="0"/>
              <a:t>Testing</a:t>
            </a:r>
            <a:r>
              <a:rPr lang="en-US" dirty="0"/>
              <a:t>: Verifying the system works as expected.</a:t>
            </a:r>
          </a:p>
          <a:p>
            <a:pPr lvl="1"/>
            <a:r>
              <a:rPr lang="en-US" b="1" dirty="0"/>
              <a:t>Deployment</a:t>
            </a:r>
            <a:r>
              <a:rPr lang="en-US" dirty="0"/>
              <a:t>: Making the system live and available to users.</a:t>
            </a:r>
          </a:p>
          <a:p>
            <a:pPr lvl="1"/>
            <a:r>
              <a:rPr lang="en-US" b="1" dirty="0"/>
              <a:t>Maintenance</a:t>
            </a:r>
            <a:r>
              <a:rPr lang="en-US" dirty="0"/>
              <a:t>: Ongoing support and improvements.</a:t>
            </a:r>
          </a:p>
          <a:p>
            <a:endParaRPr lang="en-US" dirty="0"/>
          </a:p>
        </p:txBody>
      </p:sp>
    </p:spTree>
    <p:extLst>
      <p:ext uri="{BB962C8B-B14F-4D97-AF65-F5344CB8AC3E}">
        <p14:creationId xmlns:p14="http://schemas.microsoft.com/office/powerpoint/2010/main" val="214382315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C42E0D-86D6-0759-484F-B2AFE784DD7C}"/>
              </a:ext>
            </a:extLst>
          </p:cNvPr>
          <p:cNvSpPr>
            <a:spLocks noGrp="1"/>
          </p:cNvSpPr>
          <p:nvPr>
            <p:ph type="title"/>
          </p:nvPr>
        </p:nvSpPr>
        <p:spPr/>
        <p:txBody>
          <a:bodyPr/>
          <a:lstStyle/>
          <a:p>
            <a:r>
              <a:rPr lang="en-US" dirty="0"/>
              <a:t>Types</a:t>
            </a:r>
          </a:p>
        </p:txBody>
      </p:sp>
      <p:sp>
        <p:nvSpPr>
          <p:cNvPr id="3" name="Content Placeholder 2">
            <a:extLst>
              <a:ext uri="{FF2B5EF4-FFF2-40B4-BE49-F238E27FC236}">
                <a16:creationId xmlns:a16="http://schemas.microsoft.com/office/drawing/2014/main" id="{F9F71FE8-65D1-6AD8-475D-D66E25E66C15}"/>
              </a:ext>
            </a:extLst>
          </p:cNvPr>
          <p:cNvSpPr>
            <a:spLocks noGrp="1"/>
          </p:cNvSpPr>
          <p:nvPr>
            <p:ph idx="1"/>
          </p:nvPr>
        </p:nvSpPr>
        <p:spPr/>
        <p:txBody>
          <a:bodyPr/>
          <a:lstStyle/>
          <a:p>
            <a:r>
              <a:rPr lang="en-US" b="1" dirty="0"/>
              <a:t>Types of SDLC Models</a:t>
            </a:r>
          </a:p>
          <a:p>
            <a:pPr lvl="1"/>
            <a:r>
              <a:rPr lang="en-US" b="1" dirty="0"/>
              <a:t>Waterfall Model</a:t>
            </a:r>
            <a:endParaRPr lang="en-US" dirty="0"/>
          </a:p>
          <a:p>
            <a:pPr lvl="1"/>
            <a:r>
              <a:rPr lang="en-US" b="1" dirty="0"/>
              <a:t>V-Model (V-Shaped)</a:t>
            </a:r>
            <a:endParaRPr lang="en-US" dirty="0"/>
          </a:p>
          <a:p>
            <a:pPr lvl="1"/>
            <a:r>
              <a:rPr lang="en-US" b="1" dirty="0"/>
              <a:t>Spiral Model</a:t>
            </a:r>
            <a:endParaRPr lang="en-US" dirty="0"/>
          </a:p>
          <a:p>
            <a:pPr lvl="1"/>
            <a:r>
              <a:rPr lang="en-US" b="1" dirty="0"/>
              <a:t>Prototyping Model</a:t>
            </a:r>
            <a:endParaRPr lang="en-US" dirty="0"/>
          </a:p>
          <a:p>
            <a:pPr lvl="1"/>
            <a:r>
              <a:rPr lang="en-US" b="1" dirty="0"/>
              <a:t>Incremental Model</a:t>
            </a:r>
            <a:endParaRPr lang="en-US" dirty="0"/>
          </a:p>
          <a:p>
            <a:pPr lvl="1"/>
            <a:r>
              <a:rPr lang="en-US" b="1" dirty="0"/>
              <a:t>Agile Model</a:t>
            </a:r>
            <a:endParaRPr lang="en-US" dirty="0"/>
          </a:p>
          <a:p>
            <a:pPr lvl="1"/>
            <a:r>
              <a:rPr lang="en-US" b="1" dirty="0"/>
              <a:t>RAD</a:t>
            </a:r>
          </a:p>
          <a:p>
            <a:pPr lvl="1"/>
            <a:r>
              <a:rPr lang="en-US" b="1" dirty="0"/>
              <a:t>Iterative</a:t>
            </a:r>
            <a:br>
              <a:rPr lang="en-US" b="1" dirty="0"/>
            </a:br>
            <a:endParaRPr lang="en-US" dirty="0"/>
          </a:p>
          <a:p>
            <a:endParaRPr lang="en-US" dirty="0"/>
          </a:p>
        </p:txBody>
      </p:sp>
    </p:spTree>
    <p:extLst>
      <p:ext uri="{BB962C8B-B14F-4D97-AF65-F5344CB8AC3E}">
        <p14:creationId xmlns:p14="http://schemas.microsoft.com/office/powerpoint/2010/main" val="37129314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086" name="Rectangle 3085">
            <a:extLst>
              <a:ext uri="{FF2B5EF4-FFF2-40B4-BE49-F238E27FC236}">
                <a16:creationId xmlns:a16="http://schemas.microsoft.com/office/drawing/2014/main" id="{665DBBEF-238B-476B-96AB-8AAC3224ECE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61EE73F-9352-8A32-5F17-6E387ABCD82F}"/>
              </a:ext>
            </a:extLst>
          </p:cNvPr>
          <p:cNvSpPr>
            <a:spLocks noGrp="1"/>
          </p:cNvSpPr>
          <p:nvPr>
            <p:ph type="title"/>
          </p:nvPr>
        </p:nvSpPr>
        <p:spPr>
          <a:xfrm>
            <a:off x="638882" y="639193"/>
            <a:ext cx="3571810" cy="3573516"/>
          </a:xfrm>
          <a:prstGeom prst="ellipse">
            <a:avLst/>
          </a:prstGeom>
        </p:spPr>
        <p:txBody>
          <a:bodyPr vert="horz" lIns="91440" tIns="45720" rIns="91440" bIns="45720" rtlCol="0" anchor="b">
            <a:normAutofit/>
          </a:bodyPr>
          <a:lstStyle/>
          <a:p>
            <a:r>
              <a:rPr lang="en-US" sz="4600" kern="1200">
                <a:solidFill>
                  <a:schemeClr val="tx1"/>
                </a:solidFill>
                <a:latin typeface="+mj-lt"/>
                <a:ea typeface="+mj-ea"/>
                <a:cs typeface="+mj-cs"/>
              </a:rPr>
              <a:t>Waterfall</a:t>
            </a:r>
          </a:p>
        </p:txBody>
      </p:sp>
      <p:sp>
        <p:nvSpPr>
          <p:cNvPr id="3088" name="sketch line">
            <a:extLst>
              <a:ext uri="{FF2B5EF4-FFF2-40B4-BE49-F238E27FC236}">
                <a16:creationId xmlns:a16="http://schemas.microsoft.com/office/drawing/2014/main" id="{3FCFB1DE-0B7E-48CC-BA90-B2AB0889F9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4409267"/>
            <a:ext cx="3255095" cy="18288"/>
          </a:xfrm>
          <a:custGeom>
            <a:avLst/>
            <a:gdLst>
              <a:gd name="csX0" fmla="*/ 0 w 3255095"/>
              <a:gd name="csY0" fmla="*/ 0 h 18288"/>
              <a:gd name="csX1" fmla="*/ 618468 w 3255095"/>
              <a:gd name="csY1" fmla="*/ 0 h 18288"/>
              <a:gd name="csX2" fmla="*/ 1269487 w 3255095"/>
              <a:gd name="csY2" fmla="*/ 0 h 18288"/>
              <a:gd name="csX3" fmla="*/ 1953057 w 3255095"/>
              <a:gd name="csY3" fmla="*/ 0 h 18288"/>
              <a:gd name="csX4" fmla="*/ 2636627 w 3255095"/>
              <a:gd name="csY4" fmla="*/ 0 h 18288"/>
              <a:gd name="csX5" fmla="*/ 3255095 w 3255095"/>
              <a:gd name="csY5" fmla="*/ 0 h 18288"/>
              <a:gd name="csX6" fmla="*/ 3255095 w 3255095"/>
              <a:gd name="csY6" fmla="*/ 18288 h 18288"/>
              <a:gd name="csX7" fmla="*/ 2538974 w 3255095"/>
              <a:gd name="csY7" fmla="*/ 18288 h 18288"/>
              <a:gd name="csX8" fmla="*/ 1822853 w 3255095"/>
              <a:gd name="csY8" fmla="*/ 18288 h 18288"/>
              <a:gd name="csX9" fmla="*/ 1171834 w 3255095"/>
              <a:gd name="csY9" fmla="*/ 18288 h 18288"/>
              <a:gd name="csX10" fmla="*/ 0 w 3255095"/>
              <a:gd name="csY10" fmla="*/ 18288 h 18288"/>
              <a:gd name="csX11" fmla="*/ 0 w 3255095"/>
              <a:gd name="csY11"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076" name="Picture 4" descr="SDLC Waterfall Model">
            <a:extLst>
              <a:ext uri="{FF2B5EF4-FFF2-40B4-BE49-F238E27FC236}">
                <a16:creationId xmlns:a16="http://schemas.microsoft.com/office/drawing/2014/main" id="{9C477C6C-9F2B-0C80-E8C0-70F2A7278B33}"/>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tretch>
            <a:fillRect/>
          </a:stretch>
        </p:blipFill>
        <p:spPr bwMode="auto">
          <a:xfrm>
            <a:off x="4654296" y="1007406"/>
            <a:ext cx="7214616" cy="481575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4867039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916688-7E8E-86CC-4A25-DC32A71C67F6}"/>
              </a:ext>
            </a:extLst>
          </p:cNvPr>
          <p:cNvSpPr>
            <a:spLocks noGrp="1"/>
          </p:cNvSpPr>
          <p:nvPr>
            <p:ph type="title"/>
          </p:nvPr>
        </p:nvSpPr>
        <p:spPr/>
        <p:txBody>
          <a:bodyPr/>
          <a:lstStyle/>
          <a:p>
            <a:r>
              <a:rPr lang="en-US" dirty="0"/>
              <a:t>Waterfall</a:t>
            </a:r>
          </a:p>
        </p:txBody>
      </p:sp>
      <p:sp>
        <p:nvSpPr>
          <p:cNvPr id="3" name="Content Placeholder 2">
            <a:extLst>
              <a:ext uri="{FF2B5EF4-FFF2-40B4-BE49-F238E27FC236}">
                <a16:creationId xmlns:a16="http://schemas.microsoft.com/office/drawing/2014/main" id="{E46F1EB3-45AE-9A04-046B-FA65209D92B0}"/>
              </a:ext>
            </a:extLst>
          </p:cNvPr>
          <p:cNvSpPr>
            <a:spLocks noGrp="1"/>
          </p:cNvSpPr>
          <p:nvPr>
            <p:ph idx="1"/>
          </p:nvPr>
        </p:nvSpPr>
        <p:spPr/>
        <p:txBody>
          <a:bodyPr>
            <a:normAutofit fontScale="70000" lnSpcReduction="20000"/>
          </a:bodyPr>
          <a:lstStyle/>
          <a:p>
            <a:pPr marL="0" indent="0" fontAlgn="base">
              <a:buNone/>
            </a:pPr>
            <a:r>
              <a:rPr lang="en-US" b="1" dirty="0"/>
              <a:t>Phases of Waterfall SDLC Models</a:t>
            </a:r>
          </a:p>
          <a:p>
            <a:pPr fontAlgn="base"/>
            <a:r>
              <a:rPr lang="en-US" b="1" dirty="0"/>
              <a:t>Requirements:</a:t>
            </a:r>
            <a:r>
              <a:rPr lang="en-US" dirty="0"/>
              <a:t> The first phase involves gathering requirements from stakeholders and analyzing them to understand the scope and objectives of the project.</a:t>
            </a:r>
          </a:p>
          <a:p>
            <a:pPr fontAlgn="base"/>
            <a:r>
              <a:rPr lang="en-US" b="1" dirty="0"/>
              <a:t>Design:</a:t>
            </a:r>
            <a:r>
              <a:rPr lang="en-US" dirty="0"/>
              <a:t> Once the requirements are understood, the design phase begins. This involves creating a detailed design document that outlines the software architecture, user interface, and system components.</a:t>
            </a:r>
          </a:p>
          <a:p>
            <a:pPr fontAlgn="base"/>
            <a:r>
              <a:rPr lang="en-US" b="1" dirty="0"/>
              <a:t>Development:</a:t>
            </a:r>
            <a:r>
              <a:rPr lang="en-US" dirty="0"/>
              <a:t> The Development phase includes implementation involves coding the software based on the design specifications. This phase also includes unit testing to ensure that each component of the software is working as expected.</a:t>
            </a:r>
          </a:p>
          <a:p>
            <a:pPr fontAlgn="base"/>
            <a:r>
              <a:rPr lang="en-US" b="1" dirty="0"/>
              <a:t>Testing:</a:t>
            </a:r>
            <a:r>
              <a:rPr lang="en-US" dirty="0"/>
              <a:t> In the testing phase, the software is tested as a whole to ensure that it meets the requirements and is free from defects.</a:t>
            </a:r>
          </a:p>
          <a:p>
            <a:pPr fontAlgn="base"/>
            <a:r>
              <a:rPr lang="en-US" b="1" dirty="0"/>
              <a:t>Deployment:</a:t>
            </a:r>
            <a:r>
              <a:rPr lang="en-US" dirty="0"/>
              <a:t> Once the software has been tested and approved, it is deployed to the production environment.</a:t>
            </a:r>
          </a:p>
          <a:p>
            <a:pPr fontAlgn="base"/>
            <a:r>
              <a:rPr lang="en-US" b="1" dirty="0"/>
              <a:t>Maintenance:</a:t>
            </a:r>
            <a:r>
              <a:rPr lang="en-US" dirty="0"/>
              <a:t> The final phase of the Waterfall Model is maintenance, which involves fixing any issues that arise after the software has been deployed and ensuring that it continues to meet the requirements over time. </a:t>
            </a:r>
          </a:p>
          <a:p>
            <a:endParaRPr lang="en-US" dirty="0"/>
          </a:p>
        </p:txBody>
      </p:sp>
    </p:spTree>
    <p:extLst>
      <p:ext uri="{BB962C8B-B14F-4D97-AF65-F5344CB8AC3E}">
        <p14:creationId xmlns:p14="http://schemas.microsoft.com/office/powerpoint/2010/main" val="259732858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5FFD35-C594-E825-7BAC-BA6D5F6D6014}"/>
              </a:ext>
            </a:extLst>
          </p:cNvPr>
          <p:cNvSpPr>
            <a:spLocks noGrp="1"/>
          </p:cNvSpPr>
          <p:nvPr>
            <p:ph type="title"/>
          </p:nvPr>
        </p:nvSpPr>
        <p:spPr/>
        <p:txBody>
          <a:bodyPr/>
          <a:lstStyle/>
          <a:p>
            <a:r>
              <a:rPr lang="en-US" dirty="0"/>
              <a:t>Waterfall - Pros</a:t>
            </a:r>
          </a:p>
        </p:txBody>
      </p:sp>
      <p:sp>
        <p:nvSpPr>
          <p:cNvPr id="3" name="Content Placeholder 2">
            <a:extLst>
              <a:ext uri="{FF2B5EF4-FFF2-40B4-BE49-F238E27FC236}">
                <a16:creationId xmlns:a16="http://schemas.microsoft.com/office/drawing/2014/main" id="{60349FB2-5E41-E05E-CDD6-F5220429A111}"/>
              </a:ext>
            </a:extLst>
          </p:cNvPr>
          <p:cNvSpPr>
            <a:spLocks noGrp="1"/>
          </p:cNvSpPr>
          <p:nvPr>
            <p:ph idx="1"/>
          </p:nvPr>
        </p:nvSpPr>
        <p:spPr/>
        <p:txBody>
          <a:bodyPr>
            <a:normAutofit fontScale="62500" lnSpcReduction="20000"/>
          </a:bodyPr>
          <a:lstStyle/>
          <a:p>
            <a:r>
              <a:rPr lang="en-US" b="1" dirty="0"/>
              <a:t>Simple and Easy to Understand</a:t>
            </a:r>
            <a:r>
              <a:rPr lang="en-US" dirty="0"/>
              <a:t>:</a:t>
            </a:r>
          </a:p>
          <a:p>
            <a:pPr lvl="1"/>
            <a:r>
              <a:rPr lang="en-US" dirty="0"/>
              <a:t>The Waterfall model is easy to understand because it follows a linear and sequential approach. Each phase has clear deliverables and timelines.</a:t>
            </a:r>
          </a:p>
          <a:p>
            <a:r>
              <a:rPr lang="en-US" b="1" dirty="0"/>
              <a:t>Clear and Structured Process</a:t>
            </a:r>
            <a:r>
              <a:rPr lang="en-US" dirty="0"/>
              <a:t>:</a:t>
            </a:r>
          </a:p>
          <a:p>
            <a:pPr lvl="1"/>
            <a:r>
              <a:rPr lang="en-US" dirty="0"/>
              <a:t>The model’s sequential nature provides a well-structured path from requirements gathering to maintenance. Each phase has a specific deliverable, making progress easy to track.</a:t>
            </a:r>
          </a:p>
          <a:p>
            <a:r>
              <a:rPr lang="en-US" b="1" dirty="0"/>
              <a:t>Well-Defined Documentation</a:t>
            </a:r>
            <a:r>
              <a:rPr lang="en-US" dirty="0"/>
              <a:t>:</a:t>
            </a:r>
          </a:p>
          <a:p>
            <a:pPr lvl="1"/>
            <a:r>
              <a:rPr lang="en-US" dirty="0"/>
              <a:t>Waterfall emphasizes detailed documentation at every phase (e.g., requirement specification, design documents, etc.). This makes the process well-documented and transparent.</a:t>
            </a:r>
          </a:p>
          <a:p>
            <a:r>
              <a:rPr lang="en-US" b="1" dirty="0"/>
              <a:t>Easy to Manage</a:t>
            </a:r>
            <a:r>
              <a:rPr lang="en-US" dirty="0"/>
              <a:t>:</a:t>
            </a:r>
          </a:p>
          <a:p>
            <a:pPr lvl="1"/>
            <a:r>
              <a:rPr lang="en-US" dirty="0"/>
              <a:t>Since the project follows a well-defined structure, it’s easier to manage from a project management perspective. Deadlines and milestones are clear.</a:t>
            </a:r>
          </a:p>
          <a:p>
            <a:r>
              <a:rPr lang="en-US" b="1" dirty="0"/>
              <a:t>Clear Requirements from the Start</a:t>
            </a:r>
            <a:r>
              <a:rPr lang="en-US" dirty="0"/>
              <a:t>:</a:t>
            </a:r>
          </a:p>
          <a:p>
            <a:pPr lvl="1"/>
            <a:r>
              <a:rPr lang="en-US" dirty="0"/>
              <a:t>Requirements are gathered in full at the beginning of the project, minimizing the chance of scope creep during the later stages.</a:t>
            </a:r>
          </a:p>
          <a:p>
            <a:r>
              <a:rPr lang="en-US" b="1" dirty="0"/>
              <a:t>Stable Requirements</a:t>
            </a:r>
            <a:r>
              <a:rPr lang="en-US" dirty="0"/>
              <a:t>:</a:t>
            </a:r>
          </a:p>
          <a:p>
            <a:pPr lvl="1"/>
            <a:r>
              <a:rPr lang="en-US" dirty="0"/>
              <a:t>The model works well for projects where requirements are stable and unlikely to change throughout the development process.</a:t>
            </a:r>
          </a:p>
          <a:p>
            <a:pPr fontAlgn="base"/>
            <a:endParaRPr lang="en-US" dirty="0"/>
          </a:p>
        </p:txBody>
      </p:sp>
    </p:spTree>
    <p:extLst>
      <p:ext uri="{BB962C8B-B14F-4D97-AF65-F5344CB8AC3E}">
        <p14:creationId xmlns:p14="http://schemas.microsoft.com/office/powerpoint/2010/main" val="185223314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44D2CB-15B9-A12D-340A-CB3BB09007C1}"/>
              </a:ext>
            </a:extLst>
          </p:cNvPr>
          <p:cNvSpPr>
            <a:spLocks noGrp="1"/>
          </p:cNvSpPr>
          <p:nvPr>
            <p:ph type="title"/>
          </p:nvPr>
        </p:nvSpPr>
        <p:spPr/>
        <p:txBody>
          <a:bodyPr/>
          <a:lstStyle/>
          <a:p>
            <a:r>
              <a:rPr lang="en-US" dirty="0"/>
              <a:t>Waterfall - Cons</a:t>
            </a:r>
          </a:p>
        </p:txBody>
      </p:sp>
      <p:sp>
        <p:nvSpPr>
          <p:cNvPr id="3" name="Content Placeholder 2">
            <a:extLst>
              <a:ext uri="{FF2B5EF4-FFF2-40B4-BE49-F238E27FC236}">
                <a16:creationId xmlns:a16="http://schemas.microsoft.com/office/drawing/2014/main" id="{BB8BA586-AE9F-BDE9-86B5-6955B66009AC}"/>
              </a:ext>
            </a:extLst>
          </p:cNvPr>
          <p:cNvSpPr>
            <a:spLocks noGrp="1"/>
          </p:cNvSpPr>
          <p:nvPr>
            <p:ph idx="1"/>
          </p:nvPr>
        </p:nvSpPr>
        <p:spPr/>
        <p:txBody>
          <a:bodyPr>
            <a:normAutofit fontScale="62500" lnSpcReduction="20000"/>
          </a:bodyPr>
          <a:lstStyle/>
          <a:p>
            <a:r>
              <a:rPr lang="en-US" b="1" dirty="0"/>
              <a:t>Inflexible to Changes</a:t>
            </a:r>
            <a:r>
              <a:rPr lang="en-US" dirty="0"/>
              <a:t>:</a:t>
            </a:r>
          </a:p>
          <a:p>
            <a:pPr lvl="1"/>
            <a:r>
              <a:rPr lang="en-US" dirty="0"/>
              <a:t>Waterfall is rigid and does not handle changes well once the project is underway. Any change in requirements during later stages (especially during coding or testing) is expensive and difficult to implement.</a:t>
            </a:r>
          </a:p>
          <a:p>
            <a:r>
              <a:rPr lang="en-US" b="1" dirty="0"/>
              <a:t>Late Testing</a:t>
            </a:r>
            <a:r>
              <a:rPr lang="en-US" dirty="0"/>
              <a:t>:</a:t>
            </a:r>
          </a:p>
          <a:p>
            <a:pPr lvl="1"/>
            <a:r>
              <a:rPr lang="en-US" dirty="0"/>
              <a:t>Testing happens only after the coding phase, which means that defects are identified late in the process, making them harder and more costly to fix.</a:t>
            </a:r>
          </a:p>
          <a:p>
            <a:r>
              <a:rPr lang="en-US" b="1" dirty="0"/>
              <a:t>No Working Software until Late</a:t>
            </a:r>
            <a:r>
              <a:rPr lang="en-US" dirty="0"/>
              <a:t>:</a:t>
            </a:r>
          </a:p>
          <a:p>
            <a:pPr lvl="1"/>
            <a:r>
              <a:rPr lang="en-US" dirty="0"/>
              <a:t>The first working version of the software is not available until the end of the development phase. This can lead to situations where stakeholders may not fully understand the product until it's mostly complete, leading to potential misalignments with expectations.</a:t>
            </a:r>
          </a:p>
          <a:p>
            <a:r>
              <a:rPr lang="en-US" b="1" dirty="0"/>
              <a:t>Assumes Requirements are Well-Understood</a:t>
            </a:r>
            <a:r>
              <a:rPr lang="en-US" dirty="0"/>
              <a:t>:</a:t>
            </a:r>
          </a:p>
          <a:p>
            <a:pPr lvl="1"/>
            <a:r>
              <a:rPr lang="en-US" dirty="0"/>
              <a:t>Waterfall assumes that the requirements are fully understood at the start of the project. This can be problematic if requirements are incomplete or ambiguous.</a:t>
            </a:r>
          </a:p>
          <a:p>
            <a:r>
              <a:rPr lang="en-US" b="1" dirty="0"/>
              <a:t>High Risk of Rework</a:t>
            </a:r>
            <a:r>
              <a:rPr lang="en-US" dirty="0"/>
              <a:t>:</a:t>
            </a:r>
          </a:p>
          <a:p>
            <a:pPr lvl="1"/>
            <a:r>
              <a:rPr lang="en-US" dirty="0"/>
              <a:t>If requirements are misinterpreted or evolve during the project, large parts of the system might need to be redone, leading to delays and increased costs.</a:t>
            </a:r>
          </a:p>
          <a:p>
            <a:r>
              <a:rPr lang="en-US" b="1" dirty="0"/>
              <a:t>Not Suitable for Complex or Large Projects</a:t>
            </a:r>
            <a:r>
              <a:rPr lang="en-US" dirty="0"/>
              <a:t>:</a:t>
            </a:r>
          </a:p>
          <a:p>
            <a:pPr lvl="1"/>
            <a:r>
              <a:rPr lang="en-US" dirty="0"/>
              <a:t>For large-scale projects or projects with uncertain requirements, Waterfall can become unwieldy, as it does not allow for flexibility and adaptation in later stages.</a:t>
            </a:r>
          </a:p>
          <a:p>
            <a:endParaRPr lang="en-US" dirty="0"/>
          </a:p>
        </p:txBody>
      </p:sp>
    </p:spTree>
    <p:extLst>
      <p:ext uri="{BB962C8B-B14F-4D97-AF65-F5344CB8AC3E}">
        <p14:creationId xmlns:p14="http://schemas.microsoft.com/office/powerpoint/2010/main" val="31558262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D2F242-FBC5-0FF8-8ED3-20B69FA82B27}"/>
              </a:ext>
            </a:extLst>
          </p:cNvPr>
          <p:cNvSpPr>
            <a:spLocks noGrp="1"/>
          </p:cNvSpPr>
          <p:nvPr>
            <p:ph type="title"/>
          </p:nvPr>
        </p:nvSpPr>
        <p:spPr/>
        <p:txBody>
          <a:bodyPr/>
          <a:lstStyle/>
          <a:p>
            <a:r>
              <a:rPr lang="en-US" dirty="0"/>
              <a:t>Waterfall – when to use?</a:t>
            </a:r>
          </a:p>
        </p:txBody>
      </p:sp>
      <p:sp>
        <p:nvSpPr>
          <p:cNvPr id="3" name="Content Placeholder 2">
            <a:extLst>
              <a:ext uri="{FF2B5EF4-FFF2-40B4-BE49-F238E27FC236}">
                <a16:creationId xmlns:a16="http://schemas.microsoft.com/office/drawing/2014/main" id="{69104E40-8B7E-5327-4958-A15B240A4167}"/>
              </a:ext>
            </a:extLst>
          </p:cNvPr>
          <p:cNvSpPr>
            <a:spLocks noGrp="1"/>
          </p:cNvSpPr>
          <p:nvPr>
            <p:ph idx="1"/>
          </p:nvPr>
        </p:nvSpPr>
        <p:spPr/>
        <p:txBody>
          <a:bodyPr>
            <a:normAutofit fontScale="62500" lnSpcReduction="20000"/>
          </a:bodyPr>
          <a:lstStyle/>
          <a:p>
            <a:r>
              <a:rPr lang="en-US" b="1" dirty="0"/>
              <a:t>Projects with Well-Defined Requirements</a:t>
            </a:r>
            <a:r>
              <a:rPr lang="en-US" dirty="0"/>
              <a:t>:</a:t>
            </a:r>
          </a:p>
          <a:p>
            <a:pPr lvl="1"/>
            <a:r>
              <a:rPr lang="en-US" dirty="0"/>
              <a:t>If the requirements are clear and unlikely to change, the Waterfall model is a good fit. This is common in industries with regulatory or compliance standards where specifications are rigid (e.g., healthcare, aerospace, or government projects).</a:t>
            </a:r>
          </a:p>
          <a:p>
            <a:r>
              <a:rPr lang="en-US" b="1" dirty="0"/>
              <a:t>Smaller Projects or Simple Systems</a:t>
            </a:r>
            <a:r>
              <a:rPr lang="en-US" dirty="0"/>
              <a:t>:</a:t>
            </a:r>
          </a:p>
          <a:p>
            <a:pPr lvl="1"/>
            <a:r>
              <a:rPr lang="en-US" dirty="0"/>
              <a:t>Waterfall is well-suited for small to medium-sized projects where the scope is clear and predictable. There is less complexity, so managing the project through sequential phases is easier.</a:t>
            </a:r>
          </a:p>
          <a:p>
            <a:r>
              <a:rPr lang="en-US" b="1" dirty="0"/>
              <a:t>Tightly Controlled and Predictable Projects</a:t>
            </a:r>
            <a:r>
              <a:rPr lang="en-US" dirty="0"/>
              <a:t>:</a:t>
            </a:r>
          </a:p>
          <a:p>
            <a:pPr lvl="1"/>
            <a:r>
              <a:rPr lang="en-US" dirty="0"/>
              <a:t>When the project scope, timeline, and resources are very controlled and predictable, Waterfall can be an effective approach to ensure that everything is completed on schedule and within budget.</a:t>
            </a:r>
          </a:p>
          <a:p>
            <a:r>
              <a:rPr lang="en-US" b="1" dirty="0"/>
              <a:t>Projects with Minimal Risk or Uncertainty</a:t>
            </a:r>
            <a:r>
              <a:rPr lang="en-US" dirty="0"/>
              <a:t>:</a:t>
            </a:r>
          </a:p>
          <a:p>
            <a:pPr lvl="1"/>
            <a:r>
              <a:rPr lang="en-US" dirty="0"/>
              <a:t>For projects where the risk of changes in requirements or unexpected technical challenges is low, Waterfall can work well. It’s ideal for projects where the technology and business requirements are stable and unlikely to change.</a:t>
            </a:r>
          </a:p>
          <a:p>
            <a:r>
              <a:rPr lang="en-US" b="1" dirty="0"/>
              <a:t>Regulatory or Compliance-driven Projects</a:t>
            </a:r>
            <a:r>
              <a:rPr lang="en-US" dirty="0"/>
              <a:t>:</a:t>
            </a:r>
          </a:p>
          <a:p>
            <a:pPr lvl="1"/>
            <a:r>
              <a:rPr lang="en-US" dirty="0"/>
              <a:t>Projects that need to follow strict regulations or standards (e.g., software in medical or financial sectors) can benefit from Waterfall because of its heavy documentation and clear traceability.</a:t>
            </a:r>
          </a:p>
          <a:p>
            <a:r>
              <a:rPr lang="en-US" b="1" dirty="0"/>
              <a:t>Well-Documented or Fixed-Scope Projects</a:t>
            </a:r>
            <a:r>
              <a:rPr lang="en-US" dirty="0"/>
              <a:t>:</a:t>
            </a:r>
          </a:p>
          <a:p>
            <a:pPr lvl="1"/>
            <a:r>
              <a:rPr lang="en-US" dirty="0"/>
              <a:t>When the requirements and expectations are explicitly defined and fixed, and there is a need for thorough documentation at every step, Waterfall’s emphasis on documentation can be advantageous.</a:t>
            </a:r>
          </a:p>
          <a:p>
            <a:endParaRPr lang="en-US" dirty="0"/>
          </a:p>
        </p:txBody>
      </p:sp>
    </p:spTree>
    <p:extLst>
      <p:ext uri="{BB962C8B-B14F-4D97-AF65-F5344CB8AC3E}">
        <p14:creationId xmlns:p14="http://schemas.microsoft.com/office/powerpoint/2010/main" val="55030178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110" name="Rectangle 4109">
            <a:extLst>
              <a:ext uri="{FF2B5EF4-FFF2-40B4-BE49-F238E27FC236}">
                <a16:creationId xmlns:a16="http://schemas.microsoft.com/office/drawing/2014/main" id="{6753252F-4873-4F63-801D-CC719279A7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12" name="Rectangle 4111">
            <a:extLst>
              <a:ext uri="{FF2B5EF4-FFF2-40B4-BE49-F238E27FC236}">
                <a16:creationId xmlns:a16="http://schemas.microsoft.com/office/drawing/2014/main" id="{047C8CCB-F95D-4249-92DD-651249D353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2013557" cy="6858000"/>
          </a:xfrm>
          <a:prstGeom prst="rect">
            <a:avLst/>
          </a:prstGeom>
          <a:solidFill>
            <a:srgbClr val="56395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F1F7E7D-BFD5-13D3-41B1-C280973C883F}"/>
              </a:ext>
            </a:extLst>
          </p:cNvPr>
          <p:cNvSpPr>
            <a:spLocks noGrp="1"/>
          </p:cNvSpPr>
          <p:nvPr>
            <p:ph type="title"/>
          </p:nvPr>
        </p:nvSpPr>
        <p:spPr>
          <a:xfrm>
            <a:off x="640080" y="2074363"/>
            <a:ext cx="2752354" cy="2709275"/>
          </a:xfrm>
          <a:prstGeom prst="ellipse">
            <a:avLst/>
          </a:prstGeom>
          <a:solidFill>
            <a:srgbClr val="262626"/>
          </a:solidFill>
          <a:ln w="174625" cmpd="thinThick">
            <a:solidFill>
              <a:srgbClr val="262626"/>
            </a:solidFill>
          </a:ln>
        </p:spPr>
        <p:txBody>
          <a:bodyPr vert="horz" lIns="91440" tIns="45720" rIns="91440" bIns="45720" rtlCol="0" anchor="ctr">
            <a:normAutofit/>
          </a:bodyPr>
          <a:lstStyle/>
          <a:p>
            <a:pPr algn="ctr"/>
            <a:r>
              <a:rPr lang="en-US" sz="2600" kern="1200">
                <a:solidFill>
                  <a:srgbClr val="FFFFFF"/>
                </a:solidFill>
                <a:latin typeface="+mj-lt"/>
                <a:ea typeface="+mj-ea"/>
                <a:cs typeface="+mj-cs"/>
              </a:rPr>
              <a:t>Iterative</a:t>
            </a:r>
          </a:p>
        </p:txBody>
      </p:sp>
      <p:pic>
        <p:nvPicPr>
          <p:cNvPr id="2050" name="Picture 2" descr="The iterative life cycle model in software development involves repeated cycles of planning, design, implementation, and testing, allowing for continuous improvement and adaptation based on feedback. Instead of a single, sequential process, it breaks down the project into smaller, manageable chunks, each with its own iteration. This approach is particularly useful when requirements are not fully defined or when the project is complex and evolving.">
            <a:extLst>
              <a:ext uri="{FF2B5EF4-FFF2-40B4-BE49-F238E27FC236}">
                <a16:creationId xmlns:a16="http://schemas.microsoft.com/office/drawing/2014/main" id="{DB1C4F26-E69E-C041-988A-38ED29184483}"/>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tretch>
            <a:fillRect/>
          </a:stretch>
        </p:blipFill>
        <p:spPr bwMode="auto">
          <a:xfrm>
            <a:off x="4653251" y="961812"/>
            <a:ext cx="5958896" cy="493098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9982842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2E75C6-A456-C925-90BF-D0443FF44C5A}"/>
              </a:ext>
            </a:extLst>
          </p:cNvPr>
          <p:cNvSpPr>
            <a:spLocks noGrp="1"/>
          </p:cNvSpPr>
          <p:nvPr>
            <p:ph type="title"/>
          </p:nvPr>
        </p:nvSpPr>
        <p:spPr/>
        <p:txBody>
          <a:bodyPr/>
          <a:lstStyle/>
          <a:p>
            <a:r>
              <a:rPr lang="en-US" dirty="0"/>
              <a:t>Iterative</a:t>
            </a:r>
          </a:p>
        </p:txBody>
      </p:sp>
      <p:sp>
        <p:nvSpPr>
          <p:cNvPr id="3" name="Content Placeholder 2">
            <a:extLst>
              <a:ext uri="{FF2B5EF4-FFF2-40B4-BE49-F238E27FC236}">
                <a16:creationId xmlns:a16="http://schemas.microsoft.com/office/drawing/2014/main" id="{1225E42E-5B2F-1408-40F7-A2EEA61C2EBE}"/>
              </a:ext>
            </a:extLst>
          </p:cNvPr>
          <p:cNvSpPr>
            <a:spLocks noGrp="1"/>
          </p:cNvSpPr>
          <p:nvPr>
            <p:ph idx="1"/>
          </p:nvPr>
        </p:nvSpPr>
        <p:spPr/>
        <p:txBody>
          <a:bodyPr>
            <a:normAutofit fontScale="92500" lnSpcReduction="20000"/>
          </a:bodyPr>
          <a:lstStyle/>
          <a:p>
            <a:r>
              <a:rPr lang="en-US" b="1" dirty="0"/>
              <a:t>Iterative SDLC</a:t>
            </a:r>
            <a:r>
              <a:rPr lang="en-US" dirty="0"/>
              <a:t> is a </a:t>
            </a:r>
            <a:r>
              <a:rPr lang="en-US" b="1" dirty="0"/>
              <a:t>software development methodology</a:t>
            </a:r>
            <a:r>
              <a:rPr lang="en-US" dirty="0"/>
              <a:t> where the system is </a:t>
            </a:r>
            <a:r>
              <a:rPr lang="en-US" b="1" dirty="0"/>
              <a:t>developed and refined in repeated cycles (iterations)</a:t>
            </a:r>
            <a:r>
              <a:rPr lang="en-US" dirty="0"/>
              <a:t> rather than building it all at once.</a:t>
            </a:r>
          </a:p>
          <a:p>
            <a:r>
              <a:rPr lang="en-US" dirty="0"/>
              <a:t>The main idea: Start with a </a:t>
            </a:r>
            <a:r>
              <a:rPr lang="en-US" b="1" dirty="0"/>
              <a:t>simple version</a:t>
            </a:r>
            <a:r>
              <a:rPr lang="en-US" dirty="0"/>
              <a:t>, then gradually improve it through multiple </a:t>
            </a:r>
            <a:r>
              <a:rPr lang="en-US" b="1" dirty="0"/>
              <a:t>iterations</a:t>
            </a:r>
            <a:r>
              <a:rPr lang="en-US" dirty="0"/>
              <a:t> until the final system meets all requirements.</a:t>
            </a:r>
          </a:p>
          <a:p>
            <a:r>
              <a:rPr lang="en-US" dirty="0"/>
              <a:t>Each iteration is like a </a:t>
            </a:r>
            <a:r>
              <a:rPr lang="en-US" b="1" dirty="0"/>
              <a:t>mini-project</a:t>
            </a:r>
            <a:r>
              <a:rPr lang="en-US" dirty="0"/>
              <a:t>, including planning, design, coding, and testing.</a:t>
            </a:r>
          </a:p>
          <a:p>
            <a:r>
              <a:rPr lang="en-US" b="1" dirty="0"/>
              <a:t>Key Principle:</a:t>
            </a:r>
            <a:r>
              <a:rPr lang="en-US" dirty="0"/>
              <a:t> “Develop, test, get feedback, refine, repeat.”</a:t>
            </a:r>
          </a:p>
          <a:p>
            <a:r>
              <a:rPr lang="en-US" b="1" dirty="0"/>
              <a:t>Difference from Waterfall:</a:t>
            </a:r>
            <a:endParaRPr lang="en-US" dirty="0"/>
          </a:p>
          <a:p>
            <a:r>
              <a:rPr lang="en-US" dirty="0"/>
              <a:t>Waterfall: Linear, one phase after another.</a:t>
            </a:r>
          </a:p>
          <a:p>
            <a:r>
              <a:rPr lang="en-US" dirty="0"/>
              <a:t>Iterative: Cyclical, each cycle produces a better version of the software.</a:t>
            </a:r>
          </a:p>
        </p:txBody>
      </p:sp>
    </p:spTree>
    <p:extLst>
      <p:ext uri="{BB962C8B-B14F-4D97-AF65-F5344CB8AC3E}">
        <p14:creationId xmlns:p14="http://schemas.microsoft.com/office/powerpoint/2010/main" val="277127728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7C70F8-BBF1-EB0E-CB26-5A5BBEB350AA}"/>
              </a:ext>
            </a:extLst>
          </p:cNvPr>
          <p:cNvSpPr>
            <a:spLocks noGrp="1"/>
          </p:cNvSpPr>
          <p:nvPr>
            <p:ph type="title"/>
          </p:nvPr>
        </p:nvSpPr>
        <p:spPr/>
        <p:txBody>
          <a:bodyPr/>
          <a:lstStyle/>
          <a:p>
            <a:r>
              <a:rPr lang="en-US" dirty="0"/>
              <a:t>Iterative </a:t>
            </a:r>
          </a:p>
        </p:txBody>
      </p:sp>
      <p:sp>
        <p:nvSpPr>
          <p:cNvPr id="3" name="Content Placeholder 2">
            <a:extLst>
              <a:ext uri="{FF2B5EF4-FFF2-40B4-BE49-F238E27FC236}">
                <a16:creationId xmlns:a16="http://schemas.microsoft.com/office/drawing/2014/main" id="{3405436E-142D-B6B7-1352-F77741DFF388}"/>
              </a:ext>
            </a:extLst>
          </p:cNvPr>
          <p:cNvSpPr>
            <a:spLocks noGrp="1"/>
          </p:cNvSpPr>
          <p:nvPr>
            <p:ph idx="1"/>
          </p:nvPr>
        </p:nvSpPr>
        <p:spPr/>
        <p:txBody>
          <a:bodyPr>
            <a:normAutofit fontScale="55000" lnSpcReduction="20000"/>
          </a:bodyPr>
          <a:lstStyle/>
          <a:p>
            <a:r>
              <a:rPr lang="en-US" dirty="0"/>
              <a:t>The development process is divided into multiple </a:t>
            </a:r>
            <a:r>
              <a:rPr lang="en-US" b="1" dirty="0"/>
              <a:t>iterations</a:t>
            </a:r>
            <a:r>
              <a:rPr lang="en-US" dirty="0"/>
              <a:t>, and each iteration follows a mini-SDLC cycle.</a:t>
            </a:r>
          </a:p>
          <a:p>
            <a:r>
              <a:rPr lang="en-US" b="1" dirty="0"/>
              <a:t>Step-by-Step Process</a:t>
            </a:r>
          </a:p>
          <a:p>
            <a:r>
              <a:rPr lang="en-US" b="1" dirty="0"/>
              <a:t>Initial Planning &amp; Requirements</a:t>
            </a:r>
            <a:endParaRPr lang="en-US" dirty="0"/>
          </a:p>
          <a:p>
            <a:pPr lvl="1"/>
            <a:r>
              <a:rPr lang="en-US" dirty="0"/>
              <a:t>Identify basic requirements</a:t>
            </a:r>
          </a:p>
          <a:p>
            <a:pPr lvl="1"/>
            <a:r>
              <a:rPr lang="en-US" dirty="0"/>
              <a:t>High-level design is prepared</a:t>
            </a:r>
          </a:p>
          <a:p>
            <a:r>
              <a:rPr lang="en-US" b="1" dirty="0"/>
              <a:t>Iteration Development</a:t>
            </a:r>
            <a:br>
              <a:rPr lang="en-US" dirty="0"/>
            </a:br>
            <a:r>
              <a:rPr lang="en-US" dirty="0"/>
              <a:t>Each iteration includes:</a:t>
            </a:r>
          </a:p>
          <a:p>
            <a:pPr lvl="1"/>
            <a:r>
              <a:rPr lang="en-US" dirty="0"/>
              <a:t>Requirement refinement</a:t>
            </a:r>
          </a:p>
          <a:p>
            <a:pPr lvl="1"/>
            <a:r>
              <a:rPr lang="en-US" dirty="0"/>
              <a:t>Design</a:t>
            </a:r>
          </a:p>
          <a:p>
            <a:pPr lvl="1"/>
            <a:r>
              <a:rPr lang="en-US" dirty="0"/>
              <a:t>Implementation</a:t>
            </a:r>
          </a:p>
          <a:p>
            <a:pPr lvl="1"/>
            <a:r>
              <a:rPr lang="en-US" dirty="0"/>
              <a:t>Testing</a:t>
            </a:r>
          </a:p>
          <a:p>
            <a:r>
              <a:rPr lang="en-US" b="1" dirty="0"/>
              <a:t>Evaluation</a:t>
            </a:r>
            <a:endParaRPr lang="en-US" dirty="0"/>
          </a:p>
          <a:p>
            <a:pPr lvl="1"/>
            <a:r>
              <a:rPr lang="en-US" dirty="0"/>
              <a:t>Users and stakeholders review the working version</a:t>
            </a:r>
          </a:p>
          <a:p>
            <a:pPr lvl="1"/>
            <a:r>
              <a:rPr lang="en-US" dirty="0"/>
              <a:t>Feedback is collected</a:t>
            </a:r>
          </a:p>
          <a:p>
            <a:r>
              <a:rPr lang="en-US" b="1" dirty="0"/>
              <a:t>Next Iteration</a:t>
            </a:r>
            <a:endParaRPr lang="en-US" dirty="0"/>
          </a:p>
          <a:p>
            <a:pPr lvl="1"/>
            <a:r>
              <a:rPr lang="en-US" dirty="0"/>
              <a:t>Improvements, new features, and fixes are added</a:t>
            </a:r>
          </a:p>
          <a:p>
            <a:pPr lvl="1"/>
            <a:r>
              <a:rPr lang="en-US" dirty="0"/>
              <a:t>Process repeats until the system is complete</a:t>
            </a:r>
          </a:p>
          <a:p>
            <a:endParaRPr lang="en-US" dirty="0"/>
          </a:p>
        </p:txBody>
      </p:sp>
    </p:spTree>
    <p:extLst>
      <p:ext uri="{BB962C8B-B14F-4D97-AF65-F5344CB8AC3E}">
        <p14:creationId xmlns:p14="http://schemas.microsoft.com/office/powerpoint/2010/main" val="289562872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5BB183-00F3-8B0B-017C-0AF156801CD8}"/>
              </a:ext>
            </a:extLst>
          </p:cNvPr>
          <p:cNvSpPr>
            <a:spLocks noGrp="1"/>
          </p:cNvSpPr>
          <p:nvPr>
            <p:ph type="title"/>
          </p:nvPr>
        </p:nvSpPr>
        <p:spPr/>
        <p:txBody>
          <a:bodyPr/>
          <a:lstStyle/>
          <a:p>
            <a:r>
              <a:rPr lang="en-US" dirty="0"/>
              <a:t>Iterative - Pros</a:t>
            </a:r>
          </a:p>
        </p:txBody>
      </p:sp>
      <p:sp>
        <p:nvSpPr>
          <p:cNvPr id="3" name="Content Placeholder 2">
            <a:extLst>
              <a:ext uri="{FF2B5EF4-FFF2-40B4-BE49-F238E27FC236}">
                <a16:creationId xmlns:a16="http://schemas.microsoft.com/office/drawing/2014/main" id="{DCF837AC-3D19-EF9C-819B-F2CE52287549}"/>
              </a:ext>
            </a:extLst>
          </p:cNvPr>
          <p:cNvSpPr>
            <a:spLocks noGrp="1"/>
          </p:cNvSpPr>
          <p:nvPr>
            <p:ph idx="1"/>
          </p:nvPr>
        </p:nvSpPr>
        <p:spPr/>
        <p:txBody>
          <a:bodyPr>
            <a:normAutofit fontScale="92500" lnSpcReduction="10000"/>
          </a:bodyPr>
          <a:lstStyle/>
          <a:p>
            <a:r>
              <a:rPr lang="en-US" b="1" dirty="0"/>
              <a:t>Flexibility</a:t>
            </a:r>
            <a:r>
              <a:rPr lang="en-US" dirty="0"/>
              <a:t>: Easy to adapt to changing requirements during development.</a:t>
            </a:r>
          </a:p>
          <a:p>
            <a:r>
              <a:rPr lang="en-US" b="1" dirty="0"/>
              <a:t>Early Deliverables</a:t>
            </a:r>
            <a:r>
              <a:rPr lang="en-US" dirty="0"/>
              <a:t>: Provides early versions of working software for stakeholder feedback.</a:t>
            </a:r>
          </a:p>
          <a:p>
            <a:r>
              <a:rPr lang="en-US" b="1" dirty="0"/>
              <a:t>Continuous Improvement</a:t>
            </a:r>
            <a:r>
              <a:rPr lang="en-US" dirty="0"/>
              <a:t>: Iterative cycles allow for ongoing refinement of features.</a:t>
            </a:r>
          </a:p>
          <a:p>
            <a:r>
              <a:rPr lang="en-US" b="1" dirty="0"/>
              <a:t>Risk Reduction</a:t>
            </a:r>
            <a:r>
              <a:rPr lang="en-US" dirty="0"/>
              <a:t>: Risks are identified early, reducing the chances of major project failure.</a:t>
            </a:r>
          </a:p>
          <a:p>
            <a:r>
              <a:rPr lang="en-US" b="1" dirty="0"/>
              <a:t>Frequent Testing</a:t>
            </a:r>
            <a:r>
              <a:rPr lang="en-US" dirty="0"/>
              <a:t>: Continuous testing ensures higher-quality software.</a:t>
            </a:r>
          </a:p>
          <a:p>
            <a:r>
              <a:rPr lang="en-US" b="1" dirty="0"/>
              <a:t>User Involvement</a:t>
            </a:r>
            <a:r>
              <a:rPr lang="en-US" dirty="0"/>
              <a:t>: Frequent feedback from users ensures the product meets their needs.</a:t>
            </a:r>
          </a:p>
          <a:p>
            <a:endParaRPr lang="en-US" dirty="0"/>
          </a:p>
        </p:txBody>
      </p:sp>
    </p:spTree>
    <p:extLst>
      <p:ext uri="{BB962C8B-B14F-4D97-AF65-F5344CB8AC3E}">
        <p14:creationId xmlns:p14="http://schemas.microsoft.com/office/powerpoint/2010/main" val="138115104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2F9FCB-6DCC-C0D0-18D8-12AFBDE0776C}"/>
              </a:ext>
            </a:extLst>
          </p:cNvPr>
          <p:cNvSpPr>
            <a:spLocks noGrp="1"/>
          </p:cNvSpPr>
          <p:nvPr>
            <p:ph type="title"/>
          </p:nvPr>
        </p:nvSpPr>
        <p:spPr/>
        <p:txBody>
          <a:bodyPr/>
          <a:lstStyle/>
          <a:p>
            <a:r>
              <a:rPr lang="en-US" dirty="0"/>
              <a:t>Iterative - Cons</a:t>
            </a:r>
          </a:p>
        </p:txBody>
      </p:sp>
      <p:sp>
        <p:nvSpPr>
          <p:cNvPr id="3" name="Content Placeholder 2">
            <a:extLst>
              <a:ext uri="{FF2B5EF4-FFF2-40B4-BE49-F238E27FC236}">
                <a16:creationId xmlns:a16="http://schemas.microsoft.com/office/drawing/2014/main" id="{4865F3A2-0C50-F321-A2B1-263621BF5578}"/>
              </a:ext>
            </a:extLst>
          </p:cNvPr>
          <p:cNvSpPr>
            <a:spLocks noGrp="1"/>
          </p:cNvSpPr>
          <p:nvPr>
            <p:ph idx="1"/>
          </p:nvPr>
        </p:nvSpPr>
        <p:spPr/>
        <p:txBody>
          <a:bodyPr>
            <a:normAutofit fontScale="92500" lnSpcReduction="20000"/>
          </a:bodyPr>
          <a:lstStyle/>
          <a:p>
            <a:r>
              <a:rPr lang="en-US" b="1" dirty="0"/>
              <a:t>Initial Planning Needs</a:t>
            </a:r>
            <a:r>
              <a:rPr lang="en-US" dirty="0"/>
              <a:t>: Core requirements must still be defined initially, which can be challenging.</a:t>
            </a:r>
          </a:p>
          <a:p>
            <a:r>
              <a:rPr lang="en-US" b="1" dirty="0"/>
              <a:t>Complex Management</a:t>
            </a:r>
            <a:r>
              <a:rPr lang="en-US" dirty="0"/>
              <a:t>: Managing multiple iterations and changes can be difficult.</a:t>
            </a:r>
          </a:p>
          <a:p>
            <a:r>
              <a:rPr lang="en-US" b="1" dirty="0"/>
              <a:t>Rework</a:t>
            </a:r>
            <a:r>
              <a:rPr lang="en-US" dirty="0"/>
              <a:t>: Frequent changes based on feedback may lead to rework and delays.</a:t>
            </a:r>
          </a:p>
          <a:p>
            <a:r>
              <a:rPr lang="en-US" b="1" dirty="0"/>
              <a:t>Scope Creep</a:t>
            </a:r>
            <a:r>
              <a:rPr lang="en-US" dirty="0"/>
              <a:t>: Ongoing feedback may lead to uncontrolled scope expansion.</a:t>
            </a:r>
          </a:p>
          <a:p>
            <a:r>
              <a:rPr lang="en-US" b="1" dirty="0"/>
              <a:t>Integration Challenges</a:t>
            </a:r>
            <a:r>
              <a:rPr lang="en-US" dirty="0"/>
              <a:t>: Integrating new features after each iteration can become complex.</a:t>
            </a:r>
          </a:p>
          <a:p>
            <a:r>
              <a:rPr lang="en-US" b="1" dirty="0"/>
              <a:t>Documentation Issues</a:t>
            </a:r>
            <a:r>
              <a:rPr lang="en-US" dirty="0"/>
              <a:t>: Can result in incomplete documentation due to rapid development cycles.</a:t>
            </a:r>
          </a:p>
          <a:p>
            <a:endParaRPr lang="en-US" dirty="0"/>
          </a:p>
        </p:txBody>
      </p:sp>
    </p:spTree>
    <p:extLst>
      <p:ext uri="{BB962C8B-B14F-4D97-AF65-F5344CB8AC3E}">
        <p14:creationId xmlns:p14="http://schemas.microsoft.com/office/powerpoint/2010/main" val="243951472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F8DEB4-844B-912B-5498-910659C59BCD}"/>
              </a:ext>
            </a:extLst>
          </p:cNvPr>
          <p:cNvSpPr>
            <a:spLocks noGrp="1"/>
          </p:cNvSpPr>
          <p:nvPr>
            <p:ph type="title"/>
          </p:nvPr>
        </p:nvSpPr>
        <p:spPr/>
        <p:txBody>
          <a:bodyPr/>
          <a:lstStyle/>
          <a:p>
            <a:r>
              <a:rPr lang="en-US" dirty="0"/>
              <a:t>Iterative – When to Use?</a:t>
            </a:r>
          </a:p>
        </p:txBody>
      </p:sp>
      <p:sp>
        <p:nvSpPr>
          <p:cNvPr id="3" name="Content Placeholder 2">
            <a:extLst>
              <a:ext uri="{FF2B5EF4-FFF2-40B4-BE49-F238E27FC236}">
                <a16:creationId xmlns:a16="http://schemas.microsoft.com/office/drawing/2014/main" id="{C5765D35-CAF6-309F-9576-CA629A4E908F}"/>
              </a:ext>
            </a:extLst>
          </p:cNvPr>
          <p:cNvSpPr>
            <a:spLocks noGrp="1"/>
          </p:cNvSpPr>
          <p:nvPr>
            <p:ph idx="1"/>
          </p:nvPr>
        </p:nvSpPr>
        <p:spPr/>
        <p:txBody>
          <a:bodyPr>
            <a:normAutofit/>
          </a:bodyPr>
          <a:lstStyle/>
          <a:p>
            <a:r>
              <a:rPr lang="en-US" dirty="0"/>
              <a:t>Iterative development is ideal when:</a:t>
            </a:r>
          </a:p>
          <a:p>
            <a:pPr lvl="1"/>
            <a:r>
              <a:rPr lang="en-US" dirty="0"/>
              <a:t>Requirements are </a:t>
            </a:r>
            <a:r>
              <a:rPr lang="en-US" b="1" dirty="0"/>
              <a:t>partially known</a:t>
            </a:r>
            <a:r>
              <a:rPr lang="en-US" dirty="0"/>
              <a:t> or expected to </a:t>
            </a:r>
            <a:r>
              <a:rPr lang="en-US" b="1" dirty="0"/>
              <a:t>change over time</a:t>
            </a:r>
            <a:r>
              <a:rPr lang="en-US" dirty="0"/>
              <a:t>.</a:t>
            </a:r>
          </a:p>
          <a:p>
            <a:pPr lvl="1"/>
            <a:r>
              <a:rPr lang="en-US" dirty="0"/>
              <a:t>Feedback is essential for </a:t>
            </a:r>
            <a:r>
              <a:rPr lang="en-US" b="1" dirty="0"/>
              <a:t>improving the system</a:t>
            </a:r>
            <a:r>
              <a:rPr lang="en-US" dirty="0"/>
              <a:t> gradually.</a:t>
            </a:r>
          </a:p>
          <a:p>
            <a:pPr lvl="1"/>
            <a:r>
              <a:rPr lang="en-US" dirty="0"/>
              <a:t>The project is </a:t>
            </a:r>
            <a:r>
              <a:rPr lang="en-US" b="1" dirty="0"/>
              <a:t>medium to large</a:t>
            </a:r>
            <a:r>
              <a:rPr lang="en-US" dirty="0"/>
              <a:t>, but delivering small increments is possible.</a:t>
            </a:r>
          </a:p>
          <a:p>
            <a:pPr lvl="1"/>
            <a:r>
              <a:rPr lang="en-US" dirty="0"/>
              <a:t>You want to </a:t>
            </a:r>
            <a:r>
              <a:rPr lang="en-US" b="1" dirty="0"/>
              <a:t>reduce risk</a:t>
            </a:r>
            <a:r>
              <a:rPr lang="en-US" dirty="0"/>
              <a:t> by testing features early.</a:t>
            </a:r>
          </a:p>
          <a:p>
            <a:r>
              <a:rPr lang="en-US" b="1" dirty="0"/>
              <a:t>Not ideal when:</a:t>
            </a:r>
            <a:endParaRPr lang="en-US" dirty="0"/>
          </a:p>
          <a:p>
            <a:pPr lvl="1"/>
            <a:r>
              <a:rPr lang="en-US" dirty="0"/>
              <a:t>Requirements are </a:t>
            </a:r>
            <a:r>
              <a:rPr lang="en-US" b="1" dirty="0"/>
              <a:t>completely fixed and known</a:t>
            </a:r>
            <a:r>
              <a:rPr lang="en-US" dirty="0"/>
              <a:t>.</a:t>
            </a:r>
          </a:p>
          <a:p>
            <a:pPr lvl="1"/>
            <a:r>
              <a:rPr lang="en-US" dirty="0"/>
              <a:t>The project has </a:t>
            </a:r>
            <a:r>
              <a:rPr lang="en-US" b="1" dirty="0"/>
              <a:t>strict deadlines</a:t>
            </a:r>
            <a:r>
              <a:rPr lang="en-US" dirty="0"/>
              <a:t> for the full system release.</a:t>
            </a:r>
          </a:p>
        </p:txBody>
      </p:sp>
    </p:spTree>
    <p:extLst>
      <p:ext uri="{BB962C8B-B14F-4D97-AF65-F5344CB8AC3E}">
        <p14:creationId xmlns:p14="http://schemas.microsoft.com/office/powerpoint/2010/main" val="287444533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141" name="Rectangle 5140">
            <a:extLst>
              <a:ext uri="{FF2B5EF4-FFF2-40B4-BE49-F238E27FC236}">
                <a16:creationId xmlns:a16="http://schemas.microsoft.com/office/drawing/2014/main" id="{665DBBEF-238B-476B-96AB-8AAC3224ECE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7078D94-2F52-9F26-066E-10AC11D6B484}"/>
              </a:ext>
            </a:extLst>
          </p:cNvPr>
          <p:cNvSpPr>
            <a:spLocks noGrp="1"/>
          </p:cNvSpPr>
          <p:nvPr>
            <p:ph type="title"/>
          </p:nvPr>
        </p:nvSpPr>
        <p:spPr>
          <a:xfrm>
            <a:off x="638882" y="639193"/>
            <a:ext cx="3571810" cy="3573516"/>
          </a:xfrm>
          <a:prstGeom prst="ellipse">
            <a:avLst/>
          </a:prstGeom>
        </p:spPr>
        <p:txBody>
          <a:bodyPr vert="horz" lIns="91440" tIns="45720" rIns="91440" bIns="45720" rtlCol="0" anchor="b">
            <a:normAutofit/>
          </a:bodyPr>
          <a:lstStyle/>
          <a:p>
            <a:r>
              <a:rPr lang="en-US" sz="5600" kern="1200">
                <a:solidFill>
                  <a:schemeClr val="tx1"/>
                </a:solidFill>
                <a:latin typeface="+mj-lt"/>
                <a:ea typeface="+mj-ea"/>
                <a:cs typeface="+mj-cs"/>
              </a:rPr>
              <a:t>V-Shaped</a:t>
            </a:r>
          </a:p>
        </p:txBody>
      </p:sp>
      <p:sp>
        <p:nvSpPr>
          <p:cNvPr id="5143" name="sketch line">
            <a:extLst>
              <a:ext uri="{FF2B5EF4-FFF2-40B4-BE49-F238E27FC236}">
                <a16:creationId xmlns:a16="http://schemas.microsoft.com/office/drawing/2014/main" id="{3FCFB1DE-0B7E-48CC-BA90-B2AB0889F9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4409267"/>
            <a:ext cx="3255095" cy="18288"/>
          </a:xfrm>
          <a:custGeom>
            <a:avLst/>
            <a:gdLst>
              <a:gd name="csX0" fmla="*/ 0 w 3255095"/>
              <a:gd name="csY0" fmla="*/ 0 h 18288"/>
              <a:gd name="csX1" fmla="*/ 618468 w 3255095"/>
              <a:gd name="csY1" fmla="*/ 0 h 18288"/>
              <a:gd name="csX2" fmla="*/ 1269487 w 3255095"/>
              <a:gd name="csY2" fmla="*/ 0 h 18288"/>
              <a:gd name="csX3" fmla="*/ 1953057 w 3255095"/>
              <a:gd name="csY3" fmla="*/ 0 h 18288"/>
              <a:gd name="csX4" fmla="*/ 2636627 w 3255095"/>
              <a:gd name="csY4" fmla="*/ 0 h 18288"/>
              <a:gd name="csX5" fmla="*/ 3255095 w 3255095"/>
              <a:gd name="csY5" fmla="*/ 0 h 18288"/>
              <a:gd name="csX6" fmla="*/ 3255095 w 3255095"/>
              <a:gd name="csY6" fmla="*/ 18288 h 18288"/>
              <a:gd name="csX7" fmla="*/ 2538974 w 3255095"/>
              <a:gd name="csY7" fmla="*/ 18288 h 18288"/>
              <a:gd name="csX8" fmla="*/ 1822853 w 3255095"/>
              <a:gd name="csY8" fmla="*/ 18288 h 18288"/>
              <a:gd name="csX9" fmla="*/ 1171834 w 3255095"/>
              <a:gd name="csY9" fmla="*/ 18288 h 18288"/>
              <a:gd name="csX10" fmla="*/ 0 w 3255095"/>
              <a:gd name="csY10" fmla="*/ 18288 h 18288"/>
              <a:gd name="csX11" fmla="*/ 0 w 3255095"/>
              <a:gd name="csY11"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Content Placeholder 10">
            <a:extLst>
              <a:ext uri="{FF2B5EF4-FFF2-40B4-BE49-F238E27FC236}">
                <a16:creationId xmlns:a16="http://schemas.microsoft.com/office/drawing/2014/main" id="{A85C81BE-A1FC-9A9F-2447-E22920669157}"/>
              </a:ext>
            </a:extLst>
          </p:cNvPr>
          <p:cNvPicPr>
            <a:picLocks noGrp="1" noChangeAspect="1"/>
          </p:cNvPicPr>
          <p:nvPr>
            <p:ph idx="1"/>
          </p:nvPr>
        </p:nvPicPr>
        <p:blipFill>
          <a:blip r:embed="rId2"/>
          <a:stretch>
            <a:fillRect/>
          </a:stretch>
        </p:blipFill>
        <p:spPr>
          <a:xfrm>
            <a:off x="4654296" y="962315"/>
            <a:ext cx="7214616" cy="4905938"/>
          </a:xfrm>
          <a:prstGeom prst="rect">
            <a:avLst/>
          </a:prstGeom>
        </p:spPr>
      </p:pic>
      <p:sp>
        <p:nvSpPr>
          <p:cNvPr id="4" name="AutoShape 2" descr="software-Testing-SDLC-V-model">
            <a:extLst>
              <a:ext uri="{FF2B5EF4-FFF2-40B4-BE49-F238E27FC236}">
                <a16:creationId xmlns:a16="http://schemas.microsoft.com/office/drawing/2014/main" id="{EE6FBA26-681F-1B62-692E-1B805FD43B59}"/>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9" name="AutoShape 4" descr="diagram-of-v-model">
            <a:extLst>
              <a:ext uri="{FF2B5EF4-FFF2-40B4-BE49-F238E27FC236}">
                <a16:creationId xmlns:a16="http://schemas.microsoft.com/office/drawing/2014/main" id="{1845A23B-360D-1A82-F129-291AE60B110C}"/>
              </a:ext>
            </a:extLst>
          </p:cNvPr>
          <p:cNvSpPr>
            <a:spLocks noChangeAspect="1" noChangeArrowheads="1"/>
          </p:cNvSpPr>
          <p:nvPr/>
        </p:nvSpPr>
        <p:spPr bwMode="auto">
          <a:xfrm>
            <a:off x="6096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285285003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FE42F4-196F-520A-3118-2312382527AD}"/>
              </a:ext>
            </a:extLst>
          </p:cNvPr>
          <p:cNvSpPr>
            <a:spLocks noGrp="1"/>
          </p:cNvSpPr>
          <p:nvPr>
            <p:ph type="title"/>
          </p:nvPr>
        </p:nvSpPr>
        <p:spPr/>
        <p:txBody>
          <a:bodyPr/>
          <a:lstStyle/>
          <a:p>
            <a:r>
              <a:rPr lang="en-US" dirty="0"/>
              <a:t>V-Shaped</a:t>
            </a:r>
          </a:p>
        </p:txBody>
      </p:sp>
      <p:sp>
        <p:nvSpPr>
          <p:cNvPr id="3" name="Content Placeholder 2">
            <a:extLst>
              <a:ext uri="{FF2B5EF4-FFF2-40B4-BE49-F238E27FC236}">
                <a16:creationId xmlns:a16="http://schemas.microsoft.com/office/drawing/2014/main" id="{18E3FD1A-B846-FA3A-78DE-41F2C21EB7F1}"/>
              </a:ext>
            </a:extLst>
          </p:cNvPr>
          <p:cNvSpPr>
            <a:spLocks noGrp="1"/>
          </p:cNvSpPr>
          <p:nvPr>
            <p:ph idx="1"/>
          </p:nvPr>
        </p:nvSpPr>
        <p:spPr/>
        <p:txBody>
          <a:bodyPr>
            <a:normAutofit fontScale="92500" lnSpcReduction="20000"/>
          </a:bodyPr>
          <a:lstStyle/>
          <a:p>
            <a:r>
              <a:rPr lang="en-US" dirty="0"/>
              <a:t>The </a:t>
            </a:r>
            <a:r>
              <a:rPr lang="en-US" b="1" dirty="0"/>
              <a:t>V-Shaped Model</a:t>
            </a:r>
            <a:r>
              <a:rPr lang="en-US" dirty="0"/>
              <a:t> (also called the </a:t>
            </a:r>
            <a:r>
              <a:rPr lang="en-US" b="1" dirty="0"/>
              <a:t>Verification &amp; Validation Model</a:t>
            </a:r>
            <a:r>
              <a:rPr lang="en-US" dirty="0"/>
              <a:t>) is a </a:t>
            </a:r>
            <a:r>
              <a:rPr lang="en-US" b="1" dirty="0"/>
              <a:t>software development life cycle model</a:t>
            </a:r>
            <a:r>
              <a:rPr lang="en-US" dirty="0"/>
              <a:t> where each development phase has a corresponding testing phase.</a:t>
            </a:r>
          </a:p>
          <a:p>
            <a:r>
              <a:rPr lang="en-US" dirty="0"/>
              <a:t>Its name comes from the </a:t>
            </a:r>
            <a:r>
              <a:rPr lang="en-US" b="1" dirty="0"/>
              <a:t>V-shape diagram</a:t>
            </a:r>
            <a:r>
              <a:rPr lang="en-US" dirty="0"/>
              <a:t>:</a:t>
            </a:r>
          </a:p>
          <a:p>
            <a:pPr lvl="1"/>
            <a:r>
              <a:rPr lang="en-US" b="1" dirty="0"/>
              <a:t>Left side of V</a:t>
            </a:r>
            <a:r>
              <a:rPr lang="en-US" dirty="0"/>
              <a:t> → Development phases</a:t>
            </a:r>
          </a:p>
          <a:p>
            <a:pPr lvl="1"/>
            <a:r>
              <a:rPr lang="en-US" b="1" dirty="0"/>
              <a:t>Right side of V</a:t>
            </a:r>
            <a:r>
              <a:rPr lang="en-US" dirty="0"/>
              <a:t> → Corresponding testing/validation phases</a:t>
            </a:r>
          </a:p>
          <a:p>
            <a:r>
              <a:rPr lang="en-US" dirty="0"/>
              <a:t>Emphasis: </a:t>
            </a:r>
            <a:r>
              <a:rPr lang="en-US" b="1" dirty="0"/>
              <a:t>Testing is planned in parallel with development</a:t>
            </a:r>
            <a:r>
              <a:rPr lang="en-US" dirty="0"/>
              <a:t> rather than at the end.</a:t>
            </a:r>
          </a:p>
          <a:p>
            <a:r>
              <a:rPr lang="en-US" b="1" dirty="0"/>
              <a:t>Key Principle:</a:t>
            </a:r>
            <a:r>
              <a:rPr lang="en-US" dirty="0"/>
              <a:t> “For every development activity, there is a corresponding testing activity.”</a:t>
            </a:r>
          </a:p>
          <a:p>
            <a:r>
              <a:rPr lang="en-US" dirty="0"/>
              <a:t>It is essentially an </a:t>
            </a:r>
            <a:r>
              <a:rPr lang="en-US" b="1" dirty="0"/>
              <a:t>extension of the Waterfall model</a:t>
            </a:r>
            <a:r>
              <a:rPr lang="en-US" dirty="0"/>
              <a:t>, but with a </a:t>
            </a:r>
            <a:r>
              <a:rPr lang="en-US" b="1" dirty="0"/>
              <a:t>strong focus on verification and validation</a:t>
            </a:r>
            <a:r>
              <a:rPr lang="en-US" dirty="0"/>
              <a:t>.</a:t>
            </a:r>
          </a:p>
        </p:txBody>
      </p:sp>
    </p:spTree>
    <p:extLst>
      <p:ext uri="{BB962C8B-B14F-4D97-AF65-F5344CB8AC3E}">
        <p14:creationId xmlns:p14="http://schemas.microsoft.com/office/powerpoint/2010/main" val="273070683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2778EB-3AF0-1DDC-6A07-4FEB8A13531D}"/>
              </a:ext>
            </a:extLst>
          </p:cNvPr>
          <p:cNvSpPr>
            <a:spLocks noGrp="1"/>
          </p:cNvSpPr>
          <p:nvPr>
            <p:ph type="title"/>
          </p:nvPr>
        </p:nvSpPr>
        <p:spPr/>
        <p:txBody>
          <a:bodyPr/>
          <a:lstStyle/>
          <a:p>
            <a:r>
              <a:rPr lang="en-US" dirty="0"/>
              <a:t>V-Shaped</a:t>
            </a:r>
          </a:p>
        </p:txBody>
      </p:sp>
      <p:sp>
        <p:nvSpPr>
          <p:cNvPr id="3" name="Content Placeholder 2">
            <a:extLst>
              <a:ext uri="{FF2B5EF4-FFF2-40B4-BE49-F238E27FC236}">
                <a16:creationId xmlns:a16="http://schemas.microsoft.com/office/drawing/2014/main" id="{9388CF56-F3C1-9CF7-131E-A03088EE1970}"/>
              </a:ext>
            </a:extLst>
          </p:cNvPr>
          <p:cNvSpPr>
            <a:spLocks noGrp="1"/>
          </p:cNvSpPr>
          <p:nvPr>
            <p:ph idx="1"/>
          </p:nvPr>
        </p:nvSpPr>
        <p:spPr/>
        <p:txBody>
          <a:bodyPr>
            <a:normAutofit fontScale="85000" lnSpcReduction="20000"/>
          </a:bodyPr>
          <a:lstStyle/>
          <a:p>
            <a:r>
              <a:rPr lang="en-US" dirty="0"/>
              <a:t>An extension of the Waterfall model where testing is emphasized at each stage, directly correlating development and testing phases.</a:t>
            </a:r>
          </a:p>
          <a:p>
            <a:r>
              <a:rPr lang="en-US" b="1" dirty="0"/>
              <a:t>Pros</a:t>
            </a:r>
            <a:r>
              <a:rPr lang="en-US" dirty="0"/>
              <a:t>:</a:t>
            </a:r>
          </a:p>
          <a:p>
            <a:pPr lvl="1"/>
            <a:r>
              <a:rPr lang="en-US" dirty="0"/>
              <a:t>Strong focus on verification and validation.</a:t>
            </a:r>
          </a:p>
          <a:p>
            <a:pPr lvl="1"/>
            <a:r>
              <a:rPr lang="en-US" dirty="0"/>
              <a:t>Each development phase has a corresponding testing phase, ensuring quality.</a:t>
            </a:r>
          </a:p>
          <a:p>
            <a:pPr lvl="1"/>
            <a:r>
              <a:rPr lang="en-US" dirty="0"/>
              <a:t>Clear and structured approach.</a:t>
            </a:r>
          </a:p>
          <a:p>
            <a:r>
              <a:rPr lang="en-US" b="1" dirty="0"/>
              <a:t>Cons</a:t>
            </a:r>
            <a:r>
              <a:rPr lang="en-US" dirty="0"/>
              <a:t>:</a:t>
            </a:r>
          </a:p>
          <a:p>
            <a:pPr lvl="1"/>
            <a:r>
              <a:rPr lang="en-US" dirty="0"/>
              <a:t>Like Waterfall, it is rigid and difficult to accommodate changes once development has begun.</a:t>
            </a:r>
          </a:p>
          <a:p>
            <a:pPr lvl="1"/>
            <a:r>
              <a:rPr lang="en-US" dirty="0"/>
              <a:t>High risk if requirements are misunderstood early on.</a:t>
            </a:r>
          </a:p>
          <a:p>
            <a:r>
              <a:rPr lang="en-US" b="1" dirty="0"/>
              <a:t>When to use</a:t>
            </a:r>
            <a:r>
              <a:rPr lang="en-US" dirty="0"/>
              <a:t>:</a:t>
            </a:r>
          </a:p>
          <a:p>
            <a:pPr lvl="1"/>
            <a:r>
              <a:rPr lang="en-US" dirty="0"/>
              <a:t>Projects with well-defined requirements and where validation at each stage is critical.</a:t>
            </a:r>
          </a:p>
          <a:p>
            <a:pPr lvl="1"/>
            <a:r>
              <a:rPr lang="en-US" dirty="0"/>
              <a:t>Projects that require rigorous testing and quality assurance (e.g., medical software, aerospace).</a:t>
            </a:r>
          </a:p>
          <a:p>
            <a:endParaRPr lang="en-US" dirty="0"/>
          </a:p>
        </p:txBody>
      </p:sp>
    </p:spTree>
    <p:extLst>
      <p:ext uri="{BB962C8B-B14F-4D97-AF65-F5344CB8AC3E}">
        <p14:creationId xmlns:p14="http://schemas.microsoft.com/office/powerpoint/2010/main" val="14593519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B0556B-CDBA-3C5F-F411-F58CABB4AC9C}"/>
              </a:ext>
            </a:extLst>
          </p:cNvPr>
          <p:cNvSpPr>
            <a:spLocks noGrp="1"/>
          </p:cNvSpPr>
          <p:nvPr>
            <p:ph type="title"/>
          </p:nvPr>
        </p:nvSpPr>
        <p:spPr/>
        <p:txBody>
          <a:bodyPr/>
          <a:lstStyle/>
          <a:p>
            <a:r>
              <a:rPr lang="en-US" dirty="0"/>
              <a:t>V-Shaped – When to use?</a:t>
            </a:r>
          </a:p>
        </p:txBody>
      </p:sp>
      <p:sp>
        <p:nvSpPr>
          <p:cNvPr id="3" name="Content Placeholder 2">
            <a:extLst>
              <a:ext uri="{FF2B5EF4-FFF2-40B4-BE49-F238E27FC236}">
                <a16:creationId xmlns:a16="http://schemas.microsoft.com/office/drawing/2014/main" id="{B1E7C063-7AE8-6D49-7057-B18480FC5335}"/>
              </a:ext>
            </a:extLst>
          </p:cNvPr>
          <p:cNvSpPr>
            <a:spLocks noGrp="1"/>
          </p:cNvSpPr>
          <p:nvPr>
            <p:ph idx="1"/>
          </p:nvPr>
        </p:nvSpPr>
        <p:spPr/>
        <p:txBody>
          <a:bodyPr>
            <a:normAutofit/>
          </a:bodyPr>
          <a:lstStyle/>
          <a:p>
            <a:r>
              <a:rPr lang="en-US" dirty="0"/>
              <a:t>V-Shaped SDLC is ideal when:</a:t>
            </a:r>
          </a:p>
          <a:p>
            <a:pPr lvl="1"/>
            <a:r>
              <a:rPr lang="en-US" dirty="0"/>
              <a:t>Requirements are </a:t>
            </a:r>
            <a:r>
              <a:rPr lang="en-US" b="1" dirty="0"/>
              <a:t>well-defined and stable</a:t>
            </a:r>
            <a:r>
              <a:rPr lang="en-US" dirty="0"/>
              <a:t> from the start.</a:t>
            </a:r>
          </a:p>
          <a:p>
            <a:pPr lvl="1"/>
            <a:r>
              <a:rPr lang="en-US" b="1" dirty="0"/>
              <a:t>High reliability</a:t>
            </a:r>
            <a:r>
              <a:rPr lang="en-US" dirty="0"/>
              <a:t> is required (e.g., medical, defense, avionics).</a:t>
            </a:r>
          </a:p>
          <a:p>
            <a:pPr lvl="1"/>
            <a:r>
              <a:rPr lang="en-US" dirty="0"/>
              <a:t>Projects are </a:t>
            </a:r>
            <a:r>
              <a:rPr lang="en-US" b="1" dirty="0"/>
              <a:t>small to medium-sized</a:t>
            </a:r>
            <a:r>
              <a:rPr lang="en-US" dirty="0"/>
              <a:t>, not huge enterprise systems.</a:t>
            </a:r>
          </a:p>
          <a:p>
            <a:pPr lvl="1"/>
            <a:r>
              <a:rPr lang="en-US" dirty="0"/>
              <a:t>There is </a:t>
            </a:r>
            <a:r>
              <a:rPr lang="en-US" b="1" dirty="0"/>
              <a:t>enough time for thorough testing</a:t>
            </a:r>
            <a:r>
              <a:rPr lang="en-US" dirty="0"/>
              <a:t>.</a:t>
            </a:r>
          </a:p>
          <a:p>
            <a:r>
              <a:rPr lang="en-US" b="1" dirty="0"/>
              <a:t>Not ideal when:</a:t>
            </a:r>
            <a:endParaRPr lang="en-US" dirty="0"/>
          </a:p>
          <a:p>
            <a:pPr lvl="1"/>
            <a:r>
              <a:rPr lang="en-US" dirty="0"/>
              <a:t>Requirements are </a:t>
            </a:r>
            <a:r>
              <a:rPr lang="en-US" b="1" dirty="0"/>
              <a:t>uncertain or evolving</a:t>
            </a:r>
            <a:r>
              <a:rPr lang="en-US" dirty="0"/>
              <a:t>.</a:t>
            </a:r>
          </a:p>
          <a:p>
            <a:pPr lvl="1"/>
            <a:r>
              <a:rPr lang="en-US" dirty="0"/>
              <a:t>Changes are frequent during development.</a:t>
            </a:r>
          </a:p>
          <a:p>
            <a:pPr lvl="1"/>
            <a:r>
              <a:rPr lang="en-US" dirty="0"/>
              <a:t>Rapid delivery is needed.</a:t>
            </a:r>
          </a:p>
          <a:p>
            <a:endParaRPr lang="en-US" dirty="0"/>
          </a:p>
        </p:txBody>
      </p:sp>
    </p:spTree>
    <p:extLst>
      <p:ext uri="{BB962C8B-B14F-4D97-AF65-F5344CB8AC3E}">
        <p14:creationId xmlns:p14="http://schemas.microsoft.com/office/powerpoint/2010/main" val="351522722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6158" name="Rectangle 6157">
            <a:extLst>
              <a:ext uri="{FF2B5EF4-FFF2-40B4-BE49-F238E27FC236}">
                <a16:creationId xmlns:a16="http://schemas.microsoft.com/office/drawing/2014/main" id="{665DBBEF-238B-476B-96AB-8AAC3224ECE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6832346-A994-6078-C3C6-0C12E53CBFD0}"/>
              </a:ext>
            </a:extLst>
          </p:cNvPr>
          <p:cNvSpPr>
            <a:spLocks noGrp="1"/>
          </p:cNvSpPr>
          <p:nvPr>
            <p:ph type="title"/>
          </p:nvPr>
        </p:nvSpPr>
        <p:spPr>
          <a:xfrm>
            <a:off x="638882" y="639193"/>
            <a:ext cx="3571810" cy="3573516"/>
          </a:xfrm>
          <a:prstGeom prst="ellipse">
            <a:avLst/>
          </a:prstGeom>
        </p:spPr>
        <p:txBody>
          <a:bodyPr vert="horz" lIns="91440" tIns="45720" rIns="91440" bIns="45720" rtlCol="0" anchor="b">
            <a:normAutofit/>
          </a:bodyPr>
          <a:lstStyle/>
          <a:p>
            <a:r>
              <a:rPr lang="en-US" sz="6600" kern="1200">
                <a:solidFill>
                  <a:schemeClr val="tx1"/>
                </a:solidFill>
                <a:latin typeface="+mj-lt"/>
                <a:ea typeface="+mj-ea"/>
                <a:cs typeface="+mj-cs"/>
              </a:rPr>
              <a:t>Spiral</a:t>
            </a:r>
          </a:p>
        </p:txBody>
      </p:sp>
      <p:sp>
        <p:nvSpPr>
          <p:cNvPr id="6160" name="sketch line">
            <a:extLst>
              <a:ext uri="{FF2B5EF4-FFF2-40B4-BE49-F238E27FC236}">
                <a16:creationId xmlns:a16="http://schemas.microsoft.com/office/drawing/2014/main" id="{3FCFB1DE-0B7E-48CC-BA90-B2AB0889F9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4409267"/>
            <a:ext cx="3255095" cy="18288"/>
          </a:xfrm>
          <a:custGeom>
            <a:avLst/>
            <a:gdLst>
              <a:gd name="csX0" fmla="*/ 0 w 3255095"/>
              <a:gd name="csY0" fmla="*/ 0 h 18288"/>
              <a:gd name="csX1" fmla="*/ 618468 w 3255095"/>
              <a:gd name="csY1" fmla="*/ 0 h 18288"/>
              <a:gd name="csX2" fmla="*/ 1269487 w 3255095"/>
              <a:gd name="csY2" fmla="*/ 0 h 18288"/>
              <a:gd name="csX3" fmla="*/ 1953057 w 3255095"/>
              <a:gd name="csY3" fmla="*/ 0 h 18288"/>
              <a:gd name="csX4" fmla="*/ 2636627 w 3255095"/>
              <a:gd name="csY4" fmla="*/ 0 h 18288"/>
              <a:gd name="csX5" fmla="*/ 3255095 w 3255095"/>
              <a:gd name="csY5" fmla="*/ 0 h 18288"/>
              <a:gd name="csX6" fmla="*/ 3255095 w 3255095"/>
              <a:gd name="csY6" fmla="*/ 18288 h 18288"/>
              <a:gd name="csX7" fmla="*/ 2538974 w 3255095"/>
              <a:gd name="csY7" fmla="*/ 18288 h 18288"/>
              <a:gd name="csX8" fmla="*/ 1822853 w 3255095"/>
              <a:gd name="csY8" fmla="*/ 18288 h 18288"/>
              <a:gd name="csX9" fmla="*/ 1171834 w 3255095"/>
              <a:gd name="csY9" fmla="*/ 18288 h 18288"/>
              <a:gd name="csX10" fmla="*/ 0 w 3255095"/>
              <a:gd name="csY10" fmla="*/ 18288 h 18288"/>
              <a:gd name="csX11" fmla="*/ 0 w 3255095"/>
              <a:gd name="csY11"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148" name="Picture 4" descr="SDLC Spiral Model">
            <a:extLst>
              <a:ext uri="{FF2B5EF4-FFF2-40B4-BE49-F238E27FC236}">
                <a16:creationId xmlns:a16="http://schemas.microsoft.com/office/drawing/2014/main" id="{70BE5EE0-6B77-F4A2-2517-9392FDC45447}"/>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tretch>
            <a:fillRect/>
          </a:stretch>
        </p:blipFill>
        <p:spPr bwMode="auto">
          <a:xfrm>
            <a:off x="5694541" y="640080"/>
            <a:ext cx="5134126" cy="555040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871443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990812-42FE-4195-20D4-8F57DC05B7A2}"/>
              </a:ext>
            </a:extLst>
          </p:cNvPr>
          <p:cNvSpPr>
            <a:spLocks noGrp="1"/>
          </p:cNvSpPr>
          <p:nvPr>
            <p:ph type="title"/>
          </p:nvPr>
        </p:nvSpPr>
        <p:spPr/>
        <p:txBody>
          <a:bodyPr/>
          <a:lstStyle/>
          <a:p>
            <a:r>
              <a:rPr lang="en-US" dirty="0"/>
              <a:t>Spiral</a:t>
            </a:r>
          </a:p>
        </p:txBody>
      </p:sp>
      <p:sp>
        <p:nvSpPr>
          <p:cNvPr id="3" name="Content Placeholder 2">
            <a:extLst>
              <a:ext uri="{FF2B5EF4-FFF2-40B4-BE49-F238E27FC236}">
                <a16:creationId xmlns:a16="http://schemas.microsoft.com/office/drawing/2014/main" id="{9958865E-8940-D96D-2408-93ED926A6C5B}"/>
              </a:ext>
            </a:extLst>
          </p:cNvPr>
          <p:cNvSpPr>
            <a:spLocks noGrp="1"/>
          </p:cNvSpPr>
          <p:nvPr>
            <p:ph idx="1"/>
          </p:nvPr>
        </p:nvSpPr>
        <p:spPr/>
        <p:txBody>
          <a:bodyPr>
            <a:normAutofit fontScale="92500" lnSpcReduction="20000"/>
          </a:bodyPr>
          <a:lstStyle/>
          <a:p>
            <a:r>
              <a:rPr lang="en-US" dirty="0"/>
              <a:t>The </a:t>
            </a:r>
            <a:r>
              <a:rPr lang="en-US" b="1" dirty="0"/>
              <a:t>Spiral Model</a:t>
            </a:r>
            <a:r>
              <a:rPr lang="en-US" dirty="0"/>
              <a:t> is a </a:t>
            </a:r>
            <a:r>
              <a:rPr lang="en-US" b="1" dirty="0"/>
              <a:t>risk-driven software development lifecycle (SDLC) model</a:t>
            </a:r>
            <a:r>
              <a:rPr lang="en-US" dirty="0"/>
              <a:t> that combines </a:t>
            </a:r>
            <a:r>
              <a:rPr lang="en-US" b="1" dirty="0"/>
              <a:t>iterative development</a:t>
            </a:r>
            <a:r>
              <a:rPr lang="en-US" dirty="0"/>
              <a:t> with elements of </a:t>
            </a:r>
            <a:r>
              <a:rPr lang="en-US" b="1" dirty="0"/>
              <a:t>Waterfall</a:t>
            </a:r>
            <a:r>
              <a:rPr lang="en-US" dirty="0"/>
              <a:t> and </a:t>
            </a:r>
            <a:r>
              <a:rPr lang="en-US" b="1" dirty="0"/>
              <a:t>prototyping</a:t>
            </a:r>
            <a:r>
              <a:rPr lang="en-US" dirty="0"/>
              <a:t>.</a:t>
            </a:r>
          </a:p>
          <a:p>
            <a:r>
              <a:rPr lang="en-US" dirty="0"/>
              <a:t>It was introduced by </a:t>
            </a:r>
            <a:r>
              <a:rPr lang="en-US" b="1" dirty="0"/>
              <a:t>Barry Boehm</a:t>
            </a:r>
            <a:r>
              <a:rPr lang="en-US" dirty="0"/>
              <a:t> in 1986.</a:t>
            </a:r>
          </a:p>
          <a:p>
            <a:r>
              <a:rPr lang="en-US" dirty="0"/>
              <a:t>The model emphasizes </a:t>
            </a:r>
            <a:r>
              <a:rPr lang="en-US" b="1" dirty="0"/>
              <a:t>risk assessment</a:t>
            </a:r>
            <a:r>
              <a:rPr lang="en-US" dirty="0"/>
              <a:t> at every stage.</a:t>
            </a:r>
          </a:p>
          <a:p>
            <a:r>
              <a:rPr lang="en-US" dirty="0"/>
              <a:t>Development proceeds in </a:t>
            </a:r>
            <a:r>
              <a:rPr lang="en-US" b="1" dirty="0"/>
              <a:t>repeated loops (spirals)</a:t>
            </a:r>
            <a:r>
              <a:rPr lang="en-US" dirty="0"/>
              <a:t>, each representing a development phase.</a:t>
            </a:r>
          </a:p>
          <a:p>
            <a:r>
              <a:rPr lang="en-US" b="1" dirty="0"/>
              <a:t>Key Principle:</a:t>
            </a:r>
            <a:r>
              <a:rPr lang="en-US" dirty="0"/>
              <a:t> “Develop software in iterative cycles while continuously analyzing and mitigating risks.”</a:t>
            </a:r>
          </a:p>
          <a:p>
            <a:r>
              <a:rPr lang="en-US" b="1" dirty="0"/>
              <a:t>Analogy:</a:t>
            </a:r>
            <a:r>
              <a:rPr lang="en-US" dirty="0"/>
              <a:t> Imagine climbing a spiral staircase—you go around in loops, each time higher and closer to the final product, while checking for obstacles (risks) before moving up.</a:t>
            </a:r>
          </a:p>
        </p:txBody>
      </p:sp>
    </p:spTree>
    <p:extLst>
      <p:ext uri="{BB962C8B-B14F-4D97-AF65-F5344CB8AC3E}">
        <p14:creationId xmlns:p14="http://schemas.microsoft.com/office/powerpoint/2010/main" val="375924669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46A57B-E665-CF22-5E88-07A305CF60E5}"/>
              </a:ext>
            </a:extLst>
          </p:cNvPr>
          <p:cNvSpPr>
            <a:spLocks noGrp="1"/>
          </p:cNvSpPr>
          <p:nvPr>
            <p:ph type="title"/>
          </p:nvPr>
        </p:nvSpPr>
        <p:spPr/>
        <p:txBody>
          <a:bodyPr/>
          <a:lstStyle/>
          <a:p>
            <a:r>
              <a:rPr lang="en-US" dirty="0"/>
              <a:t>Spiral</a:t>
            </a:r>
          </a:p>
        </p:txBody>
      </p:sp>
      <p:sp>
        <p:nvSpPr>
          <p:cNvPr id="3" name="Content Placeholder 2">
            <a:extLst>
              <a:ext uri="{FF2B5EF4-FFF2-40B4-BE49-F238E27FC236}">
                <a16:creationId xmlns:a16="http://schemas.microsoft.com/office/drawing/2014/main" id="{4DB7D7B1-7D6B-DDCE-6467-781AA90EAFC7}"/>
              </a:ext>
            </a:extLst>
          </p:cNvPr>
          <p:cNvSpPr>
            <a:spLocks noGrp="1"/>
          </p:cNvSpPr>
          <p:nvPr>
            <p:ph idx="1"/>
          </p:nvPr>
        </p:nvSpPr>
        <p:spPr/>
        <p:txBody>
          <a:bodyPr>
            <a:normAutofit fontScale="70000" lnSpcReduction="20000"/>
          </a:bodyPr>
          <a:lstStyle/>
          <a:p>
            <a:pPr marL="0" indent="0">
              <a:buNone/>
            </a:pPr>
            <a:r>
              <a:rPr lang="en-US" dirty="0"/>
              <a:t>Each </a:t>
            </a:r>
            <a:r>
              <a:rPr lang="en-US" b="1" dirty="0"/>
              <a:t>spiral loop</a:t>
            </a:r>
            <a:r>
              <a:rPr lang="en-US" dirty="0"/>
              <a:t> typically includes </a:t>
            </a:r>
            <a:r>
              <a:rPr lang="en-US" b="1" dirty="0"/>
              <a:t>four quadrants</a:t>
            </a:r>
            <a:r>
              <a:rPr lang="en-US" dirty="0"/>
              <a:t>:</a:t>
            </a:r>
          </a:p>
          <a:p>
            <a:r>
              <a:rPr lang="en-US" b="1" dirty="0"/>
              <a:t>Planning</a:t>
            </a:r>
            <a:endParaRPr lang="en-US" dirty="0"/>
          </a:p>
          <a:p>
            <a:pPr lvl="1"/>
            <a:r>
              <a:rPr lang="en-US" dirty="0"/>
              <a:t>Identify objectives, alternatives, and constraints.</a:t>
            </a:r>
          </a:p>
          <a:p>
            <a:pPr lvl="1"/>
            <a:r>
              <a:rPr lang="en-US" dirty="0"/>
              <a:t>Determine what to build in this iteration.</a:t>
            </a:r>
          </a:p>
          <a:p>
            <a:r>
              <a:rPr lang="en-US" b="1" dirty="0"/>
              <a:t>Risk Analysis</a:t>
            </a:r>
            <a:endParaRPr lang="en-US" dirty="0"/>
          </a:p>
          <a:p>
            <a:pPr lvl="1"/>
            <a:r>
              <a:rPr lang="en-US" dirty="0"/>
              <a:t>Analyze alternatives and identify risks.</a:t>
            </a:r>
          </a:p>
          <a:p>
            <a:pPr lvl="1"/>
            <a:r>
              <a:rPr lang="en-US" dirty="0"/>
              <a:t>Develop prototypes or simulations if risks are high.</a:t>
            </a:r>
          </a:p>
          <a:p>
            <a:r>
              <a:rPr lang="en-US" b="1" dirty="0"/>
              <a:t>Engineering (Development &amp; Testing)</a:t>
            </a:r>
            <a:endParaRPr lang="en-US" dirty="0"/>
          </a:p>
          <a:p>
            <a:pPr lvl="1"/>
            <a:r>
              <a:rPr lang="en-US" dirty="0"/>
              <a:t>Design, code, and test the selected solution for this iteration.</a:t>
            </a:r>
          </a:p>
          <a:p>
            <a:pPr lvl="1"/>
            <a:r>
              <a:rPr lang="en-US" dirty="0"/>
              <a:t>Includes integration of new features with existing ones.</a:t>
            </a:r>
          </a:p>
          <a:p>
            <a:r>
              <a:rPr lang="en-US" b="1" dirty="0"/>
              <a:t>Evaluation / Customer Feedback</a:t>
            </a:r>
            <a:endParaRPr lang="en-US" dirty="0"/>
          </a:p>
          <a:p>
            <a:pPr lvl="1"/>
            <a:r>
              <a:rPr lang="en-US" dirty="0"/>
              <a:t>Stakeholders review the iteration.</a:t>
            </a:r>
          </a:p>
          <a:p>
            <a:pPr lvl="1"/>
            <a:r>
              <a:rPr lang="en-US" dirty="0"/>
              <a:t>Feedback informs the next spiral loop.</a:t>
            </a:r>
          </a:p>
          <a:p>
            <a:pPr marL="0" indent="0">
              <a:buNone/>
            </a:pPr>
            <a:r>
              <a:rPr lang="en-US" dirty="0"/>
              <a:t>After completing one spiral, the project </a:t>
            </a:r>
            <a:r>
              <a:rPr lang="en-US" b="1" dirty="0"/>
              <a:t>moves to the next spiral</a:t>
            </a:r>
            <a:r>
              <a:rPr lang="en-US" dirty="0"/>
              <a:t>, refining and expanding the system until </a:t>
            </a:r>
            <a:r>
              <a:rPr lang="en-US" b="1" dirty="0"/>
              <a:t>final deployment</a:t>
            </a:r>
            <a:r>
              <a:rPr lang="en-US" dirty="0"/>
              <a:t>.</a:t>
            </a:r>
          </a:p>
        </p:txBody>
      </p:sp>
    </p:spTree>
    <p:extLst>
      <p:ext uri="{BB962C8B-B14F-4D97-AF65-F5344CB8AC3E}">
        <p14:creationId xmlns:p14="http://schemas.microsoft.com/office/powerpoint/2010/main" val="34442832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9E61B3-2410-5B79-5A74-178382B087F6}"/>
              </a:ext>
            </a:extLst>
          </p:cNvPr>
          <p:cNvSpPr>
            <a:spLocks noGrp="1"/>
          </p:cNvSpPr>
          <p:nvPr>
            <p:ph type="title"/>
          </p:nvPr>
        </p:nvSpPr>
        <p:spPr/>
        <p:txBody>
          <a:bodyPr/>
          <a:lstStyle/>
          <a:p>
            <a:r>
              <a:rPr lang="en-US" dirty="0"/>
              <a:t>Spiral – when to use?</a:t>
            </a:r>
          </a:p>
        </p:txBody>
      </p:sp>
      <p:sp>
        <p:nvSpPr>
          <p:cNvPr id="3" name="Content Placeholder 2">
            <a:extLst>
              <a:ext uri="{FF2B5EF4-FFF2-40B4-BE49-F238E27FC236}">
                <a16:creationId xmlns:a16="http://schemas.microsoft.com/office/drawing/2014/main" id="{4E5DAFDA-185F-CFBB-5EF6-06DF36E74033}"/>
              </a:ext>
            </a:extLst>
          </p:cNvPr>
          <p:cNvSpPr>
            <a:spLocks noGrp="1"/>
          </p:cNvSpPr>
          <p:nvPr>
            <p:ph idx="1"/>
          </p:nvPr>
        </p:nvSpPr>
        <p:spPr/>
        <p:txBody>
          <a:bodyPr>
            <a:normAutofit/>
          </a:bodyPr>
          <a:lstStyle/>
          <a:p>
            <a:r>
              <a:rPr lang="en-US" dirty="0"/>
              <a:t>Spiral is ideal for projects:</a:t>
            </a:r>
          </a:p>
          <a:p>
            <a:pPr lvl="1"/>
            <a:r>
              <a:rPr lang="en-US" b="1" dirty="0"/>
              <a:t>High-risk or complex systems</a:t>
            </a:r>
            <a:r>
              <a:rPr lang="en-US" dirty="0"/>
              <a:t>, where failure is costly.</a:t>
            </a:r>
          </a:p>
          <a:p>
            <a:pPr lvl="1"/>
            <a:r>
              <a:rPr lang="en-US" dirty="0"/>
              <a:t>Where </a:t>
            </a:r>
            <a:r>
              <a:rPr lang="en-US" b="1" dirty="0"/>
              <a:t>requirements are unclear or likely to change</a:t>
            </a:r>
            <a:r>
              <a:rPr lang="en-US" dirty="0"/>
              <a:t>.</a:t>
            </a:r>
          </a:p>
          <a:p>
            <a:pPr lvl="1"/>
            <a:r>
              <a:rPr lang="en-US" dirty="0"/>
              <a:t>Large-scale projects with </a:t>
            </a:r>
            <a:r>
              <a:rPr lang="en-US" b="1" dirty="0"/>
              <a:t>longer timelines</a:t>
            </a:r>
            <a:r>
              <a:rPr lang="en-US" dirty="0"/>
              <a:t>.</a:t>
            </a:r>
          </a:p>
          <a:p>
            <a:pPr lvl="1"/>
            <a:r>
              <a:rPr lang="en-US" dirty="0"/>
              <a:t>Projects where </a:t>
            </a:r>
            <a:r>
              <a:rPr lang="en-US" b="1" dirty="0"/>
              <a:t>prototyping and user feedback</a:t>
            </a:r>
            <a:r>
              <a:rPr lang="en-US" dirty="0"/>
              <a:t> are essential.</a:t>
            </a:r>
          </a:p>
          <a:p>
            <a:r>
              <a:rPr lang="en-US" b="1" dirty="0"/>
              <a:t>Not suitable when:</a:t>
            </a:r>
            <a:endParaRPr lang="en-US" dirty="0"/>
          </a:p>
          <a:p>
            <a:pPr lvl="1"/>
            <a:r>
              <a:rPr lang="en-US" dirty="0"/>
              <a:t>Project is </a:t>
            </a:r>
            <a:r>
              <a:rPr lang="en-US" b="1" dirty="0"/>
              <a:t>small or simple</a:t>
            </a:r>
            <a:r>
              <a:rPr lang="en-US" dirty="0"/>
              <a:t>.</a:t>
            </a:r>
          </a:p>
          <a:p>
            <a:pPr lvl="1"/>
            <a:r>
              <a:rPr lang="en-US" dirty="0"/>
              <a:t>Budget is </a:t>
            </a:r>
            <a:r>
              <a:rPr lang="en-US" b="1" dirty="0"/>
              <a:t>tight</a:t>
            </a:r>
            <a:r>
              <a:rPr lang="en-US" dirty="0"/>
              <a:t>, because risk analysis and iterative prototyping are costly.</a:t>
            </a:r>
          </a:p>
          <a:p>
            <a:pPr lvl="1"/>
            <a:r>
              <a:rPr lang="en-US" dirty="0"/>
              <a:t>Time constraints require a </a:t>
            </a:r>
            <a:r>
              <a:rPr lang="en-US" b="1" dirty="0"/>
              <a:t>quick, linear delivery</a:t>
            </a:r>
            <a:r>
              <a:rPr lang="en-US" dirty="0"/>
              <a:t>.</a:t>
            </a:r>
          </a:p>
        </p:txBody>
      </p:sp>
    </p:spTree>
    <p:extLst>
      <p:ext uri="{BB962C8B-B14F-4D97-AF65-F5344CB8AC3E}">
        <p14:creationId xmlns:p14="http://schemas.microsoft.com/office/powerpoint/2010/main" val="385811750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3D11FE-BCB2-8756-688D-350E315D0023}"/>
              </a:ext>
            </a:extLst>
          </p:cNvPr>
          <p:cNvSpPr>
            <a:spLocks noGrp="1"/>
          </p:cNvSpPr>
          <p:nvPr>
            <p:ph type="title"/>
          </p:nvPr>
        </p:nvSpPr>
        <p:spPr/>
        <p:txBody>
          <a:bodyPr/>
          <a:lstStyle/>
          <a:p>
            <a:r>
              <a:rPr lang="en-US" dirty="0"/>
              <a:t>Spiral</a:t>
            </a:r>
          </a:p>
        </p:txBody>
      </p:sp>
      <p:sp>
        <p:nvSpPr>
          <p:cNvPr id="3" name="Content Placeholder 2">
            <a:extLst>
              <a:ext uri="{FF2B5EF4-FFF2-40B4-BE49-F238E27FC236}">
                <a16:creationId xmlns:a16="http://schemas.microsoft.com/office/drawing/2014/main" id="{264C87F5-F3C9-5FE5-8EBF-492A79BFA290}"/>
              </a:ext>
            </a:extLst>
          </p:cNvPr>
          <p:cNvSpPr>
            <a:spLocks noGrp="1"/>
          </p:cNvSpPr>
          <p:nvPr>
            <p:ph idx="1"/>
          </p:nvPr>
        </p:nvSpPr>
        <p:spPr/>
        <p:txBody>
          <a:bodyPr>
            <a:normAutofit fontScale="77500" lnSpcReduction="20000"/>
          </a:bodyPr>
          <a:lstStyle/>
          <a:p>
            <a:r>
              <a:rPr lang="en-US" b="1" dirty="0"/>
              <a:t>Overview</a:t>
            </a:r>
            <a:r>
              <a:rPr lang="en-US" dirty="0"/>
              <a:t>:</a:t>
            </a:r>
            <a:br>
              <a:rPr lang="en-US" dirty="0"/>
            </a:br>
            <a:r>
              <a:rPr lang="en-US" dirty="0"/>
              <a:t>A risk-driven model that combines elements of both design and prototyping. It focuses on iterative development and requires frequent risk assessment at each iteration.</a:t>
            </a:r>
          </a:p>
          <a:p>
            <a:r>
              <a:rPr lang="en-US" b="1" dirty="0"/>
              <a:t>Pros</a:t>
            </a:r>
            <a:r>
              <a:rPr lang="en-US" dirty="0"/>
              <a:t>:</a:t>
            </a:r>
          </a:p>
          <a:p>
            <a:pPr lvl="1"/>
            <a:r>
              <a:rPr lang="en-US" dirty="0"/>
              <a:t>Flexible and iterative, which allows for changes as the project progresses.</a:t>
            </a:r>
          </a:p>
          <a:p>
            <a:pPr lvl="1"/>
            <a:r>
              <a:rPr lang="en-US" dirty="0"/>
              <a:t>Good for large and complex projects where risks need to be managed throughout.</a:t>
            </a:r>
          </a:p>
          <a:p>
            <a:pPr lvl="1"/>
            <a:r>
              <a:rPr lang="en-US" dirty="0"/>
              <a:t>Allows for frequent testing and validation.</a:t>
            </a:r>
          </a:p>
          <a:p>
            <a:r>
              <a:rPr lang="en-US" b="1" dirty="0"/>
              <a:t>Cons</a:t>
            </a:r>
            <a:r>
              <a:rPr lang="en-US" dirty="0"/>
              <a:t>:</a:t>
            </a:r>
          </a:p>
          <a:p>
            <a:pPr lvl="1"/>
            <a:r>
              <a:rPr lang="en-US" dirty="0"/>
              <a:t>Can be expensive and time-consuming due to repeated iterations.</a:t>
            </a:r>
          </a:p>
          <a:p>
            <a:pPr lvl="1"/>
            <a:r>
              <a:rPr lang="en-US" dirty="0"/>
              <a:t>Requires highly skilled project managers to manage risks.</a:t>
            </a:r>
          </a:p>
          <a:p>
            <a:pPr lvl="1"/>
            <a:r>
              <a:rPr lang="en-US" dirty="0"/>
              <a:t>Difficult to estimate the timeline and cost upfront.</a:t>
            </a:r>
          </a:p>
          <a:p>
            <a:r>
              <a:rPr lang="en-US" b="1" dirty="0"/>
              <a:t>When to use</a:t>
            </a:r>
            <a:r>
              <a:rPr lang="en-US" dirty="0"/>
              <a:t>:</a:t>
            </a:r>
          </a:p>
          <a:p>
            <a:pPr lvl="1"/>
            <a:r>
              <a:rPr lang="en-US" dirty="0"/>
              <a:t>Large, complex projects with uncertain requirements or high risk.</a:t>
            </a:r>
          </a:p>
          <a:p>
            <a:pPr lvl="1"/>
            <a:r>
              <a:rPr lang="en-US" dirty="0"/>
              <a:t>Projects that require frequent stakeholder feedback and iterative refinements.</a:t>
            </a:r>
          </a:p>
          <a:p>
            <a:endParaRPr lang="en-US" dirty="0"/>
          </a:p>
        </p:txBody>
      </p:sp>
    </p:spTree>
    <p:extLst>
      <p:ext uri="{BB962C8B-B14F-4D97-AF65-F5344CB8AC3E}">
        <p14:creationId xmlns:p14="http://schemas.microsoft.com/office/powerpoint/2010/main" val="211680489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175" name="Rectangle 7174">
            <a:extLst>
              <a:ext uri="{FF2B5EF4-FFF2-40B4-BE49-F238E27FC236}">
                <a16:creationId xmlns:a16="http://schemas.microsoft.com/office/drawing/2014/main" id="{6753252F-4873-4F63-801D-CC719279A7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77" name="Rectangle 7176">
            <a:extLst>
              <a:ext uri="{FF2B5EF4-FFF2-40B4-BE49-F238E27FC236}">
                <a16:creationId xmlns:a16="http://schemas.microsoft.com/office/drawing/2014/main" id="{047C8CCB-F95D-4249-92DD-651249D353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2013557" cy="6858000"/>
          </a:xfrm>
          <a:prstGeom prst="rect">
            <a:avLst/>
          </a:prstGeom>
          <a:solidFill>
            <a:srgbClr val="7F7F7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BF14B37-C29C-5578-0EB3-6E788E335C19}"/>
              </a:ext>
            </a:extLst>
          </p:cNvPr>
          <p:cNvSpPr>
            <a:spLocks noGrp="1"/>
          </p:cNvSpPr>
          <p:nvPr>
            <p:ph type="title"/>
          </p:nvPr>
        </p:nvSpPr>
        <p:spPr>
          <a:xfrm>
            <a:off x="640080" y="2074363"/>
            <a:ext cx="2752354" cy="2709275"/>
          </a:xfrm>
          <a:prstGeom prst="ellipse">
            <a:avLst/>
          </a:prstGeom>
          <a:solidFill>
            <a:srgbClr val="262626"/>
          </a:solidFill>
          <a:ln w="174625" cmpd="thinThick">
            <a:solidFill>
              <a:srgbClr val="262626"/>
            </a:solidFill>
          </a:ln>
        </p:spPr>
        <p:txBody>
          <a:bodyPr vert="horz" lIns="91440" tIns="45720" rIns="91440" bIns="45720" rtlCol="0" anchor="ctr">
            <a:normAutofit/>
          </a:bodyPr>
          <a:lstStyle/>
          <a:p>
            <a:pPr algn="ctr"/>
            <a:r>
              <a:rPr lang="en-US" sz="2600" kern="1200">
                <a:solidFill>
                  <a:srgbClr val="FFFFFF"/>
                </a:solidFill>
                <a:latin typeface="+mj-lt"/>
                <a:ea typeface="+mj-ea"/>
                <a:cs typeface="+mj-cs"/>
              </a:rPr>
              <a:t>Incremental</a:t>
            </a:r>
          </a:p>
        </p:txBody>
      </p:sp>
      <p:pic>
        <p:nvPicPr>
          <p:cNvPr id="7170" name="Picture 2" descr="incremental-sdlc-model">
            <a:extLst>
              <a:ext uri="{FF2B5EF4-FFF2-40B4-BE49-F238E27FC236}">
                <a16:creationId xmlns:a16="http://schemas.microsoft.com/office/drawing/2014/main" id="{A78B2DC5-2E5C-E275-7F39-9485E93D6687}"/>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tretch>
            <a:fillRect/>
          </a:stretch>
        </p:blipFill>
        <p:spPr bwMode="auto">
          <a:xfrm>
            <a:off x="4038600" y="1630256"/>
            <a:ext cx="7188199" cy="359409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345672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8C0C84-D22F-31C1-77C2-2A3FE3D880D8}"/>
              </a:ext>
            </a:extLst>
          </p:cNvPr>
          <p:cNvSpPr>
            <a:spLocks noGrp="1"/>
          </p:cNvSpPr>
          <p:nvPr>
            <p:ph type="title"/>
          </p:nvPr>
        </p:nvSpPr>
        <p:spPr/>
        <p:txBody>
          <a:bodyPr/>
          <a:lstStyle/>
          <a:p>
            <a:r>
              <a:rPr lang="en-US" dirty="0"/>
              <a:t>Incremental</a:t>
            </a:r>
          </a:p>
        </p:txBody>
      </p:sp>
      <p:sp>
        <p:nvSpPr>
          <p:cNvPr id="3" name="Content Placeholder 2">
            <a:extLst>
              <a:ext uri="{FF2B5EF4-FFF2-40B4-BE49-F238E27FC236}">
                <a16:creationId xmlns:a16="http://schemas.microsoft.com/office/drawing/2014/main" id="{640BFD1D-602C-F410-EDCD-D170F46D8654}"/>
              </a:ext>
            </a:extLst>
          </p:cNvPr>
          <p:cNvSpPr>
            <a:spLocks noGrp="1"/>
          </p:cNvSpPr>
          <p:nvPr>
            <p:ph idx="1"/>
          </p:nvPr>
        </p:nvSpPr>
        <p:spPr/>
        <p:txBody>
          <a:bodyPr>
            <a:normAutofit lnSpcReduction="10000"/>
          </a:bodyPr>
          <a:lstStyle/>
          <a:p>
            <a:r>
              <a:rPr lang="en-US" b="1" dirty="0"/>
              <a:t>Incremental SDLC</a:t>
            </a:r>
            <a:r>
              <a:rPr lang="en-US" dirty="0"/>
              <a:t> (Software Development Life Cycle) is a </a:t>
            </a:r>
            <a:r>
              <a:rPr lang="en-US" b="1" dirty="0"/>
              <a:t>software development model</a:t>
            </a:r>
            <a:r>
              <a:rPr lang="en-US" dirty="0"/>
              <a:t> where the system is designed, implemented, and tested </a:t>
            </a:r>
            <a:r>
              <a:rPr lang="en-US" b="1" dirty="0"/>
              <a:t>in small, manageable modules or increments</a:t>
            </a:r>
            <a:r>
              <a:rPr lang="en-US" dirty="0"/>
              <a:t>.</a:t>
            </a:r>
          </a:p>
          <a:p>
            <a:r>
              <a:rPr lang="en-US" dirty="0"/>
              <a:t>Each increment adds </a:t>
            </a:r>
            <a:r>
              <a:rPr lang="en-US" b="1" dirty="0"/>
              <a:t>functionalities</a:t>
            </a:r>
            <a:r>
              <a:rPr lang="en-US" dirty="0"/>
              <a:t> to the software.</a:t>
            </a:r>
          </a:p>
          <a:p>
            <a:r>
              <a:rPr lang="en-US" dirty="0"/>
              <a:t>The </a:t>
            </a:r>
            <a:r>
              <a:rPr lang="en-US" b="1" dirty="0"/>
              <a:t>complete system evolves gradually</a:t>
            </a:r>
            <a:r>
              <a:rPr lang="en-US" dirty="0"/>
              <a:t> rather than being built all at once.</a:t>
            </a:r>
          </a:p>
          <a:p>
            <a:r>
              <a:rPr lang="en-US" dirty="0"/>
              <a:t>It combines elements of </a:t>
            </a:r>
            <a:r>
              <a:rPr lang="en-US" b="1" dirty="0"/>
              <a:t>waterfall and iterative development</a:t>
            </a:r>
            <a:r>
              <a:rPr lang="en-US" dirty="0"/>
              <a:t>.</a:t>
            </a:r>
          </a:p>
          <a:p>
            <a:r>
              <a:rPr lang="en-US" dirty="0"/>
              <a:t>Think of it like building a house </a:t>
            </a:r>
            <a:r>
              <a:rPr lang="en-US" b="1" dirty="0"/>
              <a:t>floor by floor</a:t>
            </a:r>
            <a:r>
              <a:rPr lang="en-US" dirty="0"/>
              <a:t> instead of finishing the entire building at once.</a:t>
            </a:r>
          </a:p>
        </p:txBody>
      </p:sp>
    </p:spTree>
    <p:extLst>
      <p:ext uri="{BB962C8B-B14F-4D97-AF65-F5344CB8AC3E}">
        <p14:creationId xmlns:p14="http://schemas.microsoft.com/office/powerpoint/2010/main" val="412889445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C575F3-5BF4-208F-12D7-323FFB2AD701}"/>
              </a:ext>
            </a:extLst>
          </p:cNvPr>
          <p:cNvSpPr>
            <a:spLocks noGrp="1"/>
          </p:cNvSpPr>
          <p:nvPr>
            <p:ph type="title"/>
          </p:nvPr>
        </p:nvSpPr>
        <p:spPr/>
        <p:txBody>
          <a:bodyPr/>
          <a:lstStyle/>
          <a:p>
            <a:r>
              <a:rPr lang="en-US" dirty="0"/>
              <a:t>Incremental</a:t>
            </a:r>
          </a:p>
        </p:txBody>
      </p:sp>
      <p:sp>
        <p:nvSpPr>
          <p:cNvPr id="3" name="Content Placeholder 2">
            <a:extLst>
              <a:ext uri="{FF2B5EF4-FFF2-40B4-BE49-F238E27FC236}">
                <a16:creationId xmlns:a16="http://schemas.microsoft.com/office/drawing/2014/main" id="{CA328191-9D9E-CC18-AEB9-CD67E833F82B}"/>
              </a:ext>
            </a:extLst>
          </p:cNvPr>
          <p:cNvSpPr>
            <a:spLocks noGrp="1"/>
          </p:cNvSpPr>
          <p:nvPr>
            <p:ph idx="1"/>
          </p:nvPr>
        </p:nvSpPr>
        <p:spPr/>
        <p:txBody>
          <a:bodyPr>
            <a:normAutofit fontScale="47500" lnSpcReduction="20000"/>
          </a:bodyPr>
          <a:lstStyle/>
          <a:p>
            <a:r>
              <a:rPr lang="en-US" dirty="0"/>
              <a:t>The workflow typically follows these steps:</a:t>
            </a:r>
          </a:p>
          <a:p>
            <a:r>
              <a:rPr lang="en-US" b="1" dirty="0"/>
              <a:t>Requirements Analysis</a:t>
            </a:r>
            <a:endParaRPr lang="en-US" dirty="0"/>
          </a:p>
          <a:p>
            <a:pPr lvl="1"/>
            <a:r>
              <a:rPr lang="en-US" dirty="0"/>
              <a:t>Identify core requirements for the first increment.</a:t>
            </a:r>
          </a:p>
          <a:p>
            <a:pPr lvl="1"/>
            <a:r>
              <a:rPr lang="en-US" dirty="0"/>
              <a:t>Complete requirements for the later increments are often analyzed progressively.</a:t>
            </a:r>
          </a:p>
          <a:p>
            <a:r>
              <a:rPr lang="en-US" b="1" dirty="0"/>
              <a:t>Design</a:t>
            </a:r>
            <a:endParaRPr lang="en-US" dirty="0"/>
          </a:p>
          <a:p>
            <a:pPr lvl="1"/>
            <a:r>
              <a:rPr lang="en-US" dirty="0"/>
              <a:t>Design the architecture for the current increment.</a:t>
            </a:r>
          </a:p>
          <a:p>
            <a:pPr lvl="1"/>
            <a:r>
              <a:rPr lang="en-US" dirty="0"/>
              <a:t>Ensure the design allows future increments to integrate smoothly.</a:t>
            </a:r>
          </a:p>
          <a:p>
            <a:r>
              <a:rPr lang="en-US" b="1" dirty="0"/>
              <a:t>Implementation (Coding)</a:t>
            </a:r>
            <a:endParaRPr lang="en-US" dirty="0"/>
          </a:p>
          <a:p>
            <a:pPr lvl="1"/>
            <a:r>
              <a:rPr lang="en-US" dirty="0"/>
              <a:t>Build the current increment/module.</a:t>
            </a:r>
          </a:p>
          <a:p>
            <a:pPr lvl="1"/>
            <a:r>
              <a:rPr lang="en-US" dirty="0"/>
              <a:t>Focus on delivering functional software for that specific part.</a:t>
            </a:r>
          </a:p>
          <a:p>
            <a:r>
              <a:rPr lang="en-US" b="1" dirty="0"/>
              <a:t>Testing</a:t>
            </a:r>
            <a:endParaRPr lang="en-US" dirty="0"/>
          </a:p>
          <a:p>
            <a:pPr lvl="1"/>
            <a:r>
              <a:rPr lang="en-US" dirty="0"/>
              <a:t>Test the increment individually.</a:t>
            </a:r>
          </a:p>
          <a:p>
            <a:pPr lvl="1"/>
            <a:r>
              <a:rPr lang="en-US" dirty="0"/>
              <a:t>Also integrate it with previously developed increments to ensure compatibility.</a:t>
            </a:r>
          </a:p>
          <a:p>
            <a:r>
              <a:rPr lang="en-US" b="1" dirty="0"/>
              <a:t>Deployment</a:t>
            </a:r>
            <a:endParaRPr lang="en-US" dirty="0"/>
          </a:p>
          <a:p>
            <a:pPr lvl="1"/>
            <a:r>
              <a:rPr lang="en-US" dirty="0"/>
              <a:t>Release the increment to users (optional for each stage, depending on project).</a:t>
            </a:r>
          </a:p>
          <a:p>
            <a:pPr lvl="1"/>
            <a:r>
              <a:rPr lang="en-US" dirty="0"/>
              <a:t>Gather user feedback.</a:t>
            </a:r>
          </a:p>
          <a:p>
            <a:r>
              <a:rPr lang="en-US" b="1" dirty="0"/>
              <a:t>Next Increment</a:t>
            </a:r>
            <a:endParaRPr lang="en-US" dirty="0"/>
          </a:p>
          <a:p>
            <a:pPr lvl="1"/>
            <a:r>
              <a:rPr lang="en-US" dirty="0"/>
              <a:t>Repeat the cycle for the next set of functionalities.</a:t>
            </a:r>
          </a:p>
          <a:p>
            <a:pPr lvl="1"/>
            <a:r>
              <a:rPr lang="en-US" dirty="0"/>
              <a:t>Continue until the full system is complete.</a:t>
            </a:r>
          </a:p>
          <a:p>
            <a:endParaRPr lang="en-US" dirty="0"/>
          </a:p>
        </p:txBody>
      </p:sp>
    </p:spTree>
    <p:extLst>
      <p:ext uri="{BB962C8B-B14F-4D97-AF65-F5344CB8AC3E}">
        <p14:creationId xmlns:p14="http://schemas.microsoft.com/office/powerpoint/2010/main" val="325571917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5ABBB4-5F39-A43D-48D5-3B9BB7B65EBF}"/>
              </a:ext>
            </a:extLst>
          </p:cNvPr>
          <p:cNvSpPr>
            <a:spLocks noGrp="1"/>
          </p:cNvSpPr>
          <p:nvPr>
            <p:ph type="title"/>
          </p:nvPr>
        </p:nvSpPr>
        <p:spPr/>
        <p:txBody>
          <a:bodyPr/>
          <a:lstStyle/>
          <a:p>
            <a:r>
              <a:rPr lang="en-US" dirty="0"/>
              <a:t>Incremental – when to use?</a:t>
            </a:r>
          </a:p>
        </p:txBody>
      </p:sp>
      <p:sp>
        <p:nvSpPr>
          <p:cNvPr id="3" name="Content Placeholder 2">
            <a:extLst>
              <a:ext uri="{FF2B5EF4-FFF2-40B4-BE49-F238E27FC236}">
                <a16:creationId xmlns:a16="http://schemas.microsoft.com/office/drawing/2014/main" id="{6E8C5FC8-EE5B-B91D-4A7A-1E64D470AC35}"/>
              </a:ext>
            </a:extLst>
          </p:cNvPr>
          <p:cNvSpPr>
            <a:spLocks noGrp="1"/>
          </p:cNvSpPr>
          <p:nvPr>
            <p:ph idx="1"/>
          </p:nvPr>
        </p:nvSpPr>
        <p:spPr/>
        <p:txBody>
          <a:bodyPr>
            <a:normAutofit lnSpcReduction="10000"/>
          </a:bodyPr>
          <a:lstStyle/>
          <a:p>
            <a:r>
              <a:rPr lang="en-US" dirty="0"/>
              <a:t>Incremental model is ideal when:</a:t>
            </a:r>
          </a:p>
          <a:p>
            <a:pPr lvl="1"/>
            <a:r>
              <a:rPr lang="en-US" b="1" dirty="0"/>
              <a:t>Requirements are partially known</a:t>
            </a:r>
            <a:r>
              <a:rPr lang="en-US" dirty="0"/>
              <a:t> at the start.</a:t>
            </a:r>
          </a:p>
          <a:p>
            <a:pPr lvl="1"/>
            <a:r>
              <a:rPr lang="en-US" dirty="0"/>
              <a:t>The project is </a:t>
            </a:r>
            <a:r>
              <a:rPr lang="en-US" b="1" dirty="0"/>
              <a:t>large and complex</a:t>
            </a:r>
            <a:r>
              <a:rPr lang="en-US" dirty="0"/>
              <a:t>; delivering in increments allows early feedback.</a:t>
            </a:r>
          </a:p>
          <a:p>
            <a:pPr lvl="1"/>
            <a:r>
              <a:rPr lang="en-US" b="1" dirty="0"/>
              <a:t>Quick initial delivery</a:t>
            </a:r>
            <a:r>
              <a:rPr lang="en-US" dirty="0"/>
              <a:t> is desired (early releases with basic features).</a:t>
            </a:r>
          </a:p>
          <a:p>
            <a:pPr lvl="1"/>
            <a:r>
              <a:rPr lang="en-US" dirty="0"/>
              <a:t>You want </a:t>
            </a:r>
            <a:r>
              <a:rPr lang="en-US" b="1" dirty="0"/>
              <a:t>risk reduction</a:t>
            </a:r>
            <a:r>
              <a:rPr lang="en-US" dirty="0"/>
              <a:t> by developing the software in smaller, testable parts.</a:t>
            </a:r>
          </a:p>
          <a:p>
            <a:pPr lvl="1"/>
            <a:r>
              <a:rPr lang="en-US" b="1" dirty="0"/>
              <a:t>User feedback is crucial</a:t>
            </a:r>
            <a:r>
              <a:rPr lang="en-US" dirty="0"/>
              <a:t> to refine features in subsequent increments.</a:t>
            </a:r>
          </a:p>
          <a:p>
            <a:r>
              <a:rPr lang="en-US" b="1" dirty="0"/>
              <a:t>Not ideal when:</a:t>
            </a:r>
            <a:endParaRPr lang="en-US" dirty="0"/>
          </a:p>
          <a:p>
            <a:pPr lvl="1"/>
            <a:r>
              <a:rPr lang="en-US" dirty="0"/>
              <a:t>Requirements are completely unknown or highly unstable.</a:t>
            </a:r>
          </a:p>
          <a:p>
            <a:pPr lvl="1"/>
            <a:r>
              <a:rPr lang="en-US" dirty="0"/>
              <a:t>Small projects where overhead of incremental planning isn’t justified.</a:t>
            </a:r>
          </a:p>
          <a:p>
            <a:endParaRPr lang="en-US" dirty="0"/>
          </a:p>
        </p:txBody>
      </p:sp>
    </p:spTree>
    <p:extLst>
      <p:ext uri="{BB962C8B-B14F-4D97-AF65-F5344CB8AC3E}">
        <p14:creationId xmlns:p14="http://schemas.microsoft.com/office/powerpoint/2010/main" val="245758228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13A16D-F135-1424-E4EB-860AB81F8450}"/>
              </a:ext>
            </a:extLst>
          </p:cNvPr>
          <p:cNvSpPr>
            <a:spLocks noGrp="1"/>
          </p:cNvSpPr>
          <p:nvPr>
            <p:ph type="title"/>
          </p:nvPr>
        </p:nvSpPr>
        <p:spPr/>
        <p:txBody>
          <a:bodyPr/>
          <a:lstStyle/>
          <a:p>
            <a:r>
              <a:rPr lang="en-US" dirty="0"/>
              <a:t>Incremental</a:t>
            </a:r>
          </a:p>
        </p:txBody>
      </p:sp>
      <p:sp>
        <p:nvSpPr>
          <p:cNvPr id="3" name="Content Placeholder 2">
            <a:extLst>
              <a:ext uri="{FF2B5EF4-FFF2-40B4-BE49-F238E27FC236}">
                <a16:creationId xmlns:a16="http://schemas.microsoft.com/office/drawing/2014/main" id="{2EE3D14E-D30F-12AD-CB23-80899B0677FA}"/>
              </a:ext>
            </a:extLst>
          </p:cNvPr>
          <p:cNvSpPr>
            <a:spLocks noGrp="1"/>
          </p:cNvSpPr>
          <p:nvPr>
            <p:ph idx="1"/>
          </p:nvPr>
        </p:nvSpPr>
        <p:spPr/>
        <p:txBody>
          <a:bodyPr>
            <a:normAutofit fontScale="85000" lnSpcReduction="20000"/>
          </a:bodyPr>
          <a:lstStyle/>
          <a:p>
            <a:r>
              <a:rPr lang="en-US" dirty="0"/>
              <a:t>The project is broken down into smaller, manageable components, and each part is developed and delivered incrementally.</a:t>
            </a:r>
          </a:p>
          <a:p>
            <a:r>
              <a:rPr lang="en-US" b="1" dirty="0"/>
              <a:t>Pros</a:t>
            </a:r>
            <a:r>
              <a:rPr lang="en-US" dirty="0"/>
              <a:t>:</a:t>
            </a:r>
          </a:p>
          <a:p>
            <a:pPr lvl="1"/>
            <a:r>
              <a:rPr lang="en-US" dirty="0"/>
              <a:t>Delivers functional pieces of the system quickly, allowing early use.</a:t>
            </a:r>
          </a:p>
          <a:p>
            <a:pPr lvl="1"/>
            <a:r>
              <a:rPr lang="en-US" dirty="0"/>
              <a:t>Easier to manage than large-scale projects.</a:t>
            </a:r>
          </a:p>
          <a:p>
            <a:pPr lvl="1"/>
            <a:r>
              <a:rPr lang="en-US" dirty="0"/>
              <a:t>Allows for flexibility as changes can be made in each increment.</a:t>
            </a:r>
          </a:p>
          <a:p>
            <a:r>
              <a:rPr lang="en-US" b="1" dirty="0"/>
              <a:t>Cons</a:t>
            </a:r>
            <a:r>
              <a:rPr lang="en-US" dirty="0"/>
              <a:t>:</a:t>
            </a:r>
          </a:p>
          <a:p>
            <a:pPr lvl="1"/>
            <a:r>
              <a:rPr lang="en-US" dirty="0"/>
              <a:t>May lead to integration issues between components if not properly managed.</a:t>
            </a:r>
          </a:p>
          <a:p>
            <a:pPr lvl="1"/>
            <a:r>
              <a:rPr lang="en-US" dirty="0"/>
              <a:t>The final product may lack a unified design.</a:t>
            </a:r>
          </a:p>
          <a:p>
            <a:pPr lvl="1"/>
            <a:r>
              <a:rPr lang="en-US" dirty="0"/>
              <a:t>Can result in less comprehensive documentation.</a:t>
            </a:r>
          </a:p>
          <a:p>
            <a:r>
              <a:rPr lang="en-US" b="1" dirty="0"/>
              <a:t>When to use</a:t>
            </a:r>
            <a:r>
              <a:rPr lang="en-US" dirty="0"/>
              <a:t>:</a:t>
            </a:r>
          </a:p>
          <a:p>
            <a:pPr lvl="1"/>
            <a:r>
              <a:rPr lang="en-US" dirty="0"/>
              <a:t>Large projects that can be split into smaller components.</a:t>
            </a:r>
          </a:p>
          <a:p>
            <a:pPr lvl="1"/>
            <a:r>
              <a:rPr lang="en-US" dirty="0"/>
              <a:t>Projects where time-to-market is important and the system can be delivered in stages.</a:t>
            </a:r>
          </a:p>
          <a:p>
            <a:pPr lvl="1"/>
            <a:r>
              <a:rPr lang="en-US" dirty="0"/>
              <a:t>Systems that need frequent updates or feature additions.</a:t>
            </a:r>
          </a:p>
          <a:p>
            <a:endParaRPr lang="en-US" dirty="0"/>
          </a:p>
        </p:txBody>
      </p:sp>
    </p:spTree>
    <p:extLst>
      <p:ext uri="{BB962C8B-B14F-4D97-AF65-F5344CB8AC3E}">
        <p14:creationId xmlns:p14="http://schemas.microsoft.com/office/powerpoint/2010/main" val="377349918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230" name="Rectangle 9229">
            <a:extLst>
              <a:ext uri="{FF2B5EF4-FFF2-40B4-BE49-F238E27FC236}">
                <a16:creationId xmlns:a16="http://schemas.microsoft.com/office/drawing/2014/main" id="{88263A24-0C1F-4677-B43C-4AE14E276B2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9232" name="Rectangle 9231">
            <a:extLst>
              <a:ext uri="{FF2B5EF4-FFF2-40B4-BE49-F238E27FC236}">
                <a16:creationId xmlns:a16="http://schemas.microsoft.com/office/drawing/2014/main" id="{0ADDB668-2CA4-4D2B-9C34-3487CA330B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1553" y="304802"/>
            <a:ext cx="11097349" cy="1573149"/>
          </a:xfrm>
          <a:prstGeom prst="rect">
            <a:avLst/>
          </a:prstGeom>
          <a:ln w="12700">
            <a:solidFill>
              <a:srgbClr val="DEDEDE"/>
            </a:solidFill>
          </a:ln>
          <a:effectLst>
            <a:outerShdw blurRad="50800" dist="38100" dir="2700000" algn="tl" rotWithShape="0">
              <a:schemeClr val="bg2">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6680568-7A69-21E6-A9D4-53C31029AB50}"/>
              </a:ext>
            </a:extLst>
          </p:cNvPr>
          <p:cNvSpPr>
            <a:spLocks noGrp="1"/>
          </p:cNvSpPr>
          <p:nvPr>
            <p:ph type="title"/>
          </p:nvPr>
        </p:nvSpPr>
        <p:spPr>
          <a:xfrm>
            <a:off x="868680" y="405575"/>
            <a:ext cx="5001768" cy="1371600"/>
          </a:xfrm>
        </p:spPr>
        <p:txBody>
          <a:bodyPr vert="horz" lIns="91440" tIns="45720" rIns="91440" bIns="45720" rtlCol="0" anchor="ctr">
            <a:normAutofit/>
          </a:bodyPr>
          <a:lstStyle/>
          <a:p>
            <a:r>
              <a:rPr lang="en-US" sz="3600"/>
              <a:t>Prototying</a:t>
            </a:r>
          </a:p>
        </p:txBody>
      </p:sp>
      <p:sp>
        <p:nvSpPr>
          <p:cNvPr id="9234" name="Rectangle 9233">
            <a:extLst>
              <a:ext uri="{FF2B5EF4-FFF2-40B4-BE49-F238E27FC236}">
                <a16:creationId xmlns:a16="http://schemas.microsoft.com/office/drawing/2014/main" id="{2568BC19-F052-4108-93E1-6A3D1DEC072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4784" y="764424"/>
            <a:ext cx="128016" cy="65390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236" name="Rectangle 9235">
            <a:extLst>
              <a:ext uri="{FF2B5EF4-FFF2-40B4-BE49-F238E27FC236}">
                <a16:creationId xmlns:a16="http://schemas.microsoft.com/office/drawing/2014/main" id="{D5FD337D-4D6B-4C8B-B6F5-121097E098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586984" y="1071836"/>
            <a:ext cx="1021458" cy="9144"/>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9220" name="Picture 4" descr="prototyping-model-phases">
            <a:extLst>
              <a:ext uri="{FF2B5EF4-FFF2-40B4-BE49-F238E27FC236}">
                <a16:creationId xmlns:a16="http://schemas.microsoft.com/office/drawing/2014/main" id="{4E690179-057B-C8BD-7833-E713FACAFDF2}"/>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1395928" y="2091095"/>
            <a:ext cx="3737795" cy="4206240"/>
          </a:xfrm>
          <a:prstGeom prst="rect">
            <a:avLst/>
          </a:prstGeom>
          <a:noFill/>
          <a:extLst>
            <a:ext uri="{909E8E84-426E-40DD-AFC4-6F175D3DCCD1}">
              <a14:hiddenFill xmlns:a14="http://schemas.microsoft.com/office/drawing/2010/main">
                <a:solidFill>
                  <a:srgbClr val="FFFFFF"/>
                </a:solidFill>
              </a14:hiddenFill>
            </a:ext>
          </a:extLst>
        </p:spPr>
      </p:pic>
      <p:pic>
        <p:nvPicPr>
          <p:cNvPr id="9218" name="Picture 2" descr="prototype-model-concepts">
            <a:extLst>
              <a:ext uri="{FF2B5EF4-FFF2-40B4-BE49-F238E27FC236}">
                <a16:creationId xmlns:a16="http://schemas.microsoft.com/office/drawing/2014/main" id="{8D65359F-8F0D-6C65-6602-E2EE52966A05}"/>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tretch>
            <a:fillRect/>
          </a:stretch>
        </p:blipFill>
        <p:spPr bwMode="auto">
          <a:xfrm>
            <a:off x="6211408" y="2519943"/>
            <a:ext cx="5431536" cy="333851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8289037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2C5E38-D868-8E71-BFD1-432DAD389BAA}"/>
              </a:ext>
            </a:extLst>
          </p:cNvPr>
          <p:cNvSpPr>
            <a:spLocks noGrp="1"/>
          </p:cNvSpPr>
          <p:nvPr>
            <p:ph type="title"/>
          </p:nvPr>
        </p:nvSpPr>
        <p:spPr/>
        <p:txBody>
          <a:bodyPr/>
          <a:lstStyle/>
          <a:p>
            <a:r>
              <a:rPr lang="en-US" dirty="0"/>
              <a:t>Prototyping</a:t>
            </a:r>
          </a:p>
        </p:txBody>
      </p:sp>
      <p:sp>
        <p:nvSpPr>
          <p:cNvPr id="3" name="Content Placeholder 2">
            <a:extLst>
              <a:ext uri="{FF2B5EF4-FFF2-40B4-BE49-F238E27FC236}">
                <a16:creationId xmlns:a16="http://schemas.microsoft.com/office/drawing/2014/main" id="{63E8494F-70CA-8DAF-0A9F-6709DFAF27E5}"/>
              </a:ext>
            </a:extLst>
          </p:cNvPr>
          <p:cNvSpPr>
            <a:spLocks noGrp="1"/>
          </p:cNvSpPr>
          <p:nvPr>
            <p:ph idx="1"/>
          </p:nvPr>
        </p:nvSpPr>
        <p:spPr/>
        <p:txBody>
          <a:bodyPr>
            <a:normAutofit/>
          </a:bodyPr>
          <a:lstStyle/>
          <a:p>
            <a:r>
              <a:rPr lang="en-US" b="1" dirty="0"/>
              <a:t>Prototyping SDLC</a:t>
            </a:r>
            <a:r>
              <a:rPr lang="en-US" dirty="0"/>
              <a:t> is a software development model in which a </a:t>
            </a:r>
            <a:r>
              <a:rPr lang="en-US" b="1" dirty="0"/>
              <a:t>prototype (early working model)</a:t>
            </a:r>
            <a:r>
              <a:rPr lang="en-US" dirty="0"/>
              <a:t> of the system is built to understand and clarify </a:t>
            </a:r>
            <a:r>
              <a:rPr lang="en-US" b="1" dirty="0"/>
              <a:t>user requirements</a:t>
            </a:r>
            <a:r>
              <a:rPr lang="en-US" dirty="0"/>
              <a:t> before developing the final system.</a:t>
            </a:r>
          </a:p>
          <a:p>
            <a:r>
              <a:rPr lang="en-US" dirty="0"/>
              <a:t>The prototype is </a:t>
            </a:r>
            <a:r>
              <a:rPr lang="en-US" b="1" dirty="0"/>
              <a:t>not the final product</a:t>
            </a:r>
            <a:endParaRPr lang="en-US" dirty="0"/>
          </a:p>
          <a:p>
            <a:r>
              <a:rPr lang="en-US" dirty="0"/>
              <a:t>It helps users </a:t>
            </a:r>
            <a:r>
              <a:rPr lang="en-US" b="1" dirty="0"/>
              <a:t>visualize</a:t>
            </a:r>
            <a:r>
              <a:rPr lang="en-US" dirty="0"/>
              <a:t> the system</a:t>
            </a:r>
          </a:p>
          <a:p>
            <a:r>
              <a:rPr lang="en-US" dirty="0"/>
              <a:t>Requirements are refined through </a:t>
            </a:r>
            <a:r>
              <a:rPr lang="en-US" b="1" dirty="0"/>
              <a:t>user feedback</a:t>
            </a:r>
            <a:endParaRPr lang="en-US" dirty="0"/>
          </a:p>
          <a:p>
            <a:r>
              <a:rPr lang="en-US" dirty="0"/>
              <a:t>Think of it like creating a </a:t>
            </a:r>
            <a:r>
              <a:rPr lang="en-US" b="1" dirty="0"/>
              <a:t>sample or mock-up</a:t>
            </a:r>
            <a:r>
              <a:rPr lang="en-US" dirty="0"/>
              <a:t> before manufacturing the real product.</a:t>
            </a:r>
          </a:p>
        </p:txBody>
      </p:sp>
    </p:spTree>
    <p:extLst>
      <p:ext uri="{BB962C8B-B14F-4D97-AF65-F5344CB8AC3E}">
        <p14:creationId xmlns:p14="http://schemas.microsoft.com/office/powerpoint/2010/main" val="316699420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CBA748-4928-F8B6-DAD4-2465369BC647}"/>
              </a:ext>
            </a:extLst>
          </p:cNvPr>
          <p:cNvSpPr>
            <a:spLocks noGrp="1"/>
          </p:cNvSpPr>
          <p:nvPr>
            <p:ph type="title"/>
          </p:nvPr>
        </p:nvSpPr>
        <p:spPr/>
        <p:txBody>
          <a:bodyPr/>
          <a:lstStyle/>
          <a:p>
            <a:r>
              <a:rPr lang="en-US" dirty="0" err="1"/>
              <a:t>Prototying</a:t>
            </a:r>
            <a:endParaRPr lang="en-US" dirty="0"/>
          </a:p>
        </p:txBody>
      </p:sp>
      <p:sp>
        <p:nvSpPr>
          <p:cNvPr id="3" name="Content Placeholder 2">
            <a:extLst>
              <a:ext uri="{FF2B5EF4-FFF2-40B4-BE49-F238E27FC236}">
                <a16:creationId xmlns:a16="http://schemas.microsoft.com/office/drawing/2014/main" id="{32270F51-3533-0515-B899-54975D08FFFD}"/>
              </a:ext>
            </a:extLst>
          </p:cNvPr>
          <p:cNvSpPr>
            <a:spLocks noGrp="1"/>
          </p:cNvSpPr>
          <p:nvPr>
            <p:ph idx="1"/>
          </p:nvPr>
        </p:nvSpPr>
        <p:spPr/>
        <p:txBody>
          <a:bodyPr>
            <a:normAutofit fontScale="55000" lnSpcReduction="20000"/>
          </a:bodyPr>
          <a:lstStyle/>
          <a:p>
            <a:r>
              <a:rPr lang="en-US" dirty="0"/>
              <a:t>The model follows an </a:t>
            </a:r>
            <a:r>
              <a:rPr lang="en-US" b="1" dirty="0"/>
              <a:t>iterative process</a:t>
            </a:r>
            <a:r>
              <a:rPr lang="en-US" dirty="0"/>
              <a:t>:</a:t>
            </a:r>
          </a:p>
          <a:p>
            <a:r>
              <a:rPr lang="en-US" b="1" dirty="0"/>
              <a:t>Step-by-Step Process</a:t>
            </a:r>
          </a:p>
          <a:p>
            <a:r>
              <a:rPr lang="en-US" b="1" dirty="0"/>
              <a:t>Initial Requirements Gathering</a:t>
            </a:r>
            <a:endParaRPr lang="en-US" dirty="0"/>
          </a:p>
          <a:p>
            <a:pPr lvl="1"/>
            <a:r>
              <a:rPr lang="en-US" dirty="0"/>
              <a:t>Collect basic requirements (often incomplete or unclear)</a:t>
            </a:r>
          </a:p>
          <a:p>
            <a:r>
              <a:rPr lang="en-US" b="1" dirty="0"/>
              <a:t>Quick Design</a:t>
            </a:r>
            <a:endParaRPr lang="en-US" dirty="0"/>
          </a:p>
          <a:p>
            <a:pPr lvl="1"/>
            <a:r>
              <a:rPr lang="en-US" dirty="0"/>
              <a:t>Create a rough design (UI, inputs, outputs)</a:t>
            </a:r>
          </a:p>
          <a:p>
            <a:r>
              <a:rPr lang="en-US" b="1" dirty="0"/>
              <a:t>Build Prototype</a:t>
            </a:r>
            <a:endParaRPr lang="en-US" dirty="0"/>
          </a:p>
          <a:p>
            <a:pPr lvl="1"/>
            <a:r>
              <a:rPr lang="en-US" dirty="0"/>
              <a:t>Develop a simple, working model</a:t>
            </a:r>
          </a:p>
          <a:p>
            <a:pPr lvl="1"/>
            <a:r>
              <a:rPr lang="en-US" dirty="0"/>
              <a:t>Focus on user interaction, not full functionality</a:t>
            </a:r>
          </a:p>
          <a:p>
            <a:r>
              <a:rPr lang="en-US" b="1" dirty="0"/>
              <a:t>User Evaluation</a:t>
            </a:r>
            <a:endParaRPr lang="en-US" dirty="0"/>
          </a:p>
          <a:p>
            <a:pPr lvl="1"/>
            <a:r>
              <a:rPr lang="en-US" dirty="0"/>
              <a:t>Users test the prototype</a:t>
            </a:r>
          </a:p>
          <a:p>
            <a:pPr lvl="1"/>
            <a:r>
              <a:rPr lang="en-US" dirty="0"/>
              <a:t>Provide feedback and suggestions</a:t>
            </a:r>
          </a:p>
          <a:p>
            <a:r>
              <a:rPr lang="en-US" b="1" dirty="0"/>
              <a:t>Refinement</a:t>
            </a:r>
            <a:endParaRPr lang="en-US" dirty="0"/>
          </a:p>
          <a:p>
            <a:pPr lvl="1"/>
            <a:r>
              <a:rPr lang="en-US" dirty="0"/>
              <a:t>Modify the prototype based on feedback</a:t>
            </a:r>
          </a:p>
          <a:p>
            <a:pPr lvl="1"/>
            <a:r>
              <a:rPr lang="en-US" dirty="0"/>
              <a:t>Repeat steps 3–5 until requirements are clear</a:t>
            </a:r>
          </a:p>
          <a:p>
            <a:r>
              <a:rPr lang="en-US" b="1" dirty="0"/>
              <a:t>Final System Development</a:t>
            </a:r>
            <a:endParaRPr lang="en-US" dirty="0"/>
          </a:p>
          <a:p>
            <a:pPr lvl="1"/>
            <a:r>
              <a:rPr lang="en-US" dirty="0"/>
              <a:t>Once requirements are finalized, the real system is built using a suitable SDLC model (often Waterfall or Incremental)</a:t>
            </a:r>
          </a:p>
          <a:p>
            <a:endParaRPr lang="en-US" dirty="0"/>
          </a:p>
        </p:txBody>
      </p:sp>
    </p:spTree>
    <p:extLst>
      <p:ext uri="{BB962C8B-B14F-4D97-AF65-F5344CB8AC3E}">
        <p14:creationId xmlns:p14="http://schemas.microsoft.com/office/powerpoint/2010/main" val="141794980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5CD687-C6DD-B38F-8BA3-78568EC28F1C}"/>
              </a:ext>
            </a:extLst>
          </p:cNvPr>
          <p:cNvSpPr>
            <a:spLocks noGrp="1"/>
          </p:cNvSpPr>
          <p:nvPr>
            <p:ph type="title"/>
          </p:nvPr>
        </p:nvSpPr>
        <p:spPr/>
        <p:txBody>
          <a:bodyPr/>
          <a:lstStyle/>
          <a:p>
            <a:r>
              <a:rPr lang="en-US" dirty="0"/>
              <a:t>Prototyping – when to use?</a:t>
            </a:r>
          </a:p>
        </p:txBody>
      </p:sp>
      <p:sp>
        <p:nvSpPr>
          <p:cNvPr id="3" name="Content Placeholder 2">
            <a:extLst>
              <a:ext uri="{FF2B5EF4-FFF2-40B4-BE49-F238E27FC236}">
                <a16:creationId xmlns:a16="http://schemas.microsoft.com/office/drawing/2014/main" id="{749DC4D8-85FB-17A6-9A04-701293815821}"/>
              </a:ext>
            </a:extLst>
          </p:cNvPr>
          <p:cNvSpPr>
            <a:spLocks noGrp="1"/>
          </p:cNvSpPr>
          <p:nvPr>
            <p:ph idx="1"/>
          </p:nvPr>
        </p:nvSpPr>
        <p:spPr/>
        <p:txBody>
          <a:bodyPr>
            <a:normAutofit/>
          </a:bodyPr>
          <a:lstStyle/>
          <a:p>
            <a:r>
              <a:rPr lang="en-US" dirty="0"/>
              <a:t>Best used when:</a:t>
            </a:r>
          </a:p>
          <a:p>
            <a:pPr lvl="1"/>
            <a:r>
              <a:rPr lang="en-US" b="1" dirty="0"/>
              <a:t>Requirements are unclear or incomplete</a:t>
            </a:r>
            <a:endParaRPr lang="en-US" dirty="0"/>
          </a:p>
          <a:p>
            <a:pPr lvl="1"/>
            <a:r>
              <a:rPr lang="en-US" dirty="0"/>
              <a:t>User interaction and UI are critical</a:t>
            </a:r>
          </a:p>
          <a:p>
            <a:pPr lvl="1"/>
            <a:r>
              <a:rPr lang="en-US" dirty="0"/>
              <a:t>System is </a:t>
            </a:r>
            <a:r>
              <a:rPr lang="en-US" b="1" dirty="0"/>
              <a:t>customer-facing</a:t>
            </a:r>
            <a:endParaRPr lang="en-US" dirty="0"/>
          </a:p>
          <a:p>
            <a:pPr lvl="1"/>
            <a:r>
              <a:rPr lang="en-US" dirty="0"/>
              <a:t>Frequent </a:t>
            </a:r>
            <a:r>
              <a:rPr lang="en-US" b="1" dirty="0"/>
              <a:t>user feedback</a:t>
            </a:r>
            <a:r>
              <a:rPr lang="en-US" dirty="0"/>
              <a:t> is needed</a:t>
            </a:r>
          </a:p>
          <a:p>
            <a:pPr lvl="1"/>
            <a:r>
              <a:rPr lang="en-US" dirty="0"/>
              <a:t>New or complex technology is involved</a:t>
            </a:r>
          </a:p>
          <a:p>
            <a:r>
              <a:rPr lang="en-US" dirty="0"/>
              <a:t>Not suitable when:</a:t>
            </a:r>
          </a:p>
          <a:p>
            <a:pPr lvl="1"/>
            <a:r>
              <a:rPr lang="en-US" dirty="0"/>
              <a:t>Requirements are well-defined and stable</a:t>
            </a:r>
          </a:p>
          <a:p>
            <a:pPr lvl="1"/>
            <a:r>
              <a:rPr lang="en-US" dirty="0"/>
              <a:t>Project is small and simple</a:t>
            </a:r>
          </a:p>
          <a:p>
            <a:pPr lvl="1"/>
            <a:r>
              <a:rPr lang="en-US" dirty="0"/>
              <a:t>Time or budget is very limited</a:t>
            </a:r>
          </a:p>
          <a:p>
            <a:endParaRPr lang="en-US" dirty="0"/>
          </a:p>
        </p:txBody>
      </p:sp>
    </p:spTree>
    <p:extLst>
      <p:ext uri="{BB962C8B-B14F-4D97-AF65-F5344CB8AC3E}">
        <p14:creationId xmlns:p14="http://schemas.microsoft.com/office/powerpoint/2010/main" val="347227246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785B1A-653E-169C-D7ED-DCE150E8EE0F}"/>
              </a:ext>
            </a:extLst>
          </p:cNvPr>
          <p:cNvSpPr>
            <a:spLocks noGrp="1"/>
          </p:cNvSpPr>
          <p:nvPr>
            <p:ph type="title"/>
          </p:nvPr>
        </p:nvSpPr>
        <p:spPr/>
        <p:txBody>
          <a:bodyPr/>
          <a:lstStyle/>
          <a:p>
            <a:r>
              <a:rPr lang="en-US" dirty="0"/>
              <a:t>Prototyping - pros</a:t>
            </a:r>
          </a:p>
        </p:txBody>
      </p:sp>
      <p:sp>
        <p:nvSpPr>
          <p:cNvPr id="3" name="Content Placeholder 2">
            <a:extLst>
              <a:ext uri="{FF2B5EF4-FFF2-40B4-BE49-F238E27FC236}">
                <a16:creationId xmlns:a16="http://schemas.microsoft.com/office/drawing/2014/main" id="{8E9C9601-1167-06E9-0DA2-2035334F3FDA}"/>
              </a:ext>
            </a:extLst>
          </p:cNvPr>
          <p:cNvSpPr>
            <a:spLocks noGrp="1"/>
          </p:cNvSpPr>
          <p:nvPr>
            <p:ph idx="1"/>
          </p:nvPr>
        </p:nvSpPr>
        <p:spPr/>
        <p:txBody>
          <a:bodyPr>
            <a:normAutofit lnSpcReduction="10000"/>
          </a:bodyPr>
          <a:lstStyle/>
          <a:p>
            <a:r>
              <a:rPr lang="en-US" b="1" dirty="0"/>
              <a:t>Clear Requirements</a:t>
            </a:r>
            <a:endParaRPr lang="en-US" dirty="0"/>
          </a:p>
          <a:p>
            <a:pPr lvl="1"/>
            <a:r>
              <a:rPr lang="en-US" dirty="0"/>
              <a:t>Users understand what they want by seeing the prototype</a:t>
            </a:r>
          </a:p>
          <a:p>
            <a:r>
              <a:rPr lang="en-US" b="1" dirty="0"/>
              <a:t>Early User Involvement</a:t>
            </a:r>
            <a:endParaRPr lang="en-US" dirty="0"/>
          </a:p>
          <a:p>
            <a:pPr lvl="1"/>
            <a:r>
              <a:rPr lang="en-US" dirty="0"/>
              <a:t>Reduces misunderstanding between users and developers</a:t>
            </a:r>
          </a:p>
          <a:p>
            <a:r>
              <a:rPr lang="en-US" b="1" dirty="0"/>
              <a:t>Improved User Satisfaction</a:t>
            </a:r>
            <a:endParaRPr lang="en-US" dirty="0"/>
          </a:p>
          <a:p>
            <a:pPr lvl="1"/>
            <a:r>
              <a:rPr lang="en-US" dirty="0"/>
              <a:t>Final system closely matches user expectations</a:t>
            </a:r>
          </a:p>
          <a:p>
            <a:r>
              <a:rPr lang="en-US" b="1" dirty="0"/>
              <a:t>Early Error Detection</a:t>
            </a:r>
            <a:endParaRPr lang="en-US" dirty="0"/>
          </a:p>
          <a:p>
            <a:pPr lvl="1"/>
            <a:r>
              <a:rPr lang="en-US" dirty="0"/>
              <a:t>Design and requirement issues are found early</a:t>
            </a:r>
          </a:p>
          <a:p>
            <a:r>
              <a:rPr lang="en-US" b="1" dirty="0"/>
              <a:t>Better UI/UX Design</a:t>
            </a:r>
            <a:endParaRPr lang="en-US" dirty="0"/>
          </a:p>
          <a:p>
            <a:pPr lvl="1"/>
            <a:r>
              <a:rPr lang="en-US" dirty="0"/>
              <a:t>Especially useful for interactive applications</a:t>
            </a:r>
          </a:p>
        </p:txBody>
      </p:sp>
    </p:spTree>
    <p:extLst>
      <p:ext uri="{BB962C8B-B14F-4D97-AF65-F5344CB8AC3E}">
        <p14:creationId xmlns:p14="http://schemas.microsoft.com/office/powerpoint/2010/main" val="55824406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A3C0CC-6C84-4E42-08D0-C65FF7EF913B}"/>
              </a:ext>
            </a:extLst>
          </p:cNvPr>
          <p:cNvSpPr>
            <a:spLocks noGrp="1"/>
          </p:cNvSpPr>
          <p:nvPr>
            <p:ph type="title"/>
          </p:nvPr>
        </p:nvSpPr>
        <p:spPr/>
        <p:txBody>
          <a:bodyPr/>
          <a:lstStyle/>
          <a:p>
            <a:r>
              <a:rPr lang="en-US" dirty="0"/>
              <a:t>Prototyping - Cons</a:t>
            </a:r>
          </a:p>
        </p:txBody>
      </p:sp>
      <p:sp>
        <p:nvSpPr>
          <p:cNvPr id="3" name="Content Placeholder 2">
            <a:extLst>
              <a:ext uri="{FF2B5EF4-FFF2-40B4-BE49-F238E27FC236}">
                <a16:creationId xmlns:a16="http://schemas.microsoft.com/office/drawing/2014/main" id="{92834DE7-1CA0-4548-F355-F09311D62A68}"/>
              </a:ext>
            </a:extLst>
          </p:cNvPr>
          <p:cNvSpPr>
            <a:spLocks noGrp="1"/>
          </p:cNvSpPr>
          <p:nvPr>
            <p:ph idx="1"/>
          </p:nvPr>
        </p:nvSpPr>
        <p:spPr/>
        <p:txBody>
          <a:bodyPr>
            <a:normAutofit lnSpcReduction="10000"/>
          </a:bodyPr>
          <a:lstStyle/>
          <a:p>
            <a:r>
              <a:rPr lang="en-US" b="1" dirty="0"/>
              <a:t>Increased Cost</a:t>
            </a:r>
            <a:endParaRPr lang="en-US" dirty="0"/>
          </a:p>
          <a:p>
            <a:pPr lvl="1"/>
            <a:r>
              <a:rPr lang="en-US" dirty="0"/>
              <a:t>Multiple iterations increase development cost</a:t>
            </a:r>
          </a:p>
          <a:p>
            <a:r>
              <a:rPr lang="en-US" b="1" dirty="0"/>
              <a:t>Time Consuming</a:t>
            </a:r>
            <a:endParaRPr lang="en-US" dirty="0"/>
          </a:p>
          <a:p>
            <a:pPr lvl="1"/>
            <a:r>
              <a:rPr lang="en-US" dirty="0"/>
              <a:t>Continuous feedback and refinement take time</a:t>
            </a:r>
          </a:p>
          <a:p>
            <a:r>
              <a:rPr lang="en-US" b="1" dirty="0"/>
              <a:t>Scope Creep</a:t>
            </a:r>
            <a:endParaRPr lang="en-US" dirty="0"/>
          </a:p>
          <a:p>
            <a:pPr lvl="1"/>
            <a:r>
              <a:rPr lang="en-US" dirty="0"/>
              <a:t>Users may keep requesting new features endlessly</a:t>
            </a:r>
          </a:p>
          <a:p>
            <a:r>
              <a:rPr lang="en-US" b="1" dirty="0"/>
              <a:t>Poor Documentation</a:t>
            </a:r>
            <a:endParaRPr lang="en-US" dirty="0"/>
          </a:p>
          <a:p>
            <a:pPr lvl="1"/>
            <a:r>
              <a:rPr lang="en-US" dirty="0"/>
              <a:t>Focus on prototype may reduce proper documentation</a:t>
            </a:r>
          </a:p>
          <a:p>
            <a:r>
              <a:rPr lang="en-US" b="1" dirty="0"/>
              <a:t>Unrealistic Expectations</a:t>
            </a:r>
            <a:endParaRPr lang="en-US" dirty="0"/>
          </a:p>
          <a:p>
            <a:pPr lvl="1"/>
            <a:r>
              <a:rPr lang="en-US" dirty="0"/>
              <a:t>Users may think the prototype is the final product</a:t>
            </a:r>
          </a:p>
          <a:p>
            <a:endParaRPr lang="en-US" dirty="0"/>
          </a:p>
        </p:txBody>
      </p:sp>
    </p:spTree>
    <p:extLst>
      <p:ext uri="{BB962C8B-B14F-4D97-AF65-F5344CB8AC3E}">
        <p14:creationId xmlns:p14="http://schemas.microsoft.com/office/powerpoint/2010/main" val="51104913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199" name="Rectangle 8198">
            <a:extLst>
              <a:ext uri="{FF2B5EF4-FFF2-40B4-BE49-F238E27FC236}">
                <a16:creationId xmlns:a16="http://schemas.microsoft.com/office/drawing/2014/main" id="{665DBBEF-238B-476B-96AB-8AAC3224ECE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DAF7B66-EFEA-BF64-C258-D4192DE0A111}"/>
              </a:ext>
            </a:extLst>
          </p:cNvPr>
          <p:cNvSpPr>
            <a:spLocks noGrp="1"/>
          </p:cNvSpPr>
          <p:nvPr>
            <p:ph type="title"/>
          </p:nvPr>
        </p:nvSpPr>
        <p:spPr>
          <a:xfrm>
            <a:off x="638882" y="639193"/>
            <a:ext cx="3571810" cy="3573516"/>
          </a:xfrm>
        </p:spPr>
        <p:txBody>
          <a:bodyPr vert="horz" lIns="91440" tIns="45720" rIns="91440" bIns="45720" rtlCol="0" anchor="b">
            <a:normAutofit/>
          </a:bodyPr>
          <a:lstStyle/>
          <a:p>
            <a:r>
              <a:rPr lang="en-US" sz="6600" kern="1200">
                <a:solidFill>
                  <a:schemeClr val="tx1"/>
                </a:solidFill>
                <a:latin typeface="+mj-lt"/>
                <a:ea typeface="+mj-ea"/>
                <a:cs typeface="+mj-cs"/>
              </a:rPr>
              <a:t>RAD</a:t>
            </a:r>
          </a:p>
        </p:txBody>
      </p:sp>
      <p:sp>
        <p:nvSpPr>
          <p:cNvPr id="8201" name="sketch line">
            <a:extLst>
              <a:ext uri="{FF2B5EF4-FFF2-40B4-BE49-F238E27FC236}">
                <a16:creationId xmlns:a16="http://schemas.microsoft.com/office/drawing/2014/main" id="{3FCFB1DE-0B7E-48CC-BA90-B2AB0889F9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4409267"/>
            <a:ext cx="3255095" cy="18288"/>
          </a:xfrm>
          <a:custGeom>
            <a:avLst/>
            <a:gdLst>
              <a:gd name="csX0" fmla="*/ 0 w 3255095"/>
              <a:gd name="csY0" fmla="*/ 0 h 18288"/>
              <a:gd name="csX1" fmla="*/ 618468 w 3255095"/>
              <a:gd name="csY1" fmla="*/ 0 h 18288"/>
              <a:gd name="csX2" fmla="*/ 1269487 w 3255095"/>
              <a:gd name="csY2" fmla="*/ 0 h 18288"/>
              <a:gd name="csX3" fmla="*/ 1953057 w 3255095"/>
              <a:gd name="csY3" fmla="*/ 0 h 18288"/>
              <a:gd name="csX4" fmla="*/ 2636627 w 3255095"/>
              <a:gd name="csY4" fmla="*/ 0 h 18288"/>
              <a:gd name="csX5" fmla="*/ 3255095 w 3255095"/>
              <a:gd name="csY5" fmla="*/ 0 h 18288"/>
              <a:gd name="csX6" fmla="*/ 3255095 w 3255095"/>
              <a:gd name="csY6" fmla="*/ 18288 h 18288"/>
              <a:gd name="csX7" fmla="*/ 2538974 w 3255095"/>
              <a:gd name="csY7" fmla="*/ 18288 h 18288"/>
              <a:gd name="csX8" fmla="*/ 1822853 w 3255095"/>
              <a:gd name="csY8" fmla="*/ 18288 h 18288"/>
              <a:gd name="csX9" fmla="*/ 1171834 w 3255095"/>
              <a:gd name="csY9" fmla="*/ 18288 h 18288"/>
              <a:gd name="csX10" fmla="*/ 0 w 3255095"/>
              <a:gd name="csY10" fmla="*/ 18288 h 18288"/>
              <a:gd name="csX11" fmla="*/ 0 w 3255095"/>
              <a:gd name="csY11"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194" name="Picture 2" descr="SDLC RAD Model">
            <a:extLst>
              <a:ext uri="{FF2B5EF4-FFF2-40B4-BE49-F238E27FC236}">
                <a16:creationId xmlns:a16="http://schemas.microsoft.com/office/drawing/2014/main" id="{AFE20473-DD27-F9B3-8DD3-3B074B32E099}"/>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tretch>
            <a:fillRect/>
          </a:stretch>
        </p:blipFill>
        <p:spPr bwMode="auto">
          <a:xfrm>
            <a:off x="4654296" y="926241"/>
            <a:ext cx="7214616" cy="497808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6783760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61884A-A4F0-F942-039D-9FA4C00CD480}"/>
              </a:ext>
            </a:extLst>
          </p:cNvPr>
          <p:cNvSpPr>
            <a:spLocks noGrp="1"/>
          </p:cNvSpPr>
          <p:nvPr>
            <p:ph type="title"/>
          </p:nvPr>
        </p:nvSpPr>
        <p:spPr/>
        <p:txBody>
          <a:bodyPr/>
          <a:lstStyle/>
          <a:p>
            <a:r>
              <a:rPr lang="en-US" dirty="0"/>
              <a:t>RAD</a:t>
            </a:r>
          </a:p>
        </p:txBody>
      </p:sp>
      <p:sp>
        <p:nvSpPr>
          <p:cNvPr id="3" name="Content Placeholder 2">
            <a:extLst>
              <a:ext uri="{FF2B5EF4-FFF2-40B4-BE49-F238E27FC236}">
                <a16:creationId xmlns:a16="http://schemas.microsoft.com/office/drawing/2014/main" id="{FC15B2B5-7531-F55C-49A9-5ABD9648F02A}"/>
              </a:ext>
            </a:extLst>
          </p:cNvPr>
          <p:cNvSpPr>
            <a:spLocks noGrp="1"/>
          </p:cNvSpPr>
          <p:nvPr>
            <p:ph idx="1"/>
          </p:nvPr>
        </p:nvSpPr>
        <p:spPr/>
        <p:txBody>
          <a:bodyPr>
            <a:normAutofit/>
          </a:bodyPr>
          <a:lstStyle/>
          <a:p>
            <a:r>
              <a:rPr lang="en-US" b="1" dirty="0"/>
              <a:t>RAD (Rapid Application Development)</a:t>
            </a:r>
            <a:r>
              <a:rPr lang="en-US" dirty="0"/>
              <a:t> is an SDLC model that focuses on </a:t>
            </a:r>
            <a:r>
              <a:rPr lang="en-US" b="1" dirty="0"/>
              <a:t>fast development and quick delivery</a:t>
            </a:r>
            <a:r>
              <a:rPr lang="en-US" dirty="0"/>
              <a:t> by using:</a:t>
            </a:r>
          </a:p>
          <a:p>
            <a:pPr lvl="1"/>
            <a:r>
              <a:rPr lang="en-US" b="1" dirty="0"/>
              <a:t>Prototyping</a:t>
            </a:r>
            <a:endParaRPr lang="en-US" dirty="0"/>
          </a:p>
          <a:p>
            <a:pPr lvl="1"/>
            <a:r>
              <a:rPr lang="en-US" b="1" dirty="0"/>
              <a:t>Reusable components</a:t>
            </a:r>
            <a:endParaRPr lang="en-US" dirty="0"/>
          </a:p>
          <a:p>
            <a:pPr lvl="1"/>
            <a:r>
              <a:rPr lang="en-US" b="1" dirty="0"/>
              <a:t>User feedback</a:t>
            </a:r>
            <a:endParaRPr lang="en-US" dirty="0"/>
          </a:p>
          <a:p>
            <a:pPr lvl="1"/>
            <a:r>
              <a:rPr lang="en-US" b="1" dirty="0"/>
              <a:t>Parallel development</a:t>
            </a:r>
            <a:endParaRPr lang="en-US" dirty="0"/>
          </a:p>
          <a:p>
            <a:r>
              <a:rPr lang="en-US" dirty="0"/>
              <a:t>Instead of long planning phases, RAD emphasizes </a:t>
            </a:r>
            <a:r>
              <a:rPr lang="en-US" b="1" dirty="0"/>
              <a:t>working software in a short time</a:t>
            </a:r>
            <a:r>
              <a:rPr lang="en-US" dirty="0"/>
              <a:t>.</a:t>
            </a:r>
          </a:p>
          <a:p>
            <a:pPr lvl="1"/>
            <a:r>
              <a:rPr lang="en-US" dirty="0"/>
              <a:t>RAD = </a:t>
            </a:r>
            <a:r>
              <a:rPr lang="en-US" b="1" dirty="0"/>
              <a:t>Speed + User involvement + Prototypes</a:t>
            </a:r>
            <a:endParaRPr lang="en-US" dirty="0"/>
          </a:p>
        </p:txBody>
      </p:sp>
    </p:spTree>
    <p:extLst>
      <p:ext uri="{BB962C8B-B14F-4D97-AF65-F5344CB8AC3E}">
        <p14:creationId xmlns:p14="http://schemas.microsoft.com/office/powerpoint/2010/main" val="254550728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458A69-9528-7F2E-E97B-C50BF5EACEF4}"/>
              </a:ext>
            </a:extLst>
          </p:cNvPr>
          <p:cNvSpPr>
            <a:spLocks noGrp="1"/>
          </p:cNvSpPr>
          <p:nvPr>
            <p:ph type="title"/>
          </p:nvPr>
        </p:nvSpPr>
        <p:spPr/>
        <p:txBody>
          <a:bodyPr/>
          <a:lstStyle/>
          <a:p>
            <a:r>
              <a:rPr lang="en-US" dirty="0"/>
              <a:t>RAD</a:t>
            </a:r>
          </a:p>
        </p:txBody>
      </p:sp>
      <p:sp>
        <p:nvSpPr>
          <p:cNvPr id="3" name="Content Placeholder 2">
            <a:extLst>
              <a:ext uri="{FF2B5EF4-FFF2-40B4-BE49-F238E27FC236}">
                <a16:creationId xmlns:a16="http://schemas.microsoft.com/office/drawing/2014/main" id="{911A7A4A-5A33-DF2D-ECAA-A057FFAC717D}"/>
              </a:ext>
            </a:extLst>
          </p:cNvPr>
          <p:cNvSpPr>
            <a:spLocks noGrp="1"/>
          </p:cNvSpPr>
          <p:nvPr>
            <p:ph idx="1"/>
          </p:nvPr>
        </p:nvSpPr>
        <p:spPr/>
        <p:txBody>
          <a:bodyPr>
            <a:normAutofit fontScale="62500" lnSpcReduction="20000"/>
          </a:bodyPr>
          <a:lstStyle/>
          <a:p>
            <a:r>
              <a:rPr lang="en-US" dirty="0"/>
              <a:t>RAD divides development into </a:t>
            </a:r>
            <a:r>
              <a:rPr lang="en-US" b="1" dirty="0"/>
              <a:t>short, time-boxed phases</a:t>
            </a:r>
            <a:r>
              <a:rPr lang="en-US" dirty="0"/>
              <a:t>.</a:t>
            </a:r>
          </a:p>
          <a:p>
            <a:r>
              <a:rPr lang="en-US" b="1" dirty="0"/>
              <a:t>Main Phases of RAD</a:t>
            </a:r>
          </a:p>
          <a:p>
            <a:r>
              <a:rPr lang="en-US" b="1" dirty="0"/>
              <a:t>Requirements Planning</a:t>
            </a:r>
            <a:endParaRPr lang="en-US" dirty="0"/>
          </a:p>
          <a:p>
            <a:pPr lvl="1"/>
            <a:r>
              <a:rPr lang="en-US" dirty="0"/>
              <a:t>Business goals and high-level requirements are defined</a:t>
            </a:r>
          </a:p>
          <a:p>
            <a:pPr lvl="1"/>
            <a:r>
              <a:rPr lang="en-US" dirty="0"/>
              <a:t>Users, analysts, and developers work together</a:t>
            </a:r>
          </a:p>
          <a:p>
            <a:r>
              <a:rPr lang="en-US" b="1" dirty="0"/>
              <a:t>User Design</a:t>
            </a:r>
            <a:endParaRPr lang="en-US" dirty="0"/>
          </a:p>
          <a:p>
            <a:pPr lvl="1"/>
            <a:r>
              <a:rPr lang="en-US" dirty="0"/>
              <a:t>Prototypes are created quickly</a:t>
            </a:r>
          </a:p>
          <a:p>
            <a:pPr lvl="1"/>
            <a:r>
              <a:rPr lang="en-US" dirty="0"/>
              <a:t>Users review screens, workflows, and reports</a:t>
            </a:r>
          </a:p>
          <a:p>
            <a:pPr lvl="1"/>
            <a:r>
              <a:rPr lang="en-US" dirty="0"/>
              <a:t>Continuous feedback and refinement</a:t>
            </a:r>
          </a:p>
          <a:p>
            <a:r>
              <a:rPr lang="en-US" b="1" dirty="0"/>
              <a:t>Construction</a:t>
            </a:r>
            <a:endParaRPr lang="en-US" dirty="0"/>
          </a:p>
          <a:p>
            <a:pPr lvl="1"/>
            <a:r>
              <a:rPr lang="en-US" dirty="0"/>
              <a:t>Actual coding using reusable components</a:t>
            </a:r>
          </a:p>
          <a:p>
            <a:pPr lvl="1"/>
            <a:r>
              <a:rPr lang="en-US" dirty="0"/>
              <a:t>Multiple modules developed </a:t>
            </a:r>
            <a:r>
              <a:rPr lang="en-US" b="1" dirty="0"/>
              <a:t>in parallel</a:t>
            </a:r>
            <a:endParaRPr lang="en-US" dirty="0"/>
          </a:p>
          <a:p>
            <a:pPr lvl="1"/>
            <a:r>
              <a:rPr lang="en-US" dirty="0"/>
              <a:t>Continuous testing and integration</a:t>
            </a:r>
          </a:p>
          <a:p>
            <a:r>
              <a:rPr lang="en-US" b="1" dirty="0"/>
              <a:t>Cutover</a:t>
            </a:r>
            <a:endParaRPr lang="en-US" dirty="0"/>
          </a:p>
          <a:p>
            <a:pPr lvl="1"/>
            <a:r>
              <a:rPr lang="en-US" dirty="0"/>
              <a:t>Final testing</a:t>
            </a:r>
          </a:p>
          <a:p>
            <a:pPr lvl="1"/>
            <a:r>
              <a:rPr lang="en-US" dirty="0"/>
              <a:t>Data conversion</a:t>
            </a:r>
          </a:p>
          <a:p>
            <a:pPr lvl="1"/>
            <a:r>
              <a:rPr lang="en-US" dirty="0"/>
              <a:t>Deployment and user training</a:t>
            </a:r>
          </a:p>
          <a:p>
            <a:endParaRPr lang="en-US" dirty="0"/>
          </a:p>
        </p:txBody>
      </p:sp>
    </p:spTree>
    <p:extLst>
      <p:ext uri="{BB962C8B-B14F-4D97-AF65-F5344CB8AC3E}">
        <p14:creationId xmlns:p14="http://schemas.microsoft.com/office/powerpoint/2010/main" val="403076231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DE5691-9C75-CEEB-FF42-C3A85C666DE3}"/>
              </a:ext>
            </a:extLst>
          </p:cNvPr>
          <p:cNvSpPr>
            <a:spLocks noGrp="1"/>
          </p:cNvSpPr>
          <p:nvPr>
            <p:ph type="title"/>
          </p:nvPr>
        </p:nvSpPr>
        <p:spPr/>
        <p:txBody>
          <a:bodyPr/>
          <a:lstStyle/>
          <a:p>
            <a:r>
              <a:rPr lang="en-US" dirty="0"/>
              <a:t>RAD – when to use?</a:t>
            </a:r>
          </a:p>
        </p:txBody>
      </p:sp>
      <p:sp>
        <p:nvSpPr>
          <p:cNvPr id="3" name="Content Placeholder 2">
            <a:extLst>
              <a:ext uri="{FF2B5EF4-FFF2-40B4-BE49-F238E27FC236}">
                <a16:creationId xmlns:a16="http://schemas.microsoft.com/office/drawing/2014/main" id="{100286A2-5B44-D99D-56EE-16BF2586CFD2}"/>
              </a:ext>
            </a:extLst>
          </p:cNvPr>
          <p:cNvSpPr>
            <a:spLocks noGrp="1"/>
          </p:cNvSpPr>
          <p:nvPr>
            <p:ph idx="1"/>
          </p:nvPr>
        </p:nvSpPr>
        <p:spPr/>
        <p:txBody>
          <a:bodyPr>
            <a:normAutofit lnSpcReduction="10000"/>
          </a:bodyPr>
          <a:lstStyle/>
          <a:p>
            <a:r>
              <a:rPr lang="en-US" dirty="0"/>
              <a:t>RAD is ideal in situations where:</a:t>
            </a:r>
          </a:p>
          <a:p>
            <a:pPr lvl="1"/>
            <a:r>
              <a:rPr lang="en-US" b="1" dirty="0"/>
              <a:t>Requirements are not fully clear</a:t>
            </a:r>
            <a:r>
              <a:rPr lang="en-US" dirty="0"/>
              <a:t> at the beginning.</a:t>
            </a:r>
          </a:p>
          <a:p>
            <a:pPr lvl="1"/>
            <a:r>
              <a:rPr lang="en-US" b="1" dirty="0"/>
              <a:t>Rapid development</a:t>
            </a:r>
            <a:r>
              <a:rPr lang="en-US" dirty="0"/>
              <a:t> is a priority.</a:t>
            </a:r>
          </a:p>
          <a:p>
            <a:pPr lvl="1"/>
            <a:r>
              <a:rPr lang="en-US" b="1" dirty="0"/>
              <a:t>User involvement is high</a:t>
            </a:r>
            <a:r>
              <a:rPr lang="en-US" dirty="0"/>
              <a:t> and frequent feedback is possible.</a:t>
            </a:r>
          </a:p>
          <a:p>
            <a:pPr lvl="1"/>
            <a:r>
              <a:rPr lang="en-US" dirty="0"/>
              <a:t>The project is </a:t>
            </a:r>
            <a:r>
              <a:rPr lang="en-US" b="1" dirty="0"/>
              <a:t>small to medium-sized</a:t>
            </a:r>
            <a:r>
              <a:rPr lang="en-US" dirty="0"/>
              <a:t>, not huge enterprise systems.</a:t>
            </a:r>
          </a:p>
          <a:p>
            <a:pPr lvl="1"/>
            <a:r>
              <a:rPr lang="en-US" dirty="0"/>
              <a:t>The project can benefit from </a:t>
            </a:r>
            <a:r>
              <a:rPr lang="en-US" b="1" dirty="0"/>
              <a:t>component reuse</a:t>
            </a:r>
            <a:r>
              <a:rPr lang="en-US" dirty="0"/>
              <a:t> or prebuilt frameworks.</a:t>
            </a:r>
          </a:p>
          <a:p>
            <a:r>
              <a:rPr lang="en-US" b="1" dirty="0"/>
              <a:t>Not ideal when:</a:t>
            </a:r>
            <a:endParaRPr lang="en-US" dirty="0"/>
          </a:p>
          <a:p>
            <a:pPr lvl="1"/>
            <a:r>
              <a:rPr lang="en-US" dirty="0"/>
              <a:t>The project is </a:t>
            </a:r>
            <a:r>
              <a:rPr lang="en-US" b="1" dirty="0"/>
              <a:t>very large and complex</a:t>
            </a:r>
            <a:r>
              <a:rPr lang="en-US" dirty="0"/>
              <a:t>.</a:t>
            </a:r>
          </a:p>
          <a:p>
            <a:pPr lvl="1"/>
            <a:r>
              <a:rPr lang="en-US" dirty="0"/>
              <a:t>High </a:t>
            </a:r>
            <a:r>
              <a:rPr lang="en-US" b="1" dirty="0"/>
              <a:t>security or safety</a:t>
            </a:r>
            <a:r>
              <a:rPr lang="en-US" dirty="0"/>
              <a:t> requirements exist (e.g., aerospace, medical devices).</a:t>
            </a:r>
          </a:p>
          <a:p>
            <a:pPr lvl="1"/>
            <a:r>
              <a:rPr lang="en-US" dirty="0"/>
              <a:t>Users cannot actively participate during development.</a:t>
            </a:r>
          </a:p>
          <a:p>
            <a:endParaRPr lang="en-US" dirty="0"/>
          </a:p>
        </p:txBody>
      </p:sp>
    </p:spTree>
    <p:extLst>
      <p:ext uri="{BB962C8B-B14F-4D97-AF65-F5344CB8AC3E}">
        <p14:creationId xmlns:p14="http://schemas.microsoft.com/office/powerpoint/2010/main" val="260021896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205A35-7ED8-2FF2-FAFC-D87C07C9B951}"/>
              </a:ext>
            </a:extLst>
          </p:cNvPr>
          <p:cNvSpPr>
            <a:spLocks noGrp="1"/>
          </p:cNvSpPr>
          <p:nvPr>
            <p:ph type="title"/>
          </p:nvPr>
        </p:nvSpPr>
        <p:spPr/>
        <p:txBody>
          <a:bodyPr/>
          <a:lstStyle/>
          <a:p>
            <a:r>
              <a:rPr lang="en-US" dirty="0"/>
              <a:t>RAD</a:t>
            </a:r>
          </a:p>
        </p:txBody>
      </p:sp>
      <p:sp>
        <p:nvSpPr>
          <p:cNvPr id="3" name="Content Placeholder 2">
            <a:extLst>
              <a:ext uri="{FF2B5EF4-FFF2-40B4-BE49-F238E27FC236}">
                <a16:creationId xmlns:a16="http://schemas.microsoft.com/office/drawing/2014/main" id="{E6A91B94-155A-CBAD-65F2-7953AD7C5AB1}"/>
              </a:ext>
            </a:extLst>
          </p:cNvPr>
          <p:cNvSpPr>
            <a:spLocks noGrp="1"/>
          </p:cNvSpPr>
          <p:nvPr>
            <p:ph idx="1"/>
          </p:nvPr>
        </p:nvSpPr>
        <p:spPr/>
        <p:txBody>
          <a:bodyPr>
            <a:normAutofit fontScale="55000" lnSpcReduction="20000"/>
          </a:bodyPr>
          <a:lstStyle/>
          <a:p>
            <a:r>
              <a:rPr lang="en-US" dirty="0"/>
              <a:t>The advantages of the RAD Model are as follows −</a:t>
            </a:r>
          </a:p>
          <a:p>
            <a:pPr lvl="1"/>
            <a:r>
              <a:rPr lang="en-US" dirty="0"/>
              <a:t>Changing requirements can be accommodated.</a:t>
            </a:r>
          </a:p>
          <a:p>
            <a:pPr lvl="1"/>
            <a:r>
              <a:rPr lang="en-US" dirty="0"/>
              <a:t>Progress can be measured.</a:t>
            </a:r>
          </a:p>
          <a:p>
            <a:pPr lvl="1"/>
            <a:r>
              <a:rPr lang="en-US" dirty="0"/>
              <a:t>Iteration time can be short with use of powerful RAD tools.</a:t>
            </a:r>
          </a:p>
          <a:p>
            <a:pPr lvl="1"/>
            <a:r>
              <a:rPr lang="en-US" dirty="0"/>
              <a:t>Productivity with fewer people in a short time.</a:t>
            </a:r>
          </a:p>
          <a:p>
            <a:pPr lvl="1"/>
            <a:r>
              <a:rPr lang="en-US" dirty="0"/>
              <a:t>Reduced development time.</a:t>
            </a:r>
          </a:p>
          <a:p>
            <a:pPr lvl="1"/>
            <a:r>
              <a:rPr lang="en-US" dirty="0"/>
              <a:t>Increases reusability of components.</a:t>
            </a:r>
          </a:p>
          <a:p>
            <a:pPr lvl="1"/>
            <a:r>
              <a:rPr lang="en-US" dirty="0"/>
              <a:t>Quick initial reviews occur.</a:t>
            </a:r>
          </a:p>
          <a:p>
            <a:pPr lvl="1"/>
            <a:r>
              <a:rPr lang="en-US" dirty="0"/>
              <a:t>Encourages customer feedback.</a:t>
            </a:r>
          </a:p>
          <a:p>
            <a:pPr lvl="1"/>
            <a:r>
              <a:rPr lang="en-US" dirty="0"/>
              <a:t>Integration from very beginning solves a lot of integration issues.</a:t>
            </a:r>
          </a:p>
          <a:p>
            <a:r>
              <a:rPr lang="en-US" dirty="0"/>
              <a:t>The disadvantages of the RAD Model are as follows −</a:t>
            </a:r>
          </a:p>
          <a:p>
            <a:pPr lvl="1"/>
            <a:r>
              <a:rPr lang="en-US" dirty="0"/>
              <a:t>Dependency on technically strong team members for identifying business requirements.</a:t>
            </a:r>
          </a:p>
          <a:p>
            <a:pPr lvl="1"/>
            <a:r>
              <a:rPr lang="en-US" dirty="0"/>
              <a:t>Only system that can be modularized can be built using RAD.</a:t>
            </a:r>
          </a:p>
          <a:p>
            <a:pPr lvl="1"/>
            <a:r>
              <a:rPr lang="en-US" dirty="0"/>
              <a:t>Requires highly skilled developers/designers.</a:t>
            </a:r>
          </a:p>
          <a:p>
            <a:pPr lvl="1"/>
            <a:r>
              <a:rPr lang="en-US" dirty="0"/>
              <a:t>High dependency on Modelling skills.</a:t>
            </a:r>
          </a:p>
          <a:p>
            <a:pPr lvl="1"/>
            <a:r>
              <a:rPr lang="en-US" dirty="0"/>
              <a:t>Inapplicable to cheaper projects as cost of Modelling and automated code generation is very high.</a:t>
            </a:r>
          </a:p>
          <a:p>
            <a:pPr lvl="1"/>
            <a:r>
              <a:rPr lang="en-US" dirty="0"/>
              <a:t>Management complexity is more.</a:t>
            </a:r>
          </a:p>
          <a:p>
            <a:pPr lvl="1"/>
            <a:r>
              <a:rPr lang="en-US" dirty="0"/>
              <a:t>Suitable for systems that are component based and scalable.</a:t>
            </a:r>
          </a:p>
          <a:p>
            <a:pPr lvl="1"/>
            <a:r>
              <a:rPr lang="en-US" dirty="0"/>
              <a:t>Requires user involvement throughout the life cycle.</a:t>
            </a:r>
          </a:p>
          <a:p>
            <a:pPr lvl="1"/>
            <a:r>
              <a:rPr lang="en-US" dirty="0"/>
              <a:t>Suitable for project requiring shorter development times.</a:t>
            </a:r>
          </a:p>
          <a:p>
            <a:endParaRPr lang="en-US" dirty="0"/>
          </a:p>
        </p:txBody>
      </p:sp>
    </p:spTree>
    <p:extLst>
      <p:ext uri="{BB962C8B-B14F-4D97-AF65-F5344CB8AC3E}">
        <p14:creationId xmlns:p14="http://schemas.microsoft.com/office/powerpoint/2010/main" val="52752622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247" name="Rectangle 10246">
            <a:extLst>
              <a:ext uri="{FF2B5EF4-FFF2-40B4-BE49-F238E27FC236}">
                <a16:creationId xmlns:a16="http://schemas.microsoft.com/office/drawing/2014/main" id="{665DBBEF-238B-476B-96AB-8AAC3224ECE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E717B51-3BF9-9523-39F6-CA71AEE21417}"/>
              </a:ext>
            </a:extLst>
          </p:cNvPr>
          <p:cNvSpPr>
            <a:spLocks noGrp="1"/>
          </p:cNvSpPr>
          <p:nvPr>
            <p:ph type="title"/>
          </p:nvPr>
        </p:nvSpPr>
        <p:spPr>
          <a:xfrm>
            <a:off x="638882" y="639193"/>
            <a:ext cx="3571810" cy="3573516"/>
          </a:xfrm>
        </p:spPr>
        <p:txBody>
          <a:bodyPr vert="horz" lIns="91440" tIns="45720" rIns="91440" bIns="45720" rtlCol="0" anchor="b">
            <a:normAutofit/>
          </a:bodyPr>
          <a:lstStyle/>
          <a:p>
            <a:r>
              <a:rPr lang="en-US" sz="6600" kern="1200">
                <a:solidFill>
                  <a:schemeClr val="tx1"/>
                </a:solidFill>
                <a:latin typeface="+mj-lt"/>
                <a:ea typeface="+mj-ea"/>
                <a:cs typeface="+mj-cs"/>
              </a:rPr>
              <a:t>Agile</a:t>
            </a:r>
          </a:p>
        </p:txBody>
      </p:sp>
      <p:sp>
        <p:nvSpPr>
          <p:cNvPr id="10249" name="sketch line">
            <a:extLst>
              <a:ext uri="{FF2B5EF4-FFF2-40B4-BE49-F238E27FC236}">
                <a16:creationId xmlns:a16="http://schemas.microsoft.com/office/drawing/2014/main" id="{3FCFB1DE-0B7E-48CC-BA90-B2AB0889F9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4409267"/>
            <a:ext cx="3255095" cy="18288"/>
          </a:xfrm>
          <a:custGeom>
            <a:avLst/>
            <a:gdLst>
              <a:gd name="csX0" fmla="*/ 0 w 3255095"/>
              <a:gd name="csY0" fmla="*/ 0 h 18288"/>
              <a:gd name="csX1" fmla="*/ 618468 w 3255095"/>
              <a:gd name="csY1" fmla="*/ 0 h 18288"/>
              <a:gd name="csX2" fmla="*/ 1269487 w 3255095"/>
              <a:gd name="csY2" fmla="*/ 0 h 18288"/>
              <a:gd name="csX3" fmla="*/ 1953057 w 3255095"/>
              <a:gd name="csY3" fmla="*/ 0 h 18288"/>
              <a:gd name="csX4" fmla="*/ 2636627 w 3255095"/>
              <a:gd name="csY4" fmla="*/ 0 h 18288"/>
              <a:gd name="csX5" fmla="*/ 3255095 w 3255095"/>
              <a:gd name="csY5" fmla="*/ 0 h 18288"/>
              <a:gd name="csX6" fmla="*/ 3255095 w 3255095"/>
              <a:gd name="csY6" fmla="*/ 18288 h 18288"/>
              <a:gd name="csX7" fmla="*/ 2538974 w 3255095"/>
              <a:gd name="csY7" fmla="*/ 18288 h 18288"/>
              <a:gd name="csX8" fmla="*/ 1822853 w 3255095"/>
              <a:gd name="csY8" fmla="*/ 18288 h 18288"/>
              <a:gd name="csX9" fmla="*/ 1171834 w 3255095"/>
              <a:gd name="csY9" fmla="*/ 18288 h 18288"/>
              <a:gd name="csX10" fmla="*/ 0 w 3255095"/>
              <a:gd name="csY10" fmla="*/ 18288 h 18288"/>
              <a:gd name="csX11" fmla="*/ 0 w 3255095"/>
              <a:gd name="csY11"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42" name="Picture 2" descr="SDLC Agile Model">
            <a:extLst>
              <a:ext uri="{FF2B5EF4-FFF2-40B4-BE49-F238E27FC236}">
                <a16:creationId xmlns:a16="http://schemas.microsoft.com/office/drawing/2014/main" id="{F1D3BF41-E0E1-5E77-2F7C-4FD41271D593}"/>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tretch>
            <a:fillRect/>
          </a:stretch>
        </p:blipFill>
        <p:spPr bwMode="auto">
          <a:xfrm>
            <a:off x="4654296" y="727840"/>
            <a:ext cx="7214616" cy="537488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0830836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D56F55-2B22-F162-01E2-917B52FB7E69}"/>
              </a:ext>
            </a:extLst>
          </p:cNvPr>
          <p:cNvSpPr>
            <a:spLocks noGrp="1"/>
          </p:cNvSpPr>
          <p:nvPr>
            <p:ph type="title"/>
          </p:nvPr>
        </p:nvSpPr>
        <p:spPr/>
        <p:txBody>
          <a:bodyPr/>
          <a:lstStyle/>
          <a:p>
            <a:r>
              <a:rPr lang="en-US" dirty="0"/>
              <a:t>Agile</a:t>
            </a:r>
          </a:p>
        </p:txBody>
      </p:sp>
      <p:sp>
        <p:nvSpPr>
          <p:cNvPr id="3" name="Content Placeholder 2">
            <a:extLst>
              <a:ext uri="{FF2B5EF4-FFF2-40B4-BE49-F238E27FC236}">
                <a16:creationId xmlns:a16="http://schemas.microsoft.com/office/drawing/2014/main" id="{668AA3A6-EDE9-F1CE-AC3F-4CABE6D541A2}"/>
              </a:ext>
            </a:extLst>
          </p:cNvPr>
          <p:cNvSpPr>
            <a:spLocks noGrp="1"/>
          </p:cNvSpPr>
          <p:nvPr>
            <p:ph idx="1"/>
          </p:nvPr>
        </p:nvSpPr>
        <p:spPr/>
        <p:txBody>
          <a:bodyPr>
            <a:normAutofit/>
          </a:bodyPr>
          <a:lstStyle/>
          <a:p>
            <a:r>
              <a:rPr lang="en-US" b="1" dirty="0"/>
              <a:t>Agile SDLC</a:t>
            </a:r>
            <a:r>
              <a:rPr lang="en-US" dirty="0"/>
              <a:t> is a software development approach that focuses on </a:t>
            </a:r>
            <a:r>
              <a:rPr lang="en-US" b="1" dirty="0"/>
              <a:t>iterative development</a:t>
            </a:r>
            <a:r>
              <a:rPr lang="en-US" dirty="0"/>
              <a:t>, </a:t>
            </a:r>
            <a:r>
              <a:rPr lang="en-US" b="1" dirty="0"/>
              <a:t>customer collaboration</a:t>
            </a:r>
            <a:r>
              <a:rPr lang="en-US" dirty="0"/>
              <a:t>, and </a:t>
            </a:r>
            <a:r>
              <a:rPr lang="en-US" b="1" dirty="0"/>
              <a:t>quick delivery of working software</a:t>
            </a:r>
            <a:r>
              <a:rPr lang="en-US" dirty="0"/>
              <a:t>.</a:t>
            </a:r>
            <a:br>
              <a:rPr lang="en-US" dirty="0"/>
            </a:br>
            <a:r>
              <a:rPr lang="en-US" dirty="0"/>
              <a:t>The project is divided into </a:t>
            </a:r>
            <a:r>
              <a:rPr lang="en-US" b="1" dirty="0"/>
              <a:t>small time-boxed iterations called sprints</a:t>
            </a:r>
            <a:r>
              <a:rPr lang="en-US" dirty="0"/>
              <a:t> (usually 1–4 weeks).</a:t>
            </a:r>
          </a:p>
          <a:p>
            <a:r>
              <a:rPr lang="en-US" dirty="0"/>
              <a:t>Agile follows the </a:t>
            </a:r>
            <a:r>
              <a:rPr lang="en-US" b="1" dirty="0"/>
              <a:t>Agile Manifesto</a:t>
            </a:r>
            <a:r>
              <a:rPr lang="en-US" dirty="0"/>
              <a:t>, which values:</a:t>
            </a:r>
          </a:p>
          <a:p>
            <a:pPr lvl="1"/>
            <a:r>
              <a:rPr lang="en-US" dirty="0"/>
              <a:t>Individuals and interactions over processes and tools</a:t>
            </a:r>
          </a:p>
          <a:p>
            <a:pPr lvl="1"/>
            <a:r>
              <a:rPr lang="en-US" dirty="0"/>
              <a:t>Working software over documentation</a:t>
            </a:r>
          </a:p>
          <a:p>
            <a:pPr lvl="1"/>
            <a:r>
              <a:rPr lang="en-US" dirty="0"/>
              <a:t>Customer collaboration over contract negotiation</a:t>
            </a:r>
          </a:p>
          <a:p>
            <a:pPr lvl="1"/>
            <a:r>
              <a:rPr lang="en-US" dirty="0"/>
              <a:t>Responding to change over following a plan</a:t>
            </a:r>
          </a:p>
        </p:txBody>
      </p:sp>
    </p:spTree>
    <p:extLst>
      <p:ext uri="{BB962C8B-B14F-4D97-AF65-F5344CB8AC3E}">
        <p14:creationId xmlns:p14="http://schemas.microsoft.com/office/powerpoint/2010/main" val="44986454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4E90C6-928F-8B24-A9F3-B47AFA689B22}"/>
              </a:ext>
            </a:extLst>
          </p:cNvPr>
          <p:cNvSpPr>
            <a:spLocks noGrp="1"/>
          </p:cNvSpPr>
          <p:nvPr>
            <p:ph type="title"/>
          </p:nvPr>
        </p:nvSpPr>
        <p:spPr/>
        <p:txBody>
          <a:bodyPr/>
          <a:lstStyle/>
          <a:p>
            <a:r>
              <a:rPr lang="en-US" b="1" dirty="0"/>
              <a:t>How to Choose an SDLC Model</a:t>
            </a:r>
            <a:endParaRPr lang="en-US" dirty="0"/>
          </a:p>
        </p:txBody>
      </p:sp>
      <p:sp>
        <p:nvSpPr>
          <p:cNvPr id="3" name="Content Placeholder 2">
            <a:extLst>
              <a:ext uri="{FF2B5EF4-FFF2-40B4-BE49-F238E27FC236}">
                <a16:creationId xmlns:a16="http://schemas.microsoft.com/office/drawing/2014/main" id="{EC58BFB1-4C95-66F8-BCEC-7262F90B9494}"/>
              </a:ext>
            </a:extLst>
          </p:cNvPr>
          <p:cNvSpPr>
            <a:spLocks noGrp="1"/>
          </p:cNvSpPr>
          <p:nvPr>
            <p:ph idx="1"/>
          </p:nvPr>
        </p:nvSpPr>
        <p:spPr/>
        <p:txBody>
          <a:bodyPr>
            <a:normAutofit fontScale="55000" lnSpcReduction="20000"/>
          </a:bodyPr>
          <a:lstStyle/>
          <a:p>
            <a:pPr marL="0" indent="0" fontAlgn="base">
              <a:buNone/>
            </a:pPr>
            <a:r>
              <a:rPr lang="en-US" b="1" dirty="0"/>
              <a:t>Project Requirements</a:t>
            </a:r>
            <a:r>
              <a:rPr lang="en-US" dirty="0"/>
              <a:t>:</a:t>
            </a:r>
          </a:p>
          <a:p>
            <a:pPr lvl="1" fontAlgn="base"/>
            <a:r>
              <a:rPr lang="en-US" b="1" dirty="0"/>
              <a:t>Clear and Stable Requirements:</a:t>
            </a:r>
            <a:r>
              <a:rPr lang="en-US" dirty="0"/>
              <a:t> Use Waterfall or V-Model when requirements are well-defined and unlikely to change.</a:t>
            </a:r>
          </a:p>
          <a:p>
            <a:pPr lvl="1" fontAlgn="base"/>
            <a:r>
              <a:rPr lang="en-US" b="1" dirty="0"/>
              <a:t>Evolving or Unclear Requirements: </a:t>
            </a:r>
            <a:r>
              <a:rPr lang="en-US" dirty="0"/>
              <a:t>Use Agile or Iterative models when requirements are likely to change.</a:t>
            </a:r>
          </a:p>
          <a:p>
            <a:pPr marL="0" indent="0" fontAlgn="base">
              <a:buNone/>
            </a:pPr>
            <a:r>
              <a:rPr lang="en-US" b="1" dirty="0"/>
              <a:t>Project Size and Complexity</a:t>
            </a:r>
            <a:r>
              <a:rPr lang="en-US" dirty="0"/>
              <a:t>:</a:t>
            </a:r>
          </a:p>
          <a:p>
            <a:pPr lvl="1" fontAlgn="base"/>
            <a:r>
              <a:rPr lang="en-US" b="1" dirty="0"/>
              <a:t>Small and Simple Projects: </a:t>
            </a:r>
            <a:r>
              <a:rPr lang="en-US" dirty="0"/>
              <a:t>Use Waterfall or RAD for straightforward projects with limited scope.</a:t>
            </a:r>
          </a:p>
          <a:p>
            <a:pPr lvl="1" fontAlgn="base"/>
            <a:r>
              <a:rPr lang="en-US" b="1" dirty="0"/>
              <a:t>Large and Complex Projects: </a:t>
            </a:r>
            <a:r>
              <a:rPr lang="en-US" dirty="0"/>
              <a:t>Use Agile, Spiral, or DevOps for projects requiring flexibility and scalability.</a:t>
            </a:r>
          </a:p>
          <a:p>
            <a:pPr marL="0" indent="0" fontAlgn="base">
              <a:buNone/>
            </a:pPr>
            <a:r>
              <a:rPr lang="en-US" b="1" dirty="0"/>
              <a:t>Team Expertise</a:t>
            </a:r>
            <a:r>
              <a:rPr lang="en-US" dirty="0"/>
              <a:t>:</a:t>
            </a:r>
          </a:p>
          <a:p>
            <a:pPr lvl="1" fontAlgn="base"/>
            <a:r>
              <a:rPr lang="en-US" b="1" dirty="0"/>
              <a:t>Experienced Teams</a:t>
            </a:r>
            <a:r>
              <a:rPr lang="en-US" dirty="0"/>
              <a:t>: Use Agile or Scrum when teams are skilled in iterative development.</a:t>
            </a:r>
          </a:p>
          <a:p>
            <a:pPr lvl="1" fontAlgn="base"/>
            <a:r>
              <a:rPr lang="en-US" b="1" dirty="0"/>
              <a:t>Less Experienced Teams</a:t>
            </a:r>
            <a:r>
              <a:rPr lang="en-US" dirty="0"/>
              <a:t>: Use Waterfall or V-Model for teams needing clear guidance.</a:t>
            </a:r>
          </a:p>
          <a:p>
            <a:pPr marL="0" indent="0" fontAlgn="base">
              <a:buNone/>
            </a:pPr>
            <a:r>
              <a:rPr lang="en-US" b="1" dirty="0"/>
              <a:t>Client Involvement</a:t>
            </a:r>
            <a:r>
              <a:rPr lang="en-US" dirty="0"/>
              <a:t>:</a:t>
            </a:r>
          </a:p>
          <a:p>
            <a:pPr lvl="1" fontAlgn="base"/>
            <a:r>
              <a:rPr lang="en-US" b="1" dirty="0"/>
              <a:t>Frequent Client Feedback</a:t>
            </a:r>
            <a:r>
              <a:rPr lang="en-US" dirty="0"/>
              <a:t>: Use Agile, Scrum, or RAD when regular client interaction is required.</a:t>
            </a:r>
          </a:p>
          <a:p>
            <a:pPr lvl="1" fontAlgn="base"/>
            <a:r>
              <a:rPr lang="en-US" b="1" dirty="0"/>
              <a:t>Minimal Client Involvement</a:t>
            </a:r>
            <a:r>
              <a:rPr lang="en-US" dirty="0"/>
              <a:t>: Use Waterfall or V-Model when client input is limited to initial stages.</a:t>
            </a:r>
          </a:p>
          <a:p>
            <a:pPr marL="0" indent="0" fontAlgn="base">
              <a:buNone/>
            </a:pPr>
            <a:r>
              <a:rPr lang="en-US" b="1" dirty="0"/>
              <a:t>Time and Budget Constraints</a:t>
            </a:r>
            <a:r>
              <a:rPr lang="en-US" dirty="0"/>
              <a:t>:</a:t>
            </a:r>
          </a:p>
          <a:p>
            <a:pPr lvl="1" fontAlgn="base"/>
            <a:r>
              <a:rPr lang="en-US" b="1" dirty="0"/>
              <a:t>Fixed Time and Budget</a:t>
            </a:r>
            <a:r>
              <a:rPr lang="en-US" dirty="0"/>
              <a:t>: Use Waterfall or V-Model for strict schedules and budgets.</a:t>
            </a:r>
          </a:p>
          <a:p>
            <a:pPr lvl="1" fontAlgn="base"/>
            <a:r>
              <a:rPr lang="en-US" b="1" dirty="0"/>
              <a:t>Flexible Time and Budget</a:t>
            </a:r>
            <a:r>
              <a:rPr lang="en-US" dirty="0"/>
              <a:t>: Use Agile or Spiral when adjustments are feasible.</a:t>
            </a:r>
          </a:p>
          <a:p>
            <a:pPr marL="0" indent="0" fontAlgn="base">
              <a:buNone/>
            </a:pPr>
            <a:r>
              <a:rPr lang="en-US" b="1" dirty="0"/>
              <a:t>Risk Management</a:t>
            </a:r>
            <a:r>
              <a:rPr lang="en-US" dirty="0"/>
              <a:t>:</a:t>
            </a:r>
          </a:p>
          <a:p>
            <a:pPr lvl="1" fontAlgn="base"/>
            <a:r>
              <a:rPr lang="en-US" b="1" dirty="0"/>
              <a:t>High-Risk Projects</a:t>
            </a:r>
            <a:r>
              <a:rPr lang="en-US" dirty="0"/>
              <a:t>: Use Spiral for projects with significant uncertainties.</a:t>
            </a:r>
          </a:p>
          <a:p>
            <a:pPr lvl="1" fontAlgn="base"/>
            <a:r>
              <a:rPr lang="en-US" b="1" dirty="0"/>
              <a:t>Low-Risk Projects</a:t>
            </a:r>
            <a:r>
              <a:rPr lang="en-US" dirty="0"/>
              <a:t>: Use Waterfall for projects with minimal risks</a:t>
            </a:r>
          </a:p>
          <a:p>
            <a:endParaRPr lang="en-US" dirty="0"/>
          </a:p>
        </p:txBody>
      </p:sp>
    </p:spTree>
    <p:extLst>
      <p:ext uri="{BB962C8B-B14F-4D97-AF65-F5344CB8AC3E}">
        <p14:creationId xmlns:p14="http://schemas.microsoft.com/office/powerpoint/2010/main" val="49444300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B7F543F2F210C42A1AB556EC2E2AD39" ma:contentTypeVersion="3" ma:contentTypeDescription="Create a new document." ma:contentTypeScope="" ma:versionID="e5606db6c3531daf026a8fd548c663ad">
  <xsd:schema xmlns:xsd="http://www.w3.org/2001/XMLSchema" xmlns:xs="http://www.w3.org/2001/XMLSchema" xmlns:p="http://schemas.microsoft.com/office/2006/metadata/properties" xmlns:ns2="a4f7e055-52ed-4413-8839-c7f22b2234f6" targetNamespace="http://schemas.microsoft.com/office/2006/metadata/properties" ma:root="true" ma:fieldsID="fc3079c0926d43e5991d1c902ac675e6" ns2:_="">
    <xsd:import namespace="a4f7e055-52ed-4413-8839-c7f22b2234f6"/>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4f7e055-52ed-4413-8839-c7f22b2234f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7513B07C-51EF-4993-9B17-9FED1449C43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a4f7e055-52ed-4413-8839-c7f22b2234f6"/>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9CCD39FF-0BD7-4A33-BEE1-A3B550187DF3}">
  <ds:schemaRefs>
    <ds:schemaRef ds:uri="http://purl.org/dc/terms/"/>
    <ds:schemaRef ds:uri="http://purl.org/dc/dcmitype/"/>
    <ds:schemaRef ds:uri="http://schemas.microsoft.com/office/2006/metadata/properties"/>
    <ds:schemaRef ds:uri="http://www.w3.org/XML/1998/namespace"/>
    <ds:schemaRef ds:uri="http://schemas.microsoft.com/office/2006/documentManagement/types"/>
    <ds:schemaRef ds:uri="a4f7e055-52ed-4413-8839-c7f22b2234f6"/>
    <ds:schemaRef ds:uri="http://schemas.openxmlformats.org/package/2006/metadata/core-properties"/>
    <ds:schemaRef ds:uri="http://purl.org/dc/elements/1.1/"/>
    <ds:schemaRef ds:uri="http://schemas.microsoft.com/office/infopath/2007/PartnerControls"/>
  </ds:schemaRefs>
</ds:datastoreItem>
</file>

<file path=customXml/itemProps3.xml><?xml version="1.0" encoding="utf-8"?>
<ds:datastoreItem xmlns:ds="http://schemas.openxmlformats.org/officeDocument/2006/customXml" ds:itemID="{126F4925-904C-4227-BB6E-3F00FC2DB260}">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94</TotalTime>
  <Words>3514</Words>
  <Application>Microsoft Office PowerPoint</Application>
  <PresentationFormat>Widescreen</PresentationFormat>
  <Paragraphs>389</Paragraphs>
  <Slides>42</Slides>
  <Notes>0</Notes>
  <HiddenSlides>0</HiddenSlides>
  <MMClips>0</MMClips>
  <ScaleCrop>false</ScaleCrop>
  <HeadingPairs>
    <vt:vector size="4" baseType="variant">
      <vt:variant>
        <vt:lpstr>Theme</vt:lpstr>
      </vt:variant>
      <vt:variant>
        <vt:i4>1</vt:i4>
      </vt:variant>
      <vt:variant>
        <vt:lpstr>Slide Titles</vt:lpstr>
      </vt:variant>
      <vt:variant>
        <vt:i4>42</vt:i4>
      </vt:variant>
    </vt:vector>
  </HeadingPairs>
  <TitlesOfParts>
    <vt:vector size="43" baseType="lpstr">
      <vt:lpstr>Office Theme</vt:lpstr>
      <vt:lpstr>SDLC</vt:lpstr>
      <vt:lpstr>SDLC</vt:lpstr>
      <vt:lpstr>Types</vt:lpstr>
      <vt:lpstr>Waterfall</vt:lpstr>
      <vt:lpstr>Waterfall</vt:lpstr>
      <vt:lpstr>Waterfall - Pros</vt:lpstr>
      <vt:lpstr>Waterfall - Cons</vt:lpstr>
      <vt:lpstr>Waterfall – when to use?</vt:lpstr>
      <vt:lpstr>Iterative</vt:lpstr>
      <vt:lpstr>Iterative</vt:lpstr>
      <vt:lpstr>Iterative </vt:lpstr>
      <vt:lpstr>Iterative - Pros</vt:lpstr>
      <vt:lpstr>Iterative - Cons</vt:lpstr>
      <vt:lpstr>Iterative – When to Use?</vt:lpstr>
      <vt:lpstr>V-Shaped</vt:lpstr>
      <vt:lpstr>V-Shaped</vt:lpstr>
      <vt:lpstr>V-Shaped</vt:lpstr>
      <vt:lpstr>V-Shaped – When to use?</vt:lpstr>
      <vt:lpstr>Spiral</vt:lpstr>
      <vt:lpstr>Spiral</vt:lpstr>
      <vt:lpstr>Spiral</vt:lpstr>
      <vt:lpstr>Spiral – when to use?</vt:lpstr>
      <vt:lpstr>Spiral</vt:lpstr>
      <vt:lpstr>Incremental</vt:lpstr>
      <vt:lpstr>Incremental</vt:lpstr>
      <vt:lpstr>Incremental</vt:lpstr>
      <vt:lpstr>Incremental – when to use?</vt:lpstr>
      <vt:lpstr>Incremental</vt:lpstr>
      <vt:lpstr>Prototying</vt:lpstr>
      <vt:lpstr>Prototyping</vt:lpstr>
      <vt:lpstr>Prototying</vt:lpstr>
      <vt:lpstr>Prototyping – when to use?</vt:lpstr>
      <vt:lpstr>Prototyping - pros</vt:lpstr>
      <vt:lpstr>Prototyping - Cons</vt:lpstr>
      <vt:lpstr>RAD</vt:lpstr>
      <vt:lpstr>RAD</vt:lpstr>
      <vt:lpstr>RAD</vt:lpstr>
      <vt:lpstr>RAD – when to use?</vt:lpstr>
      <vt:lpstr>RAD</vt:lpstr>
      <vt:lpstr>Agile</vt:lpstr>
      <vt:lpstr>Agile</vt:lpstr>
      <vt:lpstr>How to Choose an SDLC Model</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Surendra Kc</dc:creator>
  <cp:lastModifiedBy>Surendra Kc</cp:lastModifiedBy>
  <cp:revision>2</cp:revision>
  <dcterms:created xsi:type="dcterms:W3CDTF">2026-01-19T08:02:26Z</dcterms:created>
  <dcterms:modified xsi:type="dcterms:W3CDTF">2026-01-27T15:25:23Z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0x0101007B7F543F2F210C42A1AB556EC2E2AD39</vt:lpwstr>
  </property>
</Properties>
</file>